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2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6858000" cy="9144000"/>
          </a:xfrm>
          <a:custGeom>
            <a:rect b="b" l="l" r="r" t="t"/>
            <a:pathLst>
              <a:path extrusionOk="0" h="25401" w="19052">
                <a:moveTo>
                  <a:pt x="4" y="0"/>
                </a:moveTo>
                <a:cubicBezTo>
                  <a:pt x="2" y="0"/>
                  <a:pt x="0" y="2"/>
                  <a:pt x="0" y="4"/>
                </a:cubicBezTo>
                <a:lnTo>
                  <a:pt x="0" y="25396"/>
                </a:lnTo>
                <a:cubicBezTo>
                  <a:pt x="0" y="25398"/>
                  <a:pt x="2" y="25400"/>
                  <a:pt x="4" y="25400"/>
                </a:cubicBezTo>
                <a:lnTo>
                  <a:pt x="19046" y="25400"/>
                </a:lnTo>
                <a:cubicBezTo>
                  <a:pt x="19048" y="25400"/>
                  <a:pt x="19051" y="25398"/>
                  <a:pt x="19051" y="25396"/>
                </a:cubicBezTo>
                <a:lnTo>
                  <a:pt x="19051" y="4"/>
                </a:lnTo>
                <a:cubicBezTo>
                  <a:pt x="19051" y="2"/>
                  <a:pt x="19048" y="0"/>
                  <a:pt x="19046" y="0"/>
                </a:cubicBezTo>
                <a:lnTo>
                  <a:pt x="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" name="Google Shape;5;n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/>
          <p:nvPr/>
        </p:nvSpPr>
        <p:spPr>
          <a:xfrm>
            <a:off x="2143080" y="695160"/>
            <a:ext cx="2571840" cy="3429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7" name="Google Shape;127;p1:notes"/>
          <p:cNvSpPr txBox="1"/>
          <p:nvPr>
            <p:ph idx="1" type="body"/>
          </p:nvPr>
        </p:nvSpPr>
        <p:spPr>
          <a:xfrm>
            <a:off x="685440" y="4343040"/>
            <a:ext cx="5483160" cy="4112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/>
          <p:nvPr/>
        </p:nvSpPr>
        <p:spPr>
          <a:xfrm>
            <a:off x="2143080" y="695160"/>
            <a:ext cx="2571840" cy="3429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91" name="Google Shape;191;p12:notes"/>
          <p:cNvSpPr txBox="1"/>
          <p:nvPr>
            <p:ph idx="1" type="body"/>
          </p:nvPr>
        </p:nvSpPr>
        <p:spPr>
          <a:xfrm>
            <a:off x="685440" y="4343040"/>
            <a:ext cx="5483160" cy="4112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2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3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5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6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7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9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1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2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3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4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4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5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5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6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7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8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9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9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0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0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1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2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2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3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4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5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6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7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7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8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8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9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9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0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0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1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2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3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3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4:notes"/>
          <p:cNvSpPr txBox="1"/>
          <p:nvPr>
            <p:ph idx="1" type="body"/>
          </p:nvPr>
        </p:nvSpPr>
        <p:spPr>
          <a:xfrm>
            <a:off x="685440" y="4343040"/>
            <a:ext cx="5483160" cy="4111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4:notes"/>
          <p:cNvSpPr/>
          <p:nvPr>
            <p:ph idx="2" type="sldImg"/>
          </p:nvPr>
        </p:nvSpPr>
        <p:spPr>
          <a:xfrm>
            <a:off x="-11798640" y="-11796840"/>
            <a:ext cx="11796840" cy="12490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948960" y="1981080"/>
            <a:ext cx="76582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948960" y="1981080"/>
            <a:ext cx="76582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948960" y="1981080"/>
            <a:ext cx="37371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73320" y="1981080"/>
            <a:ext cx="37371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idx="1" type="subTitle"/>
          </p:nvPr>
        </p:nvSpPr>
        <p:spPr>
          <a:xfrm>
            <a:off x="1002960" y="23400"/>
            <a:ext cx="7155000" cy="65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948960" y="1981080"/>
            <a:ext cx="373716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2" type="body"/>
          </p:nvPr>
        </p:nvSpPr>
        <p:spPr>
          <a:xfrm>
            <a:off x="4873320" y="1981080"/>
            <a:ext cx="37371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3" type="body"/>
          </p:nvPr>
        </p:nvSpPr>
        <p:spPr>
          <a:xfrm>
            <a:off x="948960" y="4059000"/>
            <a:ext cx="373716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948960" y="1981080"/>
            <a:ext cx="37371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873320" y="1981080"/>
            <a:ext cx="373716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3" type="body"/>
          </p:nvPr>
        </p:nvSpPr>
        <p:spPr>
          <a:xfrm>
            <a:off x="4873320" y="4059000"/>
            <a:ext cx="373716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948960" y="1981080"/>
            <a:ext cx="373716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2" type="body"/>
          </p:nvPr>
        </p:nvSpPr>
        <p:spPr>
          <a:xfrm>
            <a:off x="4873320" y="1981080"/>
            <a:ext cx="373716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3" type="body"/>
          </p:nvPr>
        </p:nvSpPr>
        <p:spPr>
          <a:xfrm>
            <a:off x="948960" y="4059000"/>
            <a:ext cx="765828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948960" y="1981080"/>
            <a:ext cx="765828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2" type="body"/>
          </p:nvPr>
        </p:nvSpPr>
        <p:spPr>
          <a:xfrm>
            <a:off x="948960" y="4059000"/>
            <a:ext cx="765828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948960" y="1981080"/>
            <a:ext cx="373716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2" type="body"/>
          </p:nvPr>
        </p:nvSpPr>
        <p:spPr>
          <a:xfrm>
            <a:off x="4873320" y="1981080"/>
            <a:ext cx="373716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3" type="body"/>
          </p:nvPr>
        </p:nvSpPr>
        <p:spPr>
          <a:xfrm>
            <a:off x="948960" y="4059000"/>
            <a:ext cx="373716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4" type="body"/>
          </p:nvPr>
        </p:nvSpPr>
        <p:spPr>
          <a:xfrm>
            <a:off x="4873320" y="4059000"/>
            <a:ext cx="373716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948960" y="1981080"/>
            <a:ext cx="246564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2" type="body"/>
          </p:nvPr>
        </p:nvSpPr>
        <p:spPr>
          <a:xfrm>
            <a:off x="3538440" y="1981080"/>
            <a:ext cx="246564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3" type="body"/>
          </p:nvPr>
        </p:nvSpPr>
        <p:spPr>
          <a:xfrm>
            <a:off x="6127560" y="1981080"/>
            <a:ext cx="246564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4" type="body"/>
          </p:nvPr>
        </p:nvSpPr>
        <p:spPr>
          <a:xfrm>
            <a:off x="948960" y="4059000"/>
            <a:ext cx="246564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5" type="body"/>
          </p:nvPr>
        </p:nvSpPr>
        <p:spPr>
          <a:xfrm>
            <a:off x="3538440" y="4059000"/>
            <a:ext cx="246564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6" type="body"/>
          </p:nvPr>
        </p:nvSpPr>
        <p:spPr>
          <a:xfrm>
            <a:off x="6127560" y="4059000"/>
            <a:ext cx="246564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948960" y="1981080"/>
            <a:ext cx="76582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1002960" y="23400"/>
            <a:ext cx="7155000" cy="65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948960" y="1981080"/>
            <a:ext cx="37371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2" type="body"/>
          </p:nvPr>
        </p:nvSpPr>
        <p:spPr>
          <a:xfrm>
            <a:off x="4873320" y="1981080"/>
            <a:ext cx="37371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subTitle"/>
          </p:nvPr>
        </p:nvSpPr>
        <p:spPr>
          <a:xfrm>
            <a:off x="948960" y="1981080"/>
            <a:ext cx="76582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948960" y="1981080"/>
            <a:ext cx="373716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4873320" y="1981080"/>
            <a:ext cx="37371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3" type="body"/>
          </p:nvPr>
        </p:nvSpPr>
        <p:spPr>
          <a:xfrm>
            <a:off x="948960" y="4059000"/>
            <a:ext cx="373716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948960" y="1981080"/>
            <a:ext cx="37371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2" type="body"/>
          </p:nvPr>
        </p:nvSpPr>
        <p:spPr>
          <a:xfrm>
            <a:off x="4873320" y="1981080"/>
            <a:ext cx="373716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3" type="body"/>
          </p:nvPr>
        </p:nvSpPr>
        <p:spPr>
          <a:xfrm>
            <a:off x="4873320" y="4059000"/>
            <a:ext cx="373716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" type="body"/>
          </p:nvPr>
        </p:nvSpPr>
        <p:spPr>
          <a:xfrm>
            <a:off x="948960" y="1981080"/>
            <a:ext cx="373716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2" type="body"/>
          </p:nvPr>
        </p:nvSpPr>
        <p:spPr>
          <a:xfrm>
            <a:off x="4873320" y="1981080"/>
            <a:ext cx="373716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3" type="body"/>
          </p:nvPr>
        </p:nvSpPr>
        <p:spPr>
          <a:xfrm>
            <a:off x="948960" y="4059000"/>
            <a:ext cx="765828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4"/>
          <p:cNvSpPr txBox="1"/>
          <p:nvPr>
            <p:ph idx="1" type="body"/>
          </p:nvPr>
        </p:nvSpPr>
        <p:spPr>
          <a:xfrm>
            <a:off x="948960" y="1981080"/>
            <a:ext cx="765828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4"/>
          <p:cNvSpPr txBox="1"/>
          <p:nvPr>
            <p:ph idx="2" type="body"/>
          </p:nvPr>
        </p:nvSpPr>
        <p:spPr>
          <a:xfrm>
            <a:off x="948960" y="4059000"/>
            <a:ext cx="765828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" type="body"/>
          </p:nvPr>
        </p:nvSpPr>
        <p:spPr>
          <a:xfrm>
            <a:off x="948960" y="1981080"/>
            <a:ext cx="373716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2" type="body"/>
          </p:nvPr>
        </p:nvSpPr>
        <p:spPr>
          <a:xfrm>
            <a:off x="4873320" y="1981080"/>
            <a:ext cx="373716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5"/>
          <p:cNvSpPr txBox="1"/>
          <p:nvPr>
            <p:ph idx="3" type="body"/>
          </p:nvPr>
        </p:nvSpPr>
        <p:spPr>
          <a:xfrm>
            <a:off x="948960" y="4059000"/>
            <a:ext cx="373716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4" type="body"/>
          </p:nvPr>
        </p:nvSpPr>
        <p:spPr>
          <a:xfrm>
            <a:off x="4873320" y="4059000"/>
            <a:ext cx="373716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6"/>
          <p:cNvSpPr txBox="1"/>
          <p:nvPr>
            <p:ph idx="1" type="body"/>
          </p:nvPr>
        </p:nvSpPr>
        <p:spPr>
          <a:xfrm>
            <a:off x="948960" y="1981080"/>
            <a:ext cx="246564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6"/>
          <p:cNvSpPr txBox="1"/>
          <p:nvPr>
            <p:ph idx="2" type="body"/>
          </p:nvPr>
        </p:nvSpPr>
        <p:spPr>
          <a:xfrm>
            <a:off x="3538440" y="1981080"/>
            <a:ext cx="246564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3" type="body"/>
          </p:nvPr>
        </p:nvSpPr>
        <p:spPr>
          <a:xfrm>
            <a:off x="6127560" y="1981080"/>
            <a:ext cx="246564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6"/>
          <p:cNvSpPr txBox="1"/>
          <p:nvPr>
            <p:ph idx="4" type="body"/>
          </p:nvPr>
        </p:nvSpPr>
        <p:spPr>
          <a:xfrm>
            <a:off x="948960" y="4059000"/>
            <a:ext cx="246564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6"/>
          <p:cNvSpPr txBox="1"/>
          <p:nvPr>
            <p:ph idx="5" type="body"/>
          </p:nvPr>
        </p:nvSpPr>
        <p:spPr>
          <a:xfrm>
            <a:off x="3538440" y="4059000"/>
            <a:ext cx="246564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6"/>
          <p:cNvSpPr txBox="1"/>
          <p:nvPr>
            <p:ph idx="6" type="body"/>
          </p:nvPr>
        </p:nvSpPr>
        <p:spPr>
          <a:xfrm>
            <a:off x="6127560" y="4059000"/>
            <a:ext cx="246564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"/>
          <p:cNvSpPr txBox="1"/>
          <p:nvPr>
            <p:ph idx="10" type="dt"/>
          </p:nvPr>
        </p:nvSpPr>
        <p:spPr>
          <a:xfrm>
            <a:off x="685440" y="6248160"/>
            <a:ext cx="1901880" cy="45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3720" y="6248160"/>
            <a:ext cx="2892600" cy="45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2720" y="6248160"/>
            <a:ext cx="1901880" cy="45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29292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0" y="914400"/>
            <a:ext cx="8686800" cy="2514600"/>
            <a:chOff x="0" y="914400"/>
            <a:chExt cx="8686800" cy="2514600"/>
          </a:xfrm>
        </p:grpSpPr>
        <p:sp>
          <p:nvSpPr>
            <p:cNvPr id="12" name="Google Shape;12;p1"/>
            <p:cNvSpPr/>
            <p:nvPr/>
          </p:nvSpPr>
          <p:spPr>
            <a:xfrm>
              <a:off x="228600" y="914400"/>
              <a:ext cx="2514600" cy="2514600"/>
            </a:xfrm>
            <a:prstGeom prst="ellipse">
              <a:avLst/>
            </a:prstGeom>
            <a:noFill/>
            <a:ln cap="flat" cmpd="sng" w="12600">
              <a:solidFill>
                <a:srgbClr val="CC99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0" y="1676520"/>
              <a:ext cx="4724280" cy="1143000"/>
            </a:xfrm>
            <a:prstGeom prst="rect">
              <a:avLst/>
            </a:prstGeom>
            <a:solidFill>
              <a:srgbClr val="CCCC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3962520" y="1676520"/>
              <a:ext cx="4724280" cy="11430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CCCC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609480" y="1523880"/>
              <a:ext cx="228600" cy="1449360"/>
            </a:xfrm>
            <a:custGeom>
              <a:rect b="b" l="l" r="r" t="t"/>
              <a:pathLst>
                <a:path extrusionOk="0" h="1000" w="1000">
                  <a:moveTo>
                    <a:pt x="1000" y="1000"/>
                  </a:moveTo>
                  <a:lnTo>
                    <a:pt x="0" y="1000"/>
                  </a:lnTo>
                  <a:lnTo>
                    <a:pt x="0" y="0"/>
                  </a:lnTo>
                  <a:lnTo>
                    <a:pt x="1000" y="0"/>
                  </a:lnTo>
                </a:path>
              </a:pathLst>
            </a:custGeom>
            <a:noFill/>
            <a:ln cap="flat" cmpd="sng" w="763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6" name="Google Shape;16;p1"/>
            <p:cNvSpPr/>
            <p:nvPr/>
          </p:nvSpPr>
          <p:spPr>
            <a:xfrm>
              <a:off x="7848720" y="1209600"/>
              <a:ext cx="261720" cy="1371600"/>
            </a:xfrm>
            <a:custGeom>
              <a:rect b="b" l="l" r="r" t="t"/>
              <a:pathLst>
                <a:path extrusionOk="0" h="1000" w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</a:path>
              </a:pathLst>
            </a:custGeom>
            <a:noFill/>
            <a:ln cap="flat" cmpd="sng" w="76300">
              <a:solidFill>
                <a:srgbClr val="CC99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</p:grpSp>
      <p:sp>
        <p:nvSpPr>
          <p:cNvPr id="17" name="Google Shape;17;p1"/>
          <p:cNvSpPr txBox="1"/>
          <p:nvPr>
            <p:ph type="title"/>
          </p:nvPr>
        </p:nvSpPr>
        <p:spPr>
          <a:xfrm>
            <a:off x="837720" y="1442520"/>
            <a:ext cx="7083720" cy="159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456840" y="1604880"/>
            <a:ext cx="8226360" cy="45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0" y="1378080"/>
            <a:ext cx="2133720" cy="101520"/>
          </a:xfrm>
          <a:prstGeom prst="rect">
            <a:avLst/>
          </a:prstGeom>
          <a:solidFill>
            <a:srgbClr val="CCCC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1447920" y="1378080"/>
            <a:ext cx="7238880" cy="10152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CCCC99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1002960" y="23400"/>
            <a:ext cx="7155000" cy="141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948960" y="1981080"/>
            <a:ext cx="76582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2" name="Google Shape;72;p14"/>
          <p:cNvSpPr txBox="1"/>
          <p:nvPr>
            <p:ph idx="10" type="dt"/>
          </p:nvPr>
        </p:nvSpPr>
        <p:spPr>
          <a:xfrm>
            <a:off x="945720" y="6248160"/>
            <a:ext cx="1901880" cy="45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" name="Google Shape;73;p14"/>
          <p:cNvSpPr txBox="1"/>
          <p:nvPr>
            <p:ph idx="11" type="ftr"/>
          </p:nvPr>
        </p:nvSpPr>
        <p:spPr>
          <a:xfrm>
            <a:off x="3352320" y="6248160"/>
            <a:ext cx="2892600" cy="45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6705360" y="6248160"/>
            <a:ext cx="1901880" cy="45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00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00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00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00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00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00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00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00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00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838080" y="561960"/>
            <a:ext cx="152640" cy="1066680"/>
          </a:xfrm>
          <a:custGeom>
            <a:rect b="b" l="l" r="r" t="t"/>
            <a:pathLst>
              <a:path extrusionOk="0" h="1000" w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763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6" name="Google Shape;76;p14"/>
          <p:cNvSpPr/>
          <p:nvPr/>
        </p:nvSpPr>
        <p:spPr>
          <a:xfrm>
            <a:off x="8263080" y="270000"/>
            <a:ext cx="152280" cy="1073160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cap="flat" cmpd="sng" w="76300">
            <a:solidFill>
              <a:srgbClr val="CC99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/>
        </p:nvSpPr>
        <p:spPr>
          <a:xfrm>
            <a:off x="837720" y="1487520"/>
            <a:ext cx="7086600" cy="1600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Programming</a:t>
            </a:r>
            <a:br>
              <a:rPr b="0" i="0" lang="en-IN" sz="1800" u="none" cap="none" strike="noStrike"/>
            </a:br>
            <a:r>
              <a:rPr b="0" i="0" lang="en-IN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LISP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7"/>
          <p:cNvSpPr txBox="1"/>
          <p:nvPr/>
        </p:nvSpPr>
        <p:spPr>
          <a:xfrm>
            <a:off x="2285640" y="3581280"/>
            <a:ext cx="5638680" cy="190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/>
        </p:nvSpPr>
        <p:spPr>
          <a:xfrm>
            <a:off x="1260000" y="294840"/>
            <a:ext cx="8229240" cy="114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Programming paradigms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8"/>
          <p:cNvSpPr txBox="1"/>
          <p:nvPr/>
        </p:nvSpPr>
        <p:spPr>
          <a:xfrm>
            <a:off x="540000" y="177408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Procedural programming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Decompose program into procedures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Procedures work on data and modify the “state” of the data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Object oriented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Decompose program into data “types”/classes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Data objects talk to each other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/>
          <p:nvPr/>
        </p:nvSpPr>
        <p:spPr>
          <a:xfrm>
            <a:off x="1130760" y="294840"/>
            <a:ext cx="8229240" cy="114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Programming paradigms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9"/>
          <p:cNvSpPr txBox="1"/>
          <p:nvPr/>
        </p:nvSpPr>
        <p:spPr>
          <a:xfrm>
            <a:off x="457200" y="160452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Declarative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Specify “What” and not “how”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e.g. SQL, a Database Query language. For example: SELECT * FROM STUDENTS; 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Functional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decomposes a problem into a set of functions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Ideally, functions only take inputs and produce outputs, and don’t have any internal state that affects the output produced for a given input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/>
          <p:nvPr/>
        </p:nvSpPr>
        <p:spPr>
          <a:xfrm>
            <a:off x="1130760" y="360000"/>
            <a:ext cx="8229240" cy="106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Programming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0"/>
          <p:cNvSpPr txBox="1"/>
          <p:nvPr/>
        </p:nvSpPr>
        <p:spPr>
          <a:xfrm>
            <a:off x="457200" y="160452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Input flows through a set of functions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Discourages functions with side effects that modify internal state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Functions that have no side effects at all are called purely functional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Some languages are very strict about purity and don’t even have assignment statements such as a=3 or c = a + b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"/>
          <p:cNvSpPr txBox="1"/>
          <p:nvPr/>
        </p:nvSpPr>
        <p:spPr>
          <a:xfrm>
            <a:off x="1260000" y="376560"/>
            <a:ext cx="8229240" cy="106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Factorial in LISP Language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1"/>
          <p:cNvSpPr txBox="1"/>
          <p:nvPr/>
        </p:nvSpPr>
        <p:spPr>
          <a:xfrm>
            <a:off x="180000" y="1385640"/>
            <a:ext cx="8506440" cy="4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&gt; (defun factorial (num)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             (cond (  (&lt;= num 0)   1)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                           (t                (* (factorial (- num 1)) num))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             )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   )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&gt; (factorial 10)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3628800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 txBox="1"/>
          <p:nvPr/>
        </p:nvSpPr>
        <p:spPr>
          <a:xfrm>
            <a:off x="1002960" y="68400"/>
            <a:ext cx="7155000" cy="6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Introduction to LISP</a:t>
            </a:r>
            <a:endParaRPr b="0" sz="3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 txBox="1"/>
          <p:nvPr/>
        </p:nvSpPr>
        <p:spPr>
          <a:xfrm>
            <a:off x="1260000" y="376560"/>
            <a:ext cx="8229240" cy="106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Vs OO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3"/>
          <p:cNvSpPr txBox="1"/>
          <p:nvPr/>
        </p:nvSpPr>
        <p:spPr>
          <a:xfrm>
            <a:off x="410760" y="1620000"/>
            <a:ext cx="8229240" cy="47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Functional programming can be considered the opposite of object-oriented programming.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Objects are little capsules containing some internal state along with a collection of method calls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690"/>
              <a:buFont typeface="Noto Sans Symbols"/>
              <a:buChar char="⚪"/>
            </a:pPr>
            <a:r>
              <a:rPr b="0" i="0" lang="en-IN" sz="26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Methods let you modify this state</a:t>
            </a:r>
            <a:endParaRPr b="0" i="0" sz="26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690"/>
              <a:buFont typeface="Noto Sans Symbols"/>
              <a:buChar char="⚪"/>
            </a:pPr>
            <a:r>
              <a:rPr b="0" i="0" lang="en-IN" sz="26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Programs consist of making the right set of state changes. </a:t>
            </a:r>
            <a:endParaRPr b="0" i="0" sz="26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Functional programming wants to avoid state changes as much as possible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690"/>
              <a:buFont typeface="Noto Sans Symbols"/>
              <a:buChar char="⚪"/>
            </a:pPr>
            <a:r>
              <a:rPr b="0" i="0" lang="en-IN" sz="26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works with data flowing between functions. </a:t>
            </a:r>
            <a:endParaRPr b="0" i="0" sz="26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4"/>
          <p:cNvSpPr txBox="1"/>
          <p:nvPr/>
        </p:nvSpPr>
        <p:spPr>
          <a:xfrm>
            <a:off x="1130760" y="360000"/>
            <a:ext cx="8229240" cy="106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Functional Programming?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4"/>
          <p:cNvSpPr txBox="1"/>
          <p:nvPr/>
        </p:nvSpPr>
        <p:spPr>
          <a:xfrm>
            <a:off x="457200" y="160452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Formal provability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Modularity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Ease of debugging and testing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Composability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/>
        </p:nvSpPr>
        <p:spPr>
          <a:xfrm>
            <a:off x="1002960" y="68400"/>
            <a:ext cx="7155000" cy="6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EXTRA SLIDES</a:t>
            </a:r>
            <a:endParaRPr b="0" sz="3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/>
        </p:nvSpPr>
        <p:spPr>
          <a:xfrm>
            <a:off x="457200" y="313920"/>
            <a:ext cx="8229240" cy="5775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800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Lambda Calculus</a:t>
            </a:r>
            <a:endParaRPr b="0" sz="4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 txBox="1"/>
          <p:nvPr/>
        </p:nvSpPr>
        <p:spPr>
          <a:xfrm>
            <a:off x="1130760" y="376560"/>
            <a:ext cx="8229240" cy="106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7"/>
          <p:cNvSpPr txBox="1"/>
          <p:nvPr/>
        </p:nvSpPr>
        <p:spPr>
          <a:xfrm>
            <a:off x="540000" y="1620000"/>
            <a:ext cx="8436600" cy="5806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■"/>
            </a:pPr>
            <a:r>
              <a:rPr b="0" lang="en-IN" sz="40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Consider two examples:</a:t>
            </a:r>
            <a:endParaRPr b="0" sz="40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2340"/>
              <a:buFont typeface="Noto Sans Symbols"/>
              <a:buChar char="⚪"/>
            </a:pPr>
            <a:r>
              <a:rPr b="0" i="0" lang="en-IN" sz="36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identity function I(x) = x takes a single input, x, and immediately returns x</a:t>
            </a:r>
            <a:endParaRPr b="0" i="0" sz="36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2340"/>
              <a:buFont typeface="Noto Sans Symbols"/>
              <a:buChar char="⚪"/>
            </a:pPr>
            <a:r>
              <a:rPr b="0" i="0" lang="en-IN" sz="36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sqadd(x, y) = x*x + y*y takes a pair of inputs, x and y and returns the sum of their squares, x*x + y*y</a:t>
            </a:r>
            <a:endParaRPr b="0" i="0" sz="36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8"/>
          <p:cNvSpPr txBox="1"/>
          <p:nvPr/>
        </p:nvSpPr>
        <p:spPr>
          <a:xfrm>
            <a:off x="1080000" y="180000"/>
            <a:ext cx="7157880" cy="1413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8"/>
          <p:cNvSpPr txBox="1"/>
          <p:nvPr/>
        </p:nvSpPr>
        <p:spPr>
          <a:xfrm>
            <a:off x="906840" y="1700640"/>
            <a:ext cx="7661160" cy="489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Observations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functions need not be explicitly named: 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x, y → x*x + y*y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specific choice of name for a function's arguments is largely irrelevant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u, v → u*u + v*v 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function that requires two inputs,can be reworked into an equivalent function that accepts a single input, and as output returns another function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x → (y → x*x + y*y)   (" curried form" )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9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Lambda Calculus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9"/>
          <p:cNvSpPr txBox="1"/>
          <p:nvPr/>
        </p:nvSpPr>
        <p:spPr>
          <a:xfrm>
            <a:off x="948960" y="1981080"/>
            <a:ext cx="7658280" cy="44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Formal theory for function definition, application(call) and recursion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Lambda calculus has no means of naming a function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Has no means for creating a function that accepts more than one argument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Since the names of arguments are largely irrelevant, the native notion of equality on lambda terms is alpha-equivalence (will learn further)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Lambda terms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0"/>
          <p:cNvSpPr txBox="1"/>
          <p:nvPr/>
        </p:nvSpPr>
        <p:spPr>
          <a:xfrm>
            <a:off x="720000" y="1620000"/>
            <a:ext cx="7658280" cy="44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a lambda term may be a variable, </a:t>
            </a:r>
            <a:r>
              <a:rPr b="0" i="1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1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t </a:t>
            </a: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is a lambda term, and </a:t>
            </a:r>
            <a:r>
              <a:rPr b="0" i="1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is a variable, then </a:t>
            </a:r>
            <a:r>
              <a:rPr b="0" i="1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λx.t</a:t>
            </a: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is a lambda term (called a lambda abstraction)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690"/>
              <a:buFont typeface="Noto Sans Symbols"/>
              <a:buChar char="⚪"/>
            </a:pPr>
            <a:r>
              <a:rPr b="0" i="0" lang="en-IN" sz="26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Equivalent to saying a function with argument x and returning t</a:t>
            </a:r>
            <a:endParaRPr b="0" i="0" sz="26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0" i="1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are lambda terms, then </a:t>
            </a:r>
            <a:r>
              <a:rPr b="0" i="1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ts</a:t>
            </a: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is a lambda term (called an application)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690"/>
              <a:buFont typeface="Noto Sans Symbols"/>
              <a:buChar char="⚪"/>
            </a:pPr>
            <a:r>
              <a:rPr b="0" i="0" lang="en-IN" sz="26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Equivalent to call of function t with argument s</a:t>
            </a:r>
            <a:endParaRPr b="0" i="0" sz="26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0"/>
          <p:cNvSpPr txBox="1"/>
          <p:nvPr/>
        </p:nvSpPr>
        <p:spPr>
          <a:xfrm>
            <a:off x="720000" y="5580000"/>
            <a:ext cx="77400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4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functions are taken to be first class values, so functions may be used as the inputs to other functions, and functions may return functions as their outputs.</a:t>
            </a:r>
            <a:endParaRPr b="0" sz="24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1"/>
          <p:cNvSpPr txBox="1"/>
          <p:nvPr/>
        </p:nvSpPr>
        <p:spPr>
          <a:xfrm>
            <a:off x="948960" y="1981080"/>
            <a:ext cx="7658280" cy="44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λx.x 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represents the identity function, x → x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(λx.x)y 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represents the identity function applied to y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(λx.y) 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represents the constant function x → y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2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Formal Definition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2"/>
          <p:cNvSpPr txBox="1"/>
          <p:nvPr/>
        </p:nvSpPr>
        <p:spPr>
          <a:xfrm>
            <a:off x="621720" y="1620000"/>
            <a:ext cx="7658280" cy="48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Lambda expressions are composed of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lang="en-IN" sz="26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variables v1, v2, ..., vn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the abstraction symbols λ and .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parentheses ( )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The set of lambda expressions, Λ, can be defined recursively: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1. If x is a variable, then x∈  Λ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2. If x is a variable and M∈ Λ, then (λx.M)∈ Λ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3. If M, N∈ Λ, then (M N)∈ Λ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Instances of rule 2 are known as abstractions and instances of rule 3 are known as applications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3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540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Notation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900000" y="1645560"/>
            <a:ext cx="7658280" cy="48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To keep the notation of lambda expressions uncluttered, the following conventions are usually applied.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820"/>
              <a:buFont typeface="Noto Sans Symbols"/>
              <a:buChar char="■"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Outermost parentheses are dropped: </a:t>
            </a:r>
            <a:r>
              <a:rPr b="0" lang="en-IN" sz="26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 N instead of (M N).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820"/>
              <a:buFont typeface="Noto Sans Symbols"/>
              <a:buChar char="■"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Applications are assumed to be left associative: </a:t>
            </a:r>
            <a:r>
              <a:rPr b="0" lang="en-IN" sz="26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 N P means (M N) P.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820"/>
              <a:buFont typeface="Noto Sans Symbols"/>
              <a:buChar char="■"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The body of an abstraction extends as far right as possible: </a:t>
            </a:r>
            <a:r>
              <a:rPr b="0" lang="en-IN" sz="26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λx.M N means λx.(M N) and not (λx.M) N.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820"/>
              <a:buFont typeface="Noto Sans Symbols"/>
              <a:buChar char="■"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A sequence of abstractions are contracted: </a:t>
            </a:r>
            <a:r>
              <a:rPr b="0" lang="en-IN" sz="26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λx.λy.λz.N is abbreviated as λxyz.N</a:t>
            </a: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4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 and bound variables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4"/>
          <p:cNvSpPr txBox="1"/>
          <p:nvPr/>
        </p:nvSpPr>
        <p:spPr>
          <a:xfrm>
            <a:off x="780480" y="1831680"/>
            <a:ext cx="7658280" cy="480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820"/>
              <a:buFont typeface="Noto Sans Symbols"/>
              <a:buChar char="■"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λ is said to bind its variable wherever it occurs in the body of the abstraction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690"/>
              <a:buFont typeface="Noto Sans Symbols"/>
              <a:buChar char="⚪"/>
            </a:pPr>
            <a:r>
              <a:rPr b="0" i="0" lang="en-IN" sz="26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In  λx.y       x is bound by the λ</a:t>
            </a:r>
            <a:endParaRPr b="0" i="0" sz="26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690"/>
              <a:buFont typeface="Noto Sans Symbols"/>
              <a:buChar char="⚪"/>
            </a:pPr>
            <a:r>
              <a:rPr b="0" i="0" lang="en-IN" sz="26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Variables that fall within the scope of a lambda are said to be bound. All other variables are called free.</a:t>
            </a:r>
            <a:endParaRPr b="0" i="0" sz="26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820"/>
              <a:buFont typeface="Noto Sans Symbols"/>
              <a:buChar char="■"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For example in the following expression </a:t>
            </a:r>
            <a:r>
              <a:rPr b="0" lang="en-IN" sz="26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 is a bound variable and x is free</a:t>
            </a: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lang="en-IN" sz="2600" strike="noStrike">
                <a:solidFill>
                  <a:srgbClr val="B80047"/>
                </a:solidFill>
                <a:latin typeface="Arial"/>
                <a:ea typeface="Arial"/>
                <a:cs typeface="Arial"/>
                <a:sym typeface="Arial"/>
              </a:rPr>
              <a:t>λy.x x y. 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820"/>
              <a:buFont typeface="Noto Sans Symbols"/>
              <a:buChar char="■"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Also note that a variable binds to its "nearest" lambda. In the following expression one single occurrence of x is bound by the second lambda: λx.y (λx.z x)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5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 and bound variables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5"/>
          <p:cNvSpPr txBox="1"/>
          <p:nvPr/>
        </p:nvSpPr>
        <p:spPr>
          <a:xfrm>
            <a:off x="720000" y="1863720"/>
            <a:ext cx="7658280" cy="4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The set of free variables of a lambda expression, M, is denoted as FV(M) and is defined by recursion on the structure of the terms, as follows: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1. FV(x) = {x}, where x is a variable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2. FV(λx.M) = FV(M) - {x}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6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3. FV(M N) = FV(M) ∪ FV(N)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820"/>
              <a:buFont typeface="Noto Sans Symbols"/>
              <a:buChar char="■"/>
            </a:pPr>
            <a:r>
              <a:rPr b="0" lang="en-IN" sz="26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An expression which contains no free variables is said to be closed</a:t>
            </a:r>
            <a:endParaRPr b="0" sz="26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690"/>
              <a:buFont typeface="Noto Sans Symbols"/>
              <a:buChar char="⚪"/>
            </a:pPr>
            <a:r>
              <a:rPr b="0" i="0" lang="en-IN" sz="26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Closed lambda expressions are also known as combinators and are equivalent to terms in combinatory logic</a:t>
            </a:r>
            <a:endParaRPr b="0" i="0" sz="26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6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Reductions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6"/>
          <p:cNvSpPr txBox="1"/>
          <p:nvPr/>
        </p:nvSpPr>
        <p:spPr>
          <a:xfrm>
            <a:off x="948960" y="1981080"/>
            <a:ext cx="7658280" cy="44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The meaning of lambda expressions is defined by how expressions can be reduced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There are three kinds of reduction: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α-conversion: changing bound variables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β-conversion: applying functions to their arguments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η-conversion: which captures a notion of extensionality.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7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α-conversion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7"/>
          <p:cNvSpPr txBox="1"/>
          <p:nvPr/>
        </p:nvSpPr>
        <p:spPr>
          <a:xfrm>
            <a:off x="900000" y="1620000"/>
            <a:ext cx="7658280" cy="504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Alpha-conversion allows bound variable names to be changed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For example, alpha-conversion of λx.x might yield λy.y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Terms that differ only by alpha-conversion are considered to be equivalent.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the only variable occurrences that are renamed are those that are bound to the same abstraction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1759" lvl="2" marL="1290600" marR="0" rtl="0" algn="l">
              <a:spcBef>
                <a:spcPts val="598"/>
              </a:spcBef>
              <a:spcAft>
                <a:spcPts val="0"/>
              </a:spcAft>
              <a:buClr>
                <a:srgbClr val="CC9900"/>
              </a:buClr>
              <a:buSzPts val="1680"/>
              <a:buFont typeface="Noto Sans Symbols"/>
              <a:buChar char="■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For example, an alpha-conversion of λx.λx.x could result in λy.λx.x, but it could not result in λy.λx.y</a:t>
            </a:r>
            <a:endParaRPr b="0" i="0" sz="2400" u="none" cap="none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8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β-reduction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48"/>
          <p:cNvSpPr txBox="1"/>
          <p:nvPr/>
        </p:nvSpPr>
        <p:spPr>
          <a:xfrm>
            <a:off x="540000" y="1621080"/>
            <a:ext cx="8067240" cy="506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Captures the idea of function application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Beta-reduction is defined in terms of substitution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beta-reduction of  ((λV.E) E′)  is E[V := E′].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Substitution, written E[V := E′], is the process of replacing all free occurrences of the variable V by expression E′. Rules: 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300"/>
              <a:buFont typeface="Noto Sans Symbols"/>
              <a:buChar char="⚪"/>
            </a:pPr>
            <a:r>
              <a:rPr b="0" i="0" lang="en-IN" sz="2000" u="none" cap="none" strike="noStrike">
                <a:solidFill>
                  <a:srgbClr val="B84700"/>
                </a:solidFill>
                <a:latin typeface="Courier"/>
                <a:ea typeface="Courier"/>
                <a:cs typeface="Courier"/>
                <a:sym typeface="Courier"/>
              </a:rPr>
              <a:t>x[x := N]        ≡ N</a:t>
            </a:r>
            <a:endParaRPr b="0" i="0" sz="20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300"/>
              <a:buFont typeface="Noto Sans Symbols"/>
              <a:buChar char="⚪"/>
            </a:pPr>
            <a:r>
              <a:rPr b="0" i="0" lang="en-IN" sz="2000" u="none" cap="none" strike="noStrike">
                <a:solidFill>
                  <a:srgbClr val="B84700"/>
                </a:solidFill>
                <a:latin typeface="Courier"/>
                <a:ea typeface="Courier"/>
                <a:cs typeface="Courier"/>
                <a:sym typeface="Courier"/>
              </a:rPr>
              <a:t>y[x := N]        ≡ y, if x ≠ y</a:t>
            </a:r>
            <a:endParaRPr b="0" i="0" sz="20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300"/>
              <a:buFont typeface="Noto Sans Symbols"/>
              <a:buChar char="⚪"/>
            </a:pPr>
            <a:r>
              <a:rPr b="0" i="0" lang="en-IN" sz="2000" u="none" cap="none" strike="noStrike">
                <a:solidFill>
                  <a:srgbClr val="B84700"/>
                </a:solidFill>
                <a:latin typeface="Courier"/>
                <a:ea typeface="Courier"/>
                <a:cs typeface="Courier"/>
                <a:sym typeface="Courier"/>
              </a:rPr>
              <a:t>(M1 M2)[x := N]  ≡ (M1[x := N]) (M2[x := N])</a:t>
            </a:r>
            <a:endParaRPr b="0" i="0" sz="20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300"/>
              <a:buFont typeface="Noto Sans Symbols"/>
              <a:buChar char="⚪"/>
            </a:pPr>
            <a:r>
              <a:rPr b="0" i="0" lang="en-IN" sz="2000" u="none" cap="none" strike="noStrike">
                <a:solidFill>
                  <a:srgbClr val="B84700"/>
                </a:solidFill>
                <a:latin typeface="Courier"/>
                <a:ea typeface="Courier"/>
                <a:cs typeface="Courier"/>
                <a:sym typeface="Courier"/>
              </a:rPr>
              <a:t>(λy.M)[x := N]   ≡ λy.(M[x := N]), if x ≠ y and y ∉ FV(N) </a:t>
            </a:r>
            <a:endParaRPr b="0" i="0" sz="20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9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η-conversion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9"/>
          <p:cNvSpPr txBox="1"/>
          <p:nvPr/>
        </p:nvSpPr>
        <p:spPr>
          <a:xfrm>
            <a:off x="948960" y="1981080"/>
            <a:ext cx="7658280" cy="44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Extensionality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Two functions are the same if and only if they give the same result for all arguments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Eta-conversion converts between λx.f  x and f whenever x does not appear free in f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0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Church Numerals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50"/>
          <p:cNvSpPr txBox="1"/>
          <p:nvPr/>
        </p:nvSpPr>
        <p:spPr>
          <a:xfrm>
            <a:off x="756000" y="1422360"/>
            <a:ext cx="765828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540"/>
              <a:buFont typeface="Noto Sans Symbols"/>
              <a:buChar char="■"/>
            </a:pPr>
            <a:r>
              <a:rPr b="0" lang="en-IN" sz="2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Church numerals are the representations of natural numbers under Church encoding. </a:t>
            </a:r>
            <a:endParaRPr b="0" sz="2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540"/>
              <a:buFont typeface="Noto Sans Symbols"/>
              <a:buChar char="■"/>
            </a:pPr>
            <a:r>
              <a:rPr b="0" lang="en-IN" sz="2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The "value" of the numeral is equivalent to the number of times the function encapsulates its argument.</a:t>
            </a:r>
            <a:endParaRPr b="0" sz="2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430"/>
              <a:buFont typeface="Noto Sans Symbols"/>
              <a:buChar char="⚪"/>
            </a:pPr>
            <a:r>
              <a:rPr b="0" i="0" lang="en-IN" sz="2200" u="none" cap="none" strike="noStrike">
                <a:solidFill>
                  <a:srgbClr val="B84700"/>
                </a:solidFill>
                <a:latin typeface="Courier"/>
                <a:ea typeface="Courier"/>
                <a:cs typeface="Courier"/>
                <a:sym typeface="Courier"/>
              </a:rPr>
              <a:t>f^n = f o  f o f o f ... n times</a:t>
            </a:r>
            <a:endParaRPr b="0" i="0" sz="22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540"/>
              <a:buFont typeface="Noto Sans Symbols"/>
              <a:buChar char="■"/>
            </a:pPr>
            <a:r>
              <a:rPr b="0" lang="en-IN" sz="2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 b="0" sz="2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430"/>
              <a:buFont typeface="Noto Sans Symbols"/>
              <a:buChar char="⚪"/>
            </a:pPr>
            <a:r>
              <a:rPr b="0" i="0" lang="en-IN" sz="22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Church numerals 0, 1, 2, ..., are defined as follows in the lambda calculus:</a:t>
            </a:r>
            <a:endParaRPr b="0" i="0" sz="22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430"/>
              <a:buFont typeface="Noto Sans Symbols"/>
              <a:buChar char="⚪"/>
            </a:pPr>
            <a:r>
              <a:rPr b="0" i="0" lang="en-IN" sz="2200" u="none" cap="none" strike="noStrike">
                <a:solidFill>
                  <a:srgbClr val="B84700"/>
                </a:solidFill>
                <a:latin typeface="Courier"/>
                <a:ea typeface="Courier"/>
                <a:cs typeface="Courier"/>
                <a:sym typeface="Courier"/>
              </a:rPr>
              <a:t>0 ≡ λf.λx. x</a:t>
            </a:r>
            <a:endParaRPr b="0" i="0" sz="22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430"/>
              <a:buFont typeface="Noto Sans Symbols"/>
              <a:buChar char="⚪"/>
            </a:pPr>
            <a:r>
              <a:rPr b="0" i="0" lang="en-IN" sz="2200" u="none" cap="none" strike="noStrike">
                <a:solidFill>
                  <a:srgbClr val="B84700"/>
                </a:solidFill>
                <a:latin typeface="Courier"/>
                <a:ea typeface="Courier"/>
                <a:cs typeface="Courier"/>
                <a:sym typeface="Courier"/>
              </a:rPr>
              <a:t>1 ≡ λf.λx. f x</a:t>
            </a:r>
            <a:endParaRPr b="0" i="0" sz="22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430"/>
              <a:buFont typeface="Noto Sans Symbols"/>
              <a:buChar char="⚪"/>
            </a:pPr>
            <a:r>
              <a:rPr b="0" i="0" lang="en-IN" sz="2200" u="none" cap="none" strike="noStrike">
                <a:solidFill>
                  <a:srgbClr val="B84700"/>
                </a:solidFill>
                <a:latin typeface="Courier"/>
                <a:ea typeface="Courier"/>
                <a:cs typeface="Courier"/>
                <a:sym typeface="Courier"/>
              </a:rPr>
              <a:t>2 ≡ λf.λx. f (f x)</a:t>
            </a:r>
            <a:endParaRPr b="0" i="0" sz="22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430"/>
              <a:buFont typeface="Noto Sans Symbols"/>
              <a:buChar char="⚪"/>
            </a:pPr>
            <a:r>
              <a:rPr b="0" i="0" lang="en-IN" sz="2200" u="none" cap="none" strike="noStrike">
                <a:solidFill>
                  <a:srgbClr val="B84700"/>
                </a:solidFill>
                <a:latin typeface="Courier"/>
                <a:ea typeface="Courier"/>
                <a:cs typeface="Courier"/>
                <a:sym typeface="Courier"/>
              </a:rPr>
              <a:t>3 ≡ λf.λx. f (f (f x))</a:t>
            </a:r>
            <a:endParaRPr b="0" i="0" sz="22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430"/>
              <a:buFont typeface="Noto Sans Symbols"/>
              <a:buChar char="⚪"/>
            </a:pPr>
            <a:r>
              <a:rPr b="0" i="0" lang="en-IN" sz="2200" u="none" cap="none" strike="noStrike">
                <a:solidFill>
                  <a:srgbClr val="B84700"/>
                </a:solidFill>
                <a:latin typeface="Courier"/>
                <a:ea typeface="Courier"/>
                <a:cs typeface="Courier"/>
                <a:sym typeface="Courier"/>
              </a:rPr>
              <a:t>...</a:t>
            </a:r>
            <a:endParaRPr b="0" i="0" sz="22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430"/>
              <a:buFont typeface="Noto Sans Symbols"/>
              <a:buChar char="⚪"/>
            </a:pPr>
            <a:r>
              <a:rPr b="0" i="0" lang="en-IN" sz="2200" u="none" cap="none" strike="noStrike">
                <a:solidFill>
                  <a:srgbClr val="B84700"/>
                </a:solidFill>
                <a:latin typeface="Courier"/>
                <a:ea typeface="Courier"/>
                <a:cs typeface="Courier"/>
                <a:sym typeface="Courier"/>
              </a:rPr>
              <a:t>n ≡ λf.λx. fn x</a:t>
            </a:r>
            <a:endParaRPr b="0" i="0" sz="22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1"/>
          <p:cNvSpPr txBox="1"/>
          <p:nvPr/>
        </p:nvSpPr>
        <p:spPr>
          <a:xfrm>
            <a:off x="1002960" y="-396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540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Computable functions and</a:t>
            </a:r>
            <a:br>
              <a:rPr lang="en-IN" sz="1800"/>
            </a:b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lambda calculus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51"/>
          <p:cNvSpPr txBox="1"/>
          <p:nvPr/>
        </p:nvSpPr>
        <p:spPr>
          <a:xfrm>
            <a:off x="621720" y="1863720"/>
            <a:ext cx="7658280" cy="44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ctr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A function F: N → N of natural numbers 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ctr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is a </a:t>
            </a:r>
            <a:r>
              <a:rPr b="0" lang="en-IN" sz="28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computable function</a:t>
            </a: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if and only if 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ctr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there exists a lambda expression f such that 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ctr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 every pair of x, y in N, F(x)=y 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ctr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if and only if f x =</a:t>
            </a:r>
            <a:r>
              <a:rPr b="0" baseline="-25000" lang="en-IN" sz="28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β</a:t>
            </a:r>
            <a:r>
              <a:rPr b="0" lang="en-IN" sz="280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y;   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ctr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where x and y are the Church numerals corresponding to x and y, respectively 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ctr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and =</a:t>
            </a:r>
            <a:r>
              <a:rPr b="0" baseline="-2500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β</a:t>
            </a: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 meaning equivalence with beta reduction.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2"/>
          <p:cNvSpPr txBox="1"/>
          <p:nvPr/>
        </p:nvSpPr>
        <p:spPr>
          <a:xfrm>
            <a:off x="1002960" y="68400"/>
            <a:ext cx="7155000" cy="6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Functional Programming in Python</a:t>
            </a:r>
            <a:endParaRPr b="0" sz="3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3"/>
          <p:cNvSpPr txBox="1"/>
          <p:nvPr/>
        </p:nvSpPr>
        <p:spPr>
          <a:xfrm>
            <a:off x="1002960" y="23400"/>
            <a:ext cx="7155000" cy="141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Imperative Vs Functional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3"/>
          <p:cNvSpPr txBox="1"/>
          <p:nvPr/>
        </p:nvSpPr>
        <p:spPr>
          <a:xfrm>
            <a:off x="180000" y="1773360"/>
            <a:ext cx="8820000" cy="5618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DC2300"/>
                </a:solidFill>
                <a:latin typeface="Courier"/>
                <a:ea typeface="Courier"/>
                <a:cs typeface="Courier"/>
                <a:sym typeface="Courier"/>
              </a:rPr>
              <a:t># imperative style</a:t>
            </a:r>
            <a:endParaRPr b="0" sz="2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DC2300"/>
                </a:solidFill>
                <a:latin typeface="Courier"/>
                <a:ea typeface="Courier"/>
                <a:cs typeface="Courier"/>
                <a:sym typeface="Courier"/>
              </a:rPr>
              <a:t># create empty list</a:t>
            </a:r>
            <a:endParaRPr b="0" sz="2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000080"/>
                </a:solidFill>
                <a:latin typeface="Courier"/>
                <a:ea typeface="Courier"/>
                <a:cs typeface="Courier"/>
                <a:sym typeface="Courier"/>
              </a:rPr>
              <a:t>target = [] </a:t>
            </a:r>
            <a:endParaRPr b="0" sz="2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DC2300"/>
                </a:solidFill>
                <a:latin typeface="Courier"/>
                <a:ea typeface="Courier"/>
                <a:cs typeface="Courier"/>
                <a:sym typeface="Courier"/>
              </a:rPr>
              <a:t># iterate over each thing in source</a:t>
            </a:r>
            <a:endParaRPr b="0" sz="2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000080"/>
                </a:solidFill>
                <a:latin typeface="Courier"/>
                <a:ea typeface="Courier"/>
                <a:cs typeface="Courier"/>
                <a:sym typeface="Courier"/>
              </a:rPr>
              <a:t>for item in source_list: </a:t>
            </a:r>
            <a:endParaRPr b="0" sz="2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DC2300"/>
                </a:solidFill>
                <a:latin typeface="Courier"/>
                <a:ea typeface="Courier"/>
                <a:cs typeface="Courier"/>
                <a:sym typeface="Courier"/>
              </a:rPr>
              <a:t>    # transform the item with the G()function</a:t>
            </a:r>
            <a:endParaRPr b="0" sz="2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000080"/>
                </a:solidFill>
                <a:latin typeface="Courier"/>
                <a:ea typeface="Courier"/>
                <a:cs typeface="Courier"/>
                <a:sym typeface="Courier"/>
              </a:rPr>
              <a:t>    trans1 = G(item) </a:t>
            </a:r>
            <a:endParaRPr b="0" sz="2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DC2300"/>
                </a:solidFill>
                <a:latin typeface="Courier"/>
                <a:ea typeface="Courier"/>
                <a:cs typeface="Courier"/>
                <a:sym typeface="Courier"/>
              </a:rPr>
              <a:t>    # second transform with the F()function</a:t>
            </a:r>
            <a:endParaRPr b="0" sz="2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000080"/>
                </a:solidFill>
                <a:latin typeface="Courier"/>
                <a:ea typeface="Courier"/>
                <a:cs typeface="Courier"/>
                <a:sym typeface="Courier"/>
              </a:rPr>
              <a:t>    trans2 = F(trans1) </a:t>
            </a:r>
            <a:endParaRPr b="0" sz="2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DC2300"/>
                </a:solidFill>
                <a:latin typeface="Courier"/>
                <a:ea typeface="Courier"/>
                <a:cs typeface="Courier"/>
                <a:sym typeface="Courier"/>
              </a:rPr>
              <a:t>     # add transformed item to target</a:t>
            </a:r>
            <a:endParaRPr b="0" sz="2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000080"/>
                </a:solidFill>
                <a:latin typeface="Courier"/>
                <a:ea typeface="Courier"/>
                <a:cs typeface="Courier"/>
                <a:sym typeface="Courier"/>
              </a:rPr>
              <a:t>    target.append(trans2) </a:t>
            </a:r>
            <a:endParaRPr b="0" sz="2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4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Imperative Vs Functional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54"/>
          <p:cNvSpPr txBox="1"/>
          <p:nvPr/>
        </p:nvSpPr>
        <p:spPr>
          <a:xfrm>
            <a:off x="612000" y="1471320"/>
            <a:ext cx="8280000" cy="551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400" strike="noStrike">
                <a:solidFill>
                  <a:srgbClr val="DC2300"/>
                </a:solidFill>
                <a:latin typeface="Courier"/>
                <a:ea typeface="Courier"/>
                <a:cs typeface="Courier"/>
                <a:sym typeface="Courier"/>
              </a:rPr>
              <a:t># functional style</a:t>
            </a:r>
            <a:endParaRPr b="0" sz="24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400" strike="noStrike">
                <a:solidFill>
                  <a:srgbClr val="DC2300"/>
                </a:solidFill>
                <a:latin typeface="Courier"/>
                <a:ea typeface="Courier"/>
                <a:cs typeface="Courier"/>
                <a:sym typeface="Courier"/>
              </a:rPr>
              <a:t># FP-oriented languages often have standard compose()</a:t>
            </a:r>
            <a:endParaRPr b="0" sz="24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400" strike="noStrike">
                <a:solidFill>
                  <a:srgbClr val="DC2300"/>
                </a:solidFill>
                <a:latin typeface="Courier"/>
                <a:ea typeface="Courier"/>
                <a:cs typeface="Courier"/>
                <a:sym typeface="Courier"/>
              </a:rPr>
              <a:t># Define how to apply two generic </a:t>
            </a:r>
            <a:endParaRPr b="0" sz="24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400" strike="noStrike">
                <a:solidFill>
                  <a:srgbClr val="DC2300"/>
                </a:solidFill>
                <a:latin typeface="Courier"/>
                <a:ea typeface="Courier"/>
                <a:cs typeface="Courier"/>
                <a:sym typeface="Courier"/>
              </a:rPr>
              <a:t># transformations</a:t>
            </a:r>
            <a:endParaRPr b="0" sz="24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400" strike="noStrike">
                <a:solidFill>
                  <a:srgbClr val="000080"/>
                </a:solidFill>
                <a:latin typeface="Courier"/>
                <a:ea typeface="Courier"/>
                <a:cs typeface="Courier"/>
                <a:sym typeface="Courier"/>
              </a:rPr>
              <a:t>compose2 = lambda A, B: lambda x: A(B(x)) </a:t>
            </a:r>
            <a:endParaRPr b="0" sz="24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400" strike="noStrike">
                <a:solidFill>
                  <a:srgbClr val="DC2300"/>
                </a:solidFill>
                <a:latin typeface="Courier"/>
                <a:ea typeface="Courier"/>
                <a:cs typeface="Courier"/>
                <a:sym typeface="Courier"/>
              </a:rPr>
              <a:t># Apply two specific functions F and G </a:t>
            </a:r>
            <a:endParaRPr b="0" sz="24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400" strike="noStrike">
                <a:solidFill>
                  <a:srgbClr val="DC2300"/>
                </a:solidFill>
                <a:latin typeface="Courier"/>
                <a:ea typeface="Courier"/>
                <a:cs typeface="Courier"/>
                <a:sym typeface="Courier"/>
              </a:rPr>
              <a:t># to each item in source</a:t>
            </a:r>
            <a:endParaRPr b="0" sz="24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400" strike="noStrike">
                <a:solidFill>
                  <a:srgbClr val="000080"/>
                </a:solidFill>
                <a:latin typeface="Courier"/>
                <a:ea typeface="Courier"/>
                <a:cs typeface="Courier"/>
                <a:sym typeface="Courier"/>
              </a:rPr>
              <a:t>target = map(compose2(F, G), source_list)</a:t>
            </a:r>
            <a:endParaRPr b="0" sz="24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400" strike="noStrike">
                <a:solidFill>
                  <a:srgbClr val="000080"/>
                </a:solidFill>
                <a:latin typeface="Courier"/>
                <a:ea typeface="Courier"/>
                <a:cs typeface="Courier"/>
                <a:sym typeface="Courier"/>
              </a:rPr>
              <a:t>-------------------------------------------</a:t>
            </a:r>
            <a:endParaRPr b="0" sz="24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400" strike="noStrike">
                <a:solidFill>
                  <a:srgbClr val="DC2300"/>
                </a:solidFill>
                <a:latin typeface="Courier"/>
                <a:ea typeface="Courier"/>
                <a:cs typeface="Courier"/>
                <a:sym typeface="Courier"/>
              </a:rPr>
              <a:t># OR PYTHON STYLE</a:t>
            </a:r>
            <a:endParaRPr b="0" sz="24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400" strike="noStrike">
                <a:solidFill>
                  <a:srgbClr val="000080"/>
                </a:solidFill>
                <a:latin typeface="Courier"/>
                <a:ea typeface="Courier"/>
                <a:cs typeface="Courier"/>
                <a:sym typeface="Courier"/>
              </a:rPr>
              <a:t>target = [F(G(item)) for item in source_list] </a:t>
            </a:r>
            <a:endParaRPr b="0" sz="24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5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Programming Concepts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5"/>
          <p:cNvSpPr txBox="1"/>
          <p:nvPr/>
        </p:nvSpPr>
        <p:spPr>
          <a:xfrm>
            <a:off x="948960" y="1981080"/>
            <a:ext cx="7658280" cy="44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Higher order functions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Pure Functions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Recursion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Strict (eager) Vs Non Strict (lazy) evaluation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6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5400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Higher-order functions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56"/>
          <p:cNvSpPr txBox="1"/>
          <p:nvPr/>
        </p:nvSpPr>
        <p:spPr>
          <a:xfrm>
            <a:off x="948960" y="1981080"/>
            <a:ext cx="7658280" cy="44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Functions that can either take other functions as arguments or return them as results 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820"/>
              <a:buFont typeface="Noto Sans Symbols"/>
              <a:buChar char="⚪"/>
            </a:pPr>
            <a:r>
              <a:rPr b="0" i="0" lang="en-IN" sz="28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the differential operator d / dx that produces the derivative of a function f</a:t>
            </a:r>
            <a:endParaRPr b="0" i="0" sz="28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978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None/>
            </a:pPr>
            <a:r>
              <a:t/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7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Pure Functions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57"/>
          <p:cNvSpPr txBox="1"/>
          <p:nvPr/>
        </p:nvSpPr>
        <p:spPr>
          <a:xfrm>
            <a:off x="801720" y="1747800"/>
            <a:ext cx="7658280" cy="484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680"/>
              <a:buFont typeface="Noto Sans Symbols"/>
              <a:buChar char="■"/>
            </a:pPr>
            <a:r>
              <a:rPr b="0" lang="en-IN" sz="24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Functions with no memory or I/O side effects </a:t>
            </a:r>
            <a:endParaRPr b="0" sz="24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560"/>
              <a:buFont typeface="Noto Sans Symbols"/>
              <a:buChar char="⚪"/>
            </a:pPr>
            <a:r>
              <a:rPr b="0" i="0" lang="en-IN" sz="24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if the result of a pure expression is not used, it can be removed without affecting other expressions.</a:t>
            </a:r>
            <a:endParaRPr b="0" i="0" sz="24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560"/>
              <a:buFont typeface="Noto Sans Symbols"/>
              <a:buChar char="⚪"/>
            </a:pPr>
            <a:r>
              <a:rPr b="0" i="0" lang="en-IN" sz="24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referential transparency: result is constant with respect to that parameter list</a:t>
            </a:r>
            <a:endParaRPr b="0" i="0" sz="24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560"/>
              <a:buFont typeface="Noto Sans Symbols"/>
              <a:buChar char="⚪"/>
            </a:pPr>
            <a:r>
              <a:rPr b="0" i="0" lang="en-IN" sz="24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If there is no data dependency between two pure expressions, then their order can be reversed, or they can be performed in parallel</a:t>
            </a:r>
            <a:endParaRPr b="0" i="0" sz="24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560"/>
              <a:buFont typeface="Noto Sans Symbols"/>
              <a:buChar char="⚪"/>
            </a:pPr>
            <a:r>
              <a:rPr b="0" i="0" lang="en-IN" sz="24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If the entire language does not allow side-effects, then any evaluation strategy can be used</a:t>
            </a:r>
            <a:endParaRPr b="0" i="0" sz="24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1759" lvl="2" marL="1290600" marR="0" rtl="0" algn="l">
              <a:spcBef>
                <a:spcPts val="598"/>
              </a:spcBef>
              <a:spcAft>
                <a:spcPts val="0"/>
              </a:spcAft>
              <a:buClr>
                <a:srgbClr val="CC9900"/>
              </a:buClr>
              <a:buSzPts val="1680"/>
              <a:buFont typeface="Noto Sans Symbols"/>
              <a:buChar char="■"/>
            </a:pPr>
            <a:r>
              <a:rPr b="0" i="0" lang="en-IN" sz="2400" u="none" cap="none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this gives the compiler freedom to reorder or combine the evaluation of expressions</a:t>
            </a:r>
            <a:endParaRPr b="0" i="0" sz="2400" u="none" cap="none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8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Recursion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8"/>
          <p:cNvSpPr txBox="1"/>
          <p:nvPr/>
        </p:nvSpPr>
        <p:spPr>
          <a:xfrm>
            <a:off x="948960" y="1981080"/>
            <a:ext cx="7658280" cy="44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Recursive functions invoke themselves, allowing an operation to be performed over and over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Most general purpose functional programming languages allow unrestricted recursion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9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Lazy or Eager evaluation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59"/>
          <p:cNvSpPr txBox="1"/>
          <p:nvPr/>
        </p:nvSpPr>
        <p:spPr>
          <a:xfrm>
            <a:off x="252000" y="1402920"/>
            <a:ext cx="8820000" cy="52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680"/>
              <a:buFont typeface="Noto Sans Symbols"/>
              <a:buChar char="■"/>
            </a:pPr>
            <a:r>
              <a:rPr b="0" lang="en-IN" sz="24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Strict(eager) evaluation: the evaluation of any term containing a failing subterm will itself fail. </a:t>
            </a:r>
            <a:endParaRPr b="0" sz="24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560"/>
              <a:buFont typeface="Noto Sans Symbols"/>
              <a:buChar char="⚪"/>
            </a:pPr>
            <a:r>
              <a:rPr b="0" i="0" lang="en-IN" sz="24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For example, the expression </a:t>
            </a:r>
            <a:r>
              <a:rPr b="0" i="0" lang="en-IN" sz="2400" u="none" cap="none" strike="noStrike">
                <a:solidFill>
                  <a:srgbClr val="B84700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b="0" i="0" sz="24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560"/>
              <a:buFont typeface="Noto Sans Symbols"/>
              <a:buChar char="⚪"/>
            </a:pPr>
            <a:r>
              <a:rPr b="0" i="0" lang="en-IN" sz="2400" u="none" cap="none" strike="noStrike">
                <a:solidFill>
                  <a:srgbClr val="B84700"/>
                </a:solidFill>
                <a:latin typeface="Courier"/>
                <a:ea typeface="Courier"/>
                <a:cs typeface="Courier"/>
                <a:sym typeface="Courier"/>
              </a:rPr>
              <a:t>print length([2+1, 3*2, 1/0, 5-4])</a:t>
            </a:r>
            <a:endParaRPr b="0" i="0" sz="24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560"/>
              <a:buFont typeface="Noto Sans Symbols"/>
              <a:buChar char="⚪"/>
            </a:pPr>
            <a:r>
              <a:rPr b="0" i="0" lang="en-IN" sz="24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will fail under strict evaluation because of the division by zero</a:t>
            </a:r>
            <a:endParaRPr b="0" i="0" sz="24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680"/>
              <a:buFont typeface="Noto Sans Symbols"/>
              <a:buChar char="■"/>
            </a:pPr>
            <a:r>
              <a:rPr b="0" lang="en-IN" sz="24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Nonstrict(lazy) evaluation: same function will return 4</a:t>
            </a:r>
            <a:endParaRPr b="0" sz="24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9560" lvl="1" marL="885600" marR="0" rtl="0" algn="l">
              <a:spcBef>
                <a:spcPts val="697"/>
              </a:spcBef>
              <a:spcAft>
                <a:spcPts val="0"/>
              </a:spcAft>
              <a:buClr>
                <a:srgbClr val="999933"/>
              </a:buClr>
              <a:buSzPts val="1560"/>
              <a:buFont typeface="Noto Sans Symbols"/>
              <a:buChar char="⚪"/>
            </a:pPr>
            <a:r>
              <a:rPr b="0" i="0" lang="en-IN" sz="2400" u="none" cap="none" strike="noStrike">
                <a:solidFill>
                  <a:srgbClr val="B84700"/>
                </a:solidFill>
                <a:latin typeface="Arial"/>
                <a:ea typeface="Arial"/>
                <a:cs typeface="Arial"/>
                <a:sym typeface="Arial"/>
              </a:rPr>
              <a:t>No attempt to evaluate the terms making up the list. </a:t>
            </a:r>
            <a:endParaRPr b="0" i="0" sz="2400" u="none" cap="none" strike="noStrike">
              <a:solidFill>
                <a:srgbClr val="B847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680"/>
              <a:buFont typeface="Noto Sans Symbols"/>
              <a:buChar char="■"/>
            </a:pPr>
            <a:r>
              <a:rPr b="0" lang="en-IN" sz="24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Strict evaluation always fully evaluates function arguments before invoking the function</a:t>
            </a:r>
            <a:endParaRPr b="0" sz="24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680"/>
              <a:buFont typeface="Noto Sans Symbols"/>
              <a:buChar char="■"/>
            </a:pPr>
            <a:r>
              <a:rPr b="0" lang="en-IN" sz="24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Non-strict evaluation does not evaluate function arguments unless their values are required to evaluate the function call itself</a:t>
            </a:r>
            <a:endParaRPr b="0" sz="24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0"/>
          <p:cNvSpPr txBox="1"/>
          <p:nvPr/>
        </p:nvSpPr>
        <p:spPr>
          <a:xfrm>
            <a:off x="1002960" y="68400"/>
            <a:ext cx="7155000" cy="6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Functional Programming with Python</a:t>
            </a:r>
            <a:endParaRPr b="0" sz="3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1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Iterators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61"/>
          <p:cNvSpPr txBox="1"/>
          <p:nvPr/>
        </p:nvSpPr>
        <p:spPr>
          <a:xfrm>
            <a:off x="360000" y="1572120"/>
            <a:ext cx="5220000" cy="571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L = [1,2,3]</a:t>
            </a:r>
            <a:endParaRPr b="0" sz="2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it = iter(L)</a:t>
            </a:r>
            <a:endParaRPr b="0" sz="2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print it</a:t>
            </a:r>
            <a:endParaRPr b="0" sz="2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&lt;...iterator object at ...&gt;</a:t>
            </a:r>
            <a:endParaRPr b="0" sz="2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it.next()</a:t>
            </a:r>
            <a:endParaRPr b="0" sz="2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  <a:endParaRPr b="0" sz="2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it.next()</a:t>
            </a:r>
            <a:endParaRPr b="0" sz="2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2</a:t>
            </a:r>
            <a:endParaRPr b="0" sz="2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it.next()</a:t>
            </a:r>
            <a:endParaRPr b="0" sz="2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3</a:t>
            </a:r>
            <a:endParaRPr b="0" sz="2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it.next()</a:t>
            </a:r>
            <a:endParaRPr b="0" sz="2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Traceback (most recent call last):</a:t>
            </a:r>
            <a:endParaRPr b="0" sz="2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  File "&lt;stdin&gt;", line 1, in ?</a:t>
            </a:r>
            <a:endParaRPr b="0" sz="2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StopIteration</a:t>
            </a:r>
            <a:endParaRPr b="0" sz="2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</a:t>
            </a:r>
            <a:endParaRPr b="0" sz="2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1"/>
          <p:cNvSpPr txBox="1"/>
          <p:nvPr/>
        </p:nvSpPr>
        <p:spPr>
          <a:xfrm>
            <a:off x="5580000" y="1671480"/>
            <a:ext cx="3420000" cy="176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for i in iter(obj):</a:t>
            </a:r>
            <a:endParaRPr b="0" sz="2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    print i</a:t>
            </a:r>
            <a:endParaRPr b="0" sz="2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for i in obj:</a:t>
            </a:r>
            <a:endParaRPr b="0" sz="2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2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    print i</a:t>
            </a:r>
            <a:endParaRPr b="0" sz="2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2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2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Iterators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2"/>
          <p:cNvSpPr txBox="1"/>
          <p:nvPr/>
        </p:nvSpPr>
        <p:spPr>
          <a:xfrm>
            <a:off x="948960" y="1981080"/>
            <a:ext cx="7658280" cy="44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An iterator is an object representing a stream of data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This object returns the data one element at a time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A Python iterator must support a method called next() that takes no arguments and always returns the next element of the stream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240" lvl="0" marL="444240" marR="0" rtl="0" algn="l">
              <a:spcBef>
                <a:spcPts val="799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If there are no more elements in the stream, next() must raise the StopIteration exception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3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types that support iteration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3"/>
          <p:cNvSpPr txBox="1"/>
          <p:nvPr/>
        </p:nvSpPr>
        <p:spPr>
          <a:xfrm>
            <a:off x="360000" y="1537920"/>
            <a:ext cx="4320000" cy="546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m = {'Jan': 1, 'Feb': 2, 'Mar': 3, 'Apr': 4, 'May': 5, 'Jun': 6,'Jul': 7, 'Aug': 8, 'Sep': 9, 'Oct': 10, 'Nov': 11, 'Dec': 12}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for key in m: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...     print key, m[key]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Mar 3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Feb 2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Aug 8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Sep 9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Apr 4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Jun 6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Jul 7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Jan 1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May 5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Nov 11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Dec 12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Oct 10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63"/>
          <p:cNvSpPr txBox="1"/>
          <p:nvPr/>
        </p:nvSpPr>
        <p:spPr>
          <a:xfrm>
            <a:off x="4680000" y="1502280"/>
            <a:ext cx="4239000" cy="2457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L = [('Italy', 'Rome'), ('France', 'Paris'), ('US', 'Washington DC')]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dict(iter(L))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{'Italy': 'Rome', 'US': 'Washington DC', 'France': 'Paris'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63"/>
          <p:cNvSpPr txBox="1"/>
          <p:nvPr/>
        </p:nvSpPr>
        <p:spPr>
          <a:xfrm>
            <a:off x="4320000" y="4140000"/>
            <a:ext cx="4680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S = set((2, 3, 5, 7, 11, 13))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for i in S: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    print i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63"/>
          <p:cNvSpPr txBox="1"/>
          <p:nvPr/>
        </p:nvSpPr>
        <p:spPr>
          <a:xfrm>
            <a:off x="3924000" y="5400000"/>
            <a:ext cx="5220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for line in file: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    # do something for each line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    ...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4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Writing an iterator class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64"/>
          <p:cNvSpPr txBox="1"/>
          <p:nvPr/>
        </p:nvSpPr>
        <p:spPr>
          <a:xfrm>
            <a:off x="948960" y="1981080"/>
            <a:ext cx="7658280" cy="44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240"/>
              <a:buFont typeface="Noto Sans Symbols"/>
              <a:buChar char="■"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See iterator.py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5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Generators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65"/>
          <p:cNvSpPr txBox="1"/>
          <p:nvPr/>
        </p:nvSpPr>
        <p:spPr>
          <a:xfrm>
            <a:off x="900000" y="1477080"/>
            <a:ext cx="7658280" cy="143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4240" lvl="0" marL="444240" marR="0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960"/>
              <a:buFont typeface="Noto Sans Symbols"/>
              <a:buChar char="■"/>
            </a:pPr>
            <a:r>
              <a:rPr b="0" lang="en-IN" sz="28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Generators are a special class of functions that simplify the task of writing 	iterators.</a:t>
            </a:r>
            <a:endParaRPr b="0" sz="28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65"/>
          <p:cNvSpPr txBox="1"/>
          <p:nvPr/>
        </p:nvSpPr>
        <p:spPr>
          <a:xfrm>
            <a:off x="360000" y="3659040"/>
            <a:ext cx="3240000" cy="19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def generate_ints(N):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    for i in range(N):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        yield i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5"/>
          <p:cNvSpPr txBox="1"/>
          <p:nvPr/>
        </p:nvSpPr>
        <p:spPr>
          <a:xfrm>
            <a:off x="3780000" y="2232000"/>
            <a:ext cx="5081400" cy="45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gen = generate_ints(3)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gen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&lt;generator object generate_ints at ...&gt;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gen.next()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0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gen.next()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gen.next()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2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gen.next()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Traceback (most recent call last):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  File "stdin", line 1, in ?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  File "stdin", line 2, in generate_ints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8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StopIteration</a:t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6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 in Functions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66"/>
          <p:cNvSpPr txBox="1"/>
          <p:nvPr/>
        </p:nvSpPr>
        <p:spPr>
          <a:xfrm>
            <a:off x="180000" y="1620000"/>
            <a:ext cx="8100000" cy="195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def upper(s):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...     return s.upper()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map(upper, ['sentence', 'fragment'])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['SENTENCE', 'FRAGMENT']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66"/>
          <p:cNvSpPr txBox="1"/>
          <p:nvPr/>
        </p:nvSpPr>
        <p:spPr>
          <a:xfrm>
            <a:off x="180000" y="3060000"/>
            <a:ext cx="7920000" cy="1789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def is_even(x):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...     return (x % 2) == 0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filter(is_even, range(10))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[0, 2, 4, 6, 8]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66"/>
          <p:cNvSpPr txBox="1"/>
          <p:nvPr/>
        </p:nvSpPr>
        <p:spPr>
          <a:xfrm>
            <a:off x="0" y="4466160"/>
            <a:ext cx="9000000" cy="196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for item in enumerate(['subject', 'verb', 'object']):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...     print item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(0, 'subject')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(1, 'verb')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(2, 'object')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7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Lambda expressions/functions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67"/>
          <p:cNvSpPr txBox="1"/>
          <p:nvPr/>
        </p:nvSpPr>
        <p:spPr>
          <a:xfrm>
            <a:off x="0" y="1800000"/>
            <a:ext cx="9144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lowercase = lambda x: x.lower()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print_assign = lambda name, value: name + '=' + str(value)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adder = lambda x, y: x+y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8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40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Functools, itools, operators, operator modules</a:t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68"/>
          <p:cNvSpPr txBox="1"/>
          <p:nvPr/>
        </p:nvSpPr>
        <p:spPr>
          <a:xfrm>
            <a:off x="441720" y="1800000"/>
            <a:ext cx="3338280" cy="541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3200" strike="noStrike">
                <a:solidFill>
                  <a:srgbClr val="000080"/>
                </a:solidFill>
                <a:latin typeface="Arial"/>
                <a:ea typeface="Arial"/>
                <a:cs typeface="Arial"/>
                <a:sym typeface="Arial"/>
              </a:rPr>
              <a:t>Functools module</a:t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000080"/>
                </a:solidFill>
                <a:latin typeface="Courier"/>
                <a:ea typeface="Courier"/>
                <a:cs typeface="Courier"/>
                <a:sym typeface="Courier"/>
              </a:rPr>
              <a:t>&gt;&gt;&gt; def add(a, b):</a:t>
            </a:r>
            <a:endParaRPr b="0" sz="20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000080"/>
                </a:solidFill>
                <a:latin typeface="Courier"/>
                <a:ea typeface="Courier"/>
                <a:cs typeface="Courier"/>
                <a:sym typeface="Courier"/>
              </a:rPr>
              <a:t>...     return a + b</a:t>
            </a:r>
            <a:endParaRPr b="0" sz="20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000080"/>
                </a:solidFill>
                <a:latin typeface="Courier"/>
                <a:ea typeface="Courier"/>
                <a:cs typeface="Courier"/>
                <a:sym typeface="Courier"/>
              </a:rPr>
              <a:t>...</a:t>
            </a:r>
            <a:endParaRPr b="0" sz="20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000080"/>
                </a:solidFill>
                <a:latin typeface="Courier"/>
                <a:ea typeface="Courier"/>
                <a:cs typeface="Courier"/>
                <a:sym typeface="Courier"/>
              </a:rPr>
              <a:t>&gt;&gt;&gt; def double(a):</a:t>
            </a:r>
            <a:endParaRPr b="0" sz="20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000080"/>
                </a:solidFill>
                <a:latin typeface="Courier"/>
                <a:ea typeface="Courier"/>
                <a:cs typeface="Courier"/>
                <a:sym typeface="Courier"/>
              </a:rPr>
              <a:t>...     return 2 * a</a:t>
            </a:r>
            <a:endParaRPr b="0" sz="20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000080"/>
                </a:solidFill>
                <a:latin typeface="Courier"/>
                <a:ea typeface="Courier"/>
                <a:cs typeface="Courier"/>
                <a:sym typeface="Courier"/>
              </a:rPr>
              <a:t>...</a:t>
            </a:r>
            <a:endParaRPr b="0" sz="20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000080"/>
                </a:solidFill>
                <a:latin typeface="Courier"/>
                <a:ea typeface="Courier"/>
                <a:cs typeface="Courier"/>
                <a:sym typeface="Courier"/>
              </a:rPr>
              <a:t>&gt;&gt;&gt; compose(double, add)(5, 6)</a:t>
            </a:r>
            <a:endParaRPr b="0" sz="20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000080"/>
                </a:solidFill>
                <a:latin typeface="Courier"/>
                <a:ea typeface="Courier"/>
                <a:cs typeface="Courier"/>
                <a:sym typeface="Courier"/>
              </a:rPr>
              <a:t>22</a:t>
            </a:r>
            <a:endParaRPr b="0" sz="20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68"/>
          <p:cNvSpPr txBox="1"/>
          <p:nvPr/>
        </p:nvSpPr>
        <p:spPr>
          <a:xfrm>
            <a:off x="3780000" y="1620000"/>
            <a:ext cx="5220000" cy="5416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import operator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reduce(operator.concat, ['A', 'BB', 'C'])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'ABBC'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reduce(operator.concat, [])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Traceback (most recent call last):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  ...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TypeError: reduce() of empty sequence with no initial value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reduce(operator.mul, [1,2,3], 1)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6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reduce(operator.mul, [], 1)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9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69"/>
          <p:cNvSpPr txBox="1"/>
          <p:nvPr/>
        </p:nvSpPr>
        <p:spPr>
          <a:xfrm>
            <a:off x="498600" y="1802880"/>
            <a:ext cx="6521400" cy="162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reduce(operator.add, [1,2,3,4], 0)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10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sum([1,2,3,4])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10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69"/>
          <p:cNvSpPr txBox="1"/>
          <p:nvPr/>
        </p:nvSpPr>
        <p:spPr>
          <a:xfrm>
            <a:off x="180000" y="3240000"/>
            <a:ext cx="8820000" cy="196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from functools import partial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basetwo = partial(int, base=2)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basetwo.__doc__ = 'Convert base 2 string to an int.'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&gt;&gt;&gt; basetwo('10010')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18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69"/>
          <p:cNvSpPr txBox="1"/>
          <p:nvPr/>
        </p:nvSpPr>
        <p:spPr>
          <a:xfrm>
            <a:off x="180000" y="5172480"/>
            <a:ext cx="8460000" cy="9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from functional import compose, partial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2000" strike="noStrike">
                <a:solidFill>
                  <a:srgbClr val="292929"/>
                </a:solidFill>
                <a:latin typeface="Courier"/>
                <a:ea typeface="Courier"/>
                <a:cs typeface="Courier"/>
                <a:sym typeface="Courier"/>
              </a:rPr>
              <a:t>multi_compose = partial(reduce, compose)</a:t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0"/>
          <p:cNvSpPr txBox="1"/>
          <p:nvPr/>
        </p:nvSpPr>
        <p:spPr>
          <a:xfrm>
            <a:off x="1002960" y="68400"/>
            <a:ext cx="7155000" cy="13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4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70"/>
          <p:cNvSpPr txBox="1"/>
          <p:nvPr/>
        </p:nvSpPr>
        <p:spPr>
          <a:xfrm>
            <a:off x="948960" y="1981080"/>
            <a:ext cx="7658280" cy="44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
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 id="2147483674" r:id="rId5"/>
    <p:sldMasterId id="2147483687" r:id="rId6"/>
    <p:sldMasterId id="214748370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Lst>
  <p:sldSz cy="6858000" cx="9144000"/>
  <p:notesSz cx="6858000" cy="9144000"/>
  <p:embeddedFontLst>
    <p:embeddedFont>
      <p:font typeface="Libre Franklin"/>
      <p:regular r:id="rId65"/>
      <p:bold r:id="rId66"/>
      <p:italic r:id="rId67"/>
      <p:boldItalic r:id="rId68"/>
    </p:embeddedFont>
    <p:embeddedFont>
      <p:font typeface="Arial Narrow"/>
      <p:regular r:id="rId69"/>
      <p:bold r:id="rId70"/>
      <p:italic r:id="rId71"/>
      <p:boldItalic r:id="rId72"/>
    </p:embeddedFont>
    <p:embeddedFont>
      <p:font typeface="Libre Baskerville"/>
      <p:regular r:id="rId73"/>
      <p:bold r:id="rId74"/>
      <p: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76" roundtripDataSignature="AMtx7miIsQzPrZJJL12BWcgp65Ct2od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73" Type="http://schemas.openxmlformats.org/officeDocument/2006/relationships/font" Target="fonts/LibreBaskerville-regular.fntdata"/><Relationship Id="rId72" Type="http://schemas.openxmlformats.org/officeDocument/2006/relationships/font" Target="fonts/ArialNarrow-boldItalic.fntdata"/><Relationship Id="rId31" Type="http://schemas.openxmlformats.org/officeDocument/2006/relationships/slide" Target="slides/slide23.xml"/><Relationship Id="rId75" Type="http://schemas.openxmlformats.org/officeDocument/2006/relationships/font" Target="fonts/LibreBaskerville-italic.fntdata"/><Relationship Id="rId30" Type="http://schemas.openxmlformats.org/officeDocument/2006/relationships/slide" Target="slides/slide22.xml"/><Relationship Id="rId74" Type="http://schemas.openxmlformats.org/officeDocument/2006/relationships/font" Target="fonts/LibreBaskerville-bold.fntdata"/><Relationship Id="rId33" Type="http://schemas.openxmlformats.org/officeDocument/2006/relationships/slide" Target="slides/slide25.xml"/><Relationship Id="rId32" Type="http://schemas.openxmlformats.org/officeDocument/2006/relationships/slide" Target="slides/slide24.xml"/><Relationship Id="rId76" Type="http://customschemas.google.com/relationships/presentationmetadata" Target="metadata"/><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font" Target="fonts/ArialNarrow-italic.fntdata"/><Relationship Id="rId70" Type="http://schemas.openxmlformats.org/officeDocument/2006/relationships/font" Target="fonts/ArialNarrow-bold.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font" Target="fonts/LibreFranklin-bold.fntdata"/><Relationship Id="rId21" Type="http://schemas.openxmlformats.org/officeDocument/2006/relationships/slide" Target="slides/slide13.xml"/><Relationship Id="rId65" Type="http://schemas.openxmlformats.org/officeDocument/2006/relationships/font" Target="fonts/LibreFranklin-regular.fntdata"/><Relationship Id="rId24" Type="http://schemas.openxmlformats.org/officeDocument/2006/relationships/slide" Target="slides/slide16.xml"/><Relationship Id="rId68" Type="http://schemas.openxmlformats.org/officeDocument/2006/relationships/font" Target="fonts/LibreFranklin-boldItalic.fntdata"/><Relationship Id="rId23" Type="http://schemas.openxmlformats.org/officeDocument/2006/relationships/slide" Target="slides/slide15.xml"/><Relationship Id="rId67" Type="http://schemas.openxmlformats.org/officeDocument/2006/relationships/font" Target="fonts/LibreFranklin-italic.fntdata"/><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ArialNarrow-regular.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nvSpPr>
        <p:spPr>
          <a:xfrm>
            <a:off x="0" y="0"/>
            <a:ext cx="6858000" cy="9144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 name="Google Shape;4;n"/>
          <p:cNvSpPr/>
          <p:nvPr/>
        </p:nvSpPr>
        <p:spPr>
          <a:xfrm>
            <a:off x="0" y="0"/>
            <a:ext cx="6858000" cy="9144000"/>
          </a:xfrm>
          <a:custGeom>
            <a:rect b="b" l="l" r="r" t="t"/>
            <a:pathLst>
              <a:path extrusionOk="0" h="25401" w="19052">
                <a:moveTo>
                  <a:pt x="4" y="0"/>
                </a:moveTo>
                <a:cubicBezTo>
                  <a:pt x="2" y="0"/>
                  <a:pt x="0" y="2"/>
                  <a:pt x="0" y="4"/>
                </a:cubicBezTo>
                <a:lnTo>
                  <a:pt x="0" y="25396"/>
                </a:lnTo>
                <a:cubicBezTo>
                  <a:pt x="0" y="25398"/>
                  <a:pt x="2" y="25400"/>
                  <a:pt x="4" y="25400"/>
                </a:cubicBezTo>
                <a:lnTo>
                  <a:pt x="19046" y="25400"/>
                </a:lnTo>
                <a:cubicBezTo>
                  <a:pt x="19048" y="25400"/>
                  <a:pt x="19051" y="25398"/>
                  <a:pt x="19051" y="25396"/>
                </a:cubicBezTo>
                <a:lnTo>
                  <a:pt x="19051" y="4"/>
                </a:lnTo>
                <a:cubicBezTo>
                  <a:pt x="19051" y="2"/>
                  <a:pt x="19048" y="0"/>
                  <a:pt x="19046" y="0"/>
                </a:cubicBezTo>
                <a:lnTo>
                  <a:pt x="4"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 name="Google Shape;5;n"/>
          <p:cNvSpPr/>
          <p:nvPr/>
        </p:nvSpPr>
        <p:spPr>
          <a:xfrm>
            <a:off x="0" y="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sp>
      <p:sp>
        <p:nvSpPr>
          <p:cNvPr id="6" name="Google Shape;6;n"/>
          <p:cNvSpPr/>
          <p:nvPr/>
        </p:nvSpPr>
        <p:spPr>
          <a:xfrm>
            <a:off x="3886200" y="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sp>
      <p:sp>
        <p:nvSpPr>
          <p:cNvPr id="7" name="Google Shape;7;n"/>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 name="Google Shape;8;n"/>
          <p:cNvSpPr txBox="1"/>
          <p:nvPr>
            <p:ph idx="1" type="body"/>
          </p:nvPr>
        </p:nvSpPr>
        <p:spPr>
          <a:xfrm>
            <a:off x="914400" y="4343400"/>
            <a:ext cx="5027760" cy="4113360"/>
          </a:xfrm>
          <a:prstGeom prst="rect">
            <a:avLst/>
          </a:prstGeom>
          <a:noFill/>
          <a:ln>
            <a:noFill/>
          </a:ln>
        </p:spPr>
        <p:txBody>
          <a:bodyPr anchorCtr="0" anchor="t" bIns="46800" lIns="90000" spcFirstLastPara="1" rIns="90000" wrap="square" tIns="468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 name="Google Shape;9;n"/>
          <p:cNvSpPr/>
          <p:nvPr/>
        </p:nvSpPr>
        <p:spPr>
          <a:xfrm>
            <a:off x="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sp>
      <p:sp>
        <p:nvSpPr>
          <p:cNvPr id="10" name="Google Shape;10;n"/>
          <p:cNvSpPr txBox="1"/>
          <p:nvPr>
            <p:ph idx="12" type="sldNum"/>
          </p:nvPr>
        </p:nvSpPr>
        <p:spPr>
          <a:xfrm>
            <a:off x="3885840" y="8686800"/>
            <a:ext cx="2970360" cy="455760"/>
          </a:xfrm>
          <a:prstGeom prst="rect">
            <a:avLst/>
          </a:prstGeom>
          <a:noFill/>
          <a:ln>
            <a:noFill/>
          </a:ln>
        </p:spPr>
        <p:txBody>
          <a:bodyPr anchorCtr="0" anchor="b" bIns="46800" lIns="90000" spcFirstLastPara="1" rIns="90000" wrap="square" tIns="46800">
            <a:noAutofit/>
          </a:bodyPr>
          <a:lstStyle/>
          <a:p>
            <a:pPr indent="-215640" lvl="0" marL="215640" marR="0" rtl="0" algn="r">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03" name="Google Shape;303;p1: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10" name="Google Shape;310;p2: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17" name="Google Shape;317;p3: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4: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24" name="Google Shape;324;p4: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31" name="Google Shape;331;p5: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6: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38" name="Google Shape;338;p6: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7: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45" name="Google Shape;345;p7: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8: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52" name="Google Shape;352;p8: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9: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59" name="Google Shape;359;p9: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0: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66" name="Google Shape;366;p10: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1: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73" name="Google Shape;373;p11: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2: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80" name="Google Shape;380;p12: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3: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87" name="Google Shape;387;p13: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4: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94" name="Google Shape;394;p14: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5: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401" name="Google Shape;401;p15: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6: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430" name="Google Shape;430;p16: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7: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437" name="Google Shape;437;p17: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8: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490" name="Google Shape;490;p18: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9: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516" name="Google Shape;516;p19: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0: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539" name="Google Shape;539;p20: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1: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546" name="Google Shape;546;p21: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2: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53" name="Google Shape;55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22: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3: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61" name="Google Shape;56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23: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4: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69" name="Google Shape;56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24: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5: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77" name="Google Shape;57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8" name="Google Shape;578;p25: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6: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85" name="Google Shape;58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26: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7: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93" name="Google Shape;59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27: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8: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601" name="Google Shape;60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28: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9: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609" name="Google Shape;60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0" name="Google Shape;610;p29: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30: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617" name="Google Shape;61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8" name="Google Shape;618;p30: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31: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25" name="Google Shape;625;p31: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32: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632" name="Google Shape;63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3" name="Google Shape;633;p32: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3:notes"/>
          <p:cNvSpPr/>
          <p:nvPr/>
        </p:nvSpPr>
        <p:spPr>
          <a:xfrm>
            <a:off x="3886200" y="868680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640" name="Google Shape;64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33:notes"/>
          <p:cNvSpPr txBox="1"/>
          <p:nvPr>
            <p:ph idx="1" type="body"/>
          </p:nvPr>
        </p:nvSpPr>
        <p:spPr>
          <a:xfrm>
            <a:off x="914400" y="4343400"/>
            <a:ext cx="5029200" cy="411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34: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48" name="Google Shape;648;p34: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5: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55" name="Google Shape;655;p35: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36: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62" name="Google Shape;662;p36: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37: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69" name="Google Shape;669;p37: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38: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76" name="Google Shape;676;p38: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39: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83" name="Google Shape;683;p39: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40: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90" name="Google Shape;690;p40: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1: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697" name="Google Shape;697;p41: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42: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04" name="Google Shape;704;p42: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43: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11" name="Google Shape;711;p43: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44: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18" name="Google Shape;718;p44: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45: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25" name="Google Shape;725;p45: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46: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32" name="Google Shape;732;p46: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47: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39" name="Google Shape;739;p47: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48: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46" name="Google Shape;746;p48: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49: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53" name="Google Shape;753;p49: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50: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60" name="Google Shape;760;p50: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51: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67" name="Google Shape;767;p51: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52: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74" name="Google Shape;774;p52: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53: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83" name="Google Shape;783;p53: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54: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90" name="Google Shape;790;p54: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55: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797" name="Google Shape;797;p55: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56:notes"/>
          <p:cNvSpPr txBox="1"/>
          <p:nvPr>
            <p:ph idx="1" type="body"/>
          </p:nvPr>
        </p:nvSpPr>
        <p:spPr>
          <a:xfrm>
            <a:off x="914400" y="4343400"/>
            <a:ext cx="5027760" cy="411336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804" name="Google Shape;804;p56:notes"/>
          <p:cNvSpPr/>
          <p:nvPr>
            <p:ph idx="2" type="sldImg"/>
          </p:nvPr>
        </p:nvSpPr>
        <p:spPr>
          <a:xfrm>
            <a:off x="1143000" y="685440"/>
            <a:ext cx="4570560" cy="34275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 name="Shape 2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5" name="Shape 25"/>
        <p:cNvGrpSpPr/>
        <p:nvPr/>
      </p:nvGrpSpPr>
      <p:grpSpPr>
        <a:xfrm>
          <a:off x="0" y="0"/>
          <a:ext cx="0" cy="0"/>
          <a:chOff x="0" y="0"/>
          <a:chExt cx="0" cy="0"/>
        </a:xfrm>
      </p:grpSpPr>
      <p:sp>
        <p:nvSpPr>
          <p:cNvPr id="26" name="Google Shape;26;p74"/>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74"/>
          <p:cNvSpPr txBox="1"/>
          <p:nvPr>
            <p:ph idx="1" type="subTitle"/>
          </p:nvPr>
        </p:nvSpPr>
        <p:spPr>
          <a:xfrm>
            <a:off x="914400" y="1447560"/>
            <a:ext cx="7770960" cy="4570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8" name="Shape 28"/>
        <p:cNvGrpSpPr/>
        <p:nvPr/>
      </p:nvGrpSpPr>
      <p:grpSpPr>
        <a:xfrm>
          <a:off x="0" y="0"/>
          <a:ext cx="0" cy="0"/>
          <a:chOff x="0" y="0"/>
          <a:chExt cx="0" cy="0"/>
        </a:xfrm>
      </p:grpSpPr>
      <p:sp>
        <p:nvSpPr>
          <p:cNvPr id="29" name="Google Shape;29;p75"/>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75"/>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1" name="Shape 31"/>
        <p:cNvGrpSpPr/>
        <p:nvPr/>
      </p:nvGrpSpPr>
      <p:grpSpPr>
        <a:xfrm>
          <a:off x="0" y="0"/>
          <a:ext cx="0" cy="0"/>
          <a:chOff x="0" y="0"/>
          <a:chExt cx="0" cy="0"/>
        </a:xfrm>
      </p:grpSpPr>
      <p:sp>
        <p:nvSpPr>
          <p:cNvPr id="32" name="Google Shape;32;p76"/>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76"/>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76"/>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77"/>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7" name="Shape 37"/>
        <p:cNvGrpSpPr/>
        <p:nvPr/>
      </p:nvGrpSpPr>
      <p:grpSpPr>
        <a:xfrm>
          <a:off x="0" y="0"/>
          <a:ext cx="0" cy="0"/>
          <a:chOff x="0" y="0"/>
          <a:chExt cx="0" cy="0"/>
        </a:xfrm>
      </p:grpSpPr>
      <p:sp>
        <p:nvSpPr>
          <p:cNvPr id="38" name="Google Shape;38;p78"/>
          <p:cNvSpPr txBox="1"/>
          <p:nvPr>
            <p:ph idx="1" type="subTitle"/>
          </p:nvPr>
        </p:nvSpPr>
        <p:spPr>
          <a:xfrm>
            <a:off x="914400" y="274680"/>
            <a:ext cx="7770960" cy="5291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9" name="Shape 39"/>
        <p:cNvGrpSpPr/>
        <p:nvPr/>
      </p:nvGrpSpPr>
      <p:grpSpPr>
        <a:xfrm>
          <a:off x="0" y="0"/>
          <a:ext cx="0" cy="0"/>
          <a:chOff x="0" y="0"/>
          <a:chExt cx="0" cy="0"/>
        </a:xfrm>
      </p:grpSpPr>
      <p:sp>
        <p:nvSpPr>
          <p:cNvPr id="40" name="Google Shape;40;p79"/>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79"/>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79"/>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79"/>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4" name="Shape 44"/>
        <p:cNvGrpSpPr/>
        <p:nvPr/>
      </p:nvGrpSpPr>
      <p:grpSpPr>
        <a:xfrm>
          <a:off x="0" y="0"/>
          <a:ext cx="0" cy="0"/>
          <a:chOff x="0" y="0"/>
          <a:chExt cx="0" cy="0"/>
        </a:xfrm>
      </p:grpSpPr>
      <p:sp>
        <p:nvSpPr>
          <p:cNvPr id="45" name="Google Shape;45;p80"/>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80"/>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80"/>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80"/>
          <p:cNvSpPr txBox="1"/>
          <p:nvPr>
            <p:ph idx="3"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9" name="Shape 49"/>
        <p:cNvGrpSpPr/>
        <p:nvPr/>
      </p:nvGrpSpPr>
      <p:grpSpPr>
        <a:xfrm>
          <a:off x="0" y="0"/>
          <a:ext cx="0" cy="0"/>
          <a:chOff x="0" y="0"/>
          <a:chExt cx="0" cy="0"/>
        </a:xfrm>
      </p:grpSpPr>
      <p:sp>
        <p:nvSpPr>
          <p:cNvPr id="50" name="Google Shape;50;p81"/>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1"/>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81"/>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81"/>
          <p:cNvSpPr txBox="1"/>
          <p:nvPr>
            <p:ph idx="3"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4" name="Shape 54"/>
        <p:cNvGrpSpPr/>
        <p:nvPr/>
      </p:nvGrpSpPr>
      <p:grpSpPr>
        <a:xfrm>
          <a:off x="0" y="0"/>
          <a:ext cx="0" cy="0"/>
          <a:chOff x="0" y="0"/>
          <a:chExt cx="0" cy="0"/>
        </a:xfrm>
      </p:grpSpPr>
      <p:sp>
        <p:nvSpPr>
          <p:cNvPr id="55" name="Google Shape;55;p82"/>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2"/>
          <p:cNvSpPr txBox="1"/>
          <p:nvPr>
            <p:ph idx="1" type="body"/>
          </p:nvPr>
        </p:nvSpPr>
        <p:spPr>
          <a:xfrm>
            <a:off x="914400" y="144756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82"/>
          <p:cNvSpPr txBox="1"/>
          <p:nvPr>
            <p:ph idx="2"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8" name="Shape 58"/>
        <p:cNvGrpSpPr/>
        <p:nvPr/>
      </p:nvGrpSpPr>
      <p:grpSpPr>
        <a:xfrm>
          <a:off x="0" y="0"/>
          <a:ext cx="0" cy="0"/>
          <a:chOff x="0" y="0"/>
          <a:chExt cx="0" cy="0"/>
        </a:xfrm>
      </p:grpSpPr>
      <p:sp>
        <p:nvSpPr>
          <p:cNvPr id="59" name="Google Shape;59;p83"/>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3"/>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83"/>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83"/>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83"/>
          <p:cNvSpPr txBox="1"/>
          <p:nvPr>
            <p:ph idx="4"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64" name="Shape 64"/>
        <p:cNvGrpSpPr/>
        <p:nvPr/>
      </p:nvGrpSpPr>
      <p:grpSpPr>
        <a:xfrm>
          <a:off x="0" y="0"/>
          <a:ext cx="0" cy="0"/>
          <a:chOff x="0" y="0"/>
          <a:chExt cx="0" cy="0"/>
        </a:xfrm>
      </p:grpSpPr>
      <p:sp>
        <p:nvSpPr>
          <p:cNvPr id="65" name="Google Shape;65;p84"/>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4"/>
          <p:cNvSpPr txBox="1"/>
          <p:nvPr>
            <p:ph idx="1" type="body"/>
          </p:nvPr>
        </p:nvSpPr>
        <p:spPr>
          <a:xfrm>
            <a:off x="91440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7" name="Google Shape;67;p84"/>
          <p:cNvSpPr txBox="1"/>
          <p:nvPr>
            <p:ph idx="2" type="body"/>
          </p:nvPr>
        </p:nvSpPr>
        <p:spPr>
          <a:xfrm>
            <a:off x="354204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8" name="Google Shape;68;p84"/>
          <p:cNvSpPr txBox="1"/>
          <p:nvPr>
            <p:ph idx="3" type="body"/>
          </p:nvPr>
        </p:nvSpPr>
        <p:spPr>
          <a:xfrm>
            <a:off x="616932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9" name="Google Shape;69;p84"/>
          <p:cNvSpPr txBox="1"/>
          <p:nvPr>
            <p:ph idx="4" type="body"/>
          </p:nvPr>
        </p:nvSpPr>
        <p:spPr>
          <a:xfrm>
            <a:off x="91440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0" name="Google Shape;70;p84"/>
          <p:cNvSpPr txBox="1"/>
          <p:nvPr>
            <p:ph idx="5" type="body"/>
          </p:nvPr>
        </p:nvSpPr>
        <p:spPr>
          <a:xfrm>
            <a:off x="354204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1" name="Google Shape;71;p84"/>
          <p:cNvSpPr txBox="1"/>
          <p:nvPr>
            <p:ph idx="6" type="body"/>
          </p:nvPr>
        </p:nvSpPr>
        <p:spPr>
          <a:xfrm>
            <a:off x="616932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0" name="Shape 80"/>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81" name="Shape 81"/>
        <p:cNvGrpSpPr/>
        <p:nvPr/>
      </p:nvGrpSpPr>
      <p:grpSpPr>
        <a:xfrm>
          <a:off x="0" y="0"/>
          <a:ext cx="0" cy="0"/>
          <a:chOff x="0" y="0"/>
          <a:chExt cx="0" cy="0"/>
        </a:xfrm>
      </p:grpSpPr>
      <p:sp>
        <p:nvSpPr>
          <p:cNvPr id="82" name="Google Shape;82;p63"/>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3"/>
          <p:cNvSpPr txBox="1"/>
          <p:nvPr>
            <p:ph idx="1" type="subTitle"/>
          </p:nvPr>
        </p:nvSpPr>
        <p:spPr>
          <a:xfrm>
            <a:off x="914400" y="1447560"/>
            <a:ext cx="7770960" cy="4570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84" name="Shape 84"/>
        <p:cNvGrpSpPr/>
        <p:nvPr/>
      </p:nvGrpSpPr>
      <p:grpSpPr>
        <a:xfrm>
          <a:off x="0" y="0"/>
          <a:ext cx="0" cy="0"/>
          <a:chOff x="0" y="0"/>
          <a:chExt cx="0" cy="0"/>
        </a:xfrm>
      </p:grpSpPr>
      <p:sp>
        <p:nvSpPr>
          <p:cNvPr id="85" name="Google Shape;85;p64"/>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4"/>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87" name="Shape 87"/>
        <p:cNvGrpSpPr/>
        <p:nvPr/>
      </p:nvGrpSpPr>
      <p:grpSpPr>
        <a:xfrm>
          <a:off x="0" y="0"/>
          <a:ext cx="0" cy="0"/>
          <a:chOff x="0" y="0"/>
          <a:chExt cx="0" cy="0"/>
        </a:xfrm>
      </p:grpSpPr>
      <p:sp>
        <p:nvSpPr>
          <p:cNvPr id="88" name="Google Shape;88;p65"/>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5"/>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0" name="Google Shape;90;p65"/>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66"/>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93" name="Shape 93"/>
        <p:cNvGrpSpPr/>
        <p:nvPr/>
      </p:nvGrpSpPr>
      <p:grpSpPr>
        <a:xfrm>
          <a:off x="0" y="0"/>
          <a:ext cx="0" cy="0"/>
          <a:chOff x="0" y="0"/>
          <a:chExt cx="0" cy="0"/>
        </a:xfrm>
      </p:grpSpPr>
      <p:sp>
        <p:nvSpPr>
          <p:cNvPr id="94" name="Google Shape;94;p67"/>
          <p:cNvSpPr txBox="1"/>
          <p:nvPr>
            <p:ph idx="1" type="subTitle"/>
          </p:nvPr>
        </p:nvSpPr>
        <p:spPr>
          <a:xfrm>
            <a:off x="914400" y="274680"/>
            <a:ext cx="7770960" cy="5291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95" name="Shape 95"/>
        <p:cNvGrpSpPr/>
        <p:nvPr/>
      </p:nvGrpSpPr>
      <p:grpSpPr>
        <a:xfrm>
          <a:off x="0" y="0"/>
          <a:ext cx="0" cy="0"/>
          <a:chOff x="0" y="0"/>
          <a:chExt cx="0" cy="0"/>
        </a:xfrm>
      </p:grpSpPr>
      <p:sp>
        <p:nvSpPr>
          <p:cNvPr id="96" name="Google Shape;96;p68"/>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68"/>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8" name="Google Shape;98;p68"/>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9" name="Google Shape;99;p68"/>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00" name="Shape 100"/>
        <p:cNvGrpSpPr/>
        <p:nvPr/>
      </p:nvGrpSpPr>
      <p:grpSpPr>
        <a:xfrm>
          <a:off x="0" y="0"/>
          <a:ext cx="0" cy="0"/>
          <a:chOff x="0" y="0"/>
          <a:chExt cx="0" cy="0"/>
        </a:xfrm>
      </p:grpSpPr>
      <p:sp>
        <p:nvSpPr>
          <p:cNvPr id="101" name="Google Shape;101;p69"/>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69"/>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3" name="Google Shape;103;p69"/>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4" name="Google Shape;104;p69"/>
          <p:cNvSpPr txBox="1"/>
          <p:nvPr>
            <p:ph idx="3"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05" name="Shape 105"/>
        <p:cNvGrpSpPr/>
        <p:nvPr/>
      </p:nvGrpSpPr>
      <p:grpSpPr>
        <a:xfrm>
          <a:off x="0" y="0"/>
          <a:ext cx="0" cy="0"/>
          <a:chOff x="0" y="0"/>
          <a:chExt cx="0" cy="0"/>
        </a:xfrm>
      </p:grpSpPr>
      <p:sp>
        <p:nvSpPr>
          <p:cNvPr id="106" name="Google Shape;106;p70"/>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70"/>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70"/>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70"/>
          <p:cNvSpPr txBox="1"/>
          <p:nvPr>
            <p:ph idx="3"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0" name="Shape 110"/>
        <p:cNvGrpSpPr/>
        <p:nvPr/>
      </p:nvGrpSpPr>
      <p:grpSpPr>
        <a:xfrm>
          <a:off x="0" y="0"/>
          <a:ext cx="0" cy="0"/>
          <a:chOff x="0" y="0"/>
          <a:chExt cx="0" cy="0"/>
        </a:xfrm>
      </p:grpSpPr>
      <p:sp>
        <p:nvSpPr>
          <p:cNvPr id="111" name="Google Shape;111;p71"/>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71"/>
          <p:cNvSpPr txBox="1"/>
          <p:nvPr>
            <p:ph idx="1" type="body"/>
          </p:nvPr>
        </p:nvSpPr>
        <p:spPr>
          <a:xfrm>
            <a:off x="914400" y="144756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71"/>
          <p:cNvSpPr txBox="1"/>
          <p:nvPr>
            <p:ph idx="2"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14" name="Shape 114"/>
        <p:cNvGrpSpPr/>
        <p:nvPr/>
      </p:nvGrpSpPr>
      <p:grpSpPr>
        <a:xfrm>
          <a:off x="0" y="0"/>
          <a:ext cx="0" cy="0"/>
          <a:chOff x="0" y="0"/>
          <a:chExt cx="0" cy="0"/>
        </a:xfrm>
      </p:grpSpPr>
      <p:sp>
        <p:nvSpPr>
          <p:cNvPr id="115" name="Google Shape;115;p72"/>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72"/>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7" name="Google Shape;117;p72"/>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8" name="Google Shape;118;p72"/>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9" name="Google Shape;119;p72"/>
          <p:cNvSpPr txBox="1"/>
          <p:nvPr>
            <p:ph idx="4"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20" name="Shape 120"/>
        <p:cNvGrpSpPr/>
        <p:nvPr/>
      </p:nvGrpSpPr>
      <p:grpSpPr>
        <a:xfrm>
          <a:off x="0" y="0"/>
          <a:ext cx="0" cy="0"/>
          <a:chOff x="0" y="0"/>
          <a:chExt cx="0" cy="0"/>
        </a:xfrm>
      </p:grpSpPr>
      <p:sp>
        <p:nvSpPr>
          <p:cNvPr id="121" name="Google Shape;121;p73"/>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73"/>
          <p:cNvSpPr txBox="1"/>
          <p:nvPr>
            <p:ph idx="1" type="body"/>
          </p:nvPr>
        </p:nvSpPr>
        <p:spPr>
          <a:xfrm>
            <a:off x="91440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3" name="Google Shape;123;p73"/>
          <p:cNvSpPr txBox="1"/>
          <p:nvPr>
            <p:ph idx="2" type="body"/>
          </p:nvPr>
        </p:nvSpPr>
        <p:spPr>
          <a:xfrm>
            <a:off x="354204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4" name="Google Shape;124;p73"/>
          <p:cNvSpPr txBox="1"/>
          <p:nvPr>
            <p:ph idx="3" type="body"/>
          </p:nvPr>
        </p:nvSpPr>
        <p:spPr>
          <a:xfrm>
            <a:off x="616932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5" name="Google Shape;125;p73"/>
          <p:cNvSpPr txBox="1"/>
          <p:nvPr>
            <p:ph idx="4" type="body"/>
          </p:nvPr>
        </p:nvSpPr>
        <p:spPr>
          <a:xfrm>
            <a:off x="91440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6" name="Google Shape;126;p73"/>
          <p:cNvSpPr txBox="1"/>
          <p:nvPr>
            <p:ph idx="5" type="body"/>
          </p:nvPr>
        </p:nvSpPr>
        <p:spPr>
          <a:xfrm>
            <a:off x="354204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7" name="Google Shape;127;p73"/>
          <p:cNvSpPr txBox="1"/>
          <p:nvPr>
            <p:ph idx="6" type="body"/>
          </p:nvPr>
        </p:nvSpPr>
        <p:spPr>
          <a:xfrm>
            <a:off x="616932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35" name="Shape 13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6" name="Shape 136"/>
        <p:cNvGrpSpPr/>
        <p:nvPr/>
      </p:nvGrpSpPr>
      <p:grpSpPr>
        <a:xfrm>
          <a:off x="0" y="0"/>
          <a:ext cx="0" cy="0"/>
          <a:chOff x="0" y="0"/>
          <a:chExt cx="0" cy="0"/>
        </a:xfrm>
      </p:grpSpPr>
      <p:sp>
        <p:nvSpPr>
          <p:cNvPr id="137" name="Google Shape;137;p85"/>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85"/>
          <p:cNvSpPr txBox="1"/>
          <p:nvPr>
            <p:ph idx="1" type="subTitle"/>
          </p:nvPr>
        </p:nvSpPr>
        <p:spPr>
          <a:xfrm>
            <a:off x="914400" y="1447560"/>
            <a:ext cx="7770960" cy="4570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9" name="Shape 139"/>
        <p:cNvGrpSpPr/>
        <p:nvPr/>
      </p:nvGrpSpPr>
      <p:grpSpPr>
        <a:xfrm>
          <a:off x="0" y="0"/>
          <a:ext cx="0" cy="0"/>
          <a:chOff x="0" y="0"/>
          <a:chExt cx="0" cy="0"/>
        </a:xfrm>
      </p:grpSpPr>
      <p:sp>
        <p:nvSpPr>
          <p:cNvPr id="140" name="Google Shape;140;p86"/>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86"/>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42" name="Shape 142"/>
        <p:cNvGrpSpPr/>
        <p:nvPr/>
      </p:nvGrpSpPr>
      <p:grpSpPr>
        <a:xfrm>
          <a:off x="0" y="0"/>
          <a:ext cx="0" cy="0"/>
          <a:chOff x="0" y="0"/>
          <a:chExt cx="0" cy="0"/>
        </a:xfrm>
      </p:grpSpPr>
      <p:sp>
        <p:nvSpPr>
          <p:cNvPr id="143" name="Google Shape;143;p87"/>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87"/>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5" name="Google Shape;145;p87"/>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88"/>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48" name="Shape 148"/>
        <p:cNvGrpSpPr/>
        <p:nvPr/>
      </p:nvGrpSpPr>
      <p:grpSpPr>
        <a:xfrm>
          <a:off x="0" y="0"/>
          <a:ext cx="0" cy="0"/>
          <a:chOff x="0" y="0"/>
          <a:chExt cx="0" cy="0"/>
        </a:xfrm>
      </p:grpSpPr>
      <p:sp>
        <p:nvSpPr>
          <p:cNvPr id="149" name="Google Shape;149;p89"/>
          <p:cNvSpPr txBox="1"/>
          <p:nvPr>
            <p:ph idx="1" type="subTitle"/>
          </p:nvPr>
        </p:nvSpPr>
        <p:spPr>
          <a:xfrm>
            <a:off x="914400" y="274680"/>
            <a:ext cx="7770960" cy="5291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50" name="Shape 150"/>
        <p:cNvGrpSpPr/>
        <p:nvPr/>
      </p:nvGrpSpPr>
      <p:grpSpPr>
        <a:xfrm>
          <a:off x="0" y="0"/>
          <a:ext cx="0" cy="0"/>
          <a:chOff x="0" y="0"/>
          <a:chExt cx="0" cy="0"/>
        </a:xfrm>
      </p:grpSpPr>
      <p:sp>
        <p:nvSpPr>
          <p:cNvPr id="151" name="Google Shape;151;p90"/>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90"/>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3" name="Google Shape;153;p90"/>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4" name="Google Shape;154;p90"/>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55" name="Shape 155"/>
        <p:cNvGrpSpPr/>
        <p:nvPr/>
      </p:nvGrpSpPr>
      <p:grpSpPr>
        <a:xfrm>
          <a:off x="0" y="0"/>
          <a:ext cx="0" cy="0"/>
          <a:chOff x="0" y="0"/>
          <a:chExt cx="0" cy="0"/>
        </a:xfrm>
      </p:grpSpPr>
      <p:sp>
        <p:nvSpPr>
          <p:cNvPr id="156" name="Google Shape;156;p91"/>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91"/>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91"/>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91"/>
          <p:cNvSpPr txBox="1"/>
          <p:nvPr>
            <p:ph idx="3"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60" name="Shape 160"/>
        <p:cNvGrpSpPr/>
        <p:nvPr/>
      </p:nvGrpSpPr>
      <p:grpSpPr>
        <a:xfrm>
          <a:off x="0" y="0"/>
          <a:ext cx="0" cy="0"/>
          <a:chOff x="0" y="0"/>
          <a:chExt cx="0" cy="0"/>
        </a:xfrm>
      </p:grpSpPr>
      <p:sp>
        <p:nvSpPr>
          <p:cNvPr id="161" name="Google Shape;161;p92"/>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92"/>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3" name="Google Shape;163;p92"/>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4" name="Google Shape;164;p92"/>
          <p:cNvSpPr txBox="1"/>
          <p:nvPr>
            <p:ph idx="3"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65" name="Shape 165"/>
        <p:cNvGrpSpPr/>
        <p:nvPr/>
      </p:nvGrpSpPr>
      <p:grpSpPr>
        <a:xfrm>
          <a:off x="0" y="0"/>
          <a:ext cx="0" cy="0"/>
          <a:chOff x="0" y="0"/>
          <a:chExt cx="0" cy="0"/>
        </a:xfrm>
      </p:grpSpPr>
      <p:sp>
        <p:nvSpPr>
          <p:cNvPr id="166" name="Google Shape;166;p93"/>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93"/>
          <p:cNvSpPr txBox="1"/>
          <p:nvPr>
            <p:ph idx="1" type="body"/>
          </p:nvPr>
        </p:nvSpPr>
        <p:spPr>
          <a:xfrm>
            <a:off x="914400" y="144756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93"/>
          <p:cNvSpPr txBox="1"/>
          <p:nvPr>
            <p:ph idx="2"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69" name="Shape 169"/>
        <p:cNvGrpSpPr/>
        <p:nvPr/>
      </p:nvGrpSpPr>
      <p:grpSpPr>
        <a:xfrm>
          <a:off x="0" y="0"/>
          <a:ext cx="0" cy="0"/>
          <a:chOff x="0" y="0"/>
          <a:chExt cx="0" cy="0"/>
        </a:xfrm>
      </p:grpSpPr>
      <p:sp>
        <p:nvSpPr>
          <p:cNvPr id="170" name="Google Shape;170;p94"/>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94"/>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2" name="Google Shape;172;p94"/>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3" name="Google Shape;173;p94"/>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4" name="Google Shape;174;p94"/>
          <p:cNvSpPr txBox="1"/>
          <p:nvPr>
            <p:ph idx="4"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75" name="Shape 175"/>
        <p:cNvGrpSpPr/>
        <p:nvPr/>
      </p:nvGrpSpPr>
      <p:grpSpPr>
        <a:xfrm>
          <a:off x="0" y="0"/>
          <a:ext cx="0" cy="0"/>
          <a:chOff x="0" y="0"/>
          <a:chExt cx="0" cy="0"/>
        </a:xfrm>
      </p:grpSpPr>
      <p:sp>
        <p:nvSpPr>
          <p:cNvPr id="176" name="Google Shape;176;p95"/>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95"/>
          <p:cNvSpPr txBox="1"/>
          <p:nvPr>
            <p:ph idx="1" type="body"/>
          </p:nvPr>
        </p:nvSpPr>
        <p:spPr>
          <a:xfrm>
            <a:off x="91440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8" name="Google Shape;178;p95"/>
          <p:cNvSpPr txBox="1"/>
          <p:nvPr>
            <p:ph idx="2" type="body"/>
          </p:nvPr>
        </p:nvSpPr>
        <p:spPr>
          <a:xfrm>
            <a:off x="354204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9" name="Google Shape;179;p95"/>
          <p:cNvSpPr txBox="1"/>
          <p:nvPr>
            <p:ph idx="3" type="body"/>
          </p:nvPr>
        </p:nvSpPr>
        <p:spPr>
          <a:xfrm>
            <a:off x="616932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0" name="Google Shape;180;p95"/>
          <p:cNvSpPr txBox="1"/>
          <p:nvPr>
            <p:ph idx="4" type="body"/>
          </p:nvPr>
        </p:nvSpPr>
        <p:spPr>
          <a:xfrm>
            <a:off x="91440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1" name="Google Shape;181;p95"/>
          <p:cNvSpPr txBox="1"/>
          <p:nvPr>
            <p:ph idx="5" type="body"/>
          </p:nvPr>
        </p:nvSpPr>
        <p:spPr>
          <a:xfrm>
            <a:off x="354204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2" name="Google Shape;182;p95"/>
          <p:cNvSpPr txBox="1"/>
          <p:nvPr>
            <p:ph idx="6" type="body"/>
          </p:nvPr>
        </p:nvSpPr>
        <p:spPr>
          <a:xfrm>
            <a:off x="616932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95" name="Shape 195"/>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96" name="Shape 196"/>
        <p:cNvGrpSpPr/>
        <p:nvPr/>
      </p:nvGrpSpPr>
      <p:grpSpPr>
        <a:xfrm>
          <a:off x="0" y="0"/>
          <a:ext cx="0" cy="0"/>
          <a:chOff x="0" y="0"/>
          <a:chExt cx="0" cy="0"/>
        </a:xfrm>
      </p:grpSpPr>
      <p:sp>
        <p:nvSpPr>
          <p:cNvPr id="197" name="Google Shape;197;p98"/>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98"/>
          <p:cNvSpPr txBox="1"/>
          <p:nvPr>
            <p:ph idx="1" type="subTitle"/>
          </p:nvPr>
        </p:nvSpPr>
        <p:spPr>
          <a:xfrm>
            <a:off x="914400" y="1447560"/>
            <a:ext cx="7770960" cy="4570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9" name="Shape 199"/>
        <p:cNvGrpSpPr/>
        <p:nvPr/>
      </p:nvGrpSpPr>
      <p:grpSpPr>
        <a:xfrm>
          <a:off x="0" y="0"/>
          <a:ext cx="0" cy="0"/>
          <a:chOff x="0" y="0"/>
          <a:chExt cx="0" cy="0"/>
        </a:xfrm>
      </p:grpSpPr>
      <p:sp>
        <p:nvSpPr>
          <p:cNvPr id="200" name="Google Shape;200;p99"/>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99"/>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02" name="Shape 202"/>
        <p:cNvGrpSpPr/>
        <p:nvPr/>
      </p:nvGrpSpPr>
      <p:grpSpPr>
        <a:xfrm>
          <a:off x="0" y="0"/>
          <a:ext cx="0" cy="0"/>
          <a:chOff x="0" y="0"/>
          <a:chExt cx="0" cy="0"/>
        </a:xfrm>
      </p:grpSpPr>
      <p:sp>
        <p:nvSpPr>
          <p:cNvPr id="203" name="Google Shape;203;p100"/>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100"/>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5" name="Google Shape;205;p100"/>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6" name="Shape 206"/>
        <p:cNvGrpSpPr/>
        <p:nvPr/>
      </p:nvGrpSpPr>
      <p:grpSpPr>
        <a:xfrm>
          <a:off x="0" y="0"/>
          <a:ext cx="0" cy="0"/>
          <a:chOff x="0" y="0"/>
          <a:chExt cx="0" cy="0"/>
        </a:xfrm>
      </p:grpSpPr>
      <p:sp>
        <p:nvSpPr>
          <p:cNvPr id="207" name="Google Shape;207;p101"/>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08" name="Shape 208"/>
        <p:cNvGrpSpPr/>
        <p:nvPr/>
      </p:nvGrpSpPr>
      <p:grpSpPr>
        <a:xfrm>
          <a:off x="0" y="0"/>
          <a:ext cx="0" cy="0"/>
          <a:chOff x="0" y="0"/>
          <a:chExt cx="0" cy="0"/>
        </a:xfrm>
      </p:grpSpPr>
      <p:sp>
        <p:nvSpPr>
          <p:cNvPr id="209" name="Google Shape;209;p102"/>
          <p:cNvSpPr txBox="1"/>
          <p:nvPr>
            <p:ph idx="1" type="subTitle"/>
          </p:nvPr>
        </p:nvSpPr>
        <p:spPr>
          <a:xfrm>
            <a:off x="914400" y="274680"/>
            <a:ext cx="7770960" cy="5291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10" name="Shape 210"/>
        <p:cNvGrpSpPr/>
        <p:nvPr/>
      </p:nvGrpSpPr>
      <p:grpSpPr>
        <a:xfrm>
          <a:off x="0" y="0"/>
          <a:ext cx="0" cy="0"/>
          <a:chOff x="0" y="0"/>
          <a:chExt cx="0" cy="0"/>
        </a:xfrm>
      </p:grpSpPr>
      <p:sp>
        <p:nvSpPr>
          <p:cNvPr id="211" name="Google Shape;211;p103"/>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103"/>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3" name="Google Shape;213;p103"/>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4" name="Google Shape;214;p103"/>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15" name="Shape 215"/>
        <p:cNvGrpSpPr/>
        <p:nvPr/>
      </p:nvGrpSpPr>
      <p:grpSpPr>
        <a:xfrm>
          <a:off x="0" y="0"/>
          <a:ext cx="0" cy="0"/>
          <a:chOff x="0" y="0"/>
          <a:chExt cx="0" cy="0"/>
        </a:xfrm>
      </p:grpSpPr>
      <p:sp>
        <p:nvSpPr>
          <p:cNvPr id="216" name="Google Shape;216;p104"/>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104"/>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8" name="Google Shape;218;p104"/>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9" name="Google Shape;219;p104"/>
          <p:cNvSpPr txBox="1"/>
          <p:nvPr>
            <p:ph idx="3"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20" name="Shape 220"/>
        <p:cNvGrpSpPr/>
        <p:nvPr/>
      </p:nvGrpSpPr>
      <p:grpSpPr>
        <a:xfrm>
          <a:off x="0" y="0"/>
          <a:ext cx="0" cy="0"/>
          <a:chOff x="0" y="0"/>
          <a:chExt cx="0" cy="0"/>
        </a:xfrm>
      </p:grpSpPr>
      <p:sp>
        <p:nvSpPr>
          <p:cNvPr id="221" name="Google Shape;221;p105"/>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105"/>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3" name="Google Shape;223;p105"/>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4" name="Google Shape;224;p105"/>
          <p:cNvSpPr txBox="1"/>
          <p:nvPr>
            <p:ph idx="3"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25" name="Shape 225"/>
        <p:cNvGrpSpPr/>
        <p:nvPr/>
      </p:nvGrpSpPr>
      <p:grpSpPr>
        <a:xfrm>
          <a:off x="0" y="0"/>
          <a:ext cx="0" cy="0"/>
          <a:chOff x="0" y="0"/>
          <a:chExt cx="0" cy="0"/>
        </a:xfrm>
      </p:grpSpPr>
      <p:sp>
        <p:nvSpPr>
          <p:cNvPr id="226" name="Google Shape;226;p106"/>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106"/>
          <p:cNvSpPr txBox="1"/>
          <p:nvPr>
            <p:ph idx="1" type="body"/>
          </p:nvPr>
        </p:nvSpPr>
        <p:spPr>
          <a:xfrm>
            <a:off x="914400" y="144756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8" name="Google Shape;228;p106"/>
          <p:cNvSpPr txBox="1"/>
          <p:nvPr>
            <p:ph idx="2"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29" name="Shape 229"/>
        <p:cNvGrpSpPr/>
        <p:nvPr/>
      </p:nvGrpSpPr>
      <p:grpSpPr>
        <a:xfrm>
          <a:off x="0" y="0"/>
          <a:ext cx="0" cy="0"/>
          <a:chOff x="0" y="0"/>
          <a:chExt cx="0" cy="0"/>
        </a:xfrm>
      </p:grpSpPr>
      <p:sp>
        <p:nvSpPr>
          <p:cNvPr id="230" name="Google Shape;230;p107"/>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107"/>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2" name="Google Shape;232;p107"/>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3" name="Google Shape;233;p107"/>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4" name="Google Shape;234;p107"/>
          <p:cNvSpPr txBox="1"/>
          <p:nvPr>
            <p:ph idx="4"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35" name="Shape 235"/>
        <p:cNvGrpSpPr/>
        <p:nvPr/>
      </p:nvGrpSpPr>
      <p:grpSpPr>
        <a:xfrm>
          <a:off x="0" y="0"/>
          <a:ext cx="0" cy="0"/>
          <a:chOff x="0" y="0"/>
          <a:chExt cx="0" cy="0"/>
        </a:xfrm>
      </p:grpSpPr>
      <p:sp>
        <p:nvSpPr>
          <p:cNvPr id="236" name="Google Shape;236;p108"/>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108"/>
          <p:cNvSpPr txBox="1"/>
          <p:nvPr>
            <p:ph idx="1" type="body"/>
          </p:nvPr>
        </p:nvSpPr>
        <p:spPr>
          <a:xfrm>
            <a:off x="91440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8" name="Google Shape;238;p108"/>
          <p:cNvSpPr txBox="1"/>
          <p:nvPr>
            <p:ph idx="2" type="body"/>
          </p:nvPr>
        </p:nvSpPr>
        <p:spPr>
          <a:xfrm>
            <a:off x="354204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9" name="Google Shape;239;p108"/>
          <p:cNvSpPr txBox="1"/>
          <p:nvPr>
            <p:ph idx="3" type="body"/>
          </p:nvPr>
        </p:nvSpPr>
        <p:spPr>
          <a:xfrm>
            <a:off x="616932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0" name="Google Shape;240;p108"/>
          <p:cNvSpPr txBox="1"/>
          <p:nvPr>
            <p:ph idx="4" type="body"/>
          </p:nvPr>
        </p:nvSpPr>
        <p:spPr>
          <a:xfrm>
            <a:off x="91440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1" name="Google Shape;241;p108"/>
          <p:cNvSpPr txBox="1"/>
          <p:nvPr>
            <p:ph idx="5" type="body"/>
          </p:nvPr>
        </p:nvSpPr>
        <p:spPr>
          <a:xfrm>
            <a:off x="354204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2" name="Google Shape;242;p108"/>
          <p:cNvSpPr txBox="1"/>
          <p:nvPr>
            <p:ph idx="6" type="body"/>
          </p:nvPr>
        </p:nvSpPr>
        <p:spPr>
          <a:xfrm>
            <a:off x="616932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53" name="Shape 253"/>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54" name="Shape 254"/>
        <p:cNvGrpSpPr/>
        <p:nvPr/>
      </p:nvGrpSpPr>
      <p:grpSpPr>
        <a:xfrm>
          <a:off x="0" y="0"/>
          <a:ext cx="0" cy="0"/>
          <a:chOff x="0" y="0"/>
          <a:chExt cx="0" cy="0"/>
        </a:xfrm>
      </p:grpSpPr>
      <p:sp>
        <p:nvSpPr>
          <p:cNvPr id="255" name="Google Shape;255;p111"/>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111"/>
          <p:cNvSpPr txBox="1"/>
          <p:nvPr>
            <p:ph idx="1" type="subTitle"/>
          </p:nvPr>
        </p:nvSpPr>
        <p:spPr>
          <a:xfrm>
            <a:off x="914400" y="1447560"/>
            <a:ext cx="7770960" cy="4570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57" name="Shape 257"/>
        <p:cNvGrpSpPr/>
        <p:nvPr/>
      </p:nvGrpSpPr>
      <p:grpSpPr>
        <a:xfrm>
          <a:off x="0" y="0"/>
          <a:ext cx="0" cy="0"/>
          <a:chOff x="0" y="0"/>
          <a:chExt cx="0" cy="0"/>
        </a:xfrm>
      </p:grpSpPr>
      <p:sp>
        <p:nvSpPr>
          <p:cNvPr id="258" name="Google Shape;258;p112"/>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112"/>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60" name="Shape 260"/>
        <p:cNvGrpSpPr/>
        <p:nvPr/>
      </p:nvGrpSpPr>
      <p:grpSpPr>
        <a:xfrm>
          <a:off x="0" y="0"/>
          <a:ext cx="0" cy="0"/>
          <a:chOff x="0" y="0"/>
          <a:chExt cx="0" cy="0"/>
        </a:xfrm>
      </p:grpSpPr>
      <p:sp>
        <p:nvSpPr>
          <p:cNvPr id="261" name="Google Shape;261;p113"/>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2" name="Google Shape;262;p113"/>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3" name="Google Shape;263;p113"/>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4" name="Shape 264"/>
        <p:cNvGrpSpPr/>
        <p:nvPr/>
      </p:nvGrpSpPr>
      <p:grpSpPr>
        <a:xfrm>
          <a:off x="0" y="0"/>
          <a:ext cx="0" cy="0"/>
          <a:chOff x="0" y="0"/>
          <a:chExt cx="0" cy="0"/>
        </a:xfrm>
      </p:grpSpPr>
      <p:sp>
        <p:nvSpPr>
          <p:cNvPr id="265" name="Google Shape;265;p114"/>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66" name="Shape 266"/>
        <p:cNvGrpSpPr/>
        <p:nvPr/>
      </p:nvGrpSpPr>
      <p:grpSpPr>
        <a:xfrm>
          <a:off x="0" y="0"/>
          <a:ext cx="0" cy="0"/>
          <a:chOff x="0" y="0"/>
          <a:chExt cx="0" cy="0"/>
        </a:xfrm>
      </p:grpSpPr>
      <p:sp>
        <p:nvSpPr>
          <p:cNvPr id="267" name="Google Shape;267;p115"/>
          <p:cNvSpPr txBox="1"/>
          <p:nvPr>
            <p:ph idx="1" type="subTitle"/>
          </p:nvPr>
        </p:nvSpPr>
        <p:spPr>
          <a:xfrm>
            <a:off x="914400" y="274680"/>
            <a:ext cx="7770960" cy="5291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8" name="Shape 268"/>
        <p:cNvGrpSpPr/>
        <p:nvPr/>
      </p:nvGrpSpPr>
      <p:grpSpPr>
        <a:xfrm>
          <a:off x="0" y="0"/>
          <a:ext cx="0" cy="0"/>
          <a:chOff x="0" y="0"/>
          <a:chExt cx="0" cy="0"/>
        </a:xfrm>
      </p:grpSpPr>
      <p:sp>
        <p:nvSpPr>
          <p:cNvPr id="269" name="Google Shape;269;p116"/>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116"/>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1" name="Google Shape;271;p116"/>
          <p:cNvSpPr txBox="1"/>
          <p:nvPr>
            <p:ph idx="2" type="body"/>
          </p:nvPr>
        </p:nvSpPr>
        <p:spPr>
          <a:xfrm>
            <a:off x="489636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2" name="Google Shape;272;p116"/>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73" name="Shape 273"/>
        <p:cNvGrpSpPr/>
        <p:nvPr/>
      </p:nvGrpSpPr>
      <p:grpSpPr>
        <a:xfrm>
          <a:off x="0" y="0"/>
          <a:ext cx="0" cy="0"/>
          <a:chOff x="0" y="0"/>
          <a:chExt cx="0" cy="0"/>
        </a:xfrm>
      </p:grpSpPr>
      <p:sp>
        <p:nvSpPr>
          <p:cNvPr id="274" name="Google Shape;274;p117"/>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5" name="Google Shape;275;p117"/>
          <p:cNvSpPr txBox="1"/>
          <p:nvPr>
            <p:ph idx="1" type="body"/>
          </p:nvPr>
        </p:nvSpPr>
        <p:spPr>
          <a:xfrm>
            <a:off x="914400" y="1447560"/>
            <a:ext cx="3791880" cy="45702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6" name="Google Shape;276;p117"/>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7" name="Google Shape;277;p117"/>
          <p:cNvSpPr txBox="1"/>
          <p:nvPr>
            <p:ph idx="3"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78" name="Shape 278"/>
        <p:cNvGrpSpPr/>
        <p:nvPr/>
      </p:nvGrpSpPr>
      <p:grpSpPr>
        <a:xfrm>
          <a:off x="0" y="0"/>
          <a:ext cx="0" cy="0"/>
          <a:chOff x="0" y="0"/>
          <a:chExt cx="0" cy="0"/>
        </a:xfrm>
      </p:grpSpPr>
      <p:sp>
        <p:nvSpPr>
          <p:cNvPr id="279" name="Google Shape;279;p118"/>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p118"/>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1" name="Google Shape;281;p118"/>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2" name="Google Shape;282;p118"/>
          <p:cNvSpPr txBox="1"/>
          <p:nvPr>
            <p:ph idx="3"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83" name="Shape 283"/>
        <p:cNvGrpSpPr/>
        <p:nvPr/>
      </p:nvGrpSpPr>
      <p:grpSpPr>
        <a:xfrm>
          <a:off x="0" y="0"/>
          <a:ext cx="0" cy="0"/>
          <a:chOff x="0" y="0"/>
          <a:chExt cx="0" cy="0"/>
        </a:xfrm>
      </p:grpSpPr>
      <p:sp>
        <p:nvSpPr>
          <p:cNvPr id="284" name="Google Shape;284;p119"/>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119"/>
          <p:cNvSpPr txBox="1"/>
          <p:nvPr>
            <p:ph idx="1" type="body"/>
          </p:nvPr>
        </p:nvSpPr>
        <p:spPr>
          <a:xfrm>
            <a:off x="914400" y="144756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6" name="Google Shape;286;p119"/>
          <p:cNvSpPr txBox="1"/>
          <p:nvPr>
            <p:ph idx="2" type="body"/>
          </p:nvPr>
        </p:nvSpPr>
        <p:spPr>
          <a:xfrm>
            <a:off x="914400" y="3834720"/>
            <a:ext cx="777096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87" name="Shape 287"/>
        <p:cNvGrpSpPr/>
        <p:nvPr/>
      </p:nvGrpSpPr>
      <p:grpSpPr>
        <a:xfrm>
          <a:off x="0" y="0"/>
          <a:ext cx="0" cy="0"/>
          <a:chOff x="0" y="0"/>
          <a:chExt cx="0" cy="0"/>
        </a:xfrm>
      </p:grpSpPr>
      <p:sp>
        <p:nvSpPr>
          <p:cNvPr id="288" name="Google Shape;288;p120"/>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120"/>
          <p:cNvSpPr txBox="1"/>
          <p:nvPr>
            <p:ph idx="1" type="body"/>
          </p:nvPr>
        </p:nvSpPr>
        <p:spPr>
          <a:xfrm>
            <a:off x="91440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0" name="Google Shape;290;p120"/>
          <p:cNvSpPr txBox="1"/>
          <p:nvPr>
            <p:ph idx="2" type="body"/>
          </p:nvPr>
        </p:nvSpPr>
        <p:spPr>
          <a:xfrm>
            <a:off x="4896360" y="144756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1" name="Google Shape;291;p120"/>
          <p:cNvSpPr txBox="1"/>
          <p:nvPr>
            <p:ph idx="3" type="body"/>
          </p:nvPr>
        </p:nvSpPr>
        <p:spPr>
          <a:xfrm>
            <a:off x="91440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2" name="Google Shape;292;p120"/>
          <p:cNvSpPr txBox="1"/>
          <p:nvPr>
            <p:ph idx="4" type="body"/>
          </p:nvPr>
        </p:nvSpPr>
        <p:spPr>
          <a:xfrm>
            <a:off x="4896360" y="3834720"/>
            <a:ext cx="379188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93" name="Shape 293"/>
        <p:cNvGrpSpPr/>
        <p:nvPr/>
      </p:nvGrpSpPr>
      <p:grpSpPr>
        <a:xfrm>
          <a:off x="0" y="0"/>
          <a:ext cx="0" cy="0"/>
          <a:chOff x="0" y="0"/>
          <a:chExt cx="0" cy="0"/>
        </a:xfrm>
      </p:grpSpPr>
      <p:sp>
        <p:nvSpPr>
          <p:cNvPr id="294" name="Google Shape;294;p121"/>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5" name="Google Shape;295;p121"/>
          <p:cNvSpPr txBox="1"/>
          <p:nvPr>
            <p:ph idx="1" type="body"/>
          </p:nvPr>
        </p:nvSpPr>
        <p:spPr>
          <a:xfrm>
            <a:off x="91440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6" name="Google Shape;296;p121"/>
          <p:cNvSpPr txBox="1"/>
          <p:nvPr>
            <p:ph idx="2" type="body"/>
          </p:nvPr>
        </p:nvSpPr>
        <p:spPr>
          <a:xfrm>
            <a:off x="354204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7" name="Google Shape;297;p121"/>
          <p:cNvSpPr txBox="1"/>
          <p:nvPr>
            <p:ph idx="3" type="body"/>
          </p:nvPr>
        </p:nvSpPr>
        <p:spPr>
          <a:xfrm>
            <a:off x="6169320" y="144756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8" name="Google Shape;298;p121"/>
          <p:cNvSpPr txBox="1"/>
          <p:nvPr>
            <p:ph idx="4" type="body"/>
          </p:nvPr>
        </p:nvSpPr>
        <p:spPr>
          <a:xfrm>
            <a:off x="91440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9" name="Google Shape;299;p121"/>
          <p:cNvSpPr txBox="1"/>
          <p:nvPr>
            <p:ph idx="5" type="body"/>
          </p:nvPr>
        </p:nvSpPr>
        <p:spPr>
          <a:xfrm>
            <a:off x="354204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0" name="Google Shape;300;p121"/>
          <p:cNvSpPr txBox="1"/>
          <p:nvPr>
            <p:ph idx="6" type="body"/>
          </p:nvPr>
        </p:nvSpPr>
        <p:spPr>
          <a:xfrm>
            <a:off x="6169320" y="3834720"/>
            <a:ext cx="2502000" cy="2179800"/>
          </a:xfrm>
          <a:prstGeom prst="rect">
            <a:avLst/>
          </a:prstGeom>
          <a:noFill/>
          <a:ln>
            <a:noFill/>
          </a:ln>
        </p:spPr>
        <p:txBody>
          <a:bodyPr anchorCtr="0" anchor="t" bIns="46800" lIns="90000" spcFirstLastPara="1" rIns="90000" wrap="square" tIns="4680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6.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5.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5.xml"/><Relationship Id="rId10" Type="http://schemas.openxmlformats.org/officeDocument/2006/relationships/slideLayout" Target="../slideLayouts/slideLayout44.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5" Type="http://schemas.openxmlformats.org/officeDocument/2006/relationships/theme" Target="../theme/theme3.xml"/><Relationship Id="rId14" Type="http://schemas.openxmlformats.org/officeDocument/2006/relationships/slideLayout" Target="../slideLayouts/slideLayout4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4.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 name="Shape 11"/>
        <p:cNvGrpSpPr/>
        <p:nvPr/>
      </p:nvGrpSpPr>
      <p:grpSpPr>
        <a:xfrm>
          <a:off x="0" y="0"/>
          <a:ext cx="0" cy="0"/>
          <a:chOff x="0" y="0"/>
          <a:chExt cx="0" cy="0"/>
        </a:xfrm>
      </p:grpSpPr>
      <p:sp>
        <p:nvSpPr>
          <p:cNvPr id="12" name="Google Shape;12;p57"/>
          <p:cNvSpPr/>
          <p:nvPr/>
        </p:nvSpPr>
        <p:spPr>
          <a:xfrm>
            <a:off x="0" y="0"/>
            <a:ext cx="9144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57"/>
          <p:cNvGrpSpPr/>
          <p:nvPr/>
        </p:nvGrpSpPr>
        <p:grpSpPr>
          <a:xfrm>
            <a:off x="60480" y="60480"/>
            <a:ext cx="9026280" cy="6710040"/>
            <a:chOff x="60480" y="60480"/>
            <a:chExt cx="9026280" cy="6710040"/>
          </a:xfrm>
        </p:grpSpPr>
        <p:pic>
          <p:nvPicPr>
            <p:cNvPr id="14" name="Google Shape;14;p57"/>
            <p:cNvPicPr preferRelativeResize="0"/>
            <p:nvPr/>
          </p:nvPicPr>
          <p:blipFill rotWithShape="1">
            <a:blip r:embed="rId2">
              <a:alphaModFix/>
            </a:blip>
            <a:srcRect b="0" l="0" r="0" t="0"/>
            <a:stretch/>
          </p:blipFill>
          <p:spPr>
            <a:xfrm>
              <a:off x="60480" y="60480"/>
              <a:ext cx="9026280" cy="6710040"/>
            </a:xfrm>
            <a:prstGeom prst="rect">
              <a:avLst/>
            </a:prstGeom>
            <a:noFill/>
            <a:ln>
              <a:noFill/>
            </a:ln>
          </p:spPr>
        </p:pic>
        <p:sp>
          <p:nvSpPr>
            <p:cNvPr id="15" name="Google Shape;15;p57"/>
            <p:cNvSpPr/>
            <p:nvPr/>
          </p:nvSpPr>
          <p:spPr>
            <a:xfrm>
              <a:off x="162000" y="166680"/>
              <a:ext cx="8818560" cy="6497640"/>
            </a:xfrm>
            <a:custGeom>
              <a:rect b="b" l="l" r="r" t="t"/>
              <a:pathLst>
                <a:path extrusionOk="0" h="21600" w="21600">
                  <a:moveTo>
                    <a:pt x="0" y="0"/>
                  </a:moveTo>
                  <a:lnTo>
                    <a:pt x="21600" y="0"/>
                  </a:lnTo>
                  <a:lnTo>
                    <a:pt x="21600" y="21600"/>
                  </a:lnTo>
                  <a:lnTo>
                    <a:pt x="0" y="21600"/>
                  </a:lnTo>
                  <a:lnTo>
                    <a:pt x="0" y="0"/>
                  </a:lnTo>
                  <a:close/>
                </a:path>
              </a:pathLst>
            </a:custGeom>
            <a:noFill/>
            <a:ln>
              <a:noFill/>
            </a:ln>
          </p:spPr>
        </p:sp>
      </p:grpSp>
      <p:sp>
        <p:nvSpPr>
          <p:cNvPr id="16" name="Google Shape;16;p57"/>
          <p:cNvSpPr/>
          <p:nvPr/>
        </p:nvSpPr>
        <p:spPr>
          <a:xfrm flipH="1" rot="10800000">
            <a:off x="69840" y="2284200"/>
            <a:ext cx="9013680" cy="92160"/>
          </a:xfrm>
          <a:prstGeom prst="rect">
            <a:avLst/>
          </a:prstGeom>
          <a:solidFill>
            <a:srgbClr val="D348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57"/>
          <p:cNvSpPr/>
          <p:nvPr/>
        </p:nvSpPr>
        <p:spPr>
          <a:xfrm>
            <a:off x="69840" y="2341440"/>
            <a:ext cx="9013680" cy="46080"/>
          </a:xfrm>
          <a:prstGeom prst="rect">
            <a:avLst/>
          </a:prstGeom>
          <a:solidFill>
            <a:srgbClr val="E6B1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57"/>
          <p:cNvSpPr/>
          <p:nvPr/>
        </p:nvSpPr>
        <p:spPr>
          <a:xfrm>
            <a:off x="68400" y="2468520"/>
            <a:ext cx="9015120" cy="46080"/>
          </a:xfrm>
          <a:prstGeom prst="rect">
            <a:avLst/>
          </a:prstGeom>
          <a:solidFill>
            <a:srgbClr val="9184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57"/>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 name="Google Shape;20;p57"/>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1" name="Google Shape;21;p57"/>
          <p:cNvSpPr txBox="1"/>
          <p:nvPr>
            <p:ph idx="10" type="dt"/>
          </p:nvPr>
        </p:nvSpPr>
        <p:spPr>
          <a:xfrm>
            <a:off x="6171840" y="6191280"/>
            <a:ext cx="2475000" cy="47448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 name="Google Shape;22;p57"/>
          <p:cNvSpPr txBox="1"/>
          <p:nvPr>
            <p:ph idx="11" type="ftr"/>
          </p:nvPr>
        </p:nvSpPr>
        <p:spPr>
          <a:xfrm>
            <a:off x="800280" y="6172200"/>
            <a:ext cx="3998880" cy="45576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 name="Google Shape;23;p57"/>
          <p:cNvSpPr txBox="1"/>
          <p:nvPr>
            <p:ph idx="12" type="sldNum"/>
          </p:nvPr>
        </p:nvSpPr>
        <p:spPr>
          <a:xfrm>
            <a:off x="212400" y="6275160"/>
            <a:ext cx="322200" cy="322200"/>
          </a:xfrm>
          <a:prstGeom prst="rect">
            <a:avLst/>
          </a:prstGeom>
          <a:noFill/>
          <a:ln>
            <a:noFill/>
          </a:ln>
        </p:spPr>
        <p:txBody>
          <a:bodyPr anchorCtr="1" anchor="ctr" bIns="0" lIns="0" spcFirstLastPara="1" rIns="0" wrap="square" tIns="0">
            <a:noAutofit/>
          </a:bodyPr>
          <a:lstStyle>
            <a:lvl1pPr indent="0" lvl="0"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r>
              <a:rPr lang="en-US"/>
              <a:t>1-</a:t>
            </a: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59"/>
          <p:cNvSpPr/>
          <p:nvPr/>
        </p:nvSpPr>
        <p:spPr>
          <a:xfrm>
            <a:off x="0" y="0"/>
            <a:ext cx="9144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9"/>
          <p:cNvSpPr/>
          <p:nvPr/>
        </p:nvSpPr>
        <p:spPr>
          <a:xfrm>
            <a:off x="63360" y="69840"/>
            <a:ext cx="9014040" cy="6692760"/>
          </a:xfrm>
          <a:custGeom>
            <a:rect b="b" l="l" r="r" t="t"/>
            <a:pathLst>
              <a:path extrusionOk="0" h="18593" w="25040">
                <a:moveTo>
                  <a:pt x="916" y="0"/>
                </a:moveTo>
                <a:cubicBezTo>
                  <a:pt x="458" y="0"/>
                  <a:pt x="0" y="458"/>
                  <a:pt x="0" y="916"/>
                </a:cubicBezTo>
                <a:lnTo>
                  <a:pt x="0" y="17675"/>
                </a:lnTo>
                <a:cubicBezTo>
                  <a:pt x="0" y="18133"/>
                  <a:pt x="458" y="18592"/>
                  <a:pt x="916" y="18592"/>
                </a:cubicBezTo>
                <a:lnTo>
                  <a:pt x="24123" y="18592"/>
                </a:lnTo>
                <a:cubicBezTo>
                  <a:pt x="24581" y="18592"/>
                  <a:pt x="25039" y="18133"/>
                  <a:pt x="25039" y="17675"/>
                </a:cubicBezTo>
                <a:lnTo>
                  <a:pt x="25039" y="916"/>
                </a:lnTo>
                <a:cubicBezTo>
                  <a:pt x="25039" y="458"/>
                  <a:pt x="24581" y="0"/>
                  <a:pt x="24123" y="0"/>
                </a:cubicBezTo>
                <a:lnTo>
                  <a:pt x="916" y="0"/>
                </a:lnTo>
              </a:path>
            </a:pathLst>
          </a:custGeom>
          <a:noFill/>
          <a:ln cap="flat" cmpd="sng" w="95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9"/>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6" name="Google Shape;76;p59"/>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7" name="Google Shape;77;p59"/>
          <p:cNvSpPr txBox="1"/>
          <p:nvPr>
            <p:ph idx="10" type="dt"/>
          </p:nvPr>
        </p:nvSpPr>
        <p:spPr>
          <a:xfrm>
            <a:off x="6171840" y="6191280"/>
            <a:ext cx="2475000" cy="47448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8" name="Google Shape;78;p59"/>
          <p:cNvSpPr txBox="1"/>
          <p:nvPr>
            <p:ph idx="11" type="ftr"/>
          </p:nvPr>
        </p:nvSpPr>
        <p:spPr>
          <a:xfrm>
            <a:off x="914400" y="6172200"/>
            <a:ext cx="3960720" cy="45576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9" name="Google Shape;79;p59"/>
          <p:cNvSpPr txBox="1"/>
          <p:nvPr>
            <p:ph idx="12" type="sldNum"/>
          </p:nvPr>
        </p:nvSpPr>
        <p:spPr>
          <a:xfrm>
            <a:off x="212400" y="6276600"/>
            <a:ext cx="322200" cy="322200"/>
          </a:xfrm>
          <a:prstGeom prst="rect">
            <a:avLst/>
          </a:prstGeom>
          <a:noFill/>
          <a:ln>
            <a:noFill/>
          </a:ln>
        </p:spPr>
        <p:txBody>
          <a:bodyPr anchorCtr="1" anchor="ctr" bIns="0" lIns="0" spcFirstLastPara="1" rIns="0" wrap="square" tIns="0">
            <a:noAutofit/>
          </a:bodyPr>
          <a:lstStyle>
            <a:lvl1pPr indent="0" lvl="0"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r>
              <a:rPr lang="en-US"/>
              <a:t>1-</a:t>
            </a: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61"/>
          <p:cNvSpPr/>
          <p:nvPr/>
        </p:nvSpPr>
        <p:spPr>
          <a:xfrm>
            <a:off x="0" y="0"/>
            <a:ext cx="9144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1"/>
          <p:cNvSpPr/>
          <p:nvPr/>
        </p:nvSpPr>
        <p:spPr>
          <a:xfrm>
            <a:off x="63360" y="69840"/>
            <a:ext cx="9014040" cy="6692760"/>
          </a:xfrm>
          <a:custGeom>
            <a:rect b="b" l="l" r="r" t="t"/>
            <a:pathLst>
              <a:path extrusionOk="0" h="18593" w="25040">
                <a:moveTo>
                  <a:pt x="916" y="0"/>
                </a:moveTo>
                <a:cubicBezTo>
                  <a:pt x="458" y="0"/>
                  <a:pt x="0" y="458"/>
                  <a:pt x="0" y="916"/>
                </a:cubicBezTo>
                <a:lnTo>
                  <a:pt x="0" y="17675"/>
                </a:lnTo>
                <a:cubicBezTo>
                  <a:pt x="0" y="18133"/>
                  <a:pt x="458" y="18592"/>
                  <a:pt x="916" y="18592"/>
                </a:cubicBezTo>
                <a:lnTo>
                  <a:pt x="24123" y="18592"/>
                </a:lnTo>
                <a:cubicBezTo>
                  <a:pt x="24581" y="18592"/>
                  <a:pt x="25039" y="18133"/>
                  <a:pt x="25039" y="17675"/>
                </a:cubicBezTo>
                <a:lnTo>
                  <a:pt x="25039" y="916"/>
                </a:lnTo>
                <a:cubicBezTo>
                  <a:pt x="25039" y="458"/>
                  <a:pt x="24581" y="0"/>
                  <a:pt x="24123" y="0"/>
                </a:cubicBezTo>
                <a:lnTo>
                  <a:pt x="916" y="0"/>
                </a:lnTo>
              </a:path>
            </a:pathLst>
          </a:custGeom>
          <a:noFill/>
          <a:ln cap="flat" cmpd="sng" w="95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1"/>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2" name="Google Shape;132;p61"/>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33" name="Google Shape;133;p61"/>
          <p:cNvSpPr txBox="1"/>
          <p:nvPr>
            <p:ph idx="11" type="ftr"/>
          </p:nvPr>
        </p:nvSpPr>
        <p:spPr>
          <a:xfrm>
            <a:off x="914400" y="6172200"/>
            <a:ext cx="3960720" cy="45576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4" name="Google Shape;134;p61"/>
          <p:cNvSpPr txBox="1"/>
          <p:nvPr>
            <p:ph idx="12" type="sldNum"/>
          </p:nvPr>
        </p:nvSpPr>
        <p:spPr>
          <a:xfrm>
            <a:off x="212400" y="6276600"/>
            <a:ext cx="322200" cy="322200"/>
          </a:xfrm>
          <a:prstGeom prst="rect">
            <a:avLst/>
          </a:prstGeom>
          <a:noFill/>
          <a:ln>
            <a:noFill/>
          </a:ln>
        </p:spPr>
        <p:txBody>
          <a:bodyPr anchorCtr="1" anchor="ctr" bIns="0" lIns="0" spcFirstLastPara="1" rIns="0" wrap="square" tIns="0">
            <a:noAutofit/>
          </a:bodyPr>
          <a:lstStyle>
            <a:lvl1pPr indent="0" lvl="0"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r>
              <a:rPr lang="en-US"/>
              <a:t>1-</a:t>
            </a: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83" name="Shape 183"/>
        <p:cNvGrpSpPr/>
        <p:nvPr/>
      </p:nvGrpSpPr>
      <p:grpSpPr>
        <a:xfrm>
          <a:off x="0" y="0"/>
          <a:ext cx="0" cy="0"/>
          <a:chOff x="0" y="0"/>
          <a:chExt cx="0" cy="0"/>
        </a:xfrm>
      </p:grpSpPr>
      <p:sp>
        <p:nvSpPr>
          <p:cNvPr id="184" name="Google Shape;184;p96"/>
          <p:cNvSpPr/>
          <p:nvPr/>
        </p:nvSpPr>
        <p:spPr>
          <a:xfrm>
            <a:off x="0" y="0"/>
            <a:ext cx="9144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6"/>
          <p:cNvSpPr/>
          <p:nvPr/>
        </p:nvSpPr>
        <p:spPr>
          <a:xfrm>
            <a:off x="65160" y="69840"/>
            <a:ext cx="9013680" cy="6691320"/>
          </a:xfrm>
          <a:custGeom>
            <a:rect b="b" l="l" r="r" t="t"/>
            <a:pathLst>
              <a:path extrusionOk="0" h="18589" w="25040">
                <a:moveTo>
                  <a:pt x="916" y="0"/>
                </a:moveTo>
                <a:cubicBezTo>
                  <a:pt x="458" y="0"/>
                  <a:pt x="0" y="458"/>
                  <a:pt x="0" y="916"/>
                </a:cubicBezTo>
                <a:lnTo>
                  <a:pt x="0" y="17671"/>
                </a:lnTo>
                <a:cubicBezTo>
                  <a:pt x="0" y="18129"/>
                  <a:pt x="458" y="18588"/>
                  <a:pt x="916" y="18588"/>
                </a:cubicBezTo>
                <a:lnTo>
                  <a:pt x="24122" y="18588"/>
                </a:lnTo>
                <a:cubicBezTo>
                  <a:pt x="24580" y="18588"/>
                  <a:pt x="25039" y="18129"/>
                  <a:pt x="25039" y="17671"/>
                </a:cubicBezTo>
                <a:lnTo>
                  <a:pt x="25039" y="916"/>
                </a:lnTo>
                <a:cubicBezTo>
                  <a:pt x="25039" y="458"/>
                  <a:pt x="24580" y="0"/>
                  <a:pt x="24122" y="0"/>
                </a:cubicBezTo>
                <a:lnTo>
                  <a:pt x="916" y="0"/>
                </a:lnTo>
              </a:path>
            </a:pathLst>
          </a:custGeom>
          <a:noFill/>
          <a:ln cap="flat" cmpd="sng" w="95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6"/>
          <p:cNvSpPr/>
          <p:nvPr/>
        </p:nvSpPr>
        <p:spPr>
          <a:xfrm>
            <a:off x="63360" y="1449360"/>
            <a:ext cx="9020160" cy="1527120"/>
          </a:xfrm>
          <a:prstGeom prst="rect">
            <a:avLst/>
          </a:prstGeom>
          <a:solidFill>
            <a:srgbClr val="D348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6"/>
          <p:cNvSpPr/>
          <p:nvPr/>
        </p:nvSpPr>
        <p:spPr>
          <a:xfrm>
            <a:off x="63360" y="1397160"/>
            <a:ext cx="9020160" cy="120600"/>
          </a:xfrm>
          <a:prstGeom prst="rect">
            <a:avLst/>
          </a:prstGeom>
          <a:solidFill>
            <a:srgbClr val="E6B1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6"/>
          <p:cNvSpPr/>
          <p:nvPr/>
        </p:nvSpPr>
        <p:spPr>
          <a:xfrm>
            <a:off x="63360" y="2976480"/>
            <a:ext cx="9020160" cy="111240"/>
          </a:xfrm>
          <a:prstGeom prst="rect">
            <a:avLst/>
          </a:prstGeom>
          <a:solidFill>
            <a:srgbClr val="9184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 name="Google Shape;189;p96"/>
          <p:cNvPicPr preferRelativeResize="0"/>
          <p:nvPr/>
        </p:nvPicPr>
        <p:blipFill rotWithShape="1">
          <a:blip r:embed="rId2">
            <a:alphaModFix/>
          </a:blip>
          <a:srcRect b="0" l="0" r="0" t="0"/>
          <a:stretch/>
        </p:blipFill>
        <p:spPr>
          <a:xfrm>
            <a:off x="4267080" y="380880"/>
            <a:ext cx="4552920" cy="5892840"/>
          </a:xfrm>
          <a:prstGeom prst="rect">
            <a:avLst/>
          </a:prstGeom>
          <a:noFill/>
          <a:ln>
            <a:noFill/>
          </a:ln>
        </p:spPr>
      </p:pic>
      <p:sp>
        <p:nvSpPr>
          <p:cNvPr id="190" name="Google Shape;190;p96"/>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91" name="Google Shape;191;p96"/>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92" name="Google Shape;192;p96"/>
          <p:cNvSpPr txBox="1"/>
          <p:nvPr>
            <p:ph idx="10" type="dt"/>
          </p:nvPr>
        </p:nvSpPr>
        <p:spPr>
          <a:xfrm>
            <a:off x="6171840" y="6191280"/>
            <a:ext cx="2475000" cy="47448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93" name="Google Shape;193;p96"/>
          <p:cNvSpPr/>
          <p:nvPr/>
        </p:nvSpPr>
        <p:spPr>
          <a:xfrm>
            <a:off x="914400" y="6172200"/>
            <a:ext cx="396252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sp>
      <p:sp>
        <p:nvSpPr>
          <p:cNvPr id="194" name="Google Shape;194;p96"/>
          <p:cNvSpPr txBox="1"/>
          <p:nvPr>
            <p:ph idx="12" type="sldNum"/>
          </p:nvPr>
        </p:nvSpPr>
        <p:spPr>
          <a:xfrm>
            <a:off x="212400" y="6276600"/>
            <a:ext cx="322200" cy="322200"/>
          </a:xfrm>
          <a:prstGeom prst="rect">
            <a:avLst/>
          </a:prstGeom>
          <a:noFill/>
          <a:ln>
            <a:noFill/>
          </a:ln>
        </p:spPr>
        <p:txBody>
          <a:bodyPr anchorCtr="1" anchor="ctr" bIns="0" lIns="0" spcFirstLastPara="1" rIns="0" wrap="square" tIns="0">
            <a:noAutofit/>
          </a:bodyPr>
          <a:lstStyle>
            <a:lvl1pPr indent="0" lvl="0"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09"/>
          <p:cNvSpPr/>
          <p:nvPr/>
        </p:nvSpPr>
        <p:spPr>
          <a:xfrm>
            <a:off x="0" y="0"/>
            <a:ext cx="9144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9"/>
          <p:cNvSpPr/>
          <p:nvPr/>
        </p:nvSpPr>
        <p:spPr>
          <a:xfrm>
            <a:off x="63360" y="69840"/>
            <a:ext cx="9014040" cy="6692760"/>
          </a:xfrm>
          <a:custGeom>
            <a:rect b="b" l="l" r="r" t="t"/>
            <a:pathLst>
              <a:path extrusionOk="0" h="18593" w="25040">
                <a:moveTo>
                  <a:pt x="916" y="0"/>
                </a:moveTo>
                <a:cubicBezTo>
                  <a:pt x="458" y="0"/>
                  <a:pt x="0" y="458"/>
                  <a:pt x="0" y="916"/>
                </a:cubicBezTo>
                <a:lnTo>
                  <a:pt x="0" y="17675"/>
                </a:lnTo>
                <a:cubicBezTo>
                  <a:pt x="0" y="18133"/>
                  <a:pt x="458" y="18592"/>
                  <a:pt x="916" y="18592"/>
                </a:cubicBezTo>
                <a:lnTo>
                  <a:pt x="24123" y="18592"/>
                </a:lnTo>
                <a:cubicBezTo>
                  <a:pt x="24581" y="18592"/>
                  <a:pt x="25039" y="18133"/>
                  <a:pt x="25039" y="17675"/>
                </a:cubicBezTo>
                <a:lnTo>
                  <a:pt x="25039" y="916"/>
                </a:lnTo>
                <a:cubicBezTo>
                  <a:pt x="25039" y="458"/>
                  <a:pt x="24581" y="0"/>
                  <a:pt x="24123" y="0"/>
                </a:cubicBezTo>
                <a:lnTo>
                  <a:pt x="916" y="0"/>
                </a:lnTo>
              </a:path>
            </a:pathLst>
          </a:custGeom>
          <a:noFill/>
          <a:ln cap="flat" cmpd="sng" w="95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9"/>
          <p:cNvSpPr/>
          <p:nvPr/>
        </p:nvSpPr>
        <p:spPr>
          <a:xfrm>
            <a:off x="0" y="0"/>
            <a:ext cx="9144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9"/>
          <p:cNvSpPr/>
          <p:nvPr/>
        </p:nvSpPr>
        <p:spPr>
          <a:xfrm>
            <a:off x="63360" y="69840"/>
            <a:ext cx="9014040" cy="6692760"/>
          </a:xfrm>
          <a:custGeom>
            <a:rect b="b" l="l" r="r" t="t"/>
            <a:pathLst>
              <a:path extrusionOk="0" h="18593" w="25040">
                <a:moveTo>
                  <a:pt x="916" y="0"/>
                </a:moveTo>
                <a:cubicBezTo>
                  <a:pt x="458" y="0"/>
                  <a:pt x="0" y="458"/>
                  <a:pt x="0" y="916"/>
                </a:cubicBezTo>
                <a:lnTo>
                  <a:pt x="0" y="17675"/>
                </a:lnTo>
                <a:cubicBezTo>
                  <a:pt x="0" y="18133"/>
                  <a:pt x="458" y="18592"/>
                  <a:pt x="916" y="18592"/>
                </a:cubicBezTo>
                <a:lnTo>
                  <a:pt x="24123" y="18592"/>
                </a:lnTo>
                <a:cubicBezTo>
                  <a:pt x="24581" y="18592"/>
                  <a:pt x="25039" y="18133"/>
                  <a:pt x="25039" y="17675"/>
                </a:cubicBezTo>
                <a:lnTo>
                  <a:pt x="25039" y="916"/>
                </a:lnTo>
                <a:cubicBezTo>
                  <a:pt x="25039" y="458"/>
                  <a:pt x="24581" y="0"/>
                  <a:pt x="24123" y="0"/>
                </a:cubicBezTo>
                <a:lnTo>
                  <a:pt x="916" y="0"/>
                </a:lnTo>
              </a:path>
            </a:pathLst>
          </a:custGeom>
          <a:noFill/>
          <a:ln cap="flat" cmpd="sng" w="95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9"/>
          <p:cNvSpPr txBox="1"/>
          <p:nvPr>
            <p:ph type="title"/>
          </p:nvPr>
        </p:nvSpPr>
        <p:spPr>
          <a:xfrm>
            <a:off x="914400" y="274680"/>
            <a:ext cx="7770960" cy="1141200"/>
          </a:xfrm>
          <a:prstGeom prst="rect">
            <a:avLst/>
          </a:prstGeom>
          <a:noFill/>
          <a:ln>
            <a:noFill/>
          </a:ln>
        </p:spPr>
        <p:txBody>
          <a:bodyPr anchorCtr="0" anchor="b" bIns="91425"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9" name="Google Shape;249;p109"/>
          <p:cNvSpPr txBox="1"/>
          <p:nvPr>
            <p:ph idx="1" type="body"/>
          </p:nvPr>
        </p:nvSpPr>
        <p:spPr>
          <a:xfrm>
            <a:off x="914400" y="1447560"/>
            <a:ext cx="7770960" cy="4570200"/>
          </a:xfrm>
          <a:prstGeom prst="rect">
            <a:avLst/>
          </a:prstGeom>
          <a:noFill/>
          <a:ln>
            <a:noFill/>
          </a:ln>
        </p:spPr>
        <p:txBody>
          <a:bodyPr anchorCtr="0" anchor="t" bIns="46800" lIns="90000" spcFirstLastPara="1" rIns="90000" wrap="square" tIns="468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0" name="Google Shape;250;p109"/>
          <p:cNvSpPr txBox="1"/>
          <p:nvPr>
            <p:ph idx="10" type="dt"/>
          </p:nvPr>
        </p:nvSpPr>
        <p:spPr>
          <a:xfrm>
            <a:off x="6171840" y="6191280"/>
            <a:ext cx="2475000" cy="47448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51" name="Google Shape;251;p109"/>
          <p:cNvSpPr txBox="1"/>
          <p:nvPr>
            <p:ph idx="11" type="ftr"/>
          </p:nvPr>
        </p:nvSpPr>
        <p:spPr>
          <a:xfrm>
            <a:off x="914400" y="6172200"/>
            <a:ext cx="3960720" cy="45576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52" name="Google Shape;252;p109"/>
          <p:cNvSpPr txBox="1"/>
          <p:nvPr>
            <p:ph idx="12" type="sldNum"/>
          </p:nvPr>
        </p:nvSpPr>
        <p:spPr>
          <a:xfrm>
            <a:off x="212400" y="6276600"/>
            <a:ext cx="322200" cy="322200"/>
          </a:xfrm>
          <a:prstGeom prst="rect">
            <a:avLst/>
          </a:prstGeom>
          <a:noFill/>
          <a:ln>
            <a:noFill/>
          </a:ln>
        </p:spPr>
        <p:txBody>
          <a:bodyPr anchorCtr="1" anchor="ctr" bIns="0" lIns="0" spcFirstLastPara="1" rIns="0" wrap="square" tIns="0">
            <a:noAutofit/>
          </a:bodyPr>
          <a:lstStyle>
            <a:lvl1pPr indent="0" lvl="0"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r>
              <a:rPr lang="en-US"/>
              <a:t>1-</a:t>
            </a: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2.xml"/><Relationship Id="rId3" Type="http://schemas.openxmlformats.org/officeDocument/2006/relationships/image" Target="../media/image4.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1"/>
          <p:cNvSpPr/>
          <p:nvPr/>
        </p:nvSpPr>
        <p:spPr>
          <a:xfrm>
            <a:off x="722160" y="952560"/>
            <a:ext cx="7772400" cy="13618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Chapter 3</a:t>
            </a:r>
            <a:endParaRPr b="0" i="0" sz="4000" u="none" cap="none" strike="noStrike">
              <a:solidFill>
                <a:srgbClr val="000000"/>
              </a:solidFill>
              <a:latin typeface="Times New Roman"/>
              <a:ea typeface="Times New Roman"/>
              <a:cs typeface="Times New Roman"/>
              <a:sym typeface="Times New Roman"/>
            </a:endParaRPr>
          </a:p>
        </p:txBody>
      </p:sp>
      <p:sp>
        <p:nvSpPr>
          <p:cNvPr id="306" name="Google Shape;306;p1"/>
          <p:cNvSpPr/>
          <p:nvPr/>
        </p:nvSpPr>
        <p:spPr>
          <a:xfrm>
            <a:off x="146160" y="62085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07" name="Google Shape;307;p1"/>
          <p:cNvSpPr/>
          <p:nvPr/>
        </p:nvSpPr>
        <p:spPr>
          <a:xfrm>
            <a:off x="762120" y="2438280"/>
            <a:ext cx="7315200" cy="17528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6800" lIns="90000" spcFirstLastPara="1" rIns="90000" wrap="square" tIns="46800">
            <a:noAutofit/>
          </a:bodyPr>
          <a:lstStyle/>
          <a:p>
            <a:pPr indent="-341280" lvl="0" marL="342720" marR="0" rtl="0" algn="l">
              <a:lnSpc>
                <a:spcPct val="100000"/>
              </a:lnSpc>
              <a:spcBef>
                <a:spcPts val="0"/>
              </a:spcBef>
              <a:spcAft>
                <a:spcPts val="0"/>
              </a:spcAft>
              <a:buNone/>
            </a:pPr>
            <a:r>
              <a:rPr b="0" i="0" lang="en-US" sz="4000" u="none" cap="none" strike="noStrike">
                <a:solidFill>
                  <a:srgbClr val="7F7F7F"/>
                </a:solidFill>
                <a:latin typeface="Libre Baskerville"/>
                <a:ea typeface="Libre Baskerville"/>
                <a:cs typeface="Libre Baskerville"/>
                <a:sym typeface="Libre Baskerville"/>
              </a:rPr>
              <a:t>Describing Syntax and Semantics</a:t>
            </a:r>
            <a:endParaRPr b="0" i="0" sz="4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2"/>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Chapter 3 Topics</a:t>
            </a:r>
            <a:endParaRPr b="0" i="0" sz="4000" u="none" cap="none" strike="noStrike">
              <a:solidFill>
                <a:srgbClr val="000000"/>
              </a:solidFill>
              <a:latin typeface="Times New Roman"/>
              <a:ea typeface="Times New Roman"/>
              <a:cs typeface="Times New Roman"/>
              <a:sym typeface="Times New Roman"/>
            </a:endParaRPr>
          </a:p>
        </p:txBody>
      </p:sp>
      <p:sp>
        <p:nvSpPr>
          <p:cNvPr id="313" name="Google Shape;313;p2"/>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14" name="Google Shape;314;p2"/>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531720" lvl="0" marL="53172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Introduction</a:t>
            </a:r>
            <a:endParaRPr b="0" i="0" sz="2600" u="none" cap="none" strike="noStrike">
              <a:solidFill>
                <a:srgbClr val="000000"/>
              </a:solidFill>
              <a:latin typeface="Times New Roman"/>
              <a:ea typeface="Times New Roman"/>
              <a:cs typeface="Times New Roman"/>
              <a:sym typeface="Times New Roman"/>
            </a:endParaRPr>
          </a:p>
          <a:p>
            <a:pPr indent="-531720" lvl="0" marL="53172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General Problem of Describing Syntax</a:t>
            </a:r>
            <a:endParaRPr b="0" i="0" sz="2600" u="none" cap="none" strike="noStrike">
              <a:solidFill>
                <a:srgbClr val="000000"/>
              </a:solidFill>
              <a:latin typeface="Times New Roman"/>
              <a:ea typeface="Times New Roman"/>
              <a:cs typeface="Times New Roman"/>
              <a:sym typeface="Times New Roman"/>
            </a:endParaRPr>
          </a:p>
          <a:p>
            <a:pPr indent="-531720" lvl="0" marL="53172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Formal Methods of Describing Syntax</a:t>
            </a:r>
            <a:endParaRPr b="0" i="0" sz="2600" u="none" cap="none" strike="noStrike">
              <a:solidFill>
                <a:srgbClr val="000000"/>
              </a:solidFill>
              <a:latin typeface="Times New Roman"/>
              <a:ea typeface="Times New Roman"/>
              <a:cs typeface="Times New Roman"/>
              <a:sym typeface="Times New Roman"/>
            </a:endParaRPr>
          </a:p>
          <a:p>
            <a:pPr indent="-531720" lvl="0" marL="53172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Attribute Grammars</a:t>
            </a:r>
            <a:endParaRPr b="0" i="0" sz="2600" u="none" cap="none" strike="noStrike">
              <a:solidFill>
                <a:srgbClr val="000000"/>
              </a:solidFill>
              <a:latin typeface="Times New Roman"/>
              <a:ea typeface="Times New Roman"/>
              <a:cs typeface="Times New Roman"/>
              <a:sym typeface="Times New Roman"/>
            </a:endParaRPr>
          </a:p>
          <a:p>
            <a:pPr indent="-531720" lvl="0" marL="53172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Describing the Meanings of Programs:    Dynamic Semantics</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3"/>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Introduction</a:t>
            </a:r>
            <a:endParaRPr b="0" i="0" sz="4000" u="none" cap="none" strike="noStrike">
              <a:solidFill>
                <a:srgbClr val="000000"/>
              </a:solidFill>
              <a:latin typeface="Times New Roman"/>
              <a:ea typeface="Times New Roman"/>
              <a:cs typeface="Times New Roman"/>
              <a:sym typeface="Times New Roman"/>
            </a:endParaRPr>
          </a:p>
        </p:txBody>
      </p:sp>
      <p:sp>
        <p:nvSpPr>
          <p:cNvPr id="320" name="Google Shape;320;p3"/>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21" name="Google Shape;321;p3"/>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90000"/>
              </a:lnSpc>
              <a:spcBef>
                <a:spcPts val="0"/>
              </a:spcBef>
              <a:spcAft>
                <a:spcPts val="0"/>
              </a:spcAft>
              <a:buClr>
                <a:srgbClr val="D34817"/>
              </a:buClr>
              <a:buSzPts val="2210"/>
              <a:buFont typeface="Noto Sans Symbols"/>
              <a:buChar char="⚫"/>
            </a:pPr>
            <a:r>
              <a:rPr b="1" i="0" lang="en-US" sz="2600" u="none" cap="none" strike="noStrike">
                <a:solidFill>
                  <a:srgbClr val="000000"/>
                </a:solidFill>
                <a:latin typeface="Libre Baskerville"/>
                <a:ea typeface="Libre Baskerville"/>
                <a:cs typeface="Libre Baskerville"/>
                <a:sym typeface="Libre Baskerville"/>
              </a:rPr>
              <a:t>Syntax:</a:t>
            </a:r>
            <a:r>
              <a:rPr b="0" i="0" lang="en-US" sz="2600" u="none" cap="none" strike="noStrike">
                <a:solidFill>
                  <a:srgbClr val="000000"/>
                </a:solidFill>
                <a:latin typeface="Libre Baskerville"/>
                <a:ea typeface="Libre Baskerville"/>
                <a:cs typeface="Libre Baskerville"/>
                <a:sym typeface="Libre Baskerville"/>
              </a:rPr>
              <a:t> the form or structure of the expressions, statements, and program units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210"/>
              <a:buFont typeface="Noto Sans Symbols"/>
              <a:buChar char="⚫"/>
            </a:pPr>
            <a:r>
              <a:rPr b="1" i="0" lang="en-US" sz="2600" u="none" cap="none" strike="noStrike">
                <a:solidFill>
                  <a:srgbClr val="000000"/>
                </a:solidFill>
                <a:latin typeface="Libre Baskerville"/>
                <a:ea typeface="Libre Baskerville"/>
                <a:cs typeface="Libre Baskerville"/>
                <a:sym typeface="Libre Baskerville"/>
              </a:rPr>
              <a:t>Semantics:</a:t>
            </a:r>
            <a:r>
              <a:rPr b="0" i="0" lang="en-US" sz="2600" u="none" cap="none" strike="noStrike">
                <a:solidFill>
                  <a:srgbClr val="000000"/>
                </a:solidFill>
                <a:latin typeface="Libre Baskerville"/>
                <a:ea typeface="Libre Baskerville"/>
                <a:cs typeface="Libre Baskerville"/>
                <a:sym typeface="Libre Baskerville"/>
              </a:rPr>
              <a:t> the meaning of the expressions,  statements, and program units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Syntax and semantics provide a language’s definition</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9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 Users of a language definition</a:t>
            </a:r>
            <a:endParaRPr b="0" i="0" sz="2400" u="none" cap="none" strike="noStrike">
              <a:solidFill>
                <a:srgbClr val="000000"/>
              </a:solidFill>
              <a:latin typeface="Times New Roman"/>
              <a:ea typeface="Times New Roman"/>
              <a:cs typeface="Times New Roman"/>
              <a:sym typeface="Times New Roman"/>
            </a:endParaRPr>
          </a:p>
          <a:p>
            <a:pPr indent="-228600" lvl="2" marL="820440" marR="0" rtl="0" algn="l">
              <a:lnSpc>
                <a:spcPct val="90000"/>
              </a:lnSpc>
              <a:spcBef>
                <a:spcPts val="374"/>
              </a:spcBef>
              <a:spcAft>
                <a:spcPts val="0"/>
              </a:spcAft>
              <a:buClr>
                <a:srgbClr val="E6B1AB"/>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Other language designers</a:t>
            </a:r>
            <a:endParaRPr b="0" i="0" sz="2000" u="none" cap="none" strike="noStrike">
              <a:solidFill>
                <a:srgbClr val="000000"/>
              </a:solidFill>
              <a:latin typeface="Times New Roman"/>
              <a:ea typeface="Times New Roman"/>
              <a:cs typeface="Times New Roman"/>
              <a:sym typeface="Times New Roman"/>
            </a:endParaRPr>
          </a:p>
          <a:p>
            <a:pPr indent="-228600" lvl="2" marL="820440" marR="0" rtl="0" algn="l">
              <a:lnSpc>
                <a:spcPct val="90000"/>
              </a:lnSpc>
              <a:spcBef>
                <a:spcPts val="374"/>
              </a:spcBef>
              <a:spcAft>
                <a:spcPts val="0"/>
              </a:spcAft>
              <a:buClr>
                <a:srgbClr val="E6B1AB"/>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Implementers</a:t>
            </a:r>
            <a:endParaRPr b="0" i="0" sz="2000" u="none" cap="none" strike="noStrike">
              <a:solidFill>
                <a:srgbClr val="000000"/>
              </a:solidFill>
              <a:latin typeface="Times New Roman"/>
              <a:ea typeface="Times New Roman"/>
              <a:cs typeface="Times New Roman"/>
              <a:sym typeface="Times New Roman"/>
            </a:endParaRPr>
          </a:p>
          <a:p>
            <a:pPr indent="-228600" lvl="2" marL="820440" marR="0" rtl="0" algn="l">
              <a:lnSpc>
                <a:spcPct val="90000"/>
              </a:lnSpc>
              <a:spcBef>
                <a:spcPts val="374"/>
              </a:spcBef>
              <a:spcAft>
                <a:spcPts val="0"/>
              </a:spcAft>
              <a:buClr>
                <a:srgbClr val="E6B1AB"/>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Programmers (the users of the language)</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4"/>
          <p:cNvSpPr/>
          <p:nvPr/>
        </p:nvSpPr>
        <p:spPr>
          <a:xfrm>
            <a:off x="609480" y="15228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200" u="none" cap="none" strike="noStrike">
                <a:solidFill>
                  <a:srgbClr val="696464"/>
                </a:solidFill>
                <a:latin typeface="Libre Franklin"/>
                <a:ea typeface="Libre Franklin"/>
                <a:cs typeface="Libre Franklin"/>
                <a:sym typeface="Libre Franklin"/>
              </a:rPr>
              <a:t>The General Problem of Describing Syntax: Terminology</a:t>
            </a:r>
            <a:endParaRPr b="0" i="0" sz="3200" u="none" cap="none" strike="noStrike">
              <a:solidFill>
                <a:srgbClr val="000000"/>
              </a:solidFill>
              <a:latin typeface="Times New Roman"/>
              <a:ea typeface="Times New Roman"/>
              <a:cs typeface="Times New Roman"/>
              <a:sym typeface="Times New Roman"/>
            </a:endParaRPr>
          </a:p>
        </p:txBody>
      </p:sp>
      <p:sp>
        <p:nvSpPr>
          <p:cNvPr id="327" name="Google Shape;327;p4"/>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28" name="Google Shape;328;p4"/>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a:t>
            </a:r>
            <a:r>
              <a:rPr b="0" i="1" lang="en-US" sz="2600" u="none" cap="none" strike="noStrike">
                <a:solidFill>
                  <a:srgbClr val="000000"/>
                </a:solidFill>
                <a:latin typeface="Libre Baskerville"/>
                <a:ea typeface="Libre Baskerville"/>
                <a:cs typeface="Libre Baskerville"/>
                <a:sym typeface="Libre Baskerville"/>
              </a:rPr>
              <a:t>sentence </a:t>
            </a:r>
            <a:r>
              <a:rPr b="0" i="0" lang="en-US" sz="2600" u="none" cap="none" strike="noStrike">
                <a:solidFill>
                  <a:srgbClr val="000000"/>
                </a:solidFill>
                <a:latin typeface="Libre Baskerville"/>
                <a:ea typeface="Libre Baskerville"/>
                <a:cs typeface="Libre Baskerville"/>
                <a:sym typeface="Libre Baskerville"/>
              </a:rPr>
              <a:t>is a string of characters over some alphabet</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a:t>
            </a:r>
            <a:r>
              <a:rPr b="0" i="1" lang="en-US" sz="2600" u="none" cap="none" strike="noStrike">
                <a:solidFill>
                  <a:srgbClr val="000000"/>
                </a:solidFill>
                <a:latin typeface="Libre Baskerville"/>
                <a:ea typeface="Libre Baskerville"/>
                <a:cs typeface="Libre Baskerville"/>
                <a:sym typeface="Libre Baskerville"/>
              </a:rPr>
              <a:t>language</a:t>
            </a:r>
            <a:r>
              <a:rPr b="0" i="0" lang="en-US" sz="2600" u="none" cap="none" strike="noStrike">
                <a:solidFill>
                  <a:srgbClr val="000000"/>
                </a:solidFill>
                <a:latin typeface="Libre Baskerville"/>
                <a:ea typeface="Libre Baskerville"/>
                <a:cs typeface="Libre Baskerville"/>
                <a:sym typeface="Libre Baskerville"/>
              </a:rPr>
              <a:t> is a set of sentences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a:t>
            </a:r>
            <a:r>
              <a:rPr b="0" i="1" lang="en-US" sz="2600" u="none" cap="none" strike="noStrike">
                <a:solidFill>
                  <a:srgbClr val="000000"/>
                </a:solidFill>
                <a:latin typeface="Libre Baskerville"/>
                <a:ea typeface="Libre Baskerville"/>
                <a:cs typeface="Libre Baskerville"/>
                <a:sym typeface="Libre Baskerville"/>
              </a:rPr>
              <a:t> lexeme </a:t>
            </a:r>
            <a:r>
              <a:rPr b="0" i="0" lang="en-US" sz="2600" u="none" cap="none" strike="noStrike">
                <a:solidFill>
                  <a:srgbClr val="000000"/>
                </a:solidFill>
                <a:latin typeface="Libre Baskerville"/>
                <a:ea typeface="Libre Baskerville"/>
                <a:cs typeface="Libre Baskerville"/>
                <a:sym typeface="Libre Baskerville"/>
              </a:rPr>
              <a:t>is the lowest level syntactic unit of a language (e.g., </a:t>
            </a:r>
            <a:r>
              <a:rPr b="0" i="0" lang="en-US" sz="2600" u="none" cap="none" strike="noStrike">
                <a:solidFill>
                  <a:srgbClr val="000000"/>
                </a:solidFill>
                <a:latin typeface="Courier New"/>
                <a:ea typeface="Courier New"/>
                <a:cs typeface="Courier New"/>
                <a:sym typeface="Courier New"/>
              </a:rPr>
              <a:t>*, sum, begin, for, =)</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The lexemes include its numeric literature, operators, identifiers, and special words among others.</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a:t>
            </a:r>
            <a:r>
              <a:rPr b="0" i="1" lang="en-US" sz="2600" u="none" cap="none" strike="noStrike">
                <a:solidFill>
                  <a:srgbClr val="000000"/>
                </a:solidFill>
                <a:latin typeface="Libre Baskerville"/>
                <a:ea typeface="Libre Baskerville"/>
                <a:cs typeface="Libre Baskerville"/>
                <a:sym typeface="Libre Baskerville"/>
              </a:rPr>
              <a:t>token </a:t>
            </a:r>
            <a:r>
              <a:rPr b="0" i="0" lang="en-US" sz="2600" u="none" cap="none" strike="noStrike">
                <a:solidFill>
                  <a:srgbClr val="000000"/>
                </a:solidFill>
                <a:latin typeface="Libre Baskerville"/>
                <a:ea typeface="Libre Baskerville"/>
                <a:cs typeface="Libre Baskerville"/>
                <a:sym typeface="Libre Baskerville"/>
              </a:rPr>
              <a:t>is a category of lexemes (e.g., identifier)</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sp>
        <p:nvSpPr>
          <p:cNvPr id="333" name="Google Shape;333;p5"/>
          <p:cNvSpPr/>
          <p:nvPr/>
        </p:nvSpPr>
        <p:spPr>
          <a:xfrm>
            <a:off x="609480" y="22860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Formal Definition of Languages</a:t>
            </a:r>
            <a:endParaRPr b="0" i="0" sz="4000" u="none" cap="none" strike="noStrike">
              <a:solidFill>
                <a:srgbClr val="000000"/>
              </a:solidFill>
              <a:latin typeface="Times New Roman"/>
              <a:ea typeface="Times New Roman"/>
              <a:cs typeface="Times New Roman"/>
              <a:sym typeface="Times New Roman"/>
            </a:endParaRPr>
          </a:p>
        </p:txBody>
      </p:sp>
      <p:sp>
        <p:nvSpPr>
          <p:cNvPr id="334" name="Google Shape;334;p5"/>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35" name="Google Shape;335;p5"/>
          <p:cNvSpPr/>
          <p:nvPr/>
        </p:nvSpPr>
        <p:spPr>
          <a:xfrm>
            <a:off x="609480" y="1447920"/>
            <a:ext cx="815364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90000"/>
              </a:lnSpc>
              <a:spcBef>
                <a:spcPts val="0"/>
              </a:spcBef>
              <a:spcAft>
                <a:spcPts val="0"/>
              </a:spcAft>
              <a:buClr>
                <a:srgbClr val="D34817"/>
              </a:buClr>
              <a:buSzPts val="2210"/>
              <a:buFont typeface="Noto Sans Symbols"/>
              <a:buChar char="⚫"/>
            </a:pPr>
            <a:r>
              <a:rPr b="1" i="0" lang="en-US" sz="2600" u="none" cap="none" strike="noStrike">
                <a:solidFill>
                  <a:srgbClr val="000000"/>
                </a:solidFill>
                <a:latin typeface="Libre Baskerville"/>
                <a:ea typeface="Libre Baskerville"/>
                <a:cs typeface="Libre Baskerville"/>
                <a:sym typeface="Libre Baskerville"/>
              </a:rPr>
              <a:t>Recognizers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9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A recognition device reads input strings of the language and decides whether the input strings belong to the language </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9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Example: syntax analysis part of a compiler</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9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Detailed discussion in Chapter 4</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210"/>
              <a:buFont typeface="Noto Sans Symbols"/>
              <a:buChar char="⚫"/>
            </a:pPr>
            <a:r>
              <a:rPr b="1" i="0" lang="en-US" sz="2600" u="none" cap="none" strike="noStrike">
                <a:solidFill>
                  <a:srgbClr val="000000"/>
                </a:solidFill>
                <a:latin typeface="Libre Baskerville"/>
                <a:ea typeface="Libre Baskerville"/>
                <a:cs typeface="Libre Baskerville"/>
                <a:sym typeface="Libre Baskerville"/>
              </a:rPr>
              <a:t>Generators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9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A device that generates sentences of a language</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9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One can determine if the syntax of a particular sentence is correct by comparing it to the structure of the generator</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 name="Shape 339"/>
        <p:cNvGrpSpPr/>
        <p:nvPr/>
      </p:nvGrpSpPr>
      <p:grpSpPr>
        <a:xfrm>
          <a:off x="0" y="0"/>
          <a:ext cx="0" cy="0"/>
          <a:chOff x="0" y="0"/>
          <a:chExt cx="0" cy="0"/>
        </a:xfrm>
      </p:grpSpPr>
      <p:sp>
        <p:nvSpPr>
          <p:cNvPr id="340" name="Google Shape;340;p6"/>
          <p:cNvSpPr/>
          <p:nvPr/>
        </p:nvSpPr>
        <p:spPr>
          <a:xfrm>
            <a:off x="609480" y="15228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Formal Methods of Describing Syntax</a:t>
            </a:r>
            <a:endParaRPr b="0" i="0" sz="4000" u="none" cap="none" strike="noStrike">
              <a:solidFill>
                <a:srgbClr val="000000"/>
              </a:solidFill>
              <a:latin typeface="Times New Roman"/>
              <a:ea typeface="Times New Roman"/>
              <a:cs typeface="Times New Roman"/>
              <a:sym typeface="Times New Roman"/>
            </a:endParaRPr>
          </a:p>
        </p:txBody>
      </p:sp>
      <p:sp>
        <p:nvSpPr>
          <p:cNvPr id="341" name="Google Shape;341;p6"/>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42" name="Google Shape;342;p6"/>
          <p:cNvSpPr/>
          <p:nvPr/>
        </p:nvSpPr>
        <p:spPr>
          <a:xfrm>
            <a:off x="609480" y="1447920"/>
            <a:ext cx="77724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Backus-Naur Form and Context-Free Grammars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Most widely known method for describing programming language syntax</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Extended BNF</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Improves readability and writability of BNF</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Grammars and Recognizers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7"/>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BNF and Context-Free Grammars</a:t>
            </a:r>
            <a:endParaRPr b="0" i="0" sz="4000" u="none" cap="none" strike="noStrike">
              <a:solidFill>
                <a:srgbClr val="000000"/>
              </a:solidFill>
              <a:latin typeface="Times New Roman"/>
              <a:ea typeface="Times New Roman"/>
              <a:cs typeface="Times New Roman"/>
              <a:sym typeface="Times New Roman"/>
            </a:endParaRPr>
          </a:p>
        </p:txBody>
      </p:sp>
      <p:sp>
        <p:nvSpPr>
          <p:cNvPr id="348" name="Google Shape;348;p7"/>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49" name="Google Shape;349;p7"/>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Context-Free Grammars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Developed by Noam Chomsky in the mid-1950s</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Language generators, meant to describe the syntax of natural languages</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Define a class of languages called context-free languages</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8"/>
          <p:cNvSpPr/>
          <p:nvPr/>
        </p:nvSpPr>
        <p:spPr>
          <a:xfrm>
            <a:off x="609480" y="22860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Backus-Naur Form (BNF)</a:t>
            </a:r>
            <a:endParaRPr b="0" i="0" sz="4000" u="none" cap="none" strike="noStrike">
              <a:solidFill>
                <a:srgbClr val="000000"/>
              </a:solidFill>
              <a:latin typeface="Times New Roman"/>
              <a:ea typeface="Times New Roman"/>
              <a:cs typeface="Times New Roman"/>
              <a:sym typeface="Times New Roman"/>
            </a:endParaRPr>
          </a:p>
        </p:txBody>
      </p:sp>
      <p:sp>
        <p:nvSpPr>
          <p:cNvPr id="355" name="Google Shape;355;p8"/>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56" name="Google Shape;356;p8"/>
          <p:cNvSpPr/>
          <p:nvPr/>
        </p:nvSpPr>
        <p:spPr>
          <a:xfrm>
            <a:off x="380880" y="1371600"/>
            <a:ext cx="77724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Backus-Naur Form (1959)</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Invented by John Backus to describe Algol 58</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BNF is equivalent to context-free grammars </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BNF is a </a:t>
            </a:r>
            <a:r>
              <a:rPr b="0" i="1" lang="en-US" sz="2400" u="none" cap="none" strike="noStrike">
                <a:solidFill>
                  <a:srgbClr val="000000"/>
                </a:solidFill>
                <a:latin typeface="Libre Baskerville"/>
                <a:ea typeface="Libre Baskerville"/>
                <a:cs typeface="Libre Baskerville"/>
                <a:sym typeface="Libre Baskerville"/>
              </a:rPr>
              <a:t>metalanguage</a:t>
            </a:r>
            <a:r>
              <a:rPr b="0" i="0" lang="en-US" sz="2400" u="none" cap="none" strike="noStrike">
                <a:solidFill>
                  <a:srgbClr val="000000"/>
                </a:solidFill>
                <a:latin typeface="Libre Baskerville"/>
                <a:ea typeface="Libre Baskerville"/>
                <a:cs typeface="Libre Baskerville"/>
                <a:sym typeface="Libre Baskerville"/>
              </a:rPr>
              <a:t> used to describe another language</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In BNF, abstractions are used to represent classes of syntactic structures--they act like  syntactic  variables (also called </a:t>
            </a:r>
            <a:r>
              <a:rPr b="0" i="1" lang="en-US" sz="2400" u="none" cap="none" strike="noStrike">
                <a:solidFill>
                  <a:srgbClr val="000000"/>
                </a:solidFill>
                <a:latin typeface="Libre Baskerville"/>
                <a:ea typeface="Libre Baskerville"/>
                <a:cs typeface="Libre Baskerville"/>
                <a:sym typeface="Libre Baskerville"/>
              </a:rPr>
              <a:t>nonterminal symbols</a:t>
            </a:r>
            <a:r>
              <a:rPr b="0" i="0" lang="en-US" sz="2400" u="none" cap="none" strike="noStrike">
                <a:solidFill>
                  <a:srgbClr val="000000"/>
                </a:solidFill>
                <a:latin typeface="Libre Baskerville"/>
                <a:ea typeface="Libre Baskerville"/>
                <a:cs typeface="Libre Baskerville"/>
                <a:sym typeface="Libre Baskerville"/>
              </a:rPr>
              <a:t>)</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9"/>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BNF Fundamentals</a:t>
            </a:r>
            <a:endParaRPr b="0" i="0" sz="4000" u="none" cap="none" strike="noStrike">
              <a:solidFill>
                <a:srgbClr val="000000"/>
              </a:solidFill>
              <a:latin typeface="Times New Roman"/>
              <a:ea typeface="Times New Roman"/>
              <a:cs typeface="Times New Roman"/>
              <a:sym typeface="Times New Roman"/>
            </a:endParaRPr>
          </a:p>
        </p:txBody>
      </p:sp>
      <p:sp>
        <p:nvSpPr>
          <p:cNvPr id="362" name="Google Shape;362;p9"/>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63" name="Google Shape;363;p9"/>
          <p:cNvSpPr/>
          <p:nvPr/>
        </p:nvSpPr>
        <p:spPr>
          <a:xfrm>
            <a:off x="609480" y="1447920"/>
            <a:ext cx="8153640" cy="4029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Non-terminals: BNF abstractions</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Terminals: lexemes and tokens</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Grammar: a collection of rules</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Examples of BNF rules:</a:t>
            </a:r>
            <a:endParaRPr b="0" i="0" sz="2000" u="none" cap="none" strike="noStrike">
              <a:solidFill>
                <a:srgbClr val="000000"/>
              </a:solidFill>
              <a:latin typeface="Times New Roman"/>
              <a:ea typeface="Times New Roman"/>
              <a:cs typeface="Times New Roman"/>
              <a:sym typeface="Times New Roman"/>
            </a:endParaRPr>
          </a:p>
          <a:p>
            <a:pPr indent="-227160" lvl="1" marL="547560" marR="0" rtl="0" algn="l">
              <a:lnSpc>
                <a:spcPct val="100000"/>
              </a:lnSpc>
              <a:spcBef>
                <a:spcPts val="374"/>
              </a:spcBef>
              <a:spcAft>
                <a:spcPts val="0"/>
              </a:spcAft>
              <a:buNone/>
            </a:pPr>
            <a:r>
              <a:rPr b="0" i="0" lang="en-US" sz="2000" u="none" cap="none" strike="noStrike">
                <a:solidFill>
                  <a:srgbClr val="000000"/>
                </a:solidFill>
                <a:latin typeface="Libre Baskerville"/>
                <a:ea typeface="Libre Baskerville"/>
                <a:cs typeface="Libre Baskerville"/>
                <a:sym typeface="Libre Baskerville"/>
              </a:rPr>
              <a:t>	</a:t>
            </a:r>
            <a:r>
              <a:rPr b="0" i="0" lang="en-US" sz="1800" u="none" cap="none" strike="noStrike">
                <a:solidFill>
                  <a:srgbClr val="000000"/>
                </a:solidFill>
                <a:latin typeface="Courier New"/>
                <a:ea typeface="Courier New"/>
                <a:cs typeface="Courier New"/>
                <a:sym typeface="Courier New"/>
              </a:rPr>
              <a:t>&lt;ident_list&gt; → identifier | identifier, &lt;ident_list&gt;</a:t>
            </a:r>
            <a:endParaRPr b="0" i="0" sz="1800" u="none" cap="none" strike="noStrike">
              <a:solidFill>
                <a:srgbClr val="000000"/>
              </a:solidFill>
              <a:latin typeface="Times New Roman"/>
              <a:ea typeface="Times New Roman"/>
              <a:cs typeface="Times New Roman"/>
              <a:sym typeface="Times New Roman"/>
            </a:endParaRPr>
          </a:p>
          <a:p>
            <a:pPr indent="-227160" lvl="1" marL="547560" marR="0" rtl="0" algn="l">
              <a:lnSpc>
                <a:spcPct val="100000"/>
              </a:lnSpc>
              <a:spcBef>
                <a:spcPts val="374"/>
              </a:spcBef>
              <a:spcAft>
                <a:spcPts val="0"/>
              </a:spcAft>
              <a:buNone/>
            </a:pPr>
            <a:r>
              <a:rPr b="0" i="0" lang="en-US" sz="2000" u="none" cap="none" strike="noStrike">
                <a:solidFill>
                  <a:srgbClr val="000000"/>
                </a:solidFill>
                <a:latin typeface="Libre Baskerville"/>
                <a:ea typeface="Libre Baskerville"/>
                <a:cs typeface="Libre Baskerville"/>
                <a:sym typeface="Libre Baskerville"/>
              </a:rPr>
              <a:t>	</a:t>
            </a:r>
            <a:r>
              <a:rPr b="0" i="0" lang="en-US" sz="2000" u="none" cap="none" strike="noStrike">
                <a:solidFill>
                  <a:srgbClr val="000000"/>
                </a:solidFill>
                <a:latin typeface="Courier New"/>
                <a:ea typeface="Courier New"/>
                <a:cs typeface="Courier New"/>
                <a:sym typeface="Courier New"/>
              </a:rPr>
              <a:t>&lt;if_stmt&gt; → </a:t>
            </a:r>
            <a:r>
              <a:rPr b="1" i="0" lang="en-US" sz="2000" u="none" cap="none" strike="noStrike">
                <a:solidFill>
                  <a:srgbClr val="000000"/>
                </a:solidFill>
                <a:latin typeface="Courier New"/>
                <a:ea typeface="Courier New"/>
                <a:cs typeface="Courier New"/>
                <a:sym typeface="Courier New"/>
              </a:rPr>
              <a:t>if</a:t>
            </a:r>
            <a:r>
              <a:rPr b="0" i="0" lang="en-US" sz="2000" u="none" cap="none" strike="noStrike">
                <a:solidFill>
                  <a:srgbClr val="000000"/>
                </a:solidFill>
                <a:latin typeface="Courier New"/>
                <a:ea typeface="Courier New"/>
                <a:cs typeface="Courier New"/>
                <a:sym typeface="Courier New"/>
              </a:rPr>
              <a:t> &lt;logic_expr&gt; </a:t>
            </a:r>
            <a:r>
              <a:rPr b="1" i="0" lang="en-US" sz="2000" u="none" cap="none" strike="noStrike">
                <a:solidFill>
                  <a:srgbClr val="000000"/>
                </a:solidFill>
                <a:latin typeface="Courier New"/>
                <a:ea typeface="Courier New"/>
                <a:cs typeface="Courier New"/>
                <a:sym typeface="Courier New"/>
              </a:rPr>
              <a:t>then</a:t>
            </a:r>
            <a:r>
              <a:rPr b="0" i="0" lang="en-US" sz="2000" u="none" cap="none" strike="noStrike">
                <a:solidFill>
                  <a:srgbClr val="000000"/>
                </a:solidFill>
                <a:latin typeface="Courier New"/>
                <a:ea typeface="Courier New"/>
                <a:cs typeface="Courier New"/>
                <a:sym typeface="Courier New"/>
              </a:rPr>
              <a:t> &lt;stmt&gt;</a:t>
            </a:r>
            <a:endParaRPr b="0" i="0" sz="20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sp>
        <p:nvSpPr>
          <p:cNvPr id="368" name="Google Shape;368;p10"/>
          <p:cNvSpPr/>
          <p:nvPr/>
        </p:nvSpPr>
        <p:spPr>
          <a:xfrm>
            <a:off x="609480" y="22860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BNF Rules</a:t>
            </a:r>
            <a:endParaRPr b="0" i="0" sz="4000" u="none" cap="none" strike="noStrike">
              <a:solidFill>
                <a:srgbClr val="000000"/>
              </a:solidFill>
              <a:latin typeface="Times New Roman"/>
              <a:ea typeface="Times New Roman"/>
              <a:cs typeface="Times New Roman"/>
              <a:sym typeface="Times New Roman"/>
            </a:endParaRPr>
          </a:p>
        </p:txBody>
      </p:sp>
      <p:sp>
        <p:nvSpPr>
          <p:cNvPr id="369" name="Google Shape;369;p10"/>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70" name="Google Shape;370;p10"/>
          <p:cNvSpPr/>
          <p:nvPr/>
        </p:nvSpPr>
        <p:spPr>
          <a:xfrm>
            <a:off x="609480" y="1371600"/>
            <a:ext cx="77724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rule has a left-hand side (LHS) and a right-hand side (RHS), and consists of </a:t>
            </a:r>
            <a:r>
              <a:rPr b="0" i="1" lang="en-US" sz="2600" u="none" cap="none" strike="noStrike">
                <a:solidFill>
                  <a:srgbClr val="000000"/>
                </a:solidFill>
                <a:latin typeface="Libre Baskerville"/>
                <a:ea typeface="Libre Baskerville"/>
                <a:cs typeface="Libre Baskerville"/>
                <a:sym typeface="Libre Baskerville"/>
              </a:rPr>
              <a:t>terminal</a:t>
            </a:r>
            <a:r>
              <a:rPr b="0" i="0" lang="en-US" sz="2600" u="none" cap="none" strike="noStrike">
                <a:solidFill>
                  <a:srgbClr val="000000"/>
                </a:solidFill>
                <a:latin typeface="Libre Baskerville"/>
                <a:ea typeface="Libre Baskerville"/>
                <a:cs typeface="Libre Baskerville"/>
                <a:sym typeface="Libre Baskerville"/>
              </a:rPr>
              <a:t> and </a:t>
            </a:r>
            <a:r>
              <a:rPr b="0" i="1" lang="en-US" sz="2600" u="none" cap="none" strike="noStrike">
                <a:solidFill>
                  <a:srgbClr val="000000"/>
                </a:solidFill>
                <a:latin typeface="Libre Baskerville"/>
                <a:ea typeface="Libre Baskerville"/>
                <a:cs typeface="Libre Baskerville"/>
                <a:sym typeface="Libre Baskerville"/>
              </a:rPr>
              <a:t>nonterminal</a:t>
            </a:r>
            <a:r>
              <a:rPr b="0" i="0" lang="en-US" sz="2600" u="none" cap="none" strike="noStrike">
                <a:solidFill>
                  <a:srgbClr val="000000"/>
                </a:solidFill>
                <a:latin typeface="Libre Baskerville"/>
                <a:ea typeface="Libre Baskerville"/>
                <a:cs typeface="Libre Baskerville"/>
                <a:sym typeface="Libre Baskerville"/>
              </a:rPr>
              <a:t> symbols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grammar is a finite nonempty set of rules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An abstraction (or nonterminal symbol) can have more than one RHS</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6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ourier New"/>
                <a:ea typeface="Courier New"/>
                <a:cs typeface="Courier New"/>
                <a:sym typeface="Courier New"/>
              </a:rPr>
              <a:t>&lt;stmt&gt;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&lt;single_stmt&gt;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 begin &lt;stmt_list&gt; end</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11"/>
          <p:cNvSpPr/>
          <p:nvPr/>
        </p:nvSpPr>
        <p:spPr>
          <a:xfrm>
            <a:off x="609480" y="22860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Describing Lists</a:t>
            </a:r>
            <a:endParaRPr b="0" i="0" sz="4000" u="none" cap="none" strike="noStrike">
              <a:solidFill>
                <a:srgbClr val="000000"/>
              </a:solidFill>
              <a:latin typeface="Times New Roman"/>
              <a:ea typeface="Times New Roman"/>
              <a:cs typeface="Times New Roman"/>
              <a:sym typeface="Times New Roman"/>
            </a:endParaRPr>
          </a:p>
        </p:txBody>
      </p:sp>
      <p:sp>
        <p:nvSpPr>
          <p:cNvPr id="376" name="Google Shape;376;p11"/>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77" name="Google Shape;377;p11"/>
          <p:cNvSpPr/>
          <p:nvPr/>
        </p:nvSpPr>
        <p:spPr>
          <a:xfrm>
            <a:off x="457200" y="1371600"/>
            <a:ext cx="77724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Syntactic lists are described using recursion</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600" u="none" cap="none" strike="noStrike">
                <a:solidFill>
                  <a:srgbClr val="000000"/>
                </a:solidFill>
                <a:latin typeface="Libre Baskerville"/>
                <a:ea typeface="Libre Baskerville"/>
                <a:cs typeface="Libre Baskerville"/>
                <a:sym typeface="Libre Baskerville"/>
              </a:rPr>
              <a:t>    </a:t>
            </a:r>
            <a:r>
              <a:rPr b="0" i="0" lang="en-US" sz="2400" u="none" cap="none" strike="noStrike">
                <a:solidFill>
                  <a:srgbClr val="000000"/>
                </a:solidFill>
                <a:latin typeface="Courier New"/>
                <a:ea typeface="Courier New"/>
                <a:cs typeface="Courier New"/>
                <a:sym typeface="Courier New"/>
              </a:rPr>
              <a:t>&lt;ident_list&gt;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ident</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 ident, &lt;ident_list&gt;</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derivation is a repeated application of rules, starting with the start symbol and ending with a sentence (all terminal symbols)</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12"/>
          <p:cNvSpPr/>
          <p:nvPr/>
        </p:nvSpPr>
        <p:spPr>
          <a:xfrm>
            <a:off x="609480" y="22860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An Example Grammar</a:t>
            </a:r>
            <a:endParaRPr b="0" i="0" sz="4000" u="none" cap="none" strike="noStrike">
              <a:solidFill>
                <a:srgbClr val="000000"/>
              </a:solidFill>
              <a:latin typeface="Times New Roman"/>
              <a:ea typeface="Times New Roman"/>
              <a:cs typeface="Times New Roman"/>
              <a:sym typeface="Times New Roman"/>
            </a:endParaRPr>
          </a:p>
        </p:txBody>
      </p:sp>
      <p:sp>
        <p:nvSpPr>
          <p:cNvPr id="383" name="Google Shape;383;p12"/>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84" name="Google Shape;384;p12"/>
          <p:cNvSpPr/>
          <p:nvPr/>
        </p:nvSpPr>
        <p:spPr>
          <a:xfrm>
            <a:off x="457200" y="1371600"/>
            <a:ext cx="77724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2880" marR="0" rtl="0" algn="l">
              <a:lnSpc>
                <a:spcPct val="100000"/>
              </a:lnSpc>
              <a:spcBef>
                <a:spcPts val="0"/>
              </a:spcBef>
              <a:spcAft>
                <a:spcPts val="0"/>
              </a:spcAft>
              <a:buNone/>
            </a:pPr>
            <a:r>
              <a:rPr b="0" i="0" lang="en-US" sz="2000" u="none" cap="none" strike="noStrike">
                <a:solidFill>
                  <a:srgbClr val="000000"/>
                </a:solidFill>
                <a:latin typeface="Courier New"/>
                <a:ea typeface="Courier New"/>
                <a:cs typeface="Courier New"/>
                <a:sym typeface="Courier New"/>
              </a:rPr>
              <a:t>	&lt;program&gt;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&lt;stmts&gt;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&lt;stmts&gt;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&lt;stmt&gt; | &lt;stmt&gt; ; &lt;stmts&gt;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&lt;stmt&gt;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&lt;var&gt; = &lt;expr&gt;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&lt;var&gt;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a | b | c | d</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&lt;expr&gt;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&lt;term&gt; + &lt;term&gt; | &lt;term&gt; - &lt;term&gt;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&lt;term&gt;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&lt;var&gt; | const</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p13"/>
          <p:cNvSpPr/>
          <p:nvPr/>
        </p:nvSpPr>
        <p:spPr>
          <a:xfrm>
            <a:off x="685800" y="228600"/>
            <a:ext cx="815328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An Example Derivation</a:t>
            </a:r>
            <a:endParaRPr b="0" i="0" sz="4000" u="none" cap="none" strike="noStrike">
              <a:solidFill>
                <a:srgbClr val="000000"/>
              </a:solidFill>
              <a:latin typeface="Times New Roman"/>
              <a:ea typeface="Times New Roman"/>
              <a:cs typeface="Times New Roman"/>
              <a:sym typeface="Times New Roman"/>
            </a:endParaRPr>
          </a:p>
        </p:txBody>
      </p:sp>
      <p:sp>
        <p:nvSpPr>
          <p:cNvPr id="390" name="Google Shape;390;p13"/>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91" name="Google Shape;391;p13"/>
          <p:cNvSpPr/>
          <p:nvPr/>
        </p:nvSpPr>
        <p:spPr>
          <a:xfrm>
            <a:off x="533520" y="1447920"/>
            <a:ext cx="82296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2880" marR="0" rtl="0" algn="l">
              <a:lnSpc>
                <a:spcPct val="100000"/>
              </a:lnSpc>
              <a:spcBef>
                <a:spcPts val="0"/>
              </a:spcBef>
              <a:spcAft>
                <a:spcPts val="0"/>
              </a:spcAft>
              <a:buNone/>
            </a:pPr>
            <a:r>
              <a:rPr b="0" i="0" lang="en-US" sz="2000" u="none" cap="none" strike="noStrike">
                <a:solidFill>
                  <a:srgbClr val="000000"/>
                </a:solidFill>
                <a:latin typeface="Courier New"/>
                <a:ea typeface="Courier New"/>
                <a:cs typeface="Courier New"/>
                <a:sym typeface="Courier New"/>
              </a:rPr>
              <a:t>	&lt;program&gt; =&gt; &lt;stmts&gt; =&gt; &lt;stmt&gt; </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=&gt; &lt;var&gt; = &lt;expr&gt; =&gt; a =&lt;expr&gt; </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=&gt; a = &lt;term&gt; + &lt;term&gt;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=&gt; a = &lt;var&gt; + &lt;term&gt; </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=&gt; a = b + &lt;term&gt;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=&gt; a = b + const</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sp>
        <p:nvSpPr>
          <p:cNvPr id="396" name="Google Shape;396;p14"/>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Derivation</a:t>
            </a:r>
            <a:endParaRPr b="0" i="0" sz="4000" u="none" cap="none" strike="noStrike">
              <a:solidFill>
                <a:srgbClr val="000000"/>
              </a:solidFill>
              <a:latin typeface="Times New Roman"/>
              <a:ea typeface="Times New Roman"/>
              <a:cs typeface="Times New Roman"/>
              <a:sym typeface="Times New Roman"/>
            </a:endParaRPr>
          </a:p>
        </p:txBody>
      </p:sp>
      <p:sp>
        <p:nvSpPr>
          <p:cNvPr id="397" name="Google Shape;397;p14"/>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398" name="Google Shape;398;p14"/>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Every string of symbols in the derivation is a sentential form</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sentence is a sentential form that has only terminal symbols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leftmost derivation is one in which the leftmost nonterminal in each sentential form is the one that is expanded</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derivation may be neither leftmost nor rightmost</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15"/>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Parse Tree</a:t>
            </a:r>
            <a:endParaRPr b="0" i="0" sz="4000" u="none" cap="none" strike="noStrike">
              <a:solidFill>
                <a:srgbClr val="000000"/>
              </a:solidFill>
              <a:latin typeface="Times New Roman"/>
              <a:ea typeface="Times New Roman"/>
              <a:cs typeface="Times New Roman"/>
              <a:sym typeface="Times New Roman"/>
            </a:endParaRPr>
          </a:p>
        </p:txBody>
      </p:sp>
      <p:sp>
        <p:nvSpPr>
          <p:cNvPr id="404" name="Google Shape;404;p15"/>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405" name="Google Shape;405;p15"/>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hierarchical representation of a derivation</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0"/>
              </a:spcBef>
              <a:spcAft>
                <a:spcPts val="0"/>
              </a:spcAft>
              <a:buNone/>
            </a:pPr>
            <a:r>
              <a:rPr b="1" i="0" lang="en-US" sz="24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ourier New"/>
                <a:ea typeface="Courier New"/>
                <a:cs typeface="Courier New"/>
                <a:sym typeface="Courier New"/>
              </a:rPr>
              <a:t>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0"/>
              </a:spcBef>
              <a:spcAft>
                <a:spcPts val="0"/>
              </a:spcAft>
              <a:buNone/>
            </a:pPr>
            <a:r>
              <a:rPr b="0" i="0" lang="en-US" sz="2400" u="none" cap="none" strike="noStrike">
                <a:solidFill>
                  <a:srgbClr val="000000"/>
                </a:solidFill>
                <a:latin typeface="Courier New"/>
                <a:ea typeface="Courier New"/>
                <a:cs typeface="Courier New"/>
                <a:sym typeface="Courier New"/>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406" name="Google Shape;406;p15"/>
          <p:cNvCxnSpPr/>
          <p:nvPr/>
        </p:nvCxnSpPr>
        <p:spPr>
          <a:xfrm>
            <a:off x="5791320" y="4876920"/>
            <a:ext cx="1440" cy="685800"/>
          </a:xfrm>
          <a:prstGeom prst="straightConnector1">
            <a:avLst/>
          </a:prstGeom>
          <a:noFill/>
          <a:ln cap="flat" cmpd="sng" w="12600">
            <a:solidFill>
              <a:srgbClr val="000000"/>
            </a:solidFill>
            <a:prstDash val="solid"/>
            <a:miter lim="8000"/>
            <a:headEnd len="sm" w="sm" type="none"/>
            <a:tailEnd len="sm" w="sm" type="none"/>
          </a:ln>
        </p:spPr>
      </p:cxnSp>
      <p:cxnSp>
        <p:nvCxnSpPr>
          <p:cNvPr id="407" name="Google Shape;407;p15"/>
          <p:cNvCxnSpPr/>
          <p:nvPr/>
        </p:nvCxnSpPr>
        <p:spPr>
          <a:xfrm>
            <a:off x="4572000" y="4876920"/>
            <a:ext cx="1440" cy="1218960"/>
          </a:xfrm>
          <a:prstGeom prst="straightConnector1">
            <a:avLst/>
          </a:prstGeom>
          <a:noFill/>
          <a:ln cap="flat" cmpd="sng" w="12600">
            <a:solidFill>
              <a:srgbClr val="000000"/>
            </a:solidFill>
            <a:prstDash val="solid"/>
            <a:miter lim="8000"/>
            <a:headEnd len="sm" w="sm" type="none"/>
            <a:tailEnd len="sm" w="sm" type="none"/>
          </a:ln>
        </p:spPr>
      </p:cxnSp>
      <p:cxnSp>
        <p:nvCxnSpPr>
          <p:cNvPr id="408" name="Google Shape;408;p15"/>
          <p:cNvCxnSpPr/>
          <p:nvPr/>
        </p:nvCxnSpPr>
        <p:spPr>
          <a:xfrm>
            <a:off x="4572000" y="2514600"/>
            <a:ext cx="1440" cy="1600200"/>
          </a:xfrm>
          <a:prstGeom prst="straightConnector1">
            <a:avLst/>
          </a:prstGeom>
          <a:noFill/>
          <a:ln cap="flat" cmpd="sng" w="12600">
            <a:solidFill>
              <a:srgbClr val="000000"/>
            </a:solidFill>
            <a:prstDash val="solid"/>
            <a:miter lim="8000"/>
            <a:headEnd len="sm" w="sm" type="none"/>
            <a:tailEnd len="sm" w="sm" type="none"/>
          </a:ln>
        </p:spPr>
      </p:cxnSp>
      <p:cxnSp>
        <p:nvCxnSpPr>
          <p:cNvPr id="409" name="Google Shape;409;p15"/>
          <p:cNvCxnSpPr/>
          <p:nvPr/>
        </p:nvCxnSpPr>
        <p:spPr>
          <a:xfrm>
            <a:off x="4648320" y="3962520"/>
            <a:ext cx="533160" cy="304560"/>
          </a:xfrm>
          <a:prstGeom prst="straightConnector1">
            <a:avLst/>
          </a:prstGeom>
          <a:noFill/>
          <a:ln cap="flat" cmpd="sng" w="12600">
            <a:solidFill>
              <a:srgbClr val="000000"/>
            </a:solidFill>
            <a:prstDash val="solid"/>
            <a:miter lim="8000"/>
            <a:headEnd len="sm" w="sm" type="none"/>
            <a:tailEnd len="sm" w="sm" type="none"/>
          </a:ln>
        </p:spPr>
      </p:cxnSp>
      <p:cxnSp>
        <p:nvCxnSpPr>
          <p:cNvPr id="410" name="Google Shape;410;p15"/>
          <p:cNvCxnSpPr/>
          <p:nvPr/>
        </p:nvCxnSpPr>
        <p:spPr>
          <a:xfrm>
            <a:off x="3962520" y="4267080"/>
            <a:ext cx="1440" cy="457200"/>
          </a:xfrm>
          <a:prstGeom prst="straightConnector1">
            <a:avLst/>
          </a:prstGeom>
          <a:noFill/>
          <a:ln cap="flat" cmpd="sng" w="12600">
            <a:solidFill>
              <a:srgbClr val="000000"/>
            </a:solidFill>
            <a:prstDash val="solid"/>
            <a:miter lim="8000"/>
            <a:headEnd len="sm" w="sm" type="none"/>
            <a:tailEnd len="sm" w="sm" type="none"/>
          </a:ln>
        </p:spPr>
      </p:cxnSp>
      <p:sp>
        <p:nvSpPr>
          <p:cNvPr id="411" name="Google Shape;411;p15"/>
          <p:cNvSpPr/>
          <p:nvPr/>
        </p:nvSpPr>
        <p:spPr>
          <a:xfrm>
            <a:off x="4000680" y="2286000"/>
            <a:ext cx="127188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&lt;program&gt;</a:t>
            </a:r>
            <a:endParaRPr b="0" i="0" sz="2000" u="none" cap="none" strike="noStrike">
              <a:solidFill>
                <a:srgbClr val="000000"/>
              </a:solidFill>
              <a:latin typeface="Times New Roman"/>
              <a:ea typeface="Times New Roman"/>
              <a:cs typeface="Times New Roman"/>
              <a:sym typeface="Times New Roman"/>
            </a:endParaRPr>
          </a:p>
        </p:txBody>
      </p:sp>
      <p:sp>
        <p:nvSpPr>
          <p:cNvPr id="412" name="Google Shape;412;p15"/>
          <p:cNvSpPr/>
          <p:nvPr/>
        </p:nvSpPr>
        <p:spPr>
          <a:xfrm>
            <a:off x="4108320" y="2955960"/>
            <a:ext cx="98244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&lt;stmts&gt;</a:t>
            </a:r>
            <a:endParaRPr b="0" i="0" sz="2000" u="none" cap="none" strike="noStrike">
              <a:solidFill>
                <a:srgbClr val="000000"/>
              </a:solidFill>
              <a:latin typeface="Times New Roman"/>
              <a:ea typeface="Times New Roman"/>
              <a:cs typeface="Times New Roman"/>
              <a:sym typeface="Times New Roman"/>
            </a:endParaRPr>
          </a:p>
        </p:txBody>
      </p:sp>
      <p:sp>
        <p:nvSpPr>
          <p:cNvPr id="413" name="Google Shape;413;p15"/>
          <p:cNvSpPr/>
          <p:nvPr/>
        </p:nvSpPr>
        <p:spPr>
          <a:xfrm>
            <a:off x="4162320" y="3565440"/>
            <a:ext cx="86652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&lt;stmt&gt;</a:t>
            </a:r>
            <a:endParaRPr b="0" i="0" sz="2000" u="none" cap="none" strike="noStrike">
              <a:solidFill>
                <a:srgbClr val="000000"/>
              </a:solidFill>
              <a:latin typeface="Times New Roman"/>
              <a:ea typeface="Times New Roman"/>
              <a:cs typeface="Times New Roman"/>
              <a:sym typeface="Times New Roman"/>
            </a:endParaRPr>
          </a:p>
        </p:txBody>
      </p:sp>
      <p:sp>
        <p:nvSpPr>
          <p:cNvPr id="414" name="Google Shape;414;p15"/>
          <p:cNvSpPr/>
          <p:nvPr/>
        </p:nvSpPr>
        <p:spPr>
          <a:xfrm>
            <a:off x="5486400" y="5318280"/>
            <a:ext cx="73836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415" name="Google Shape;415;p15"/>
          <p:cNvSpPr/>
          <p:nvPr/>
        </p:nvSpPr>
        <p:spPr>
          <a:xfrm>
            <a:off x="3811680" y="4708440"/>
            <a:ext cx="296640" cy="39888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a:t>
            </a:r>
            <a:endParaRPr b="0" i="0" sz="2000" u="none" cap="none" strike="noStrike">
              <a:solidFill>
                <a:srgbClr val="000000"/>
              </a:solidFill>
              <a:latin typeface="Times New Roman"/>
              <a:ea typeface="Times New Roman"/>
              <a:cs typeface="Times New Roman"/>
              <a:sym typeface="Times New Roman"/>
            </a:endParaRPr>
          </a:p>
        </p:txBody>
      </p:sp>
      <p:cxnSp>
        <p:nvCxnSpPr>
          <p:cNvPr id="416" name="Google Shape;416;p15"/>
          <p:cNvCxnSpPr/>
          <p:nvPr/>
        </p:nvCxnSpPr>
        <p:spPr>
          <a:xfrm flipH="1" rot="10800000">
            <a:off x="3962520" y="3960720"/>
            <a:ext cx="533160" cy="308160"/>
          </a:xfrm>
          <a:prstGeom prst="straightConnector1">
            <a:avLst/>
          </a:prstGeom>
          <a:noFill/>
          <a:ln cap="flat" cmpd="sng" w="12600">
            <a:solidFill>
              <a:srgbClr val="000000"/>
            </a:solidFill>
            <a:prstDash val="solid"/>
            <a:miter lim="8000"/>
            <a:headEnd len="sm" w="sm" type="none"/>
            <a:tailEnd len="sm" w="sm" type="none"/>
          </a:ln>
        </p:spPr>
      </p:cxnSp>
      <p:sp>
        <p:nvSpPr>
          <p:cNvPr id="417" name="Google Shape;417;p15"/>
          <p:cNvSpPr/>
          <p:nvPr/>
        </p:nvSpPr>
        <p:spPr>
          <a:xfrm>
            <a:off x="3583080" y="4175280"/>
            <a:ext cx="73692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&lt;var&gt;</a:t>
            </a:r>
            <a:endParaRPr b="0" i="0" sz="2000" u="none" cap="none" strike="noStrike">
              <a:solidFill>
                <a:srgbClr val="000000"/>
              </a:solidFill>
              <a:latin typeface="Times New Roman"/>
              <a:ea typeface="Times New Roman"/>
              <a:cs typeface="Times New Roman"/>
              <a:sym typeface="Times New Roman"/>
            </a:endParaRPr>
          </a:p>
        </p:txBody>
      </p:sp>
      <p:sp>
        <p:nvSpPr>
          <p:cNvPr id="418" name="Google Shape;418;p15"/>
          <p:cNvSpPr/>
          <p:nvPr/>
        </p:nvSpPr>
        <p:spPr>
          <a:xfrm>
            <a:off x="4421160" y="4175280"/>
            <a:ext cx="302760" cy="39888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cxnSp>
        <p:nvCxnSpPr>
          <p:cNvPr id="419" name="Google Shape;419;p15"/>
          <p:cNvCxnSpPr/>
          <p:nvPr/>
        </p:nvCxnSpPr>
        <p:spPr>
          <a:xfrm>
            <a:off x="5181480" y="4267080"/>
            <a:ext cx="1800" cy="533520"/>
          </a:xfrm>
          <a:prstGeom prst="straightConnector1">
            <a:avLst/>
          </a:prstGeom>
          <a:noFill/>
          <a:ln cap="flat" cmpd="sng" w="12600">
            <a:solidFill>
              <a:srgbClr val="000000"/>
            </a:solidFill>
            <a:prstDash val="solid"/>
            <a:miter lim="8000"/>
            <a:headEnd len="sm" w="sm" type="none"/>
            <a:tailEnd len="sm" w="sm" type="none"/>
          </a:ln>
        </p:spPr>
      </p:cxnSp>
      <p:cxnSp>
        <p:nvCxnSpPr>
          <p:cNvPr id="420" name="Google Shape;420;p15"/>
          <p:cNvCxnSpPr/>
          <p:nvPr/>
        </p:nvCxnSpPr>
        <p:spPr>
          <a:xfrm>
            <a:off x="5257800" y="4495680"/>
            <a:ext cx="533520" cy="304920"/>
          </a:xfrm>
          <a:prstGeom prst="straightConnector1">
            <a:avLst/>
          </a:prstGeom>
          <a:noFill/>
          <a:ln cap="flat" cmpd="sng" w="12600">
            <a:solidFill>
              <a:srgbClr val="000000"/>
            </a:solidFill>
            <a:prstDash val="solid"/>
            <a:miter lim="8000"/>
            <a:headEnd len="sm" w="sm" type="none"/>
            <a:tailEnd len="sm" w="sm" type="none"/>
          </a:ln>
        </p:spPr>
      </p:cxnSp>
      <p:cxnSp>
        <p:nvCxnSpPr>
          <p:cNvPr id="421" name="Google Shape;421;p15"/>
          <p:cNvCxnSpPr/>
          <p:nvPr/>
        </p:nvCxnSpPr>
        <p:spPr>
          <a:xfrm flipH="1" rot="10800000">
            <a:off x="4572000" y="4493880"/>
            <a:ext cx="533520" cy="307800"/>
          </a:xfrm>
          <a:prstGeom prst="straightConnector1">
            <a:avLst/>
          </a:prstGeom>
          <a:noFill/>
          <a:ln cap="flat" cmpd="sng" w="12600">
            <a:solidFill>
              <a:srgbClr val="000000"/>
            </a:solidFill>
            <a:prstDash val="solid"/>
            <a:miter lim="8000"/>
            <a:headEnd len="sm" w="sm" type="none"/>
            <a:tailEnd len="sm" w="sm" type="none"/>
          </a:ln>
        </p:spPr>
      </p:cxnSp>
      <p:sp>
        <p:nvSpPr>
          <p:cNvPr id="422" name="Google Shape;422;p15"/>
          <p:cNvSpPr/>
          <p:nvPr/>
        </p:nvSpPr>
        <p:spPr>
          <a:xfrm>
            <a:off x="4802040" y="4175280"/>
            <a:ext cx="86508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23" name="Google Shape;423;p15"/>
          <p:cNvSpPr/>
          <p:nvPr/>
        </p:nvSpPr>
        <p:spPr>
          <a:xfrm>
            <a:off x="4192560" y="5318280"/>
            <a:ext cx="73692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&lt;var&gt;</a:t>
            </a:r>
            <a:endParaRPr b="0" i="0" sz="2000" u="none" cap="none" strike="noStrike">
              <a:solidFill>
                <a:srgbClr val="000000"/>
              </a:solidFill>
              <a:latin typeface="Times New Roman"/>
              <a:ea typeface="Times New Roman"/>
              <a:cs typeface="Times New Roman"/>
              <a:sym typeface="Times New Roman"/>
            </a:endParaRPr>
          </a:p>
        </p:txBody>
      </p:sp>
      <p:sp>
        <p:nvSpPr>
          <p:cNvPr id="424" name="Google Shape;424;p15"/>
          <p:cNvSpPr/>
          <p:nvPr/>
        </p:nvSpPr>
        <p:spPr>
          <a:xfrm>
            <a:off x="4421520" y="5851440"/>
            <a:ext cx="30888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b</a:t>
            </a:r>
            <a:endParaRPr b="0" i="0" sz="2000" u="none" cap="none" strike="noStrike">
              <a:solidFill>
                <a:srgbClr val="000000"/>
              </a:solidFill>
              <a:latin typeface="Times New Roman"/>
              <a:ea typeface="Times New Roman"/>
              <a:cs typeface="Times New Roman"/>
              <a:sym typeface="Times New Roman"/>
            </a:endParaRPr>
          </a:p>
        </p:txBody>
      </p:sp>
      <p:sp>
        <p:nvSpPr>
          <p:cNvPr id="425" name="Google Shape;425;p15"/>
          <p:cNvSpPr/>
          <p:nvPr/>
        </p:nvSpPr>
        <p:spPr>
          <a:xfrm>
            <a:off x="4181760" y="4708440"/>
            <a:ext cx="87732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&lt;term&gt;</a:t>
            </a:r>
            <a:endParaRPr b="0" i="0" sz="2000" u="none" cap="none" strike="noStrike">
              <a:solidFill>
                <a:srgbClr val="000000"/>
              </a:solidFill>
              <a:latin typeface="Times New Roman"/>
              <a:ea typeface="Times New Roman"/>
              <a:cs typeface="Times New Roman"/>
              <a:sym typeface="Times New Roman"/>
            </a:endParaRPr>
          </a:p>
        </p:txBody>
      </p:sp>
      <p:sp>
        <p:nvSpPr>
          <p:cNvPr id="426" name="Google Shape;426;p15"/>
          <p:cNvSpPr/>
          <p:nvPr/>
        </p:nvSpPr>
        <p:spPr>
          <a:xfrm>
            <a:off x="5031000" y="4708440"/>
            <a:ext cx="30276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
        <p:nvSpPr>
          <p:cNvPr id="427" name="Google Shape;427;p15"/>
          <p:cNvSpPr/>
          <p:nvPr/>
        </p:nvSpPr>
        <p:spPr>
          <a:xfrm>
            <a:off x="5427720" y="4708440"/>
            <a:ext cx="877320" cy="398880"/>
          </a:xfrm>
          <a:prstGeom prst="rect">
            <a:avLst/>
          </a:pr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&lt;term&gt;</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16"/>
          <p:cNvSpPr/>
          <p:nvPr/>
        </p:nvSpPr>
        <p:spPr>
          <a:xfrm>
            <a:off x="609480" y="22860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Ambiguity in Grammars</a:t>
            </a:r>
            <a:endParaRPr b="0" i="0" sz="4000" u="none" cap="none" strike="noStrike">
              <a:solidFill>
                <a:srgbClr val="000000"/>
              </a:solidFill>
              <a:latin typeface="Times New Roman"/>
              <a:ea typeface="Times New Roman"/>
              <a:cs typeface="Times New Roman"/>
              <a:sym typeface="Times New Roman"/>
            </a:endParaRPr>
          </a:p>
        </p:txBody>
      </p:sp>
      <p:sp>
        <p:nvSpPr>
          <p:cNvPr id="433" name="Google Shape;433;p16"/>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434" name="Google Shape;434;p16"/>
          <p:cNvSpPr/>
          <p:nvPr/>
        </p:nvSpPr>
        <p:spPr>
          <a:xfrm>
            <a:off x="609480" y="1523880"/>
            <a:ext cx="7772400" cy="44960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grammar is </a:t>
            </a:r>
            <a:r>
              <a:rPr b="0" i="1" lang="en-US" sz="2600" u="none" cap="none" strike="noStrike">
                <a:solidFill>
                  <a:srgbClr val="000000"/>
                </a:solidFill>
                <a:latin typeface="Libre Baskerville"/>
                <a:ea typeface="Libre Baskerville"/>
                <a:cs typeface="Libre Baskerville"/>
                <a:sym typeface="Libre Baskerville"/>
              </a:rPr>
              <a:t>ambiguous</a:t>
            </a:r>
            <a:r>
              <a:rPr b="0" i="0" lang="en-US" sz="2600" u="none" cap="none" strike="noStrike">
                <a:solidFill>
                  <a:srgbClr val="000000"/>
                </a:solidFill>
                <a:latin typeface="Libre Baskerville"/>
                <a:ea typeface="Libre Baskerville"/>
                <a:cs typeface="Libre Baskerville"/>
                <a:sym typeface="Libre Baskerville"/>
              </a:rPr>
              <a:t> if and only if it generates a sentential form that has two or more distinct parse trees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In many cases, an ambiguous grammar can be rewritten to be unambiguous and still generate the desired language.</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8" name="Shape 438"/>
        <p:cNvGrpSpPr/>
        <p:nvPr/>
      </p:nvGrpSpPr>
      <p:grpSpPr>
        <a:xfrm>
          <a:off x="0" y="0"/>
          <a:ext cx="0" cy="0"/>
          <a:chOff x="0" y="0"/>
          <a:chExt cx="0" cy="0"/>
        </a:xfrm>
      </p:grpSpPr>
      <p:sp>
        <p:nvSpPr>
          <p:cNvPr id="439" name="Google Shape;439;p17"/>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200" u="none" cap="none" strike="noStrike">
                <a:solidFill>
                  <a:srgbClr val="696464"/>
                </a:solidFill>
                <a:latin typeface="Libre Franklin"/>
                <a:ea typeface="Libre Franklin"/>
                <a:cs typeface="Libre Franklin"/>
                <a:sym typeface="Libre Franklin"/>
              </a:rPr>
              <a:t>An Ambiguous Expression Grammar</a:t>
            </a:r>
            <a:endParaRPr b="0" i="0" sz="3200" u="none" cap="none" strike="noStrike">
              <a:solidFill>
                <a:srgbClr val="000000"/>
              </a:solidFill>
              <a:latin typeface="Times New Roman"/>
              <a:ea typeface="Times New Roman"/>
              <a:cs typeface="Times New Roman"/>
              <a:sym typeface="Times New Roman"/>
            </a:endParaRPr>
          </a:p>
        </p:txBody>
      </p:sp>
      <p:sp>
        <p:nvSpPr>
          <p:cNvPr id="440" name="Google Shape;440;p17"/>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441" name="Google Shape;441;p17"/>
          <p:cNvSpPr/>
          <p:nvPr/>
        </p:nvSpPr>
        <p:spPr>
          <a:xfrm>
            <a:off x="609480" y="1523880"/>
            <a:ext cx="7467840" cy="47246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2880" marR="0" rtl="0" algn="l">
              <a:lnSpc>
                <a:spcPct val="100000"/>
              </a:lnSpc>
              <a:spcBef>
                <a:spcPts val="0"/>
              </a:spcBef>
              <a:spcAft>
                <a:spcPts val="0"/>
              </a:spcAft>
              <a:buNone/>
            </a:pPr>
            <a:r>
              <a:rPr b="0" i="0" lang="en-US" sz="2000" u="none" cap="none" strike="noStrike">
                <a:solidFill>
                  <a:srgbClr val="000000"/>
                </a:solidFill>
                <a:latin typeface="Courier New"/>
                <a:ea typeface="Courier New"/>
                <a:cs typeface="Courier New"/>
                <a:sym typeface="Courier New"/>
              </a:rPr>
              <a:t>&lt;expr&gt;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&lt;expr&gt; &lt;op&gt; &lt;expr&gt;  |  const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&lt;op&gt;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  |  -</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cxnSp>
        <p:nvCxnSpPr>
          <p:cNvPr id="442" name="Google Shape;442;p17"/>
          <p:cNvCxnSpPr/>
          <p:nvPr/>
        </p:nvCxnSpPr>
        <p:spPr>
          <a:xfrm flipH="1">
            <a:off x="2360520" y="2895480"/>
            <a:ext cx="689040" cy="838440"/>
          </a:xfrm>
          <a:prstGeom prst="straightConnector1">
            <a:avLst/>
          </a:prstGeom>
          <a:noFill/>
          <a:ln cap="flat" cmpd="sng" w="12600">
            <a:solidFill>
              <a:srgbClr val="000000"/>
            </a:solidFill>
            <a:prstDash val="solid"/>
            <a:miter lim="8000"/>
            <a:headEnd len="sm" w="sm" type="none"/>
            <a:tailEnd len="sm" w="sm" type="none"/>
          </a:ln>
        </p:spPr>
      </p:cxnSp>
      <p:cxnSp>
        <p:nvCxnSpPr>
          <p:cNvPr id="443" name="Google Shape;443;p17"/>
          <p:cNvCxnSpPr/>
          <p:nvPr/>
        </p:nvCxnSpPr>
        <p:spPr>
          <a:xfrm>
            <a:off x="3048120" y="2895480"/>
            <a:ext cx="1218960" cy="838440"/>
          </a:xfrm>
          <a:prstGeom prst="straightConnector1">
            <a:avLst/>
          </a:prstGeom>
          <a:noFill/>
          <a:ln cap="flat" cmpd="sng" w="12600">
            <a:solidFill>
              <a:srgbClr val="000000"/>
            </a:solidFill>
            <a:prstDash val="solid"/>
            <a:miter lim="8000"/>
            <a:headEnd len="sm" w="sm" type="none"/>
            <a:tailEnd len="sm" w="sm" type="none"/>
          </a:ln>
        </p:spPr>
      </p:cxnSp>
      <p:cxnSp>
        <p:nvCxnSpPr>
          <p:cNvPr id="444" name="Google Shape;444;p17"/>
          <p:cNvCxnSpPr/>
          <p:nvPr/>
        </p:nvCxnSpPr>
        <p:spPr>
          <a:xfrm>
            <a:off x="3048120" y="2895480"/>
            <a:ext cx="533160" cy="838440"/>
          </a:xfrm>
          <a:prstGeom prst="straightConnector1">
            <a:avLst/>
          </a:prstGeom>
          <a:noFill/>
          <a:ln cap="flat" cmpd="sng" w="12600">
            <a:solidFill>
              <a:srgbClr val="000000"/>
            </a:solidFill>
            <a:prstDash val="solid"/>
            <a:miter lim="8000"/>
            <a:headEnd len="sm" w="sm" type="none"/>
            <a:tailEnd len="sm" w="sm" type="none"/>
          </a:ln>
        </p:spPr>
      </p:cxnSp>
      <p:cxnSp>
        <p:nvCxnSpPr>
          <p:cNvPr id="445" name="Google Shape;445;p17"/>
          <p:cNvCxnSpPr/>
          <p:nvPr/>
        </p:nvCxnSpPr>
        <p:spPr>
          <a:xfrm flipH="1">
            <a:off x="1902960" y="3962520"/>
            <a:ext cx="460440" cy="761760"/>
          </a:xfrm>
          <a:prstGeom prst="straightConnector1">
            <a:avLst/>
          </a:prstGeom>
          <a:noFill/>
          <a:ln cap="flat" cmpd="sng" w="12600">
            <a:solidFill>
              <a:srgbClr val="000000"/>
            </a:solidFill>
            <a:prstDash val="solid"/>
            <a:miter lim="8000"/>
            <a:headEnd len="sm" w="sm" type="none"/>
            <a:tailEnd len="sm" w="sm" type="none"/>
          </a:ln>
        </p:spPr>
      </p:cxnSp>
      <p:cxnSp>
        <p:nvCxnSpPr>
          <p:cNvPr id="446" name="Google Shape;446;p17"/>
          <p:cNvCxnSpPr/>
          <p:nvPr/>
        </p:nvCxnSpPr>
        <p:spPr>
          <a:xfrm>
            <a:off x="2362320" y="3962520"/>
            <a:ext cx="914400" cy="761760"/>
          </a:xfrm>
          <a:prstGeom prst="straightConnector1">
            <a:avLst/>
          </a:prstGeom>
          <a:noFill/>
          <a:ln cap="flat" cmpd="sng" w="12600">
            <a:solidFill>
              <a:srgbClr val="000000"/>
            </a:solidFill>
            <a:prstDash val="solid"/>
            <a:miter lim="8000"/>
            <a:headEnd len="sm" w="sm" type="none"/>
            <a:tailEnd len="sm" w="sm" type="none"/>
          </a:ln>
        </p:spPr>
      </p:cxnSp>
      <p:cxnSp>
        <p:nvCxnSpPr>
          <p:cNvPr id="447" name="Google Shape;447;p17"/>
          <p:cNvCxnSpPr/>
          <p:nvPr/>
        </p:nvCxnSpPr>
        <p:spPr>
          <a:xfrm>
            <a:off x="2362320" y="3962520"/>
            <a:ext cx="228600" cy="761760"/>
          </a:xfrm>
          <a:prstGeom prst="straightConnector1">
            <a:avLst/>
          </a:prstGeom>
          <a:noFill/>
          <a:ln cap="flat" cmpd="sng" w="12600">
            <a:solidFill>
              <a:srgbClr val="000000"/>
            </a:solidFill>
            <a:prstDash val="solid"/>
            <a:miter lim="8000"/>
            <a:headEnd len="sm" w="sm" type="none"/>
            <a:tailEnd len="sm" w="sm" type="none"/>
          </a:ln>
        </p:spPr>
      </p:cxnSp>
      <p:cxnSp>
        <p:nvCxnSpPr>
          <p:cNvPr id="448" name="Google Shape;448;p17"/>
          <p:cNvCxnSpPr/>
          <p:nvPr/>
        </p:nvCxnSpPr>
        <p:spPr>
          <a:xfrm>
            <a:off x="1905120" y="4952880"/>
            <a:ext cx="1440" cy="762120"/>
          </a:xfrm>
          <a:prstGeom prst="straightConnector1">
            <a:avLst/>
          </a:prstGeom>
          <a:noFill/>
          <a:ln cap="flat" cmpd="sng" w="12600">
            <a:solidFill>
              <a:srgbClr val="000000"/>
            </a:solidFill>
            <a:prstDash val="solid"/>
            <a:miter lim="8000"/>
            <a:headEnd len="sm" w="sm" type="none"/>
            <a:tailEnd len="sm" w="sm" type="none"/>
          </a:ln>
        </p:spPr>
      </p:cxnSp>
      <p:cxnSp>
        <p:nvCxnSpPr>
          <p:cNvPr id="449" name="Google Shape;449;p17"/>
          <p:cNvCxnSpPr/>
          <p:nvPr/>
        </p:nvCxnSpPr>
        <p:spPr>
          <a:xfrm>
            <a:off x="2590920" y="4952880"/>
            <a:ext cx="1440" cy="762120"/>
          </a:xfrm>
          <a:prstGeom prst="straightConnector1">
            <a:avLst/>
          </a:prstGeom>
          <a:noFill/>
          <a:ln cap="flat" cmpd="sng" w="12600">
            <a:solidFill>
              <a:srgbClr val="000000"/>
            </a:solidFill>
            <a:prstDash val="solid"/>
            <a:miter lim="8000"/>
            <a:headEnd len="sm" w="sm" type="none"/>
            <a:tailEnd len="sm" w="sm" type="none"/>
          </a:ln>
        </p:spPr>
      </p:cxnSp>
      <p:cxnSp>
        <p:nvCxnSpPr>
          <p:cNvPr id="450" name="Google Shape;450;p17"/>
          <p:cNvCxnSpPr/>
          <p:nvPr/>
        </p:nvCxnSpPr>
        <p:spPr>
          <a:xfrm>
            <a:off x="3200400" y="4952880"/>
            <a:ext cx="1440" cy="762120"/>
          </a:xfrm>
          <a:prstGeom prst="straightConnector1">
            <a:avLst/>
          </a:prstGeom>
          <a:noFill/>
          <a:ln cap="flat" cmpd="sng" w="12600">
            <a:solidFill>
              <a:srgbClr val="000000"/>
            </a:solidFill>
            <a:prstDash val="solid"/>
            <a:miter lim="8000"/>
            <a:headEnd len="sm" w="sm" type="none"/>
            <a:tailEnd len="sm" w="sm" type="none"/>
          </a:ln>
        </p:spPr>
      </p:cxnSp>
      <p:cxnSp>
        <p:nvCxnSpPr>
          <p:cNvPr id="451" name="Google Shape;451;p17"/>
          <p:cNvCxnSpPr/>
          <p:nvPr/>
        </p:nvCxnSpPr>
        <p:spPr>
          <a:xfrm>
            <a:off x="3581280" y="3962520"/>
            <a:ext cx="304920" cy="1676160"/>
          </a:xfrm>
          <a:prstGeom prst="straightConnector1">
            <a:avLst/>
          </a:prstGeom>
          <a:noFill/>
          <a:ln cap="flat" cmpd="sng" w="12600">
            <a:solidFill>
              <a:srgbClr val="000000"/>
            </a:solidFill>
            <a:prstDash val="solid"/>
            <a:miter lim="8000"/>
            <a:headEnd len="sm" w="sm" type="none"/>
            <a:tailEnd len="sm" w="sm" type="none"/>
          </a:ln>
        </p:spPr>
      </p:cxnSp>
      <p:cxnSp>
        <p:nvCxnSpPr>
          <p:cNvPr id="452" name="Google Shape;452;p17"/>
          <p:cNvCxnSpPr/>
          <p:nvPr/>
        </p:nvCxnSpPr>
        <p:spPr>
          <a:xfrm>
            <a:off x="4267080" y="3962520"/>
            <a:ext cx="381240" cy="1676160"/>
          </a:xfrm>
          <a:prstGeom prst="straightConnector1">
            <a:avLst/>
          </a:prstGeom>
          <a:noFill/>
          <a:ln cap="flat" cmpd="sng" w="12600">
            <a:solidFill>
              <a:srgbClr val="000000"/>
            </a:solidFill>
            <a:prstDash val="solid"/>
            <a:miter lim="8000"/>
            <a:headEnd len="sm" w="sm" type="none"/>
            <a:tailEnd len="sm" w="sm" type="none"/>
          </a:ln>
        </p:spPr>
      </p:cxnSp>
      <p:cxnSp>
        <p:nvCxnSpPr>
          <p:cNvPr id="453" name="Google Shape;453;p17"/>
          <p:cNvCxnSpPr/>
          <p:nvPr/>
        </p:nvCxnSpPr>
        <p:spPr>
          <a:xfrm flipH="1">
            <a:off x="5865480" y="2971800"/>
            <a:ext cx="841320" cy="685800"/>
          </a:xfrm>
          <a:prstGeom prst="straightConnector1">
            <a:avLst/>
          </a:prstGeom>
          <a:noFill/>
          <a:ln cap="flat" cmpd="sng" w="12600">
            <a:solidFill>
              <a:srgbClr val="000000"/>
            </a:solidFill>
            <a:prstDash val="solid"/>
            <a:miter lim="8000"/>
            <a:headEnd len="sm" w="sm" type="none"/>
            <a:tailEnd len="sm" w="sm" type="none"/>
          </a:ln>
        </p:spPr>
      </p:cxnSp>
      <p:cxnSp>
        <p:nvCxnSpPr>
          <p:cNvPr id="454" name="Google Shape;454;p17"/>
          <p:cNvCxnSpPr/>
          <p:nvPr/>
        </p:nvCxnSpPr>
        <p:spPr>
          <a:xfrm>
            <a:off x="6858000" y="2971800"/>
            <a:ext cx="1066680" cy="685800"/>
          </a:xfrm>
          <a:prstGeom prst="straightConnector1">
            <a:avLst/>
          </a:prstGeom>
          <a:noFill/>
          <a:ln cap="flat" cmpd="sng" w="12600">
            <a:solidFill>
              <a:srgbClr val="000000"/>
            </a:solidFill>
            <a:prstDash val="solid"/>
            <a:miter lim="8000"/>
            <a:headEnd len="sm" w="sm" type="none"/>
            <a:tailEnd len="sm" w="sm" type="none"/>
          </a:ln>
        </p:spPr>
      </p:cxnSp>
      <p:cxnSp>
        <p:nvCxnSpPr>
          <p:cNvPr id="455" name="Google Shape;455;p17"/>
          <p:cNvCxnSpPr/>
          <p:nvPr/>
        </p:nvCxnSpPr>
        <p:spPr>
          <a:xfrm flipH="1">
            <a:off x="6475320" y="2971800"/>
            <a:ext cx="308160" cy="685800"/>
          </a:xfrm>
          <a:prstGeom prst="straightConnector1">
            <a:avLst/>
          </a:prstGeom>
          <a:noFill/>
          <a:ln cap="flat" cmpd="sng" w="12600">
            <a:solidFill>
              <a:srgbClr val="000000"/>
            </a:solidFill>
            <a:prstDash val="solid"/>
            <a:miter lim="8000"/>
            <a:headEnd len="sm" w="sm" type="none"/>
            <a:tailEnd len="sm" w="sm" type="none"/>
          </a:ln>
        </p:spPr>
      </p:cxnSp>
      <p:cxnSp>
        <p:nvCxnSpPr>
          <p:cNvPr id="456" name="Google Shape;456;p17"/>
          <p:cNvCxnSpPr/>
          <p:nvPr/>
        </p:nvCxnSpPr>
        <p:spPr>
          <a:xfrm flipH="1">
            <a:off x="7161120" y="3962520"/>
            <a:ext cx="612720" cy="761760"/>
          </a:xfrm>
          <a:prstGeom prst="straightConnector1">
            <a:avLst/>
          </a:prstGeom>
          <a:noFill/>
          <a:ln cap="flat" cmpd="sng" w="12600">
            <a:solidFill>
              <a:srgbClr val="000000"/>
            </a:solidFill>
            <a:prstDash val="solid"/>
            <a:miter lim="8000"/>
            <a:headEnd len="sm" w="sm" type="none"/>
            <a:tailEnd len="sm" w="sm" type="none"/>
          </a:ln>
        </p:spPr>
      </p:cxnSp>
      <p:cxnSp>
        <p:nvCxnSpPr>
          <p:cNvPr id="457" name="Google Shape;457;p17"/>
          <p:cNvCxnSpPr/>
          <p:nvPr/>
        </p:nvCxnSpPr>
        <p:spPr>
          <a:xfrm>
            <a:off x="7772400" y="3962520"/>
            <a:ext cx="685800" cy="761760"/>
          </a:xfrm>
          <a:prstGeom prst="straightConnector1">
            <a:avLst/>
          </a:prstGeom>
          <a:noFill/>
          <a:ln cap="flat" cmpd="sng" w="12600">
            <a:solidFill>
              <a:srgbClr val="000000"/>
            </a:solidFill>
            <a:prstDash val="solid"/>
            <a:miter lim="8000"/>
            <a:headEnd len="sm" w="sm" type="none"/>
            <a:tailEnd len="sm" w="sm" type="none"/>
          </a:ln>
        </p:spPr>
      </p:cxnSp>
      <p:cxnSp>
        <p:nvCxnSpPr>
          <p:cNvPr id="458" name="Google Shape;458;p17"/>
          <p:cNvCxnSpPr/>
          <p:nvPr/>
        </p:nvCxnSpPr>
        <p:spPr>
          <a:xfrm>
            <a:off x="7772400" y="3962520"/>
            <a:ext cx="1440" cy="761760"/>
          </a:xfrm>
          <a:prstGeom prst="straightConnector1">
            <a:avLst/>
          </a:prstGeom>
          <a:noFill/>
          <a:ln cap="flat" cmpd="sng" w="12600">
            <a:solidFill>
              <a:srgbClr val="000000"/>
            </a:solidFill>
            <a:prstDash val="solid"/>
            <a:miter lim="8000"/>
            <a:headEnd len="sm" w="sm" type="none"/>
            <a:tailEnd len="sm" w="sm" type="none"/>
          </a:ln>
        </p:spPr>
      </p:cxnSp>
      <p:cxnSp>
        <p:nvCxnSpPr>
          <p:cNvPr id="459" name="Google Shape;459;p17"/>
          <p:cNvCxnSpPr/>
          <p:nvPr/>
        </p:nvCxnSpPr>
        <p:spPr>
          <a:xfrm>
            <a:off x="5867280" y="3962520"/>
            <a:ext cx="152640" cy="1752480"/>
          </a:xfrm>
          <a:prstGeom prst="straightConnector1">
            <a:avLst/>
          </a:prstGeom>
          <a:noFill/>
          <a:ln cap="flat" cmpd="sng" w="12600">
            <a:solidFill>
              <a:srgbClr val="000000"/>
            </a:solidFill>
            <a:prstDash val="solid"/>
            <a:miter lim="8000"/>
            <a:headEnd len="sm" w="sm" type="none"/>
            <a:tailEnd len="sm" w="sm" type="none"/>
          </a:ln>
        </p:spPr>
      </p:cxnSp>
      <p:cxnSp>
        <p:nvCxnSpPr>
          <p:cNvPr id="460" name="Google Shape;460;p17"/>
          <p:cNvCxnSpPr/>
          <p:nvPr/>
        </p:nvCxnSpPr>
        <p:spPr>
          <a:xfrm>
            <a:off x="6477120" y="3962520"/>
            <a:ext cx="304560" cy="1752480"/>
          </a:xfrm>
          <a:prstGeom prst="straightConnector1">
            <a:avLst/>
          </a:prstGeom>
          <a:noFill/>
          <a:ln cap="flat" cmpd="sng" w="12600">
            <a:solidFill>
              <a:srgbClr val="000000"/>
            </a:solidFill>
            <a:prstDash val="solid"/>
            <a:miter lim="8000"/>
            <a:headEnd len="sm" w="sm" type="none"/>
            <a:tailEnd len="sm" w="sm" type="none"/>
          </a:ln>
        </p:spPr>
      </p:cxnSp>
      <p:cxnSp>
        <p:nvCxnSpPr>
          <p:cNvPr id="461" name="Google Shape;461;p17"/>
          <p:cNvCxnSpPr/>
          <p:nvPr/>
        </p:nvCxnSpPr>
        <p:spPr>
          <a:xfrm>
            <a:off x="7162920" y="4952880"/>
            <a:ext cx="228600" cy="762120"/>
          </a:xfrm>
          <a:prstGeom prst="straightConnector1">
            <a:avLst/>
          </a:prstGeom>
          <a:noFill/>
          <a:ln cap="flat" cmpd="sng" w="12600">
            <a:solidFill>
              <a:srgbClr val="000000"/>
            </a:solidFill>
            <a:prstDash val="solid"/>
            <a:miter lim="8000"/>
            <a:headEnd len="sm" w="sm" type="none"/>
            <a:tailEnd len="sm" w="sm" type="none"/>
          </a:ln>
        </p:spPr>
      </p:cxnSp>
      <p:cxnSp>
        <p:nvCxnSpPr>
          <p:cNvPr id="462" name="Google Shape;462;p17"/>
          <p:cNvCxnSpPr/>
          <p:nvPr/>
        </p:nvCxnSpPr>
        <p:spPr>
          <a:xfrm>
            <a:off x="7772400" y="4952880"/>
            <a:ext cx="228600" cy="685800"/>
          </a:xfrm>
          <a:prstGeom prst="straightConnector1">
            <a:avLst/>
          </a:prstGeom>
          <a:noFill/>
          <a:ln cap="flat" cmpd="sng" w="12600">
            <a:solidFill>
              <a:srgbClr val="000000"/>
            </a:solidFill>
            <a:prstDash val="solid"/>
            <a:miter lim="8000"/>
            <a:headEnd len="sm" w="sm" type="none"/>
            <a:tailEnd len="sm" w="sm" type="none"/>
          </a:ln>
        </p:spPr>
      </p:cxnSp>
      <p:sp>
        <p:nvSpPr>
          <p:cNvPr id="463" name="Google Shape;463;p17"/>
          <p:cNvSpPr/>
          <p:nvPr/>
        </p:nvSpPr>
        <p:spPr>
          <a:xfrm>
            <a:off x="2668680" y="259092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64" name="Google Shape;464;p17"/>
          <p:cNvSpPr/>
          <p:nvPr/>
        </p:nvSpPr>
        <p:spPr>
          <a:xfrm>
            <a:off x="1967040" y="361944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65" name="Google Shape;465;p17"/>
          <p:cNvSpPr/>
          <p:nvPr/>
        </p:nvSpPr>
        <p:spPr>
          <a:xfrm>
            <a:off x="3781440" y="361944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66" name="Google Shape;466;p17"/>
          <p:cNvSpPr/>
          <p:nvPr/>
        </p:nvSpPr>
        <p:spPr>
          <a:xfrm>
            <a:off x="1373040" y="464832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67" name="Google Shape;467;p17"/>
          <p:cNvSpPr/>
          <p:nvPr/>
        </p:nvSpPr>
        <p:spPr>
          <a:xfrm>
            <a:off x="2820960" y="464832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68" name="Google Shape;468;p17"/>
          <p:cNvSpPr/>
          <p:nvPr/>
        </p:nvSpPr>
        <p:spPr>
          <a:xfrm>
            <a:off x="6402240" y="259092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69" name="Google Shape;469;p17"/>
          <p:cNvSpPr/>
          <p:nvPr/>
        </p:nvSpPr>
        <p:spPr>
          <a:xfrm>
            <a:off x="5411880" y="361944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70" name="Google Shape;470;p17"/>
          <p:cNvSpPr/>
          <p:nvPr/>
        </p:nvSpPr>
        <p:spPr>
          <a:xfrm>
            <a:off x="7392960" y="361944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71" name="Google Shape;471;p17"/>
          <p:cNvSpPr/>
          <p:nvPr/>
        </p:nvSpPr>
        <p:spPr>
          <a:xfrm>
            <a:off x="6707160" y="464832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72" name="Google Shape;472;p17"/>
          <p:cNvSpPr/>
          <p:nvPr/>
        </p:nvSpPr>
        <p:spPr>
          <a:xfrm>
            <a:off x="8078760" y="464832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473" name="Google Shape;473;p17"/>
          <p:cNvSpPr/>
          <p:nvPr/>
        </p:nvSpPr>
        <p:spPr>
          <a:xfrm>
            <a:off x="6172200" y="3619440"/>
            <a:ext cx="6807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&lt;op&gt;</a:t>
            </a:r>
            <a:endParaRPr b="0" i="0" sz="2000" u="none" cap="none" strike="noStrike">
              <a:solidFill>
                <a:srgbClr val="000000"/>
              </a:solidFill>
              <a:latin typeface="Times New Roman"/>
              <a:ea typeface="Times New Roman"/>
              <a:cs typeface="Times New Roman"/>
              <a:sym typeface="Times New Roman"/>
            </a:endParaRPr>
          </a:p>
        </p:txBody>
      </p:sp>
      <p:sp>
        <p:nvSpPr>
          <p:cNvPr id="474" name="Google Shape;474;p17"/>
          <p:cNvSpPr/>
          <p:nvPr/>
        </p:nvSpPr>
        <p:spPr>
          <a:xfrm>
            <a:off x="2211480" y="4648320"/>
            <a:ext cx="6807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&lt;op&gt;</a:t>
            </a:r>
            <a:endParaRPr b="0" i="0" sz="2000" u="none" cap="none" strike="noStrike">
              <a:solidFill>
                <a:srgbClr val="000000"/>
              </a:solidFill>
              <a:latin typeface="Times New Roman"/>
              <a:ea typeface="Times New Roman"/>
              <a:cs typeface="Times New Roman"/>
              <a:sym typeface="Times New Roman"/>
            </a:endParaRPr>
          </a:p>
        </p:txBody>
      </p:sp>
      <p:sp>
        <p:nvSpPr>
          <p:cNvPr id="475" name="Google Shape;475;p17"/>
          <p:cNvSpPr/>
          <p:nvPr/>
        </p:nvSpPr>
        <p:spPr>
          <a:xfrm>
            <a:off x="6172200" y="3619440"/>
            <a:ext cx="6807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&lt;op&gt;</a:t>
            </a:r>
            <a:endParaRPr b="0" i="0" sz="2000" u="none" cap="none" strike="noStrike">
              <a:solidFill>
                <a:srgbClr val="000000"/>
              </a:solidFill>
              <a:latin typeface="Times New Roman"/>
              <a:ea typeface="Times New Roman"/>
              <a:cs typeface="Times New Roman"/>
              <a:sym typeface="Times New Roman"/>
            </a:endParaRPr>
          </a:p>
        </p:txBody>
      </p:sp>
      <p:sp>
        <p:nvSpPr>
          <p:cNvPr id="476" name="Google Shape;476;p17"/>
          <p:cNvSpPr/>
          <p:nvPr/>
        </p:nvSpPr>
        <p:spPr>
          <a:xfrm>
            <a:off x="7469280" y="4648320"/>
            <a:ext cx="6807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&lt;op&gt;</a:t>
            </a:r>
            <a:endParaRPr b="0" i="0" sz="2000" u="none" cap="none" strike="noStrike">
              <a:solidFill>
                <a:srgbClr val="000000"/>
              </a:solidFill>
              <a:latin typeface="Times New Roman"/>
              <a:ea typeface="Times New Roman"/>
              <a:cs typeface="Times New Roman"/>
              <a:sym typeface="Times New Roman"/>
            </a:endParaRPr>
          </a:p>
        </p:txBody>
      </p:sp>
      <p:sp>
        <p:nvSpPr>
          <p:cNvPr id="477" name="Google Shape;477;p17"/>
          <p:cNvSpPr/>
          <p:nvPr/>
        </p:nvSpPr>
        <p:spPr>
          <a:xfrm>
            <a:off x="1523880" y="56386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478" name="Google Shape;478;p17"/>
          <p:cNvSpPr/>
          <p:nvPr/>
        </p:nvSpPr>
        <p:spPr>
          <a:xfrm>
            <a:off x="2895480" y="56386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479" name="Google Shape;479;p17"/>
          <p:cNvSpPr/>
          <p:nvPr/>
        </p:nvSpPr>
        <p:spPr>
          <a:xfrm>
            <a:off x="4267080" y="56386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480" name="Google Shape;480;p17"/>
          <p:cNvSpPr/>
          <p:nvPr/>
        </p:nvSpPr>
        <p:spPr>
          <a:xfrm>
            <a:off x="5715000" y="56386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481" name="Google Shape;481;p17"/>
          <p:cNvSpPr/>
          <p:nvPr/>
        </p:nvSpPr>
        <p:spPr>
          <a:xfrm>
            <a:off x="7086600" y="56386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482" name="Google Shape;482;p17"/>
          <p:cNvSpPr/>
          <p:nvPr/>
        </p:nvSpPr>
        <p:spPr>
          <a:xfrm>
            <a:off x="8229600" y="56386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483" name="Google Shape;483;p17"/>
          <p:cNvSpPr/>
          <p:nvPr/>
        </p:nvSpPr>
        <p:spPr>
          <a:xfrm>
            <a:off x="2516040" y="5638680"/>
            <a:ext cx="25092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
        <p:nvSpPr>
          <p:cNvPr id="484" name="Google Shape;484;p17"/>
          <p:cNvSpPr/>
          <p:nvPr/>
        </p:nvSpPr>
        <p:spPr>
          <a:xfrm>
            <a:off x="6630840" y="5638680"/>
            <a:ext cx="25092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
        <p:nvSpPr>
          <p:cNvPr id="485" name="Google Shape;485;p17"/>
          <p:cNvSpPr/>
          <p:nvPr/>
        </p:nvSpPr>
        <p:spPr>
          <a:xfrm>
            <a:off x="3811320" y="5638680"/>
            <a:ext cx="2386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
        <p:nvSpPr>
          <p:cNvPr id="486" name="Google Shape;486;p17"/>
          <p:cNvSpPr/>
          <p:nvPr/>
        </p:nvSpPr>
        <p:spPr>
          <a:xfrm>
            <a:off x="7850160" y="5638680"/>
            <a:ext cx="2386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
        <p:nvSpPr>
          <p:cNvPr id="487" name="Google Shape;487;p17"/>
          <p:cNvSpPr/>
          <p:nvPr/>
        </p:nvSpPr>
        <p:spPr>
          <a:xfrm>
            <a:off x="3125880" y="3619440"/>
            <a:ext cx="6807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&lt;op&gt;</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1" name="Shape 491"/>
        <p:cNvGrpSpPr/>
        <p:nvPr/>
      </p:nvGrpSpPr>
      <p:grpSpPr>
        <a:xfrm>
          <a:off x="0" y="0"/>
          <a:ext cx="0" cy="0"/>
          <a:chOff x="0" y="0"/>
          <a:chExt cx="0" cy="0"/>
        </a:xfrm>
      </p:grpSpPr>
      <p:sp>
        <p:nvSpPr>
          <p:cNvPr id="492" name="Google Shape;492;p18"/>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200" u="none" cap="none" strike="noStrike">
                <a:solidFill>
                  <a:srgbClr val="696464"/>
                </a:solidFill>
                <a:latin typeface="Libre Franklin"/>
                <a:ea typeface="Libre Franklin"/>
                <a:cs typeface="Libre Franklin"/>
                <a:sym typeface="Libre Franklin"/>
              </a:rPr>
              <a:t>An Unambiguous Expression Grammar</a:t>
            </a:r>
            <a:endParaRPr b="0" i="0" sz="3200" u="none" cap="none" strike="noStrike">
              <a:solidFill>
                <a:srgbClr val="000000"/>
              </a:solidFill>
              <a:latin typeface="Times New Roman"/>
              <a:ea typeface="Times New Roman"/>
              <a:cs typeface="Times New Roman"/>
              <a:sym typeface="Times New Roman"/>
            </a:endParaRPr>
          </a:p>
        </p:txBody>
      </p:sp>
      <p:sp>
        <p:nvSpPr>
          <p:cNvPr id="493" name="Google Shape;493;p18"/>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494" name="Google Shape;494;p18"/>
          <p:cNvSpPr/>
          <p:nvPr/>
        </p:nvSpPr>
        <p:spPr>
          <a:xfrm>
            <a:off x="609480" y="1447920"/>
            <a:ext cx="815364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If we use the parse tree to indicate precedence levels of the operators, we cannot have ambiguity</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0"/>
              </a:spcBef>
              <a:spcAft>
                <a:spcPts val="0"/>
              </a:spcAft>
              <a:buNone/>
            </a:pPr>
            <a:r>
              <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0"/>
              </a:spcBef>
              <a:spcAft>
                <a:spcPts val="0"/>
              </a:spcAft>
              <a:buNone/>
            </a:pPr>
            <a:r>
              <a:rPr b="0" i="0" lang="en-US" sz="2000" u="none" cap="none" strike="noStrike">
                <a:solidFill>
                  <a:srgbClr val="000000"/>
                </a:solidFill>
                <a:latin typeface="Courier New"/>
                <a:ea typeface="Courier New"/>
                <a:cs typeface="Courier New"/>
                <a:sym typeface="Courier New"/>
              </a:rPr>
              <a:t>&lt;expr&gt;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&lt;expr&gt; - &lt;term&gt;  |  &lt;term&gt;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0"/>
              </a:spcBef>
              <a:spcAft>
                <a:spcPts val="0"/>
              </a:spcAft>
              <a:buNone/>
            </a:pPr>
            <a:r>
              <a:rPr b="0" i="0" lang="en-US" sz="2000" u="none" cap="none" strike="noStrike">
                <a:solidFill>
                  <a:srgbClr val="000000"/>
                </a:solidFill>
                <a:latin typeface="Courier New"/>
                <a:ea typeface="Courier New"/>
                <a:cs typeface="Courier New"/>
                <a:sym typeface="Courier New"/>
              </a:rPr>
              <a:t>&lt;term&gt;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&lt;term&gt; / const| const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cxnSp>
        <p:nvCxnSpPr>
          <p:cNvPr id="495" name="Google Shape;495;p18"/>
          <p:cNvCxnSpPr/>
          <p:nvPr/>
        </p:nvCxnSpPr>
        <p:spPr>
          <a:xfrm flipH="1">
            <a:off x="3754440" y="4343400"/>
            <a:ext cx="590400" cy="441360"/>
          </a:xfrm>
          <a:prstGeom prst="straightConnector1">
            <a:avLst/>
          </a:prstGeom>
          <a:noFill/>
          <a:ln cap="flat" cmpd="sng" w="12600">
            <a:solidFill>
              <a:srgbClr val="000000"/>
            </a:solidFill>
            <a:prstDash val="solid"/>
            <a:miter lim="8000"/>
            <a:headEnd len="sm" w="sm" type="none"/>
            <a:tailEnd len="sm" w="sm" type="none"/>
          </a:ln>
        </p:spPr>
      </p:cxnSp>
      <p:cxnSp>
        <p:nvCxnSpPr>
          <p:cNvPr id="496" name="Google Shape;496;p18"/>
          <p:cNvCxnSpPr/>
          <p:nvPr/>
        </p:nvCxnSpPr>
        <p:spPr>
          <a:xfrm>
            <a:off x="4572000" y="4343400"/>
            <a:ext cx="708120" cy="441360"/>
          </a:xfrm>
          <a:prstGeom prst="straightConnector1">
            <a:avLst/>
          </a:prstGeom>
          <a:noFill/>
          <a:ln cap="flat" cmpd="sng" w="12600">
            <a:solidFill>
              <a:srgbClr val="000000"/>
            </a:solidFill>
            <a:prstDash val="solid"/>
            <a:miter lim="8000"/>
            <a:headEnd len="sm" w="sm" type="none"/>
            <a:tailEnd len="sm" w="sm" type="none"/>
          </a:ln>
        </p:spPr>
      </p:cxnSp>
      <p:cxnSp>
        <p:nvCxnSpPr>
          <p:cNvPr id="497" name="Google Shape;497;p18"/>
          <p:cNvCxnSpPr/>
          <p:nvPr/>
        </p:nvCxnSpPr>
        <p:spPr>
          <a:xfrm>
            <a:off x="4419720" y="4343400"/>
            <a:ext cx="21960" cy="593640"/>
          </a:xfrm>
          <a:prstGeom prst="straightConnector1">
            <a:avLst/>
          </a:prstGeom>
          <a:noFill/>
          <a:ln cap="flat" cmpd="sng" w="12600">
            <a:solidFill>
              <a:srgbClr val="000000"/>
            </a:solidFill>
            <a:prstDash val="solid"/>
            <a:miter lim="8000"/>
            <a:headEnd len="sm" w="sm" type="none"/>
            <a:tailEnd len="sm" w="sm" type="none"/>
          </a:ln>
        </p:spPr>
      </p:cxnSp>
      <p:cxnSp>
        <p:nvCxnSpPr>
          <p:cNvPr id="498" name="Google Shape;498;p18"/>
          <p:cNvCxnSpPr/>
          <p:nvPr/>
        </p:nvCxnSpPr>
        <p:spPr>
          <a:xfrm>
            <a:off x="3755880" y="5089680"/>
            <a:ext cx="1800" cy="304560"/>
          </a:xfrm>
          <a:prstGeom prst="straightConnector1">
            <a:avLst/>
          </a:prstGeom>
          <a:noFill/>
          <a:ln cap="flat" cmpd="sng" w="12600">
            <a:solidFill>
              <a:srgbClr val="000000"/>
            </a:solidFill>
            <a:prstDash val="solid"/>
            <a:miter lim="8000"/>
            <a:headEnd len="sm" w="sm" type="none"/>
            <a:tailEnd len="sm" w="sm" type="none"/>
          </a:ln>
        </p:spPr>
      </p:cxnSp>
      <p:cxnSp>
        <p:nvCxnSpPr>
          <p:cNvPr id="499" name="Google Shape;499;p18"/>
          <p:cNvCxnSpPr/>
          <p:nvPr/>
        </p:nvCxnSpPr>
        <p:spPr>
          <a:xfrm>
            <a:off x="3755880" y="5546880"/>
            <a:ext cx="1800" cy="380880"/>
          </a:xfrm>
          <a:prstGeom prst="straightConnector1">
            <a:avLst/>
          </a:prstGeom>
          <a:noFill/>
          <a:ln cap="flat" cmpd="sng" w="12600">
            <a:solidFill>
              <a:srgbClr val="000000"/>
            </a:solidFill>
            <a:prstDash val="solid"/>
            <a:miter lim="8000"/>
            <a:headEnd len="sm" w="sm" type="none"/>
            <a:tailEnd len="sm" w="sm" type="none"/>
          </a:ln>
        </p:spPr>
      </p:cxnSp>
      <p:cxnSp>
        <p:nvCxnSpPr>
          <p:cNvPr id="500" name="Google Shape;500;p18"/>
          <p:cNvCxnSpPr/>
          <p:nvPr/>
        </p:nvCxnSpPr>
        <p:spPr>
          <a:xfrm flipH="1">
            <a:off x="4973400" y="5013360"/>
            <a:ext cx="384120" cy="304920"/>
          </a:xfrm>
          <a:prstGeom prst="straightConnector1">
            <a:avLst/>
          </a:prstGeom>
          <a:noFill/>
          <a:ln cap="flat" cmpd="sng" w="12600">
            <a:solidFill>
              <a:srgbClr val="000000"/>
            </a:solidFill>
            <a:prstDash val="solid"/>
            <a:miter lim="8000"/>
            <a:headEnd len="sm" w="sm" type="none"/>
            <a:tailEnd len="sm" w="sm" type="none"/>
          </a:ln>
        </p:spPr>
      </p:cxnSp>
      <p:cxnSp>
        <p:nvCxnSpPr>
          <p:cNvPr id="501" name="Google Shape;501;p18"/>
          <p:cNvCxnSpPr/>
          <p:nvPr/>
        </p:nvCxnSpPr>
        <p:spPr>
          <a:xfrm>
            <a:off x="5356080" y="5013360"/>
            <a:ext cx="838440" cy="304920"/>
          </a:xfrm>
          <a:prstGeom prst="straightConnector1">
            <a:avLst/>
          </a:prstGeom>
          <a:noFill/>
          <a:ln cap="flat" cmpd="sng" w="12600">
            <a:solidFill>
              <a:srgbClr val="000000"/>
            </a:solidFill>
            <a:prstDash val="solid"/>
            <a:miter lim="8000"/>
            <a:headEnd len="sm" w="sm" type="none"/>
            <a:tailEnd len="sm" w="sm" type="none"/>
          </a:ln>
        </p:spPr>
      </p:cxnSp>
      <p:cxnSp>
        <p:nvCxnSpPr>
          <p:cNvPr id="502" name="Google Shape;502;p18"/>
          <p:cNvCxnSpPr/>
          <p:nvPr/>
        </p:nvCxnSpPr>
        <p:spPr>
          <a:xfrm>
            <a:off x="5356080" y="5013360"/>
            <a:ext cx="152640" cy="304920"/>
          </a:xfrm>
          <a:prstGeom prst="straightConnector1">
            <a:avLst/>
          </a:prstGeom>
          <a:noFill/>
          <a:ln cap="flat" cmpd="sng" w="12600">
            <a:solidFill>
              <a:srgbClr val="000000"/>
            </a:solidFill>
            <a:prstDash val="solid"/>
            <a:miter lim="8000"/>
            <a:headEnd len="sm" w="sm" type="none"/>
            <a:tailEnd len="sm" w="sm" type="none"/>
          </a:ln>
        </p:spPr>
      </p:cxnSp>
      <p:cxnSp>
        <p:nvCxnSpPr>
          <p:cNvPr id="503" name="Google Shape;503;p18"/>
          <p:cNvCxnSpPr/>
          <p:nvPr/>
        </p:nvCxnSpPr>
        <p:spPr>
          <a:xfrm>
            <a:off x="4975200" y="5546880"/>
            <a:ext cx="1440" cy="380880"/>
          </a:xfrm>
          <a:prstGeom prst="straightConnector1">
            <a:avLst/>
          </a:prstGeom>
          <a:noFill/>
          <a:ln cap="flat" cmpd="sng" w="12600">
            <a:solidFill>
              <a:srgbClr val="000000"/>
            </a:solidFill>
            <a:prstDash val="solid"/>
            <a:miter lim="8000"/>
            <a:headEnd len="sm" w="sm" type="none"/>
            <a:tailEnd len="sm" w="sm" type="none"/>
          </a:ln>
        </p:spPr>
      </p:cxnSp>
      <p:sp>
        <p:nvSpPr>
          <p:cNvPr id="504" name="Google Shape;504;p18"/>
          <p:cNvSpPr/>
          <p:nvPr/>
        </p:nvSpPr>
        <p:spPr>
          <a:xfrm>
            <a:off x="4040280" y="388620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505" name="Google Shape;505;p18"/>
          <p:cNvSpPr/>
          <p:nvPr/>
        </p:nvSpPr>
        <p:spPr>
          <a:xfrm>
            <a:off x="3300480" y="478476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506" name="Google Shape;506;p18"/>
          <p:cNvSpPr/>
          <p:nvPr/>
        </p:nvSpPr>
        <p:spPr>
          <a:xfrm>
            <a:off x="4900680" y="4784760"/>
            <a:ext cx="87732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&lt;term&gt;</a:t>
            </a:r>
            <a:endParaRPr b="0" i="0" sz="2000" u="none" cap="none" strike="noStrike">
              <a:solidFill>
                <a:srgbClr val="000000"/>
              </a:solidFill>
              <a:latin typeface="Times New Roman"/>
              <a:ea typeface="Times New Roman"/>
              <a:cs typeface="Times New Roman"/>
              <a:sym typeface="Times New Roman"/>
            </a:endParaRPr>
          </a:p>
        </p:txBody>
      </p:sp>
      <p:sp>
        <p:nvSpPr>
          <p:cNvPr id="507" name="Google Shape;507;p18"/>
          <p:cNvSpPr/>
          <p:nvPr/>
        </p:nvSpPr>
        <p:spPr>
          <a:xfrm>
            <a:off x="3300480" y="5394240"/>
            <a:ext cx="87732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&lt;term&gt;</a:t>
            </a:r>
            <a:endParaRPr b="0" i="0" sz="2000" u="none" cap="none" strike="noStrike">
              <a:solidFill>
                <a:srgbClr val="000000"/>
              </a:solidFill>
              <a:latin typeface="Times New Roman"/>
              <a:ea typeface="Times New Roman"/>
              <a:cs typeface="Times New Roman"/>
              <a:sym typeface="Times New Roman"/>
            </a:endParaRPr>
          </a:p>
        </p:txBody>
      </p:sp>
      <p:sp>
        <p:nvSpPr>
          <p:cNvPr id="508" name="Google Shape;508;p18"/>
          <p:cNvSpPr/>
          <p:nvPr/>
        </p:nvSpPr>
        <p:spPr>
          <a:xfrm>
            <a:off x="4519800" y="5394240"/>
            <a:ext cx="87732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&lt;term&gt;</a:t>
            </a:r>
            <a:endParaRPr b="0" i="0" sz="2000" u="none" cap="none" strike="noStrike">
              <a:solidFill>
                <a:srgbClr val="000000"/>
              </a:solidFill>
              <a:latin typeface="Times New Roman"/>
              <a:ea typeface="Times New Roman"/>
              <a:cs typeface="Times New Roman"/>
              <a:sym typeface="Times New Roman"/>
            </a:endParaRPr>
          </a:p>
        </p:txBody>
      </p:sp>
      <p:sp>
        <p:nvSpPr>
          <p:cNvPr id="509" name="Google Shape;509;p18"/>
          <p:cNvSpPr/>
          <p:nvPr/>
        </p:nvSpPr>
        <p:spPr>
          <a:xfrm>
            <a:off x="3298680" y="60040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510" name="Google Shape;510;p18"/>
          <p:cNvSpPr/>
          <p:nvPr/>
        </p:nvSpPr>
        <p:spPr>
          <a:xfrm>
            <a:off x="4595760" y="60040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511" name="Google Shape;511;p18"/>
          <p:cNvSpPr/>
          <p:nvPr/>
        </p:nvSpPr>
        <p:spPr>
          <a:xfrm>
            <a:off x="5813280" y="539424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512" name="Google Shape;512;p18"/>
          <p:cNvSpPr/>
          <p:nvPr/>
        </p:nvSpPr>
        <p:spPr>
          <a:xfrm>
            <a:off x="5433840" y="5394240"/>
            <a:ext cx="2386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
        <p:nvSpPr>
          <p:cNvPr id="513" name="Google Shape;513;p18"/>
          <p:cNvSpPr/>
          <p:nvPr/>
        </p:nvSpPr>
        <p:spPr>
          <a:xfrm>
            <a:off x="4290840" y="4784760"/>
            <a:ext cx="25092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19"/>
          <p:cNvSpPr/>
          <p:nvPr/>
        </p:nvSpPr>
        <p:spPr>
          <a:xfrm>
            <a:off x="609480" y="22860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Associativity of Operators</a:t>
            </a:r>
            <a:endParaRPr b="0" i="0" sz="4000" u="none" cap="none" strike="noStrike">
              <a:solidFill>
                <a:srgbClr val="000000"/>
              </a:solidFill>
              <a:latin typeface="Times New Roman"/>
              <a:ea typeface="Times New Roman"/>
              <a:cs typeface="Times New Roman"/>
              <a:sym typeface="Times New Roman"/>
            </a:endParaRPr>
          </a:p>
        </p:txBody>
      </p:sp>
      <p:sp>
        <p:nvSpPr>
          <p:cNvPr id="519" name="Google Shape;519;p19"/>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20" name="Google Shape;520;p19"/>
          <p:cNvSpPr/>
          <p:nvPr/>
        </p:nvSpPr>
        <p:spPr>
          <a:xfrm>
            <a:off x="609480" y="1447920"/>
            <a:ext cx="815364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90000"/>
              </a:lnSpc>
              <a:spcBef>
                <a:spcPts val="0"/>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Operator associativity can also be indicated by a grammar</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&lt;expr&gt; -&gt; &lt;expr&gt; + &lt;expr&gt; |  const  (ambiguous)</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&lt;expr&gt; -&gt; &lt;expr&gt; + const  |  const  (unambiguous)</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cxnSp>
        <p:nvCxnSpPr>
          <p:cNvPr id="521" name="Google Shape;521;p19"/>
          <p:cNvCxnSpPr/>
          <p:nvPr/>
        </p:nvCxnSpPr>
        <p:spPr>
          <a:xfrm flipH="1">
            <a:off x="3678120" y="3962520"/>
            <a:ext cx="1146240" cy="457200"/>
          </a:xfrm>
          <a:prstGeom prst="straightConnector1">
            <a:avLst/>
          </a:prstGeom>
          <a:noFill/>
          <a:ln cap="flat" cmpd="sng" w="12600">
            <a:solidFill>
              <a:srgbClr val="000000"/>
            </a:solidFill>
            <a:prstDash val="solid"/>
            <a:miter lim="8000"/>
            <a:headEnd len="sm" w="sm" type="none"/>
            <a:tailEnd len="sm" w="sm" type="none"/>
          </a:ln>
        </p:spPr>
      </p:cxnSp>
      <p:cxnSp>
        <p:nvCxnSpPr>
          <p:cNvPr id="522" name="Google Shape;522;p19"/>
          <p:cNvCxnSpPr/>
          <p:nvPr/>
        </p:nvCxnSpPr>
        <p:spPr>
          <a:xfrm>
            <a:off x="4822920" y="3962520"/>
            <a:ext cx="1143000" cy="457200"/>
          </a:xfrm>
          <a:prstGeom prst="straightConnector1">
            <a:avLst/>
          </a:prstGeom>
          <a:noFill/>
          <a:ln cap="flat" cmpd="sng" w="12600">
            <a:solidFill>
              <a:srgbClr val="000000"/>
            </a:solidFill>
            <a:prstDash val="solid"/>
            <a:miter lim="8000"/>
            <a:headEnd len="sm" w="sm" type="none"/>
            <a:tailEnd len="sm" w="sm" type="none"/>
          </a:ln>
        </p:spPr>
      </p:cxnSp>
      <p:cxnSp>
        <p:nvCxnSpPr>
          <p:cNvPr id="523" name="Google Shape;523;p19"/>
          <p:cNvCxnSpPr/>
          <p:nvPr/>
        </p:nvCxnSpPr>
        <p:spPr>
          <a:xfrm>
            <a:off x="4822920" y="3962520"/>
            <a:ext cx="1440" cy="533160"/>
          </a:xfrm>
          <a:prstGeom prst="straightConnector1">
            <a:avLst/>
          </a:prstGeom>
          <a:noFill/>
          <a:ln cap="flat" cmpd="sng" w="12600">
            <a:solidFill>
              <a:srgbClr val="000000"/>
            </a:solidFill>
            <a:prstDash val="solid"/>
            <a:miter lim="8000"/>
            <a:headEnd len="sm" w="sm" type="none"/>
            <a:tailEnd len="sm" w="sm" type="none"/>
          </a:ln>
        </p:spPr>
      </p:cxnSp>
      <p:cxnSp>
        <p:nvCxnSpPr>
          <p:cNvPr id="524" name="Google Shape;524;p19"/>
          <p:cNvCxnSpPr/>
          <p:nvPr/>
        </p:nvCxnSpPr>
        <p:spPr>
          <a:xfrm flipH="1">
            <a:off x="3296880" y="4800600"/>
            <a:ext cx="384120" cy="457200"/>
          </a:xfrm>
          <a:prstGeom prst="straightConnector1">
            <a:avLst/>
          </a:prstGeom>
          <a:noFill/>
          <a:ln cap="flat" cmpd="sng" w="12600">
            <a:solidFill>
              <a:srgbClr val="000000"/>
            </a:solidFill>
            <a:prstDash val="solid"/>
            <a:miter lim="8000"/>
            <a:headEnd len="sm" w="sm" type="none"/>
            <a:tailEnd len="sm" w="sm" type="none"/>
          </a:ln>
        </p:spPr>
      </p:cxnSp>
      <p:cxnSp>
        <p:nvCxnSpPr>
          <p:cNvPr id="525" name="Google Shape;525;p19"/>
          <p:cNvCxnSpPr/>
          <p:nvPr/>
        </p:nvCxnSpPr>
        <p:spPr>
          <a:xfrm>
            <a:off x="3679920" y="4800600"/>
            <a:ext cx="990360" cy="457200"/>
          </a:xfrm>
          <a:prstGeom prst="straightConnector1">
            <a:avLst/>
          </a:prstGeom>
          <a:noFill/>
          <a:ln cap="flat" cmpd="sng" w="12600">
            <a:solidFill>
              <a:srgbClr val="000000"/>
            </a:solidFill>
            <a:prstDash val="solid"/>
            <a:miter lim="8000"/>
            <a:headEnd len="sm" w="sm" type="none"/>
            <a:tailEnd len="sm" w="sm" type="none"/>
          </a:ln>
        </p:spPr>
      </p:cxnSp>
      <p:cxnSp>
        <p:nvCxnSpPr>
          <p:cNvPr id="526" name="Google Shape;526;p19"/>
          <p:cNvCxnSpPr/>
          <p:nvPr/>
        </p:nvCxnSpPr>
        <p:spPr>
          <a:xfrm>
            <a:off x="3679920" y="4800600"/>
            <a:ext cx="304560" cy="457200"/>
          </a:xfrm>
          <a:prstGeom prst="straightConnector1">
            <a:avLst/>
          </a:prstGeom>
          <a:noFill/>
          <a:ln cap="flat" cmpd="sng" w="12600">
            <a:solidFill>
              <a:srgbClr val="000000"/>
            </a:solidFill>
            <a:prstDash val="solid"/>
            <a:miter lim="8000"/>
            <a:headEnd len="sm" w="sm" type="none"/>
            <a:tailEnd len="sm" w="sm" type="none"/>
          </a:ln>
        </p:spPr>
      </p:cxnSp>
      <p:cxnSp>
        <p:nvCxnSpPr>
          <p:cNvPr id="527" name="Google Shape;527;p19"/>
          <p:cNvCxnSpPr/>
          <p:nvPr/>
        </p:nvCxnSpPr>
        <p:spPr>
          <a:xfrm>
            <a:off x="3298680" y="5562720"/>
            <a:ext cx="1800" cy="533160"/>
          </a:xfrm>
          <a:prstGeom prst="straightConnector1">
            <a:avLst/>
          </a:prstGeom>
          <a:noFill/>
          <a:ln cap="flat" cmpd="sng" w="12600">
            <a:solidFill>
              <a:srgbClr val="000000"/>
            </a:solidFill>
            <a:prstDash val="solid"/>
            <a:miter lim="8000"/>
            <a:headEnd len="sm" w="sm" type="none"/>
            <a:tailEnd len="sm" w="sm" type="none"/>
          </a:ln>
        </p:spPr>
      </p:cxnSp>
      <p:sp>
        <p:nvSpPr>
          <p:cNvPr id="528" name="Google Shape;528;p19"/>
          <p:cNvSpPr/>
          <p:nvPr/>
        </p:nvSpPr>
        <p:spPr>
          <a:xfrm>
            <a:off x="4427640" y="351648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529" name="Google Shape;529;p19"/>
          <p:cNvSpPr/>
          <p:nvPr/>
        </p:nvSpPr>
        <p:spPr>
          <a:xfrm>
            <a:off x="4367160" y="350532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530" name="Google Shape;530;p19"/>
          <p:cNvSpPr/>
          <p:nvPr/>
        </p:nvSpPr>
        <p:spPr>
          <a:xfrm>
            <a:off x="3300480" y="434340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531" name="Google Shape;531;p19"/>
          <p:cNvSpPr/>
          <p:nvPr/>
        </p:nvSpPr>
        <p:spPr>
          <a:xfrm>
            <a:off x="2843280" y="5181480"/>
            <a:ext cx="86508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&lt;expr&gt;</a:t>
            </a:r>
            <a:endParaRPr b="0" i="0" sz="2000" u="none" cap="none" strike="noStrike">
              <a:solidFill>
                <a:srgbClr val="000000"/>
              </a:solidFill>
              <a:latin typeface="Times New Roman"/>
              <a:ea typeface="Times New Roman"/>
              <a:cs typeface="Times New Roman"/>
              <a:sym typeface="Times New Roman"/>
            </a:endParaRPr>
          </a:p>
        </p:txBody>
      </p:sp>
      <p:sp>
        <p:nvSpPr>
          <p:cNvPr id="532" name="Google Shape;532;p19"/>
          <p:cNvSpPr/>
          <p:nvPr/>
        </p:nvSpPr>
        <p:spPr>
          <a:xfrm>
            <a:off x="4213080" y="518148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533" name="Google Shape;533;p19"/>
          <p:cNvSpPr/>
          <p:nvPr/>
        </p:nvSpPr>
        <p:spPr>
          <a:xfrm>
            <a:off x="5432400" y="434340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534" name="Google Shape;534;p19"/>
          <p:cNvSpPr/>
          <p:nvPr/>
        </p:nvSpPr>
        <p:spPr>
          <a:xfrm>
            <a:off x="2917800" y="6019920"/>
            <a:ext cx="7383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const</a:t>
            </a:r>
            <a:endParaRPr b="0" i="0" sz="2000" u="none" cap="none" strike="noStrike">
              <a:solidFill>
                <a:srgbClr val="000000"/>
              </a:solidFill>
              <a:latin typeface="Times New Roman"/>
              <a:ea typeface="Times New Roman"/>
              <a:cs typeface="Times New Roman"/>
              <a:sym typeface="Times New Roman"/>
            </a:endParaRPr>
          </a:p>
        </p:txBody>
      </p:sp>
      <p:sp>
        <p:nvSpPr>
          <p:cNvPr id="535" name="Google Shape;535;p19"/>
          <p:cNvSpPr/>
          <p:nvPr/>
        </p:nvSpPr>
        <p:spPr>
          <a:xfrm>
            <a:off x="4672080" y="4343400"/>
            <a:ext cx="3027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
        <p:nvSpPr>
          <p:cNvPr id="536" name="Google Shape;536;p19"/>
          <p:cNvSpPr/>
          <p:nvPr/>
        </p:nvSpPr>
        <p:spPr>
          <a:xfrm>
            <a:off x="3834000" y="5181480"/>
            <a:ext cx="302760" cy="398880"/>
          </a:xfrm>
          <a:custGeom>
            <a:rect b="b" l="l" r="r" t="t"/>
            <a:pathLst>
              <a:path extrusionOk="0" h="21600" w="21600">
                <a:moveTo>
                  <a:pt x="0" y="0"/>
                </a:moveTo>
                <a:lnTo>
                  <a:pt x="21600" y="0"/>
                </a:lnTo>
                <a:lnTo>
                  <a:pt x="21600" y="21600"/>
                </a:lnTo>
                <a:lnTo>
                  <a:pt x="0" y="21600"/>
                </a:lnTo>
                <a:lnTo>
                  <a:pt x="0" y="0"/>
                </a:lnTo>
                <a:close/>
              </a:path>
            </a:pathLst>
          </a:custGeom>
          <a:solidFill>
            <a:srgbClr val="FFFFFF"/>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Narrow"/>
                <a:ea typeface="Arial Narrow"/>
                <a:cs typeface="Arial Narrow"/>
                <a:sym typeface="Arial Narrow"/>
              </a:rPr>
              <a:t>+</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sp>
        <p:nvSpPr>
          <p:cNvPr id="541" name="Google Shape;541;p20"/>
          <p:cNvSpPr/>
          <p:nvPr/>
        </p:nvSpPr>
        <p:spPr>
          <a:xfrm>
            <a:off x="609480" y="22860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Extended BNF</a:t>
            </a:r>
            <a:endParaRPr b="0" i="0" sz="4000" u="none" cap="none" strike="noStrike">
              <a:solidFill>
                <a:srgbClr val="000000"/>
              </a:solidFill>
              <a:latin typeface="Times New Roman"/>
              <a:ea typeface="Times New Roman"/>
              <a:cs typeface="Times New Roman"/>
              <a:sym typeface="Times New Roman"/>
            </a:endParaRPr>
          </a:p>
        </p:txBody>
      </p:sp>
      <p:sp>
        <p:nvSpPr>
          <p:cNvPr id="542" name="Google Shape;542;p20"/>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43" name="Google Shape;543;p20"/>
          <p:cNvSpPr/>
          <p:nvPr/>
        </p:nvSpPr>
        <p:spPr>
          <a:xfrm>
            <a:off x="533520" y="1447920"/>
            <a:ext cx="77724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Optional parts are placed in brackets [ ]</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1"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Courier New"/>
                <a:ea typeface="Courier New"/>
                <a:cs typeface="Courier New"/>
                <a:sym typeface="Courier New"/>
              </a:rPr>
              <a:t>&lt;proc_call&gt; -&gt; ident [(&lt;expr_list&gt;)]</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Alternative parts of RHSs are placed inside parentheses and separated via vertical bars </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1"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Courier New"/>
                <a:ea typeface="Courier New"/>
                <a:cs typeface="Courier New"/>
                <a:sym typeface="Courier New"/>
              </a:rPr>
              <a:t>&lt;term&gt; → &lt;term&gt;</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Courier New"/>
                <a:ea typeface="Courier New"/>
                <a:cs typeface="Courier New"/>
                <a:sym typeface="Courier New"/>
              </a:rPr>
              <a:t>(+|-) const</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Repetitions (0 or more) are placed inside braces { }</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Courier New"/>
                <a:ea typeface="Courier New"/>
                <a:cs typeface="Courier New"/>
                <a:sym typeface="Courier New"/>
              </a:rPr>
              <a:t>&lt;ident&gt; → letter {letter|digit}</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7" name="Shape 547"/>
        <p:cNvGrpSpPr/>
        <p:nvPr/>
      </p:nvGrpSpPr>
      <p:grpSpPr>
        <a:xfrm>
          <a:off x="0" y="0"/>
          <a:ext cx="0" cy="0"/>
          <a:chOff x="0" y="0"/>
          <a:chExt cx="0" cy="0"/>
        </a:xfrm>
      </p:grpSpPr>
      <p:sp>
        <p:nvSpPr>
          <p:cNvPr id="548" name="Google Shape;548;p21"/>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BNF and EBNF</a:t>
            </a:r>
            <a:endParaRPr b="0" i="0" sz="4000" u="none" cap="none" strike="noStrike">
              <a:solidFill>
                <a:srgbClr val="000000"/>
              </a:solidFill>
              <a:latin typeface="Times New Roman"/>
              <a:ea typeface="Times New Roman"/>
              <a:cs typeface="Times New Roman"/>
              <a:sym typeface="Times New Roman"/>
            </a:endParaRPr>
          </a:p>
        </p:txBody>
      </p:sp>
      <p:sp>
        <p:nvSpPr>
          <p:cNvPr id="549" name="Google Shape;549;p21"/>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50" name="Google Shape;550;p21"/>
          <p:cNvSpPr/>
          <p:nvPr/>
        </p:nvSpPr>
        <p:spPr>
          <a:xfrm>
            <a:off x="609480" y="1447920"/>
            <a:ext cx="815364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9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BNF</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6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ourier New"/>
                <a:ea typeface="Courier New"/>
                <a:cs typeface="Courier New"/>
                <a:sym typeface="Courier New"/>
              </a:rPr>
              <a:t>&lt;expr&gt;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&lt;expr&gt; + &lt;term&gt;</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 &lt;expr&gt; - &lt;term&gt;</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 &lt;term&gt;</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&lt;term&gt;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&lt;term&gt; * &lt;factor&gt;</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 &lt;term&gt; / &lt;factor&gt;</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 &lt;factor&gt;</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EBNF</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6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ourier New"/>
                <a:ea typeface="Courier New"/>
                <a:cs typeface="Courier New"/>
                <a:sym typeface="Courier New"/>
              </a:rPr>
              <a:t>&lt;expr&gt;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&lt;term&gt; {(+ | -) &lt;term&gt;}</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&lt;term&gt;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&lt;factor&gt; {(* | /) &lt;factor&gt;}</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5" name="Shape 555"/>
        <p:cNvGrpSpPr/>
        <p:nvPr/>
      </p:nvGrpSpPr>
      <p:grpSpPr>
        <a:xfrm>
          <a:off x="0" y="0"/>
          <a:ext cx="0" cy="0"/>
          <a:chOff x="0" y="0"/>
          <a:chExt cx="0" cy="0"/>
        </a:xfrm>
      </p:grpSpPr>
      <p:sp>
        <p:nvSpPr>
          <p:cNvPr id="556" name="Google Shape;556;p22"/>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Static Semantics</a:t>
            </a:r>
            <a:endParaRPr b="0" i="0" sz="4000" u="none" cap="none" strike="noStrike">
              <a:solidFill>
                <a:srgbClr val="000000"/>
              </a:solidFill>
              <a:latin typeface="Times New Roman"/>
              <a:ea typeface="Times New Roman"/>
              <a:cs typeface="Times New Roman"/>
              <a:sym typeface="Times New Roman"/>
            </a:endParaRPr>
          </a:p>
        </p:txBody>
      </p:sp>
      <p:sp>
        <p:nvSpPr>
          <p:cNvPr id="557" name="Google Shape;557;p22"/>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58" name="Google Shape;558;p22"/>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Only indirectly related to the meaning of programs during execution ; rather it has to d o with the legal forms of programs (syntax rather than semantics)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Context-free grammars (CFGs) cannot describe all of the syntax of programming languages </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Categories of constructs that are trouble:</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600" u="none" cap="none" strike="noStrike">
                <a:solidFill>
                  <a:srgbClr val="000000"/>
                </a:solidFill>
                <a:latin typeface="Libre Baskerville"/>
                <a:ea typeface="Libre Baskerville"/>
                <a:cs typeface="Libre Baskerville"/>
                <a:sym typeface="Libre Baskerville"/>
              </a:rPr>
              <a:t>    - Context-free, but cumbersome (e.g.,</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600" u="none" cap="none" strike="noStrike">
                <a:solidFill>
                  <a:srgbClr val="000000"/>
                </a:solidFill>
                <a:latin typeface="Libre Baskerville"/>
                <a:ea typeface="Libre Baskerville"/>
                <a:cs typeface="Libre Baskerville"/>
                <a:sym typeface="Libre Baskerville"/>
              </a:rPr>
              <a:t>        types of operands in expressions)</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600" u="none" cap="none" strike="noStrike">
                <a:solidFill>
                  <a:srgbClr val="000000"/>
                </a:solidFill>
                <a:latin typeface="Libre Baskerville"/>
                <a:ea typeface="Libre Baskerville"/>
                <a:cs typeface="Libre Baskerville"/>
                <a:sym typeface="Libre Baskerville"/>
              </a:rPr>
              <a:t>    - Non-context-free (e.g., variables must</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600" u="none" cap="none" strike="noStrike">
                <a:solidFill>
                  <a:srgbClr val="000000"/>
                </a:solidFill>
                <a:latin typeface="Libre Baskerville"/>
                <a:ea typeface="Libre Baskerville"/>
                <a:cs typeface="Libre Baskerville"/>
                <a:sym typeface="Libre Baskerville"/>
              </a:rPr>
              <a:t>        be declared before they are used)</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23"/>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Attribute Grammars</a:t>
            </a:r>
            <a:endParaRPr b="0" i="0" sz="4000" u="none" cap="none" strike="noStrike">
              <a:solidFill>
                <a:srgbClr val="000000"/>
              </a:solidFill>
              <a:latin typeface="Times New Roman"/>
              <a:ea typeface="Times New Roman"/>
              <a:cs typeface="Times New Roman"/>
              <a:sym typeface="Times New Roman"/>
            </a:endParaRPr>
          </a:p>
        </p:txBody>
      </p:sp>
      <p:sp>
        <p:nvSpPr>
          <p:cNvPr id="565" name="Google Shape;565;p23"/>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66" name="Google Shape;566;p23"/>
          <p:cNvSpPr/>
          <p:nvPr/>
        </p:nvSpPr>
        <p:spPr>
          <a:xfrm>
            <a:off x="533520" y="1523880"/>
            <a:ext cx="7772400" cy="44960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2880" marR="0" rtl="0" algn="l">
              <a:lnSpc>
                <a:spcPct val="100000"/>
              </a:lnSpc>
              <a:spcBef>
                <a:spcPts val="0"/>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Attribute grammars (AGs) have additions to CFGs to carry some semantic info on parse tree nodes </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Primary value of AGs: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Static semantics specification</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Compiler design (static semantics checking)</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1" name="Shape 571"/>
        <p:cNvGrpSpPr/>
        <p:nvPr/>
      </p:nvGrpSpPr>
      <p:grpSpPr>
        <a:xfrm>
          <a:off x="0" y="0"/>
          <a:ext cx="0" cy="0"/>
          <a:chOff x="0" y="0"/>
          <a:chExt cx="0" cy="0"/>
        </a:xfrm>
      </p:grpSpPr>
      <p:sp>
        <p:nvSpPr>
          <p:cNvPr id="572" name="Google Shape;572;p24"/>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Attribute Grammars</a:t>
            </a:r>
            <a:r>
              <a:rPr b="0" i="0" lang="en-US" sz="3200" u="none" cap="none" strike="noStrike">
                <a:solidFill>
                  <a:srgbClr val="696464"/>
                </a:solidFill>
                <a:latin typeface="Libre Franklin"/>
                <a:ea typeface="Libre Franklin"/>
                <a:cs typeface="Libre Franklin"/>
                <a:sym typeface="Libre Franklin"/>
              </a:rPr>
              <a:t> : Definition</a:t>
            </a:r>
            <a:endParaRPr b="0" i="0" sz="3200" u="none" cap="none" strike="noStrike">
              <a:solidFill>
                <a:srgbClr val="000000"/>
              </a:solidFill>
              <a:latin typeface="Times New Roman"/>
              <a:ea typeface="Times New Roman"/>
              <a:cs typeface="Times New Roman"/>
              <a:sym typeface="Times New Roman"/>
            </a:endParaRPr>
          </a:p>
        </p:txBody>
      </p:sp>
      <p:sp>
        <p:nvSpPr>
          <p:cNvPr id="573" name="Google Shape;573;p24"/>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74" name="Google Shape;574;p24"/>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CC3300"/>
                </a:solidFill>
                <a:latin typeface="Libre Baskerville"/>
                <a:ea typeface="Libre Baskerville"/>
                <a:cs typeface="Libre Baskerville"/>
                <a:sym typeface="Libre Baskerville"/>
              </a:rPr>
              <a:t>Def</a:t>
            </a:r>
            <a:r>
              <a:rPr b="0" i="0" lang="en-US" sz="2600" u="none" cap="none" strike="noStrike">
                <a:solidFill>
                  <a:srgbClr val="000000"/>
                </a:solidFill>
                <a:latin typeface="Libre Baskerville"/>
                <a:ea typeface="Libre Baskerville"/>
                <a:cs typeface="Libre Baskerville"/>
                <a:sym typeface="Libre Baskerville"/>
              </a:rPr>
              <a:t>: An attribute grammar is a context-free grammar G = (S, N, T, P) with the following additions: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For each grammar symbol </a:t>
            </a:r>
            <a:r>
              <a:rPr b="0" i="1" lang="en-US" sz="2400" u="none" cap="none" strike="noStrike">
                <a:solidFill>
                  <a:srgbClr val="000000"/>
                </a:solidFill>
                <a:latin typeface="Libre Baskerville"/>
                <a:ea typeface="Libre Baskerville"/>
                <a:cs typeface="Libre Baskerville"/>
                <a:sym typeface="Libre Baskerville"/>
              </a:rPr>
              <a:t>x</a:t>
            </a:r>
            <a:r>
              <a:rPr b="0" i="0" lang="en-US" sz="2400" u="none" cap="none" strike="noStrike">
                <a:solidFill>
                  <a:srgbClr val="000000"/>
                </a:solidFill>
                <a:latin typeface="Libre Baskerville"/>
                <a:ea typeface="Libre Baskerville"/>
                <a:cs typeface="Libre Baskerville"/>
                <a:sym typeface="Libre Baskerville"/>
              </a:rPr>
              <a:t> there is a set </a:t>
            </a:r>
            <a:r>
              <a:rPr b="0" i="1" lang="en-US" sz="2400" u="none" cap="none" strike="noStrike">
                <a:solidFill>
                  <a:srgbClr val="000000"/>
                </a:solidFill>
                <a:latin typeface="Libre Baskerville"/>
                <a:ea typeface="Libre Baskerville"/>
                <a:cs typeface="Libre Baskerville"/>
                <a:sym typeface="Libre Baskerville"/>
              </a:rPr>
              <a:t>A(x)</a:t>
            </a:r>
            <a:r>
              <a:rPr b="0" i="0" lang="en-US" sz="2400" u="none" cap="none" strike="noStrike">
                <a:solidFill>
                  <a:srgbClr val="000000"/>
                </a:solidFill>
                <a:latin typeface="Libre Baskerville"/>
                <a:ea typeface="Libre Baskerville"/>
                <a:cs typeface="Libre Baskerville"/>
                <a:sym typeface="Libre Baskerville"/>
              </a:rPr>
              <a:t> of attribute values</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Each rule has a set of functions that define certain attributes of the non-terminals in the rule called attribute </a:t>
            </a:r>
            <a:r>
              <a:rPr b="0" i="0" lang="en-US" sz="2400" u="sng" cap="none" strike="noStrike">
                <a:solidFill>
                  <a:srgbClr val="000000"/>
                </a:solidFill>
                <a:latin typeface="Libre Baskerville"/>
                <a:ea typeface="Libre Baskerville"/>
                <a:cs typeface="Libre Baskerville"/>
                <a:sym typeface="Libre Baskerville"/>
              </a:rPr>
              <a:t>computational functions</a:t>
            </a:r>
            <a:r>
              <a:rPr b="0" i="0" lang="en-US" sz="2400" u="none" cap="none" strike="noStrike">
                <a:solidFill>
                  <a:srgbClr val="000000"/>
                </a:solidFill>
                <a:latin typeface="Libre Baskerville"/>
                <a:ea typeface="Libre Baskerville"/>
                <a:cs typeface="Libre Baskerville"/>
                <a:sym typeface="Libre Baskerville"/>
              </a:rPr>
              <a:t> or </a:t>
            </a:r>
            <a:r>
              <a:rPr b="0" i="0" lang="en-US" sz="2400" u="sng" cap="none" strike="noStrike">
                <a:solidFill>
                  <a:srgbClr val="000000"/>
                </a:solidFill>
                <a:latin typeface="Libre Baskerville"/>
                <a:ea typeface="Libre Baskerville"/>
                <a:cs typeface="Libre Baskerville"/>
                <a:sym typeface="Libre Baskerville"/>
              </a:rPr>
              <a:t>semantic functions</a:t>
            </a:r>
            <a:r>
              <a:rPr b="0" i="0" lang="en-US" sz="2400" u="none" cap="none" strike="noStrike">
                <a:solidFill>
                  <a:srgbClr val="000000"/>
                </a:solidFill>
                <a:latin typeface="Libre Baskerville"/>
                <a:ea typeface="Libre Baskerville"/>
                <a:cs typeface="Libre Baskerville"/>
                <a:sym typeface="Libre Baskerville"/>
              </a:rPr>
              <a:t>.</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Each rule has a (possibly empty) set of predicates to check for attribute consistency , called </a:t>
            </a:r>
            <a:r>
              <a:rPr b="0" i="0" lang="en-US" sz="2400" u="sng" cap="none" strike="noStrike">
                <a:solidFill>
                  <a:srgbClr val="000000"/>
                </a:solidFill>
                <a:latin typeface="Libre Baskerville"/>
                <a:ea typeface="Libre Baskerville"/>
                <a:cs typeface="Libre Baskerville"/>
                <a:sym typeface="Libre Baskerville"/>
              </a:rPr>
              <a:t>predicate functions</a:t>
            </a:r>
            <a:r>
              <a:rPr b="0" i="0" lang="en-US" sz="2400" u="none" cap="none" strike="noStrike">
                <a:solidFill>
                  <a:srgbClr val="000000"/>
                </a:solidFill>
                <a:latin typeface="Libre Baskerville"/>
                <a:ea typeface="Libre Baskerville"/>
                <a:cs typeface="Libre Baskerville"/>
                <a:sym typeface="Libre Baskerville"/>
              </a:rPr>
              <a:t>.</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9" name="Shape 579"/>
        <p:cNvGrpSpPr/>
        <p:nvPr/>
      </p:nvGrpSpPr>
      <p:grpSpPr>
        <a:xfrm>
          <a:off x="0" y="0"/>
          <a:ext cx="0" cy="0"/>
          <a:chOff x="0" y="0"/>
          <a:chExt cx="0" cy="0"/>
        </a:xfrm>
      </p:grpSpPr>
      <p:sp>
        <p:nvSpPr>
          <p:cNvPr id="580" name="Google Shape;580;p25"/>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Attribute Grammars: Definition</a:t>
            </a:r>
            <a:endParaRPr b="0" i="0" sz="4000" u="none" cap="none" strike="noStrike">
              <a:solidFill>
                <a:srgbClr val="000000"/>
              </a:solidFill>
              <a:latin typeface="Times New Roman"/>
              <a:ea typeface="Times New Roman"/>
              <a:cs typeface="Times New Roman"/>
              <a:sym typeface="Times New Roman"/>
            </a:endParaRPr>
          </a:p>
        </p:txBody>
      </p:sp>
      <p:sp>
        <p:nvSpPr>
          <p:cNvPr id="581" name="Google Shape;581;p25"/>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82" name="Google Shape;582;p25"/>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Let   </a:t>
            </a:r>
            <a:r>
              <a:rPr b="0" i="1" lang="en-US" sz="2600" u="none" cap="none" strike="noStrike">
                <a:solidFill>
                  <a:srgbClr val="000000"/>
                </a:solidFill>
                <a:latin typeface="Libre Baskerville"/>
                <a:ea typeface="Libre Baskerville"/>
                <a:cs typeface="Libre Baskerville"/>
                <a:sym typeface="Libre Baskerville"/>
              </a:rPr>
              <a:t>X</a:t>
            </a:r>
            <a:r>
              <a:rPr b="0" baseline="-25000" i="1" lang="en-US" sz="2600" u="none" cap="none" strike="noStrike">
                <a:solidFill>
                  <a:srgbClr val="000000"/>
                </a:solidFill>
                <a:latin typeface="Libre Baskerville"/>
                <a:ea typeface="Libre Baskerville"/>
                <a:cs typeface="Libre Baskerville"/>
                <a:sym typeface="Libre Baskerville"/>
              </a:rPr>
              <a:t>0</a:t>
            </a:r>
            <a:r>
              <a:rPr b="0" i="1" lang="en-US" sz="2600" u="none" cap="none" strike="noStrike">
                <a:solidFill>
                  <a:srgbClr val="000000"/>
                </a:solidFill>
                <a:latin typeface="Libre Baskerville"/>
                <a:ea typeface="Libre Baskerville"/>
                <a:cs typeface="Libre Baskerville"/>
                <a:sym typeface="Libre Baskerville"/>
              </a:rPr>
              <a:t> </a:t>
            </a:r>
            <a:r>
              <a:rPr b="0" i="1" lang="en-US" sz="2600" u="none" cap="none" strike="noStrike">
                <a:solidFill>
                  <a:srgbClr val="000000"/>
                </a:solidFill>
                <a:latin typeface="Noto Sans Symbols"/>
                <a:ea typeface="Noto Sans Symbols"/>
                <a:cs typeface="Noto Sans Symbols"/>
                <a:sym typeface="Noto Sans Symbols"/>
              </a:rPr>
              <a:t>→</a:t>
            </a:r>
            <a:r>
              <a:rPr b="0" i="1" lang="en-US" sz="2600" u="none" cap="none" strike="noStrike">
                <a:solidFill>
                  <a:srgbClr val="000000"/>
                </a:solidFill>
                <a:latin typeface="Libre Baskerville"/>
                <a:ea typeface="Libre Baskerville"/>
                <a:cs typeface="Libre Baskerville"/>
                <a:sym typeface="Libre Baskerville"/>
              </a:rPr>
              <a:t> X</a:t>
            </a:r>
            <a:r>
              <a:rPr b="0" baseline="-25000" i="1" lang="en-US" sz="2600" u="none" cap="none" strike="noStrike">
                <a:solidFill>
                  <a:srgbClr val="000000"/>
                </a:solidFill>
                <a:latin typeface="Libre Baskerville"/>
                <a:ea typeface="Libre Baskerville"/>
                <a:cs typeface="Libre Baskerville"/>
                <a:sym typeface="Libre Baskerville"/>
              </a:rPr>
              <a:t>1</a:t>
            </a:r>
            <a:r>
              <a:rPr b="0" i="1" lang="en-US" sz="2600" u="none" cap="none" strike="noStrike">
                <a:solidFill>
                  <a:srgbClr val="000000"/>
                </a:solidFill>
                <a:latin typeface="Libre Baskerville"/>
                <a:ea typeface="Libre Baskerville"/>
                <a:cs typeface="Libre Baskerville"/>
                <a:sym typeface="Libre Baskerville"/>
              </a:rPr>
              <a:t> ... X</a:t>
            </a:r>
            <a:r>
              <a:rPr b="0" baseline="-25000" i="1" lang="en-US" sz="2600" u="none" cap="none" strike="noStrike">
                <a:solidFill>
                  <a:srgbClr val="000000"/>
                </a:solidFill>
                <a:latin typeface="Libre Baskerville"/>
                <a:ea typeface="Libre Baskerville"/>
                <a:cs typeface="Libre Baskerville"/>
                <a:sym typeface="Libre Baskerville"/>
              </a:rPr>
              <a:t>n</a:t>
            </a:r>
            <a:r>
              <a:rPr b="0" i="0" lang="en-US" sz="2600" u="none" cap="none" strike="noStrike">
                <a:solidFill>
                  <a:srgbClr val="000000"/>
                </a:solidFill>
                <a:latin typeface="Libre Baskerville"/>
                <a:ea typeface="Libre Baskerville"/>
                <a:cs typeface="Libre Baskerville"/>
                <a:sym typeface="Libre Baskerville"/>
              </a:rPr>
              <a:t>  be a rule</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Functions of the form </a:t>
            </a:r>
            <a:r>
              <a:rPr b="0" i="1" lang="en-US" sz="2600" u="none" cap="none" strike="noStrike">
                <a:solidFill>
                  <a:srgbClr val="000000"/>
                </a:solidFill>
                <a:latin typeface="Libre Baskerville"/>
                <a:ea typeface="Libre Baskerville"/>
                <a:cs typeface="Libre Baskerville"/>
                <a:sym typeface="Libre Baskerville"/>
              </a:rPr>
              <a:t>S(X</a:t>
            </a:r>
            <a:r>
              <a:rPr b="0" baseline="-25000" i="1" lang="en-US" sz="2600" u="none" cap="none" strike="noStrike">
                <a:solidFill>
                  <a:srgbClr val="000000"/>
                </a:solidFill>
                <a:latin typeface="Libre Baskerville"/>
                <a:ea typeface="Libre Baskerville"/>
                <a:cs typeface="Libre Baskerville"/>
                <a:sym typeface="Libre Baskerville"/>
              </a:rPr>
              <a:t>0</a:t>
            </a:r>
            <a:r>
              <a:rPr b="0" i="1" lang="en-US" sz="2600" u="none" cap="none" strike="noStrike">
                <a:solidFill>
                  <a:srgbClr val="000000"/>
                </a:solidFill>
                <a:latin typeface="Libre Baskerville"/>
                <a:ea typeface="Libre Baskerville"/>
                <a:cs typeface="Libre Baskerville"/>
                <a:sym typeface="Libre Baskerville"/>
              </a:rPr>
              <a:t>) = f(A(X</a:t>
            </a:r>
            <a:r>
              <a:rPr b="0" baseline="-25000" i="1" lang="en-US" sz="2600" u="none" cap="none" strike="noStrike">
                <a:solidFill>
                  <a:srgbClr val="000000"/>
                </a:solidFill>
                <a:latin typeface="Libre Baskerville"/>
                <a:ea typeface="Libre Baskerville"/>
                <a:cs typeface="Libre Baskerville"/>
                <a:sym typeface="Libre Baskerville"/>
              </a:rPr>
              <a:t>1</a:t>
            </a:r>
            <a:r>
              <a:rPr b="0" i="1" lang="en-US" sz="2600" u="none" cap="none" strike="noStrike">
                <a:solidFill>
                  <a:srgbClr val="000000"/>
                </a:solidFill>
                <a:latin typeface="Libre Baskerville"/>
                <a:ea typeface="Libre Baskerville"/>
                <a:cs typeface="Libre Baskerville"/>
                <a:sym typeface="Libre Baskerville"/>
              </a:rPr>
              <a:t>), ... ,</a:t>
            </a:r>
            <a:r>
              <a:rPr b="0" i="0" lang="en-US" sz="2600" u="none" cap="none" strike="noStrike">
                <a:solidFill>
                  <a:srgbClr val="000000"/>
                </a:solidFill>
                <a:latin typeface="Libre Baskerville"/>
                <a:ea typeface="Libre Baskerville"/>
                <a:cs typeface="Libre Baskerville"/>
                <a:sym typeface="Libre Baskerville"/>
              </a:rPr>
              <a:t> </a:t>
            </a:r>
            <a:r>
              <a:rPr b="0" i="1" lang="en-US" sz="2600" u="none" cap="none" strike="noStrike">
                <a:solidFill>
                  <a:srgbClr val="000000"/>
                </a:solidFill>
                <a:latin typeface="Libre Baskerville"/>
                <a:ea typeface="Libre Baskerville"/>
                <a:cs typeface="Libre Baskerville"/>
                <a:sym typeface="Libre Baskerville"/>
              </a:rPr>
              <a:t>A(X</a:t>
            </a:r>
            <a:r>
              <a:rPr b="0" baseline="-25000" i="1" lang="en-US" sz="2600" u="none" cap="none" strike="noStrike">
                <a:solidFill>
                  <a:srgbClr val="000000"/>
                </a:solidFill>
                <a:latin typeface="Libre Baskerville"/>
                <a:ea typeface="Libre Baskerville"/>
                <a:cs typeface="Libre Baskerville"/>
                <a:sym typeface="Libre Baskerville"/>
              </a:rPr>
              <a:t>n</a:t>
            </a:r>
            <a:r>
              <a:rPr b="0" i="1" lang="en-US" sz="2600" u="none" cap="none" strike="noStrike">
                <a:solidFill>
                  <a:srgbClr val="000000"/>
                </a:solidFill>
                <a:latin typeface="Libre Baskerville"/>
                <a:ea typeface="Libre Baskerville"/>
                <a:cs typeface="Libre Baskerville"/>
                <a:sym typeface="Libre Baskerville"/>
              </a:rPr>
              <a:t>))</a:t>
            </a:r>
            <a:r>
              <a:rPr b="0" i="0" lang="en-US" sz="2600" u="none" cap="none" strike="noStrike">
                <a:solidFill>
                  <a:srgbClr val="000000"/>
                </a:solidFill>
                <a:latin typeface="Libre Baskerville"/>
                <a:ea typeface="Libre Baskerville"/>
                <a:cs typeface="Libre Baskerville"/>
                <a:sym typeface="Libre Baskerville"/>
              </a:rPr>
              <a:t> define </a:t>
            </a:r>
            <a:r>
              <a:rPr b="0" i="1" lang="en-US" sz="2600" u="none" cap="none" strike="noStrike">
                <a:solidFill>
                  <a:srgbClr val="000000"/>
                </a:solidFill>
                <a:latin typeface="Libre Baskerville"/>
                <a:ea typeface="Libre Baskerville"/>
                <a:cs typeface="Libre Baskerville"/>
                <a:sym typeface="Libre Baskerville"/>
              </a:rPr>
              <a:t>synthesized attributes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Functions of the form </a:t>
            </a:r>
            <a:r>
              <a:rPr b="0" i="1" lang="en-US" sz="2600" u="none" cap="none" strike="noStrike">
                <a:solidFill>
                  <a:srgbClr val="000000"/>
                </a:solidFill>
                <a:latin typeface="Libre Baskerville"/>
                <a:ea typeface="Libre Baskerville"/>
                <a:cs typeface="Libre Baskerville"/>
                <a:sym typeface="Libre Baskerville"/>
              </a:rPr>
              <a:t>I(X</a:t>
            </a:r>
            <a:r>
              <a:rPr b="0" baseline="-25000" i="1" lang="en-US" sz="2600" u="none" cap="none" strike="noStrike">
                <a:solidFill>
                  <a:srgbClr val="000000"/>
                </a:solidFill>
                <a:latin typeface="Libre Baskerville"/>
                <a:ea typeface="Libre Baskerville"/>
                <a:cs typeface="Libre Baskerville"/>
                <a:sym typeface="Libre Baskerville"/>
              </a:rPr>
              <a:t>j</a:t>
            </a:r>
            <a:r>
              <a:rPr b="0" i="1" lang="en-US" sz="2600" u="none" cap="none" strike="noStrike">
                <a:solidFill>
                  <a:srgbClr val="000000"/>
                </a:solidFill>
                <a:latin typeface="Libre Baskerville"/>
                <a:ea typeface="Libre Baskerville"/>
                <a:cs typeface="Libre Baskerville"/>
                <a:sym typeface="Libre Baskerville"/>
              </a:rPr>
              <a:t>) = f(A(X</a:t>
            </a:r>
            <a:r>
              <a:rPr b="0" baseline="-25000" i="1" lang="en-US" sz="2600" u="none" cap="none" strike="noStrike">
                <a:solidFill>
                  <a:srgbClr val="000000"/>
                </a:solidFill>
                <a:latin typeface="Libre Baskerville"/>
                <a:ea typeface="Libre Baskerville"/>
                <a:cs typeface="Libre Baskerville"/>
                <a:sym typeface="Libre Baskerville"/>
              </a:rPr>
              <a:t>0</a:t>
            </a:r>
            <a:r>
              <a:rPr b="0" i="1" lang="en-US" sz="2600" u="none" cap="none" strike="noStrike">
                <a:solidFill>
                  <a:srgbClr val="000000"/>
                </a:solidFill>
                <a:latin typeface="Libre Baskerville"/>
                <a:ea typeface="Libre Baskerville"/>
                <a:cs typeface="Libre Baskerville"/>
                <a:sym typeface="Libre Baskerville"/>
              </a:rPr>
              <a:t>), ... , A(X</a:t>
            </a:r>
            <a:r>
              <a:rPr b="0" baseline="-25000" i="1" lang="en-US" sz="2600" u="none" cap="none" strike="noStrike">
                <a:solidFill>
                  <a:srgbClr val="000000"/>
                </a:solidFill>
                <a:latin typeface="Libre Baskerville"/>
                <a:ea typeface="Libre Baskerville"/>
                <a:cs typeface="Libre Baskerville"/>
                <a:sym typeface="Libre Baskerville"/>
              </a:rPr>
              <a:t>n</a:t>
            </a:r>
            <a:r>
              <a:rPr b="0" i="1" lang="en-US" sz="2600" u="none" cap="none" strike="noStrike">
                <a:solidFill>
                  <a:srgbClr val="000000"/>
                </a:solidFill>
                <a:latin typeface="Libre Baskerville"/>
                <a:ea typeface="Libre Baskerville"/>
                <a:cs typeface="Libre Baskerville"/>
                <a:sym typeface="Libre Baskerville"/>
              </a:rPr>
              <a:t>)), for i &lt;= j &lt;= n</a:t>
            </a:r>
            <a:r>
              <a:rPr b="0" i="0" lang="en-US" sz="2600" u="none" cap="none" strike="noStrike">
                <a:solidFill>
                  <a:srgbClr val="000000"/>
                </a:solidFill>
                <a:latin typeface="Libre Baskerville"/>
                <a:ea typeface="Libre Baskerville"/>
                <a:cs typeface="Libre Baskerville"/>
                <a:sym typeface="Libre Baskerville"/>
              </a:rPr>
              <a:t>, define </a:t>
            </a:r>
            <a:r>
              <a:rPr b="0" i="1" lang="en-US" sz="2600" u="none" cap="none" strike="noStrike">
                <a:solidFill>
                  <a:srgbClr val="000000"/>
                </a:solidFill>
                <a:latin typeface="Libre Baskerville"/>
                <a:ea typeface="Libre Baskerville"/>
                <a:cs typeface="Libre Baskerville"/>
                <a:sym typeface="Libre Baskerville"/>
              </a:rPr>
              <a:t>inherited attributes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Initially, there are </a:t>
            </a:r>
            <a:r>
              <a:rPr b="0" i="1" lang="en-US" sz="2600" u="none" cap="none" strike="noStrike">
                <a:solidFill>
                  <a:srgbClr val="000000"/>
                </a:solidFill>
                <a:latin typeface="Libre Baskerville"/>
                <a:ea typeface="Libre Baskerville"/>
                <a:cs typeface="Libre Baskerville"/>
                <a:sym typeface="Libre Baskerville"/>
              </a:rPr>
              <a:t>intrinsic attributes</a:t>
            </a:r>
            <a:r>
              <a:rPr b="0" i="0" lang="en-US" sz="2600" u="none" cap="none" strike="noStrike">
                <a:solidFill>
                  <a:srgbClr val="000000"/>
                </a:solidFill>
                <a:latin typeface="Libre Baskerville"/>
                <a:ea typeface="Libre Baskerville"/>
                <a:cs typeface="Libre Baskerville"/>
                <a:sym typeface="Libre Baskerville"/>
              </a:rPr>
              <a:t> on the leaves</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26"/>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Attribute Grammars:</a:t>
            </a:r>
            <a:r>
              <a:rPr b="0" i="0" lang="en-US" sz="3200" u="none" cap="none" strike="noStrike">
                <a:solidFill>
                  <a:srgbClr val="696464"/>
                </a:solidFill>
                <a:latin typeface="Libre Franklin"/>
                <a:ea typeface="Libre Franklin"/>
                <a:cs typeface="Libre Franklin"/>
                <a:sym typeface="Libre Franklin"/>
              </a:rPr>
              <a:t> An Example</a:t>
            </a:r>
            <a:endParaRPr b="0" i="0" sz="3200" u="none" cap="none" strike="noStrike">
              <a:solidFill>
                <a:srgbClr val="000000"/>
              </a:solidFill>
              <a:latin typeface="Times New Roman"/>
              <a:ea typeface="Times New Roman"/>
              <a:cs typeface="Times New Roman"/>
              <a:sym typeface="Times New Roman"/>
            </a:endParaRPr>
          </a:p>
        </p:txBody>
      </p:sp>
      <p:sp>
        <p:nvSpPr>
          <p:cNvPr id="589" name="Google Shape;589;p26"/>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90" name="Google Shape;590;p26"/>
          <p:cNvSpPr/>
          <p:nvPr/>
        </p:nvSpPr>
        <p:spPr>
          <a:xfrm>
            <a:off x="533520" y="1447920"/>
            <a:ext cx="82296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720"/>
              <a:buFont typeface="Noto Sans Symbols"/>
              <a:buChar char="⚫"/>
            </a:pPr>
            <a:r>
              <a:rPr b="0" i="0" lang="en-US" sz="3200" u="none" cap="none" strike="noStrike">
                <a:solidFill>
                  <a:srgbClr val="000000"/>
                </a:solidFill>
                <a:latin typeface="Libre Baskerville"/>
                <a:ea typeface="Libre Baskerville"/>
                <a:cs typeface="Libre Baskerville"/>
                <a:sym typeface="Libre Baskerville"/>
              </a:rPr>
              <a:t>Syntax</a:t>
            </a:r>
            <a:endParaRPr b="0" i="0" sz="3200" u="none" cap="none" strike="noStrike">
              <a:solidFill>
                <a:srgbClr val="000000"/>
              </a:solidFill>
              <a:latin typeface="Times New Roman"/>
              <a:ea typeface="Times New Roman"/>
              <a:cs typeface="Times New Roman"/>
              <a:sym typeface="Times New Roman"/>
            </a:endParaRPr>
          </a:p>
          <a:p>
            <a:pPr indent="-227160" lvl="1" marL="547560" marR="0" rtl="0" algn="l">
              <a:lnSpc>
                <a:spcPct val="100000"/>
              </a:lnSpc>
              <a:spcBef>
                <a:spcPts val="374"/>
              </a:spcBef>
              <a:spcAft>
                <a:spcPts val="0"/>
              </a:spcAft>
              <a:buNone/>
            </a:pPr>
            <a:r>
              <a:rPr b="0" i="0" lang="en-US" sz="2800" u="none" cap="none" strike="noStrike">
                <a:solidFill>
                  <a:srgbClr val="000000"/>
                </a:solidFill>
                <a:latin typeface="Courier New"/>
                <a:ea typeface="Courier New"/>
                <a:cs typeface="Courier New"/>
                <a:sym typeface="Courier New"/>
              </a:rPr>
              <a:t>&lt;assign&gt; -&gt; &lt;var&gt; = &lt;expr&gt;</a:t>
            </a:r>
            <a:endParaRPr b="0" i="0" sz="2800" u="none" cap="none" strike="noStrike">
              <a:solidFill>
                <a:srgbClr val="000000"/>
              </a:solidFill>
              <a:latin typeface="Times New Roman"/>
              <a:ea typeface="Times New Roman"/>
              <a:cs typeface="Times New Roman"/>
              <a:sym typeface="Times New Roman"/>
            </a:endParaRPr>
          </a:p>
          <a:p>
            <a:pPr indent="-227160" lvl="1" marL="547560" marR="0" rtl="0" algn="l">
              <a:lnSpc>
                <a:spcPct val="100000"/>
              </a:lnSpc>
              <a:spcBef>
                <a:spcPts val="374"/>
              </a:spcBef>
              <a:spcAft>
                <a:spcPts val="0"/>
              </a:spcAft>
              <a:buNone/>
            </a:pPr>
            <a:r>
              <a:rPr b="0" i="0" lang="en-US" sz="2800" u="none" cap="none" strike="noStrike">
                <a:solidFill>
                  <a:srgbClr val="000000"/>
                </a:solidFill>
                <a:latin typeface="Courier New"/>
                <a:ea typeface="Courier New"/>
                <a:cs typeface="Courier New"/>
                <a:sym typeface="Courier New"/>
              </a:rPr>
              <a:t>&lt;expr&gt; -&gt; &lt;var&gt; + &lt;var&gt; | &lt;var&gt;</a:t>
            </a:r>
            <a:endParaRPr b="0" i="0" sz="2800" u="none" cap="none" strike="noStrike">
              <a:solidFill>
                <a:srgbClr val="000000"/>
              </a:solidFill>
              <a:latin typeface="Times New Roman"/>
              <a:ea typeface="Times New Roman"/>
              <a:cs typeface="Times New Roman"/>
              <a:sym typeface="Times New Roman"/>
            </a:endParaRPr>
          </a:p>
          <a:p>
            <a:pPr indent="-227160" lvl="1" marL="547560" marR="0" rtl="0" algn="l">
              <a:lnSpc>
                <a:spcPct val="100000"/>
              </a:lnSpc>
              <a:spcBef>
                <a:spcPts val="374"/>
              </a:spcBef>
              <a:spcAft>
                <a:spcPts val="0"/>
              </a:spcAft>
              <a:buNone/>
            </a:pPr>
            <a:r>
              <a:rPr b="0" i="0" lang="en-US" sz="2800" u="none" cap="none" strike="noStrike">
                <a:solidFill>
                  <a:srgbClr val="000000"/>
                </a:solidFill>
                <a:latin typeface="Courier New"/>
                <a:ea typeface="Courier New"/>
                <a:cs typeface="Courier New"/>
                <a:sym typeface="Courier New"/>
              </a:rPr>
              <a:t>&lt;var&gt;  A | B | C</a:t>
            </a:r>
            <a:endParaRPr b="0" i="0" sz="28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720"/>
              <a:buFont typeface="Noto Sans Symbols"/>
              <a:buChar char="⚫"/>
            </a:pPr>
            <a:r>
              <a:rPr b="0" i="0" lang="en-US" sz="3200" u="none" cap="none" strike="noStrike">
                <a:solidFill>
                  <a:srgbClr val="000000"/>
                </a:solidFill>
                <a:latin typeface="Courier New"/>
                <a:ea typeface="Courier New"/>
                <a:cs typeface="Courier New"/>
                <a:sym typeface="Courier New"/>
              </a:rPr>
              <a:t>actual_type</a:t>
            </a:r>
            <a:r>
              <a:rPr b="0" i="0" lang="en-US" sz="3200" u="none" cap="none" strike="noStrike">
                <a:solidFill>
                  <a:srgbClr val="000000"/>
                </a:solidFill>
                <a:latin typeface="Libre Baskerville"/>
                <a:ea typeface="Libre Baskerville"/>
                <a:cs typeface="Libre Baskerville"/>
                <a:sym typeface="Libre Baskerville"/>
              </a:rPr>
              <a:t>: synthesized for </a:t>
            </a:r>
            <a:r>
              <a:rPr b="0" i="0" lang="en-US" sz="3200" u="none" cap="none" strike="noStrike">
                <a:solidFill>
                  <a:srgbClr val="000000"/>
                </a:solidFill>
                <a:latin typeface="Courier New"/>
                <a:ea typeface="Courier New"/>
                <a:cs typeface="Courier New"/>
                <a:sym typeface="Courier New"/>
              </a:rPr>
              <a:t>&lt;var&gt; </a:t>
            </a:r>
            <a:r>
              <a:rPr b="0" i="0" lang="en-US" sz="3200" u="none" cap="none" strike="noStrike">
                <a:solidFill>
                  <a:srgbClr val="000000"/>
                </a:solidFill>
                <a:latin typeface="Libre Baskerville"/>
                <a:ea typeface="Libre Baskerville"/>
                <a:cs typeface="Libre Baskerville"/>
                <a:sym typeface="Libre Baskerville"/>
              </a:rPr>
              <a:t>and</a:t>
            </a:r>
            <a:r>
              <a:rPr b="0" i="0" lang="en-US" sz="3200" u="none" cap="none" strike="noStrike">
                <a:solidFill>
                  <a:srgbClr val="000000"/>
                </a:solidFill>
                <a:latin typeface="Courier New"/>
                <a:ea typeface="Courier New"/>
                <a:cs typeface="Courier New"/>
                <a:sym typeface="Courier New"/>
              </a:rPr>
              <a:t> &lt;expr&gt;</a:t>
            </a:r>
            <a:r>
              <a:rPr b="0" i="0" lang="en-US" sz="3200" u="none" cap="none" strike="noStrike">
                <a:solidFill>
                  <a:srgbClr val="000000"/>
                </a:solidFill>
                <a:latin typeface="Libre Baskerville"/>
                <a:ea typeface="Libre Baskerville"/>
                <a:cs typeface="Libre Baskerville"/>
                <a:sym typeface="Libre Baskerville"/>
              </a:rPr>
              <a:t> </a:t>
            </a:r>
            <a:endParaRPr b="0" i="0" sz="32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720"/>
              <a:buFont typeface="Noto Sans Symbols"/>
              <a:buChar char="⚫"/>
            </a:pPr>
            <a:r>
              <a:rPr b="0" i="0" lang="en-US" sz="3200" u="none" cap="none" strike="noStrike">
                <a:solidFill>
                  <a:srgbClr val="000000"/>
                </a:solidFill>
                <a:latin typeface="Courier New"/>
                <a:ea typeface="Courier New"/>
                <a:cs typeface="Courier New"/>
                <a:sym typeface="Courier New"/>
              </a:rPr>
              <a:t>expected_type</a:t>
            </a:r>
            <a:r>
              <a:rPr b="0" i="0" lang="en-US" sz="3200" u="none" cap="none" strike="noStrike">
                <a:solidFill>
                  <a:srgbClr val="000000"/>
                </a:solidFill>
                <a:latin typeface="Libre Baskerville"/>
                <a:ea typeface="Libre Baskerville"/>
                <a:cs typeface="Libre Baskerville"/>
                <a:sym typeface="Libre Baskerville"/>
              </a:rPr>
              <a:t>: inherited for </a:t>
            </a:r>
            <a:r>
              <a:rPr b="0" i="0" lang="en-US" sz="3200" u="none" cap="none" strike="noStrike">
                <a:solidFill>
                  <a:srgbClr val="000000"/>
                </a:solidFill>
                <a:latin typeface="Courier New"/>
                <a:ea typeface="Courier New"/>
                <a:cs typeface="Courier New"/>
                <a:sym typeface="Courier New"/>
              </a:rPr>
              <a:t>&lt;expr&gt;</a:t>
            </a:r>
            <a:r>
              <a:rPr b="0" i="0" lang="en-US" sz="3200" u="none" cap="none" strike="noStrike">
                <a:solidFill>
                  <a:srgbClr val="000000"/>
                </a:solidFill>
                <a:latin typeface="Libre Baskerville"/>
                <a:ea typeface="Libre Baskerville"/>
                <a:cs typeface="Libre Baskerville"/>
                <a:sym typeface="Libre Baskerville"/>
              </a:rPr>
              <a:t>  </a:t>
            </a:r>
            <a:endParaRPr b="0" i="0"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27"/>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Attribute Grammar</a:t>
            </a:r>
            <a:r>
              <a:rPr b="0" i="0" lang="en-US" sz="3200" u="none" cap="none" strike="noStrike">
                <a:solidFill>
                  <a:srgbClr val="696464"/>
                </a:solidFill>
                <a:latin typeface="Libre Franklin"/>
                <a:ea typeface="Libre Franklin"/>
                <a:cs typeface="Libre Franklin"/>
                <a:sym typeface="Libre Franklin"/>
              </a:rPr>
              <a:t> (continued)</a:t>
            </a:r>
            <a:endParaRPr b="0" i="0" sz="3200" u="none" cap="none" strike="noStrike">
              <a:solidFill>
                <a:srgbClr val="000000"/>
              </a:solidFill>
              <a:latin typeface="Times New Roman"/>
              <a:ea typeface="Times New Roman"/>
              <a:cs typeface="Times New Roman"/>
              <a:sym typeface="Times New Roman"/>
            </a:endParaRPr>
          </a:p>
        </p:txBody>
      </p:sp>
      <p:sp>
        <p:nvSpPr>
          <p:cNvPr id="597" name="Google Shape;597;p27"/>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598" name="Google Shape;598;p27"/>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90000"/>
              </a:lnSpc>
              <a:spcBef>
                <a:spcPts val="0"/>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Syntax rule:  </a:t>
            </a:r>
            <a:r>
              <a:rPr b="0" i="0" lang="en-US" sz="2400" u="none" cap="none" strike="noStrike">
                <a:solidFill>
                  <a:srgbClr val="000000"/>
                </a:solidFill>
                <a:latin typeface="Courier New"/>
                <a:ea typeface="Courier New"/>
                <a:cs typeface="Courier New"/>
                <a:sym typeface="Courier New"/>
              </a:rPr>
              <a:t>&lt;expr&gt;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&lt;var&gt;[1] + &lt;var&gt;[2]</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Semantic rules: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&lt;expr&gt;.actual_type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&lt;var&gt;[1].actual_type</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Predicate: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&lt;var&gt;[1].actual_type == &lt;var&gt;[2].actual_type</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&lt;expr&gt;.expected_type == &lt;expr&gt;.actual_type</a:t>
            </a:r>
            <a:endParaRPr b="0" i="0" sz="20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Syntax rule:  </a:t>
            </a:r>
            <a:r>
              <a:rPr b="0" i="0" lang="en-US" sz="2400" u="none" cap="none" strike="noStrike">
                <a:solidFill>
                  <a:srgbClr val="000000"/>
                </a:solidFill>
                <a:latin typeface="Courier New"/>
                <a:ea typeface="Courier New"/>
                <a:cs typeface="Courier New"/>
                <a:sym typeface="Courier New"/>
              </a:rPr>
              <a:t>&lt;var&gt;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id</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Semantic rule:</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&lt;var&gt;.actual_type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lookup (&lt;var&gt;.string)</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sp>
        <p:nvSpPr>
          <p:cNvPr id="604" name="Google Shape;604;p28"/>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Attribute Grammars</a:t>
            </a:r>
            <a:r>
              <a:rPr b="0" i="0" lang="en-US" sz="3200" u="none" cap="none" strike="noStrike">
                <a:solidFill>
                  <a:srgbClr val="696464"/>
                </a:solidFill>
                <a:latin typeface="Libre Franklin"/>
                <a:ea typeface="Libre Franklin"/>
                <a:cs typeface="Libre Franklin"/>
                <a:sym typeface="Libre Franklin"/>
              </a:rPr>
              <a:t> (continued)</a:t>
            </a:r>
            <a:endParaRPr b="0" i="0" sz="3200" u="none" cap="none" strike="noStrike">
              <a:solidFill>
                <a:srgbClr val="000000"/>
              </a:solidFill>
              <a:latin typeface="Times New Roman"/>
              <a:ea typeface="Times New Roman"/>
              <a:cs typeface="Times New Roman"/>
              <a:sym typeface="Times New Roman"/>
            </a:endParaRPr>
          </a:p>
        </p:txBody>
      </p:sp>
      <p:sp>
        <p:nvSpPr>
          <p:cNvPr id="605" name="Google Shape;605;p28"/>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06" name="Google Shape;606;p28"/>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How are attribute values computed?</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If all attributes were inherited, the tree could be decorated in top-down order.</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If all attributes were synthesized, the tree could be decorated in bottom-up order.</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In many cases, both kinds of attributes are used, and it is some combination of top-down and bottom-up that must be used.</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1" name="Shape 611"/>
        <p:cNvGrpSpPr/>
        <p:nvPr/>
      </p:nvGrpSpPr>
      <p:grpSpPr>
        <a:xfrm>
          <a:off x="0" y="0"/>
          <a:ext cx="0" cy="0"/>
          <a:chOff x="0" y="0"/>
          <a:chExt cx="0" cy="0"/>
        </a:xfrm>
      </p:grpSpPr>
      <p:sp>
        <p:nvSpPr>
          <p:cNvPr id="612" name="Google Shape;612;p29"/>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Attribute Grammars</a:t>
            </a:r>
            <a:r>
              <a:rPr b="0" i="0" lang="en-US" sz="3200" u="none" cap="none" strike="noStrike">
                <a:solidFill>
                  <a:srgbClr val="696464"/>
                </a:solidFill>
                <a:latin typeface="Libre Franklin"/>
                <a:ea typeface="Libre Franklin"/>
                <a:cs typeface="Libre Franklin"/>
                <a:sym typeface="Libre Franklin"/>
              </a:rPr>
              <a:t> (continued)</a:t>
            </a:r>
            <a:endParaRPr b="0" i="0" sz="3200" u="none" cap="none" strike="noStrike">
              <a:solidFill>
                <a:srgbClr val="000000"/>
              </a:solidFill>
              <a:latin typeface="Times New Roman"/>
              <a:ea typeface="Times New Roman"/>
              <a:cs typeface="Times New Roman"/>
              <a:sym typeface="Times New Roman"/>
            </a:endParaRPr>
          </a:p>
        </p:txBody>
      </p:sp>
      <p:sp>
        <p:nvSpPr>
          <p:cNvPr id="613" name="Google Shape;613;p29"/>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14" name="Google Shape;614;p29"/>
          <p:cNvSpPr/>
          <p:nvPr/>
        </p:nvSpPr>
        <p:spPr>
          <a:xfrm>
            <a:off x="457200" y="1447920"/>
            <a:ext cx="868680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Courier New"/>
                <a:ea typeface="Courier New"/>
                <a:cs typeface="Courier New"/>
                <a:sym typeface="Courier New"/>
              </a:rPr>
              <a:t>&lt;expr&gt;.expected_type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inherited from parent</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&lt;var&gt;[1].actual_type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lookup (A)</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&lt;var&gt;[2].actual_type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lookup (B)</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&lt;var&gt;[1].actual_type =? &lt;var&gt;[2].actual_type</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&lt;expr&gt;.actual_type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Courier New"/>
                <a:ea typeface="Courier New"/>
                <a:cs typeface="Courier New"/>
                <a:sym typeface="Courier New"/>
              </a:rPr>
              <a:t> &lt;var&gt;[1].actual_type</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&lt;expr&gt;.actual_type =? &lt;expr&gt;.expected_type</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9" name="Shape 619"/>
        <p:cNvGrpSpPr/>
        <p:nvPr/>
      </p:nvGrpSpPr>
      <p:grpSpPr>
        <a:xfrm>
          <a:off x="0" y="0"/>
          <a:ext cx="0" cy="0"/>
          <a:chOff x="0" y="0"/>
          <a:chExt cx="0" cy="0"/>
        </a:xfrm>
      </p:grpSpPr>
      <p:sp>
        <p:nvSpPr>
          <p:cNvPr id="620" name="Google Shape;620;p30"/>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Semantics</a:t>
            </a:r>
            <a:endParaRPr b="0" i="0" sz="4000" u="none" cap="none" strike="noStrike">
              <a:solidFill>
                <a:srgbClr val="000000"/>
              </a:solidFill>
              <a:latin typeface="Times New Roman"/>
              <a:ea typeface="Times New Roman"/>
              <a:cs typeface="Times New Roman"/>
              <a:sym typeface="Times New Roman"/>
            </a:endParaRPr>
          </a:p>
        </p:txBody>
      </p:sp>
      <p:sp>
        <p:nvSpPr>
          <p:cNvPr id="621" name="Google Shape;621;p30"/>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22" name="Google Shape;622;p30"/>
          <p:cNvSpPr/>
          <p:nvPr/>
        </p:nvSpPr>
        <p:spPr>
          <a:xfrm>
            <a:off x="609480" y="1447920"/>
            <a:ext cx="815364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There is no single widely acceptable notation or formalism for describing semantics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Several needs for a methodology and notation for semantics: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Programmers need to know what statements mean</a:t>
            </a:r>
            <a:endParaRPr b="0" i="0" sz="20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Compiler writers must know exactly what language constructs do</a:t>
            </a:r>
            <a:endParaRPr b="0" i="0" sz="20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Correctness proofs would be possible</a:t>
            </a:r>
            <a:endParaRPr b="0" i="0" sz="20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Compiler generators would be possible</a:t>
            </a:r>
            <a:endParaRPr b="0" i="0" sz="20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1700"/>
              <a:buFont typeface="Noto Sans Symbols"/>
              <a:buChar char="⚫"/>
            </a:pPr>
            <a:r>
              <a:rPr b="0" i="0" lang="en-US" sz="2000" u="none" cap="none" strike="noStrike">
                <a:solidFill>
                  <a:srgbClr val="000000"/>
                </a:solidFill>
                <a:latin typeface="Libre Baskerville"/>
                <a:ea typeface="Libre Baskerville"/>
                <a:cs typeface="Libre Baskerville"/>
                <a:sym typeface="Libre Baskerville"/>
              </a:rPr>
              <a:t>Designers could detect ambiguities and inconsistencies</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6" name="Shape 626"/>
        <p:cNvGrpSpPr/>
        <p:nvPr/>
      </p:nvGrpSpPr>
      <p:grpSpPr>
        <a:xfrm>
          <a:off x="0" y="0"/>
          <a:ext cx="0" cy="0"/>
          <a:chOff x="0" y="0"/>
          <a:chExt cx="0" cy="0"/>
        </a:xfrm>
      </p:grpSpPr>
      <p:sp>
        <p:nvSpPr>
          <p:cNvPr id="627" name="Google Shape;627;p31"/>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600" u="none" cap="none" strike="noStrike">
                <a:solidFill>
                  <a:srgbClr val="696464"/>
                </a:solidFill>
                <a:latin typeface="Libre Franklin"/>
                <a:ea typeface="Libre Franklin"/>
                <a:cs typeface="Libre Franklin"/>
                <a:sym typeface="Libre Franklin"/>
              </a:rPr>
              <a:t>Operational Semantics</a:t>
            </a:r>
            <a:br>
              <a:rPr b="0" i="0" lang="en-US" sz="1800" u="none" cap="none" strike="noStrike">
                <a:latin typeface="Arial"/>
                <a:ea typeface="Arial"/>
                <a:cs typeface="Arial"/>
                <a:sym typeface="Arial"/>
              </a:rPr>
            </a:br>
            <a:endParaRPr b="0" i="0" sz="3600" u="none" cap="none" strike="noStrike">
              <a:solidFill>
                <a:srgbClr val="000000"/>
              </a:solidFill>
              <a:latin typeface="Times New Roman"/>
              <a:ea typeface="Times New Roman"/>
              <a:cs typeface="Times New Roman"/>
              <a:sym typeface="Times New Roman"/>
            </a:endParaRPr>
          </a:p>
        </p:txBody>
      </p:sp>
      <p:sp>
        <p:nvSpPr>
          <p:cNvPr id="628" name="Google Shape;628;p31"/>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29" name="Google Shape;629;p31"/>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Operational Semantics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Describe the meaning of a program by executing its statements on a machine, either simulated or actual.  The change in the state of the machine (memory, registers, etc.) defines the meaning of the statement</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333399"/>
                </a:solidFill>
                <a:latin typeface="Libre Baskerville"/>
                <a:ea typeface="Libre Baskerville"/>
                <a:cs typeface="Libre Baskerville"/>
                <a:sym typeface="Libre Baskerville"/>
              </a:rPr>
              <a:t>To use operational semantics for a high-level language, an intermediate language could be introduced which should be easy to understand and self descriptive.</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333399"/>
                </a:solidFill>
                <a:latin typeface="Libre Baskerville"/>
                <a:ea typeface="Libre Baskerville"/>
                <a:cs typeface="Libre Baskerville"/>
                <a:sym typeface="Libre Baskerville"/>
              </a:rPr>
              <a:t>a virtual machine could be implemented for the intermediate language as well.</a:t>
            </a:r>
            <a:endParaRPr b="0" i="0" sz="2400" u="none" cap="none" strike="noStrike">
              <a:solidFill>
                <a:srgbClr val="000000"/>
              </a:solidFill>
              <a:latin typeface="Times New Roman"/>
              <a:ea typeface="Times New Roman"/>
              <a:cs typeface="Times New Roman"/>
              <a:sym typeface="Times New Roman"/>
            </a:endParaRPr>
          </a:p>
          <a:p>
            <a:pPr indent="-227160" lvl="1" marL="547560" marR="0" rtl="0" algn="l">
              <a:lnSpc>
                <a:spcPct val="100000"/>
              </a:lnSpc>
              <a:spcBef>
                <a:spcPts val="374"/>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4" name="Shape 634"/>
        <p:cNvGrpSpPr/>
        <p:nvPr/>
      </p:nvGrpSpPr>
      <p:grpSpPr>
        <a:xfrm>
          <a:off x="0" y="0"/>
          <a:ext cx="0" cy="0"/>
          <a:chOff x="0" y="0"/>
          <a:chExt cx="0" cy="0"/>
        </a:xfrm>
      </p:grpSpPr>
      <p:sp>
        <p:nvSpPr>
          <p:cNvPr id="635" name="Google Shape;635;p32"/>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Operational Semantics</a:t>
            </a:r>
            <a:endParaRPr b="0" i="0" sz="4000" u="none" cap="none" strike="noStrike">
              <a:solidFill>
                <a:srgbClr val="000000"/>
              </a:solidFill>
              <a:latin typeface="Times New Roman"/>
              <a:ea typeface="Times New Roman"/>
              <a:cs typeface="Times New Roman"/>
              <a:sym typeface="Times New Roman"/>
            </a:endParaRPr>
          </a:p>
        </p:txBody>
      </p:sp>
      <p:sp>
        <p:nvSpPr>
          <p:cNvPr id="636" name="Google Shape;636;p32"/>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37" name="Google Shape;637;p32"/>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There are different levels of uses of operational semantics:	</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At the highest level, the final result of the program execution is of interest: Natural Operational Semantics</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At the lowest level, the complete sequence of state changes (caused by execution of each instruction) is of interest: Natural Operational Semantics</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See the example in page 142</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2" name="Shape 642"/>
        <p:cNvGrpSpPr/>
        <p:nvPr/>
      </p:nvGrpSpPr>
      <p:grpSpPr>
        <a:xfrm>
          <a:off x="0" y="0"/>
          <a:ext cx="0" cy="0"/>
          <a:chOff x="0" y="0"/>
          <a:chExt cx="0" cy="0"/>
        </a:xfrm>
      </p:grpSpPr>
      <p:sp>
        <p:nvSpPr>
          <p:cNvPr id="643" name="Google Shape;643;p33"/>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Operational Semantics (continued)</a:t>
            </a:r>
            <a:endParaRPr b="0" i="0" sz="4000" u="none" cap="none" strike="noStrike">
              <a:solidFill>
                <a:srgbClr val="000000"/>
              </a:solidFill>
              <a:latin typeface="Times New Roman"/>
              <a:ea typeface="Times New Roman"/>
              <a:cs typeface="Times New Roman"/>
              <a:sym typeface="Times New Roman"/>
            </a:endParaRPr>
          </a:p>
        </p:txBody>
      </p:sp>
      <p:sp>
        <p:nvSpPr>
          <p:cNvPr id="644" name="Google Shape;644;p33"/>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45" name="Google Shape;645;p33"/>
          <p:cNvSpPr/>
          <p:nvPr/>
        </p:nvSpPr>
        <p:spPr>
          <a:xfrm>
            <a:off x="609480" y="1295280"/>
            <a:ext cx="8153640" cy="5029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90000"/>
              </a:lnSpc>
              <a:spcBef>
                <a:spcPts val="0"/>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Uses of operational semantics:</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 Language manuals and textbooks</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 Teaching programming languages</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Two different levels of uses of operational semantics:</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 Natural operational semantics</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 Structural operational semantics</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Evaluation</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 Good if used informally (language manuals, etc.)</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 Extremely complex if used formally  (e.g.,VDL)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sp>
        <p:nvSpPr>
          <p:cNvPr id="650" name="Google Shape;650;p34"/>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Denotational Semantics</a:t>
            </a:r>
            <a:endParaRPr b="0" i="0" sz="4000" u="none" cap="none" strike="noStrike">
              <a:solidFill>
                <a:srgbClr val="000000"/>
              </a:solidFill>
              <a:latin typeface="Times New Roman"/>
              <a:ea typeface="Times New Roman"/>
              <a:cs typeface="Times New Roman"/>
              <a:sym typeface="Times New Roman"/>
            </a:endParaRPr>
          </a:p>
        </p:txBody>
      </p:sp>
      <p:sp>
        <p:nvSpPr>
          <p:cNvPr id="651" name="Google Shape;651;p34"/>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52" name="Google Shape;652;p34"/>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Based on recursive function theory</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most abstract semantics description method</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Originally developed by Scott and Strachey (1970)</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6" name="Shape 656"/>
        <p:cNvGrpSpPr/>
        <p:nvPr/>
      </p:nvGrpSpPr>
      <p:grpSpPr>
        <a:xfrm>
          <a:off x="0" y="0"/>
          <a:ext cx="0" cy="0"/>
          <a:chOff x="0" y="0"/>
          <a:chExt cx="0" cy="0"/>
        </a:xfrm>
      </p:grpSpPr>
      <p:sp>
        <p:nvSpPr>
          <p:cNvPr id="657" name="Google Shape;657;p35"/>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600" u="none" cap="none" strike="noStrike">
                <a:solidFill>
                  <a:srgbClr val="696464"/>
                </a:solidFill>
                <a:latin typeface="Libre Franklin"/>
                <a:ea typeface="Libre Franklin"/>
                <a:cs typeface="Libre Franklin"/>
                <a:sym typeface="Libre Franklin"/>
              </a:rPr>
              <a:t>Denotational Semantics (continued)</a:t>
            </a:r>
            <a:endParaRPr b="0" i="0" sz="3600" u="none" cap="none" strike="noStrike">
              <a:solidFill>
                <a:srgbClr val="000000"/>
              </a:solidFill>
              <a:latin typeface="Times New Roman"/>
              <a:ea typeface="Times New Roman"/>
              <a:cs typeface="Times New Roman"/>
              <a:sym typeface="Times New Roman"/>
            </a:endParaRPr>
          </a:p>
        </p:txBody>
      </p:sp>
      <p:sp>
        <p:nvSpPr>
          <p:cNvPr id="658" name="Google Shape;658;p35"/>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59" name="Google Shape;659;p35"/>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process of building a denotational specification for a language Define a mathematical object for each language entity</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Define a function that maps instances of the language entities onto instances of the corresponding mathematical objects</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meaning of language constructs are defined by only the values of the program's variables</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3" name="Shape 663"/>
        <p:cNvGrpSpPr/>
        <p:nvPr/>
      </p:nvGrpSpPr>
      <p:grpSpPr>
        <a:xfrm>
          <a:off x="0" y="0"/>
          <a:ext cx="0" cy="0"/>
          <a:chOff x="0" y="0"/>
          <a:chExt cx="0" cy="0"/>
        </a:xfrm>
      </p:grpSpPr>
      <p:sp>
        <p:nvSpPr>
          <p:cNvPr id="664" name="Google Shape;664;p36"/>
          <p:cNvSpPr/>
          <p:nvPr/>
        </p:nvSpPr>
        <p:spPr>
          <a:xfrm>
            <a:off x="533520" y="228600"/>
            <a:ext cx="815328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200" u="none" cap="none" strike="noStrike">
                <a:solidFill>
                  <a:srgbClr val="696464"/>
                </a:solidFill>
                <a:latin typeface="Libre Franklin"/>
                <a:ea typeface="Libre Franklin"/>
                <a:cs typeface="Libre Franklin"/>
                <a:sym typeface="Libre Franklin"/>
              </a:rPr>
              <a:t>Denotation Semantics vs Operational Semantics</a:t>
            </a:r>
            <a:endParaRPr b="0" i="0" sz="3200" u="none" cap="none" strike="noStrike">
              <a:solidFill>
                <a:srgbClr val="000000"/>
              </a:solidFill>
              <a:latin typeface="Times New Roman"/>
              <a:ea typeface="Times New Roman"/>
              <a:cs typeface="Times New Roman"/>
              <a:sym typeface="Times New Roman"/>
            </a:endParaRPr>
          </a:p>
        </p:txBody>
      </p:sp>
      <p:sp>
        <p:nvSpPr>
          <p:cNvPr id="665" name="Google Shape;665;p36"/>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66" name="Google Shape;666;p36"/>
          <p:cNvSpPr/>
          <p:nvPr/>
        </p:nvSpPr>
        <p:spPr>
          <a:xfrm>
            <a:off x="533520" y="1447920"/>
            <a:ext cx="815328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In operational semantics, the state changes are defined by coded algorithms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In denotational semantics, the state changes are defined by rigorous mathematical functions</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0" name="Shape 670"/>
        <p:cNvGrpSpPr/>
        <p:nvPr/>
      </p:nvGrpSpPr>
      <p:grpSpPr>
        <a:xfrm>
          <a:off x="0" y="0"/>
          <a:ext cx="0" cy="0"/>
          <a:chOff x="0" y="0"/>
          <a:chExt cx="0" cy="0"/>
        </a:xfrm>
      </p:grpSpPr>
      <p:sp>
        <p:nvSpPr>
          <p:cNvPr id="671" name="Google Shape;671;p37"/>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200" u="none" cap="none" strike="noStrike">
                <a:solidFill>
                  <a:srgbClr val="696464"/>
                </a:solidFill>
                <a:latin typeface="Libre Franklin"/>
                <a:ea typeface="Libre Franklin"/>
                <a:cs typeface="Libre Franklin"/>
                <a:sym typeface="Libre Franklin"/>
              </a:rPr>
              <a:t>Denotational Semantics: Program State</a:t>
            </a:r>
            <a:endParaRPr b="0" i="0" sz="3200" u="none" cap="none" strike="noStrike">
              <a:solidFill>
                <a:srgbClr val="000000"/>
              </a:solidFill>
              <a:latin typeface="Times New Roman"/>
              <a:ea typeface="Times New Roman"/>
              <a:cs typeface="Times New Roman"/>
              <a:sym typeface="Times New Roman"/>
            </a:endParaRPr>
          </a:p>
        </p:txBody>
      </p:sp>
      <p:sp>
        <p:nvSpPr>
          <p:cNvPr id="672" name="Google Shape;672;p37"/>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73" name="Google Shape;673;p37"/>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state of a program is the values of all its current variables</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Courier New"/>
                <a:ea typeface="Courier New"/>
                <a:cs typeface="Courier New"/>
                <a:sym typeface="Courier New"/>
              </a:rPr>
              <a:t>      s = {&lt;i</a:t>
            </a:r>
            <a:r>
              <a:rPr b="0" baseline="-25000" i="0" lang="en-US" sz="2400" u="none" cap="none" strike="noStrike">
                <a:solidFill>
                  <a:srgbClr val="000000"/>
                </a:solidFill>
                <a:latin typeface="Courier New"/>
                <a:ea typeface="Courier New"/>
                <a:cs typeface="Courier New"/>
                <a:sym typeface="Courier New"/>
              </a:rPr>
              <a:t>1</a:t>
            </a:r>
            <a:r>
              <a:rPr b="0" i="0" lang="en-US" sz="2400" u="none" cap="none" strike="noStrike">
                <a:solidFill>
                  <a:srgbClr val="000000"/>
                </a:solidFill>
                <a:latin typeface="Courier New"/>
                <a:ea typeface="Courier New"/>
                <a:cs typeface="Courier New"/>
                <a:sym typeface="Courier New"/>
              </a:rPr>
              <a:t>, v</a:t>
            </a:r>
            <a:r>
              <a:rPr b="0" baseline="-25000" i="0" lang="en-US" sz="2400" u="none" cap="none" strike="noStrike">
                <a:solidFill>
                  <a:srgbClr val="000000"/>
                </a:solidFill>
                <a:latin typeface="Courier New"/>
                <a:ea typeface="Courier New"/>
                <a:cs typeface="Courier New"/>
                <a:sym typeface="Courier New"/>
              </a:rPr>
              <a:t>1</a:t>
            </a:r>
            <a:r>
              <a:rPr b="0" i="0" lang="en-US" sz="2400" u="none" cap="none" strike="noStrike">
                <a:solidFill>
                  <a:srgbClr val="000000"/>
                </a:solidFill>
                <a:latin typeface="Courier New"/>
                <a:ea typeface="Courier New"/>
                <a:cs typeface="Courier New"/>
                <a:sym typeface="Courier New"/>
              </a:rPr>
              <a:t>&gt;, &lt;i</a:t>
            </a:r>
            <a:r>
              <a:rPr b="0" baseline="-25000" i="0" lang="en-US" sz="2400" u="none" cap="none" strike="noStrike">
                <a:solidFill>
                  <a:srgbClr val="000000"/>
                </a:solidFill>
                <a:latin typeface="Courier New"/>
                <a:ea typeface="Courier New"/>
                <a:cs typeface="Courier New"/>
                <a:sym typeface="Courier New"/>
              </a:rPr>
              <a:t>2</a:t>
            </a:r>
            <a:r>
              <a:rPr b="0" i="0" lang="en-US" sz="2400" u="none" cap="none" strike="noStrike">
                <a:solidFill>
                  <a:srgbClr val="000000"/>
                </a:solidFill>
                <a:latin typeface="Courier New"/>
                <a:ea typeface="Courier New"/>
                <a:cs typeface="Courier New"/>
                <a:sym typeface="Courier New"/>
              </a:rPr>
              <a:t>, v</a:t>
            </a:r>
            <a:r>
              <a:rPr b="0" baseline="-25000" i="0" lang="en-US" sz="2400" u="none" cap="none" strike="noStrike">
                <a:solidFill>
                  <a:srgbClr val="000000"/>
                </a:solidFill>
                <a:latin typeface="Courier New"/>
                <a:ea typeface="Courier New"/>
                <a:cs typeface="Courier New"/>
                <a:sym typeface="Courier New"/>
              </a:rPr>
              <a:t>2</a:t>
            </a:r>
            <a:r>
              <a:rPr b="0" i="0" lang="en-US" sz="2400" u="none" cap="none" strike="noStrike">
                <a:solidFill>
                  <a:srgbClr val="000000"/>
                </a:solidFill>
                <a:latin typeface="Courier New"/>
                <a:ea typeface="Courier New"/>
                <a:cs typeface="Courier New"/>
                <a:sym typeface="Courier New"/>
              </a:rPr>
              <a:t>&gt;, …, &lt;i</a:t>
            </a:r>
            <a:r>
              <a:rPr b="0" baseline="-25000" i="0" lang="en-US" sz="2400" u="none" cap="none" strike="noStrike">
                <a:solidFill>
                  <a:srgbClr val="000000"/>
                </a:solidFill>
                <a:latin typeface="Courier New"/>
                <a:ea typeface="Courier New"/>
                <a:cs typeface="Courier New"/>
                <a:sym typeface="Courier New"/>
              </a:rPr>
              <a:t>n</a:t>
            </a:r>
            <a:r>
              <a:rPr b="0" i="0" lang="en-US" sz="2400" u="none" cap="none" strike="noStrike">
                <a:solidFill>
                  <a:srgbClr val="000000"/>
                </a:solidFill>
                <a:latin typeface="Courier New"/>
                <a:ea typeface="Courier New"/>
                <a:cs typeface="Courier New"/>
                <a:sym typeface="Courier New"/>
              </a:rPr>
              <a:t>, v</a:t>
            </a:r>
            <a:r>
              <a:rPr b="0" baseline="-25000" i="0" lang="en-US" sz="2400" u="none" cap="none" strike="noStrike">
                <a:solidFill>
                  <a:srgbClr val="000000"/>
                </a:solidFill>
                <a:latin typeface="Courier New"/>
                <a:ea typeface="Courier New"/>
                <a:cs typeface="Courier New"/>
                <a:sym typeface="Courier New"/>
              </a:rPr>
              <a:t>n</a:t>
            </a:r>
            <a:r>
              <a:rPr b="0" i="0" lang="en-US" sz="2400" u="none" cap="none" strike="noStrike">
                <a:solidFill>
                  <a:srgbClr val="000000"/>
                </a:solidFill>
                <a:latin typeface="Courier New"/>
                <a:ea typeface="Courier New"/>
                <a:cs typeface="Courier New"/>
                <a:sym typeface="Courier New"/>
              </a:rPr>
              <a:t>&gt;}</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Let </a:t>
            </a:r>
            <a:r>
              <a:rPr b="1" i="0" lang="en-US" sz="2600" u="none" cap="none" strike="noStrike">
                <a:solidFill>
                  <a:srgbClr val="000000"/>
                </a:solidFill>
                <a:latin typeface="Arial"/>
                <a:ea typeface="Arial"/>
                <a:cs typeface="Arial"/>
                <a:sym typeface="Arial"/>
              </a:rPr>
              <a:t>VARMAP</a:t>
            </a:r>
            <a:r>
              <a:rPr b="0" i="0" lang="en-US" sz="2600" u="none" cap="none" strike="noStrike">
                <a:solidFill>
                  <a:srgbClr val="000000"/>
                </a:solidFill>
                <a:latin typeface="Libre Baskerville"/>
                <a:ea typeface="Libre Baskerville"/>
                <a:cs typeface="Libre Baskerville"/>
                <a:sym typeface="Libre Baskerville"/>
              </a:rPr>
              <a:t> be a function that, when given a variable name and a state, returns the current value of the variable</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600" u="none" cap="none" strike="noStrike">
                <a:solidFill>
                  <a:srgbClr val="000000"/>
                </a:solidFill>
                <a:latin typeface="Libre Baskerville"/>
                <a:ea typeface="Libre Baskerville"/>
                <a:cs typeface="Libre Baskerville"/>
                <a:sym typeface="Libre Baskerville"/>
              </a:rPr>
              <a:t>         </a:t>
            </a:r>
            <a:r>
              <a:rPr b="0" i="0" lang="en-US" sz="2600" u="none" cap="none" strike="noStrike">
                <a:solidFill>
                  <a:srgbClr val="000000"/>
                </a:solidFill>
                <a:latin typeface="Courier New"/>
                <a:ea typeface="Courier New"/>
                <a:cs typeface="Courier New"/>
                <a:sym typeface="Courier New"/>
              </a:rPr>
              <a:t>VARMAP(i</a:t>
            </a:r>
            <a:r>
              <a:rPr b="0" baseline="-25000" i="0" lang="en-US" sz="2600" u="none" cap="none" strike="noStrike">
                <a:solidFill>
                  <a:srgbClr val="000000"/>
                </a:solidFill>
                <a:latin typeface="Courier New"/>
                <a:ea typeface="Courier New"/>
                <a:cs typeface="Courier New"/>
                <a:sym typeface="Courier New"/>
              </a:rPr>
              <a:t>j</a:t>
            </a:r>
            <a:r>
              <a:rPr b="0" i="0" lang="en-US" sz="2600" u="none" cap="none" strike="noStrike">
                <a:solidFill>
                  <a:srgbClr val="000000"/>
                </a:solidFill>
                <a:latin typeface="Courier New"/>
                <a:ea typeface="Courier New"/>
                <a:cs typeface="Courier New"/>
                <a:sym typeface="Courier New"/>
              </a:rPr>
              <a:t>, s) = v</a:t>
            </a:r>
            <a:r>
              <a:rPr b="0" baseline="-25000" i="0" lang="en-US" sz="2600" u="none" cap="none" strike="noStrike">
                <a:solidFill>
                  <a:srgbClr val="000000"/>
                </a:solidFill>
                <a:latin typeface="Courier New"/>
                <a:ea typeface="Courier New"/>
                <a:cs typeface="Courier New"/>
                <a:sym typeface="Courier New"/>
              </a:rPr>
              <a:t>j</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7" name="Shape 677"/>
        <p:cNvGrpSpPr/>
        <p:nvPr/>
      </p:nvGrpSpPr>
      <p:grpSpPr>
        <a:xfrm>
          <a:off x="0" y="0"/>
          <a:ext cx="0" cy="0"/>
          <a:chOff x="0" y="0"/>
          <a:chExt cx="0" cy="0"/>
        </a:xfrm>
      </p:grpSpPr>
      <p:sp>
        <p:nvSpPr>
          <p:cNvPr id="678" name="Google Shape;678;p38"/>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Decimal Numbers</a:t>
            </a:r>
            <a:endParaRPr b="0" i="0" sz="4000" u="none" cap="none" strike="noStrike">
              <a:solidFill>
                <a:srgbClr val="000000"/>
              </a:solidFill>
              <a:latin typeface="Times New Roman"/>
              <a:ea typeface="Times New Roman"/>
              <a:cs typeface="Times New Roman"/>
              <a:sym typeface="Times New Roman"/>
            </a:endParaRPr>
          </a:p>
        </p:txBody>
      </p:sp>
      <p:sp>
        <p:nvSpPr>
          <p:cNvPr id="679" name="Google Shape;679;p38"/>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80" name="Google Shape;680;p38"/>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2880" marR="0" rtl="0" algn="l">
              <a:lnSpc>
                <a:spcPct val="90000"/>
              </a:lnSpc>
              <a:spcBef>
                <a:spcPts val="0"/>
              </a:spcBef>
              <a:spcAft>
                <a:spcPts val="0"/>
              </a:spcAft>
              <a:buNone/>
            </a:pPr>
            <a:r>
              <a:rPr b="0" i="0" lang="en-US" sz="2000" u="none" cap="none" strike="noStrike">
                <a:solidFill>
                  <a:srgbClr val="000000"/>
                </a:solidFill>
                <a:latin typeface="Courier New"/>
                <a:ea typeface="Courier New"/>
                <a:cs typeface="Courier New"/>
                <a:sym typeface="Courier New"/>
              </a:rPr>
              <a:t>&lt;dec_num&gt; </a:t>
            </a:r>
            <a:r>
              <a:rPr b="0" i="0" lang="en-US" sz="2000" u="none" cap="none" strike="noStrike">
                <a:solidFill>
                  <a:srgbClr val="000000"/>
                </a:solidFill>
                <a:latin typeface="Noto Sans Symbols"/>
                <a:ea typeface="Noto Sans Symbols"/>
                <a:cs typeface="Noto Sans Symbols"/>
                <a:sym typeface="Noto Sans Symbols"/>
              </a:rPr>
              <a:t>→</a:t>
            </a:r>
            <a:r>
              <a:rPr b="0" i="0" lang="en-US" sz="2000" u="none" cap="none" strike="noStrike">
                <a:solidFill>
                  <a:srgbClr val="000000"/>
                </a:solidFill>
                <a:latin typeface="Courier New"/>
                <a:ea typeface="Courier New"/>
                <a:cs typeface="Courier New"/>
                <a:sym typeface="Courier New"/>
              </a:rPr>
              <a:t>  0 | 1 | 2 | 3 | 4 | 5 | 6 | 7 | 8 | 9| &lt;dec_num&gt; (0 | 1 | 2 | 3 | 4 |                                            5 | 6 | 7 | 8 | 9)</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('0') = 0,  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 ('1') = 1, …,  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 ('9') = 9</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 (&lt;dec_num&gt; '0') = 10 * 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 (&lt;dec_num&gt;)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 (&lt;dec_num&gt; '1’) = 10 * 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 (&lt;dec_num&gt;) + 1</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 (&lt;dec_num&gt; '9') = 10 * M</a:t>
            </a:r>
            <a:r>
              <a:rPr b="0" baseline="-25000" i="0" lang="en-US" sz="2000" u="none" cap="none" strike="noStrike">
                <a:solidFill>
                  <a:srgbClr val="000000"/>
                </a:solidFill>
                <a:latin typeface="Courier New"/>
                <a:ea typeface="Courier New"/>
                <a:cs typeface="Courier New"/>
                <a:sym typeface="Courier New"/>
              </a:rPr>
              <a:t>dec</a:t>
            </a:r>
            <a:r>
              <a:rPr b="0" i="0" lang="en-US" sz="2000" u="none" cap="none" strike="noStrike">
                <a:solidFill>
                  <a:srgbClr val="000000"/>
                </a:solidFill>
                <a:latin typeface="Courier New"/>
                <a:ea typeface="Courier New"/>
                <a:cs typeface="Courier New"/>
                <a:sym typeface="Courier New"/>
              </a:rPr>
              <a:t> (&lt;dec_num&gt;) + 9</a:t>
            </a:r>
            <a:endParaRPr b="0" i="0" sz="20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4" name="Shape 684"/>
        <p:cNvGrpSpPr/>
        <p:nvPr/>
      </p:nvGrpSpPr>
      <p:grpSpPr>
        <a:xfrm>
          <a:off x="0" y="0"/>
          <a:ext cx="0" cy="0"/>
          <a:chOff x="0" y="0"/>
          <a:chExt cx="0" cy="0"/>
        </a:xfrm>
      </p:grpSpPr>
      <p:sp>
        <p:nvSpPr>
          <p:cNvPr id="685" name="Google Shape;685;p39"/>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Expressions</a:t>
            </a:r>
            <a:endParaRPr b="0" i="0" sz="4000" u="none" cap="none" strike="noStrike">
              <a:solidFill>
                <a:srgbClr val="000000"/>
              </a:solidFill>
              <a:latin typeface="Times New Roman"/>
              <a:ea typeface="Times New Roman"/>
              <a:cs typeface="Times New Roman"/>
              <a:sym typeface="Times New Roman"/>
            </a:endParaRPr>
          </a:p>
        </p:txBody>
      </p:sp>
      <p:sp>
        <p:nvSpPr>
          <p:cNvPr id="686" name="Google Shape;686;p39"/>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87" name="Google Shape;687;p39"/>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Map expressions onto Z  </a:t>
            </a:r>
            <a:r>
              <a:rPr b="0" i="0" lang="en-US" sz="2600" u="none" cap="none" strike="noStrike">
                <a:solidFill>
                  <a:srgbClr val="000000"/>
                </a:solidFill>
                <a:latin typeface="Noto Sans Symbols"/>
                <a:ea typeface="Noto Sans Symbols"/>
                <a:cs typeface="Noto Sans Symbols"/>
                <a:sym typeface="Noto Sans Symbols"/>
              </a:rPr>
              <a:t>∪</a:t>
            </a:r>
            <a:r>
              <a:rPr b="0" i="0" lang="en-US" sz="2600" u="none" cap="none" strike="noStrike">
                <a:solidFill>
                  <a:srgbClr val="000000"/>
                </a:solidFill>
                <a:latin typeface="Libre Baskerville"/>
                <a:ea typeface="Libre Baskerville"/>
                <a:cs typeface="Libre Baskerville"/>
                <a:sym typeface="Libre Baskerville"/>
              </a:rPr>
              <a:t> {error}</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We assume expressions are decimal numbers, variables, or binary expressions having one arithmetic operator and two operands, each of which can be an expression</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1600" u="none" cap="none" strike="noStrike">
                <a:solidFill>
                  <a:srgbClr val="000000"/>
                </a:solidFill>
                <a:latin typeface="Libre Baskerville"/>
                <a:ea typeface="Libre Baskerville"/>
                <a:cs typeface="Libre Baskerville"/>
                <a:sym typeface="Libre Baskerville"/>
              </a:rPr>
              <a:t>&lt;expr&gt;</a:t>
            </a:r>
            <a:r>
              <a:rPr b="0" i="0" lang="en-US" sz="1600" u="none" cap="none" strike="noStrike">
                <a:solidFill>
                  <a:srgbClr val="000000"/>
                </a:solidFill>
                <a:latin typeface="Noto Sans Symbols"/>
                <a:ea typeface="Noto Sans Symbols"/>
                <a:cs typeface="Noto Sans Symbols"/>
                <a:sym typeface="Noto Sans Symbols"/>
              </a:rPr>
              <a:t>🡪</a:t>
            </a:r>
            <a:r>
              <a:rPr b="0" i="0" lang="en-US" sz="1600" u="none" cap="none" strike="noStrike">
                <a:solidFill>
                  <a:srgbClr val="000000"/>
                </a:solidFill>
                <a:latin typeface="Libre Baskerville"/>
                <a:ea typeface="Libre Baskerville"/>
                <a:cs typeface="Libre Baskerville"/>
                <a:sym typeface="Libre Baskerville"/>
              </a:rPr>
              <a:t> &lt;dec_num&gt;|&lt;var&gt;|&lt;binary_expr&gt;</a:t>
            </a:r>
            <a:endParaRPr b="0" i="0" sz="1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1600" u="none" cap="none" strike="noStrike">
                <a:solidFill>
                  <a:srgbClr val="000000"/>
                </a:solidFill>
                <a:latin typeface="Libre Baskerville"/>
                <a:ea typeface="Libre Baskerville"/>
                <a:cs typeface="Libre Baskerville"/>
                <a:sym typeface="Libre Baskerville"/>
              </a:rPr>
              <a:t>&lt;Binary_expr&gt;</a:t>
            </a:r>
            <a:r>
              <a:rPr b="0" i="0" lang="en-US" sz="1600" u="none" cap="none" strike="noStrike">
                <a:solidFill>
                  <a:srgbClr val="000000"/>
                </a:solidFill>
                <a:latin typeface="Noto Sans Symbols"/>
                <a:ea typeface="Noto Sans Symbols"/>
                <a:cs typeface="Noto Sans Symbols"/>
                <a:sym typeface="Noto Sans Symbols"/>
              </a:rPr>
              <a:t>🡪</a:t>
            </a:r>
            <a:r>
              <a:rPr b="0" i="0" lang="en-US" sz="1600" u="none" cap="none" strike="noStrike">
                <a:solidFill>
                  <a:srgbClr val="000000"/>
                </a:solidFill>
                <a:latin typeface="Libre Baskerville"/>
                <a:ea typeface="Libre Baskerville"/>
                <a:cs typeface="Libre Baskerville"/>
                <a:sym typeface="Libre Baskerville"/>
              </a:rPr>
              <a:t> &lt;left_expr&gt;&lt;operator&gt;&lt;right_expr&gt;</a:t>
            </a:r>
            <a:endParaRPr b="0" i="0" sz="1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1600" u="none" cap="none" strike="noStrike">
                <a:solidFill>
                  <a:srgbClr val="000000"/>
                </a:solidFill>
                <a:latin typeface="Libre Baskerville"/>
                <a:ea typeface="Libre Baskerville"/>
                <a:cs typeface="Libre Baskerville"/>
                <a:sym typeface="Libre Baskerville"/>
              </a:rPr>
              <a:t>&lt;left_expr&gt;</a:t>
            </a:r>
            <a:r>
              <a:rPr b="0" i="0" lang="en-US" sz="1600" u="none" cap="none" strike="noStrike">
                <a:solidFill>
                  <a:srgbClr val="000000"/>
                </a:solidFill>
                <a:latin typeface="Noto Sans Symbols"/>
                <a:ea typeface="Noto Sans Symbols"/>
                <a:cs typeface="Noto Sans Symbols"/>
                <a:sym typeface="Noto Sans Symbols"/>
              </a:rPr>
              <a:t>🡪</a:t>
            </a:r>
            <a:r>
              <a:rPr b="0" i="0" lang="en-US" sz="1600" u="none" cap="none" strike="noStrike">
                <a:solidFill>
                  <a:srgbClr val="000000"/>
                </a:solidFill>
                <a:latin typeface="Libre Baskerville"/>
                <a:ea typeface="Libre Baskerville"/>
                <a:cs typeface="Libre Baskerville"/>
                <a:sym typeface="Libre Baskerville"/>
              </a:rPr>
              <a:t> &lt;dec_num&gt;|&lt;var&gt;</a:t>
            </a:r>
            <a:endParaRPr b="0" i="0" sz="1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1600" u="none" cap="none" strike="noStrike">
                <a:solidFill>
                  <a:srgbClr val="000000"/>
                </a:solidFill>
                <a:latin typeface="Libre Baskerville"/>
                <a:ea typeface="Libre Baskerville"/>
                <a:cs typeface="Libre Baskerville"/>
                <a:sym typeface="Libre Baskerville"/>
              </a:rPr>
              <a:t>&lt;right_expr&gt;</a:t>
            </a:r>
            <a:r>
              <a:rPr b="0" i="0" lang="en-US" sz="1600" u="none" cap="none" strike="noStrike">
                <a:solidFill>
                  <a:srgbClr val="000000"/>
                </a:solidFill>
                <a:latin typeface="Noto Sans Symbols"/>
                <a:ea typeface="Noto Sans Symbols"/>
                <a:cs typeface="Noto Sans Symbols"/>
                <a:sym typeface="Noto Sans Symbols"/>
              </a:rPr>
              <a:t>🡪</a:t>
            </a:r>
            <a:r>
              <a:rPr b="0" i="0" lang="en-US" sz="1600" u="none" cap="none" strike="noStrike">
                <a:solidFill>
                  <a:srgbClr val="000000"/>
                </a:solidFill>
                <a:latin typeface="Libre Baskerville"/>
                <a:ea typeface="Libre Baskerville"/>
                <a:cs typeface="Libre Baskerville"/>
                <a:sym typeface="Libre Baskerville"/>
              </a:rPr>
              <a:t> &lt;dec_num&gt;|&lt;var&gt;</a:t>
            </a:r>
            <a:endParaRPr b="0" i="0" sz="1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1600" u="none" cap="none" strike="noStrike">
                <a:solidFill>
                  <a:srgbClr val="000000"/>
                </a:solidFill>
                <a:latin typeface="Libre Baskerville"/>
                <a:ea typeface="Libre Baskerville"/>
                <a:cs typeface="Libre Baskerville"/>
                <a:sym typeface="Libre Baskerville"/>
              </a:rPr>
              <a:t>&lt;operator&gt;</a:t>
            </a:r>
            <a:r>
              <a:rPr b="0" i="0" lang="en-US" sz="1600" u="none" cap="none" strike="noStrike">
                <a:solidFill>
                  <a:srgbClr val="000000"/>
                </a:solidFill>
                <a:latin typeface="Noto Sans Symbols"/>
                <a:ea typeface="Noto Sans Symbols"/>
                <a:cs typeface="Noto Sans Symbols"/>
                <a:sym typeface="Noto Sans Symbols"/>
              </a:rPr>
              <a:t>🡪</a:t>
            </a:r>
            <a:r>
              <a:rPr b="0" i="0" lang="en-US" sz="1600" u="none" cap="none" strike="noStrike">
                <a:solidFill>
                  <a:srgbClr val="000000"/>
                </a:solidFill>
                <a:latin typeface="Libre Baskerville"/>
                <a:ea typeface="Libre Baskerville"/>
                <a:cs typeface="Libre Baskerville"/>
                <a:sym typeface="Libre Baskerville"/>
              </a:rPr>
              <a:t>+|*</a:t>
            </a:r>
            <a:endParaRPr b="0" i="0" sz="1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t/>
            </a:r>
            <a:endParaRPr b="0" i="0" sz="1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t/>
            </a:r>
            <a:endParaRPr b="0" i="0" sz="1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t/>
            </a:r>
            <a:endParaRPr b="0" i="0" sz="1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1" name="Shape 691"/>
        <p:cNvGrpSpPr/>
        <p:nvPr/>
      </p:nvGrpSpPr>
      <p:grpSpPr>
        <a:xfrm>
          <a:off x="0" y="0"/>
          <a:ext cx="0" cy="0"/>
          <a:chOff x="0" y="0"/>
          <a:chExt cx="0" cy="0"/>
        </a:xfrm>
      </p:grpSpPr>
      <p:sp>
        <p:nvSpPr>
          <p:cNvPr id="692" name="Google Shape;692;p40"/>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3.5 Semantics</a:t>
            </a:r>
            <a:r>
              <a:rPr b="0" i="0" lang="en-US" sz="3200" u="none" cap="none" strike="noStrike">
                <a:solidFill>
                  <a:srgbClr val="696464"/>
                </a:solidFill>
                <a:latin typeface="Libre Franklin"/>
                <a:ea typeface="Libre Franklin"/>
                <a:cs typeface="Libre Franklin"/>
                <a:sym typeface="Libre Franklin"/>
              </a:rPr>
              <a:t> (cont.)</a:t>
            </a:r>
            <a:endParaRPr b="0" i="0" sz="3200" u="none" cap="none" strike="noStrike">
              <a:solidFill>
                <a:srgbClr val="000000"/>
              </a:solidFill>
              <a:latin typeface="Times New Roman"/>
              <a:ea typeface="Times New Roman"/>
              <a:cs typeface="Times New Roman"/>
              <a:sym typeface="Times New Roman"/>
            </a:endParaRPr>
          </a:p>
        </p:txBody>
      </p:sp>
      <p:sp>
        <p:nvSpPr>
          <p:cNvPr id="693" name="Google Shape;693;p40"/>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694" name="Google Shape;694;p40"/>
          <p:cNvSpPr/>
          <p:nvPr/>
        </p:nvSpPr>
        <p:spPr>
          <a:xfrm>
            <a:off x="609480" y="1219320"/>
            <a:ext cx="815364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M</a:t>
            </a:r>
            <a:r>
              <a:rPr b="0" baseline="-25000" i="0" lang="en-US" sz="1800" u="none" cap="none" strike="noStrike">
                <a:solidFill>
                  <a:srgbClr val="000000"/>
                </a:solidFill>
                <a:latin typeface="Courier New"/>
                <a:ea typeface="Courier New"/>
                <a:cs typeface="Courier New"/>
                <a:sym typeface="Courier New"/>
              </a:rPr>
              <a:t>e</a:t>
            </a:r>
            <a:r>
              <a:rPr b="0" i="0" lang="en-US" sz="1800" u="none" cap="none" strike="noStrike">
                <a:solidFill>
                  <a:srgbClr val="000000"/>
                </a:solidFill>
                <a:latin typeface="Courier New"/>
                <a:ea typeface="Courier New"/>
                <a:cs typeface="Courier New"/>
                <a:sym typeface="Courier New"/>
              </a:rPr>
              <a:t>(&lt;expr&gt;, s) </a:t>
            </a:r>
            <a:r>
              <a:rPr b="0" i="0" lang="en-US" sz="1800" u="none" cap="none" strike="noStrike">
                <a:solidFill>
                  <a:srgbClr val="000000"/>
                </a:solidFill>
                <a:latin typeface="Noto Sans Symbols"/>
                <a:ea typeface="Noto Sans Symbols"/>
                <a:cs typeface="Noto Sans Symbols"/>
                <a:sym typeface="Noto Sans Symbols"/>
              </a:rPr>
              <a:t>Δ</a:t>
            </a: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case &lt;expr&gt; of</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&lt;dec_num&gt; =&gt; M</a:t>
            </a:r>
            <a:r>
              <a:rPr b="0" baseline="-25000" i="0" lang="en-US" sz="1800" u="none" cap="none" strike="noStrike">
                <a:solidFill>
                  <a:srgbClr val="000000"/>
                </a:solidFill>
                <a:latin typeface="Courier New"/>
                <a:ea typeface="Courier New"/>
                <a:cs typeface="Courier New"/>
                <a:sym typeface="Courier New"/>
              </a:rPr>
              <a:t>dec</a:t>
            </a:r>
            <a:r>
              <a:rPr b="0" i="0" lang="en-US" sz="1800" u="none" cap="none" strike="noStrike">
                <a:solidFill>
                  <a:srgbClr val="000000"/>
                </a:solidFill>
                <a:latin typeface="Courier New"/>
                <a:ea typeface="Courier New"/>
                <a:cs typeface="Courier New"/>
                <a:sym typeface="Courier New"/>
              </a:rPr>
              <a:t>(&lt;dec_num&gt;, s)</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&lt;var&gt; =&gt; </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if VARMAP(&lt;var&gt;, s) == undef</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then error</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else VARMAP(&lt;var&gt;, s)</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&lt;binary_expr&gt; =&gt; </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if (M</a:t>
            </a:r>
            <a:r>
              <a:rPr b="0" baseline="-25000" i="0" lang="en-US" sz="1800" u="none" cap="none" strike="noStrike">
                <a:solidFill>
                  <a:srgbClr val="000000"/>
                </a:solidFill>
                <a:latin typeface="Courier New"/>
                <a:ea typeface="Courier New"/>
                <a:cs typeface="Courier New"/>
                <a:sym typeface="Courier New"/>
              </a:rPr>
              <a:t>e</a:t>
            </a:r>
            <a:r>
              <a:rPr b="0" i="0" lang="en-US" sz="1800" u="none" cap="none" strike="noStrike">
                <a:solidFill>
                  <a:srgbClr val="000000"/>
                </a:solidFill>
                <a:latin typeface="Courier New"/>
                <a:ea typeface="Courier New"/>
                <a:cs typeface="Courier New"/>
                <a:sym typeface="Courier New"/>
              </a:rPr>
              <a:t>(&lt;binary_expr&gt;.&lt;left_expr&gt;, s) == undef</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OR M</a:t>
            </a:r>
            <a:r>
              <a:rPr b="0" baseline="-25000" i="0" lang="en-US" sz="1800" u="none" cap="none" strike="noStrike">
                <a:solidFill>
                  <a:srgbClr val="000000"/>
                </a:solidFill>
                <a:latin typeface="Courier New"/>
                <a:ea typeface="Courier New"/>
                <a:cs typeface="Courier New"/>
                <a:sym typeface="Courier New"/>
              </a:rPr>
              <a:t>e</a:t>
            </a:r>
            <a:r>
              <a:rPr b="0" i="0" lang="en-US" sz="1800" u="none" cap="none" strike="noStrike">
                <a:solidFill>
                  <a:srgbClr val="000000"/>
                </a:solidFill>
                <a:latin typeface="Courier New"/>
                <a:ea typeface="Courier New"/>
                <a:cs typeface="Courier New"/>
                <a:sym typeface="Courier New"/>
              </a:rPr>
              <a:t>(&lt;binary_expr&gt;.&lt;right_expr&gt;, s) =</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undef)</a:t>
            </a:r>
            <a:endParaRPr b="0" i="0" sz="1800" u="none" cap="none" strike="noStrike">
              <a:solidFill>
                <a:srgbClr val="000000"/>
              </a:solidFill>
              <a:latin typeface="Times New Roman"/>
              <a:ea typeface="Times New Roman"/>
              <a:cs typeface="Times New Roman"/>
              <a:sym typeface="Times New Roman"/>
            </a:endParaRPr>
          </a:p>
          <a:p>
            <a:pPr indent="-271440" lvl="0" marL="272880" marR="0" rtl="0" algn="l">
              <a:lnSpc>
                <a:spcPct val="8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               then error</a:t>
            </a:r>
            <a:endParaRPr b="0" i="0" sz="1800" u="none" cap="none" strike="noStrike">
              <a:solidFill>
                <a:srgbClr val="000000"/>
              </a:solidFill>
              <a:latin typeface="Times New Roman"/>
              <a:ea typeface="Times New Roman"/>
              <a:cs typeface="Times New Roman"/>
              <a:sym typeface="Times New Roman"/>
            </a:endParaRPr>
          </a:p>
          <a:p>
            <a:pPr indent="-227160" lvl="2" marL="822240" marR="0" rtl="0" algn="l">
              <a:lnSpc>
                <a:spcPct val="86000"/>
              </a:lnSpc>
              <a:spcBef>
                <a:spcPts val="0"/>
              </a:spcBef>
              <a:spcAft>
                <a:spcPts val="0"/>
              </a:spcAft>
              <a:buNone/>
            </a:pPr>
            <a:r>
              <a:rPr b="0" i="0" lang="en-US" sz="1900" u="none" cap="none" strike="noStrike">
                <a:solidFill>
                  <a:srgbClr val="000000"/>
                </a:solidFill>
                <a:latin typeface="Courier New"/>
                <a:ea typeface="Courier New"/>
                <a:cs typeface="Courier New"/>
                <a:sym typeface="Courier New"/>
              </a:rPr>
              <a:t>   else</a:t>
            </a:r>
            <a:endParaRPr b="0" i="0" sz="1900" u="none" cap="none" strike="noStrike">
              <a:solidFill>
                <a:srgbClr val="000000"/>
              </a:solidFill>
              <a:latin typeface="Times New Roman"/>
              <a:ea typeface="Times New Roman"/>
              <a:cs typeface="Times New Roman"/>
              <a:sym typeface="Times New Roman"/>
            </a:endParaRPr>
          </a:p>
          <a:p>
            <a:pPr indent="-227160" lvl="2" marL="822240" marR="0" rtl="0" algn="l">
              <a:lnSpc>
                <a:spcPct val="86000"/>
              </a:lnSpc>
              <a:spcBef>
                <a:spcPts val="0"/>
              </a:spcBef>
              <a:spcAft>
                <a:spcPts val="0"/>
              </a:spcAft>
              <a:buNone/>
            </a:pPr>
            <a:r>
              <a:rPr b="0" i="0" lang="en-US" sz="1900" u="none" cap="none" strike="noStrike">
                <a:solidFill>
                  <a:srgbClr val="000000"/>
                </a:solidFill>
                <a:latin typeface="Courier New"/>
                <a:ea typeface="Courier New"/>
                <a:cs typeface="Courier New"/>
                <a:sym typeface="Courier New"/>
              </a:rPr>
              <a:t>   if (&lt;binary_expr&gt;.&lt;operator&gt; == ‘+’ then</a:t>
            </a:r>
            <a:endParaRPr b="0" i="0" sz="1900" u="none" cap="none" strike="noStrike">
              <a:solidFill>
                <a:srgbClr val="000000"/>
              </a:solidFill>
              <a:latin typeface="Times New Roman"/>
              <a:ea typeface="Times New Roman"/>
              <a:cs typeface="Times New Roman"/>
              <a:sym typeface="Times New Roman"/>
            </a:endParaRPr>
          </a:p>
          <a:p>
            <a:pPr indent="-227160" lvl="2" marL="822240" marR="0" rtl="0" algn="l">
              <a:lnSpc>
                <a:spcPct val="86000"/>
              </a:lnSpc>
              <a:spcBef>
                <a:spcPts val="0"/>
              </a:spcBef>
              <a:spcAft>
                <a:spcPts val="0"/>
              </a:spcAft>
              <a:buNone/>
            </a:pPr>
            <a:r>
              <a:rPr b="0" i="0" lang="en-US" sz="1900" u="none" cap="none" strike="noStrike">
                <a:solidFill>
                  <a:srgbClr val="000000"/>
                </a:solidFill>
                <a:latin typeface="Courier New"/>
                <a:ea typeface="Courier New"/>
                <a:cs typeface="Courier New"/>
                <a:sym typeface="Courier New"/>
              </a:rPr>
              <a:t>      M</a:t>
            </a:r>
            <a:r>
              <a:rPr b="0" baseline="-25000" i="0" lang="en-US" sz="1900" u="none" cap="none" strike="noStrike">
                <a:solidFill>
                  <a:srgbClr val="000000"/>
                </a:solidFill>
                <a:latin typeface="Courier New"/>
                <a:ea typeface="Courier New"/>
                <a:cs typeface="Courier New"/>
                <a:sym typeface="Courier New"/>
              </a:rPr>
              <a:t>e</a:t>
            </a:r>
            <a:r>
              <a:rPr b="0" i="0" lang="en-US" sz="1900" u="none" cap="none" strike="noStrike">
                <a:solidFill>
                  <a:srgbClr val="000000"/>
                </a:solidFill>
                <a:latin typeface="Courier New"/>
                <a:ea typeface="Courier New"/>
                <a:cs typeface="Courier New"/>
                <a:sym typeface="Courier New"/>
              </a:rPr>
              <a:t>(&lt;binary_expr&gt;.&lt;left_expr&gt;, s) + </a:t>
            </a:r>
            <a:endParaRPr b="0" i="0" sz="1900" u="none" cap="none" strike="noStrike">
              <a:solidFill>
                <a:srgbClr val="000000"/>
              </a:solidFill>
              <a:latin typeface="Times New Roman"/>
              <a:ea typeface="Times New Roman"/>
              <a:cs typeface="Times New Roman"/>
              <a:sym typeface="Times New Roman"/>
            </a:endParaRPr>
          </a:p>
          <a:p>
            <a:pPr indent="-227160" lvl="2" marL="822240" marR="0" rtl="0" algn="l">
              <a:lnSpc>
                <a:spcPct val="86000"/>
              </a:lnSpc>
              <a:spcBef>
                <a:spcPts val="0"/>
              </a:spcBef>
              <a:spcAft>
                <a:spcPts val="0"/>
              </a:spcAft>
              <a:buNone/>
            </a:pPr>
            <a:r>
              <a:rPr b="0" i="0" lang="en-US" sz="1900" u="none" cap="none" strike="noStrike">
                <a:solidFill>
                  <a:srgbClr val="000000"/>
                </a:solidFill>
                <a:latin typeface="Courier New"/>
                <a:ea typeface="Courier New"/>
                <a:cs typeface="Courier New"/>
                <a:sym typeface="Courier New"/>
              </a:rPr>
              <a:t>             M</a:t>
            </a:r>
            <a:r>
              <a:rPr b="0" baseline="-25000" i="0" lang="en-US" sz="1900" u="none" cap="none" strike="noStrike">
                <a:solidFill>
                  <a:srgbClr val="000000"/>
                </a:solidFill>
                <a:latin typeface="Courier New"/>
                <a:ea typeface="Courier New"/>
                <a:cs typeface="Courier New"/>
                <a:sym typeface="Courier New"/>
              </a:rPr>
              <a:t>e</a:t>
            </a:r>
            <a:r>
              <a:rPr b="0" i="0" lang="en-US" sz="1900" u="none" cap="none" strike="noStrike">
                <a:solidFill>
                  <a:srgbClr val="000000"/>
                </a:solidFill>
                <a:latin typeface="Courier New"/>
                <a:ea typeface="Courier New"/>
                <a:cs typeface="Courier New"/>
                <a:sym typeface="Courier New"/>
              </a:rPr>
              <a:t>(&lt;binary_expr&gt;.&lt;right_expr&gt;, s)</a:t>
            </a:r>
            <a:endParaRPr b="0" i="0" sz="1900" u="none" cap="none" strike="noStrike">
              <a:solidFill>
                <a:srgbClr val="000000"/>
              </a:solidFill>
              <a:latin typeface="Times New Roman"/>
              <a:ea typeface="Times New Roman"/>
              <a:cs typeface="Times New Roman"/>
              <a:sym typeface="Times New Roman"/>
            </a:endParaRPr>
          </a:p>
          <a:p>
            <a:pPr indent="-227160" lvl="2" marL="822240" marR="0" rtl="0" algn="l">
              <a:lnSpc>
                <a:spcPct val="86000"/>
              </a:lnSpc>
              <a:spcBef>
                <a:spcPts val="0"/>
              </a:spcBef>
              <a:spcAft>
                <a:spcPts val="0"/>
              </a:spcAft>
              <a:buNone/>
            </a:pPr>
            <a:r>
              <a:rPr b="0" i="0" lang="en-US" sz="1900" u="none" cap="none" strike="noStrike">
                <a:solidFill>
                  <a:srgbClr val="000000"/>
                </a:solidFill>
                <a:latin typeface="Courier New"/>
                <a:ea typeface="Courier New"/>
                <a:cs typeface="Courier New"/>
                <a:sym typeface="Courier New"/>
              </a:rPr>
              <a:t>   else M</a:t>
            </a:r>
            <a:r>
              <a:rPr b="0" baseline="-25000" i="0" lang="en-US" sz="1900" u="none" cap="none" strike="noStrike">
                <a:solidFill>
                  <a:srgbClr val="000000"/>
                </a:solidFill>
                <a:latin typeface="Courier New"/>
                <a:ea typeface="Courier New"/>
                <a:cs typeface="Courier New"/>
                <a:sym typeface="Courier New"/>
              </a:rPr>
              <a:t>e</a:t>
            </a:r>
            <a:r>
              <a:rPr b="0" i="0" lang="en-US" sz="1900" u="none" cap="none" strike="noStrike">
                <a:solidFill>
                  <a:srgbClr val="000000"/>
                </a:solidFill>
                <a:latin typeface="Courier New"/>
                <a:ea typeface="Courier New"/>
                <a:cs typeface="Courier New"/>
                <a:sym typeface="Courier New"/>
              </a:rPr>
              <a:t>(&lt;binary_expr&gt;.&lt;left_expr&gt;, s) * </a:t>
            </a:r>
            <a:endParaRPr b="0" i="0" sz="1900" u="none" cap="none" strike="noStrike">
              <a:solidFill>
                <a:srgbClr val="000000"/>
              </a:solidFill>
              <a:latin typeface="Times New Roman"/>
              <a:ea typeface="Times New Roman"/>
              <a:cs typeface="Times New Roman"/>
              <a:sym typeface="Times New Roman"/>
            </a:endParaRPr>
          </a:p>
          <a:p>
            <a:pPr indent="-227160" lvl="2" marL="822240" marR="0" rtl="0" algn="l">
              <a:lnSpc>
                <a:spcPct val="86000"/>
              </a:lnSpc>
              <a:spcBef>
                <a:spcPts val="0"/>
              </a:spcBef>
              <a:spcAft>
                <a:spcPts val="0"/>
              </a:spcAft>
              <a:buNone/>
            </a:pPr>
            <a:r>
              <a:rPr b="0" i="0" lang="en-US" sz="1900" u="none" cap="none" strike="noStrike">
                <a:solidFill>
                  <a:srgbClr val="000000"/>
                </a:solidFill>
                <a:latin typeface="Courier New"/>
                <a:ea typeface="Courier New"/>
                <a:cs typeface="Courier New"/>
                <a:sym typeface="Courier New"/>
              </a:rPr>
              <a:t>       M</a:t>
            </a:r>
            <a:r>
              <a:rPr b="0" baseline="-25000" i="0" lang="en-US" sz="1900" u="none" cap="none" strike="noStrike">
                <a:solidFill>
                  <a:srgbClr val="000000"/>
                </a:solidFill>
                <a:latin typeface="Courier New"/>
                <a:ea typeface="Courier New"/>
                <a:cs typeface="Courier New"/>
                <a:sym typeface="Courier New"/>
              </a:rPr>
              <a:t>e</a:t>
            </a:r>
            <a:r>
              <a:rPr b="0" i="0" lang="en-US" sz="1900" u="none" cap="none" strike="noStrike">
                <a:solidFill>
                  <a:srgbClr val="000000"/>
                </a:solidFill>
                <a:latin typeface="Courier New"/>
                <a:ea typeface="Courier New"/>
                <a:cs typeface="Courier New"/>
                <a:sym typeface="Courier New"/>
              </a:rPr>
              <a:t>(&lt;binary_expr&gt;.&lt;right_expr&gt;, s)</a:t>
            </a:r>
            <a:endParaRPr b="0" i="0" sz="1900" u="none" cap="none" strike="noStrike">
              <a:solidFill>
                <a:srgbClr val="000000"/>
              </a:solidFill>
              <a:latin typeface="Times New Roman"/>
              <a:ea typeface="Times New Roman"/>
              <a:cs typeface="Times New Roman"/>
              <a:sym typeface="Times New Roman"/>
            </a:endParaRPr>
          </a:p>
          <a:p>
            <a:pPr indent="-227160" lvl="2" marL="822240" marR="0" rtl="0" algn="l">
              <a:lnSpc>
                <a:spcPct val="86000"/>
              </a:lnSpc>
              <a:spcBef>
                <a:spcPts val="0"/>
              </a:spcBef>
              <a:spcAft>
                <a:spcPts val="0"/>
              </a:spcAft>
              <a:buNone/>
            </a:pPr>
            <a:r>
              <a:rPr b="1" i="0" lang="en-US" sz="1900" u="none" cap="none" strike="noStrike">
                <a:solidFill>
                  <a:srgbClr val="000000"/>
                </a:solidFill>
                <a:latin typeface="Courier New"/>
                <a:ea typeface="Courier New"/>
                <a:cs typeface="Courier New"/>
                <a:sym typeface="Courier New"/>
              </a:rPr>
              <a:t>...</a:t>
            </a:r>
            <a:endParaRPr b="0" i="0" sz="19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8" name="Shape 698"/>
        <p:cNvGrpSpPr/>
        <p:nvPr/>
      </p:nvGrpSpPr>
      <p:grpSpPr>
        <a:xfrm>
          <a:off x="0" y="0"/>
          <a:ext cx="0" cy="0"/>
          <a:chOff x="0" y="0"/>
          <a:chExt cx="0" cy="0"/>
        </a:xfrm>
      </p:grpSpPr>
      <p:sp>
        <p:nvSpPr>
          <p:cNvPr id="699" name="Google Shape;699;p41"/>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600" u="none" cap="none" strike="noStrike">
                <a:solidFill>
                  <a:srgbClr val="696464"/>
                </a:solidFill>
                <a:latin typeface="Libre Franklin"/>
                <a:ea typeface="Libre Franklin"/>
                <a:cs typeface="Libre Franklin"/>
                <a:sym typeface="Libre Franklin"/>
              </a:rPr>
              <a:t>Assignment Statements</a:t>
            </a:r>
            <a:br>
              <a:rPr b="0" i="0" lang="en-US" sz="1800" u="none" cap="none" strike="noStrike">
                <a:latin typeface="Arial"/>
                <a:ea typeface="Arial"/>
                <a:cs typeface="Arial"/>
                <a:sym typeface="Arial"/>
              </a:rPr>
            </a:br>
            <a:endParaRPr b="0" i="0" sz="3600" u="none" cap="none" strike="noStrike">
              <a:solidFill>
                <a:srgbClr val="000000"/>
              </a:solidFill>
              <a:latin typeface="Times New Roman"/>
              <a:ea typeface="Times New Roman"/>
              <a:cs typeface="Times New Roman"/>
              <a:sym typeface="Times New Roman"/>
            </a:endParaRPr>
          </a:p>
        </p:txBody>
      </p:sp>
      <p:sp>
        <p:nvSpPr>
          <p:cNvPr id="700" name="Google Shape;700;p41"/>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01" name="Google Shape;701;p41"/>
          <p:cNvSpPr/>
          <p:nvPr/>
        </p:nvSpPr>
        <p:spPr>
          <a:xfrm>
            <a:off x="685800" y="1371600"/>
            <a:ext cx="784872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90000"/>
              </a:lnSpc>
              <a:spcBef>
                <a:spcPts val="0"/>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Maps state sets to state sets</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90000"/>
              </a:lnSpc>
              <a:spcBef>
                <a:spcPts val="374"/>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Ma(x := E, s) </a:t>
            </a:r>
            <a:r>
              <a:rPr b="0" i="0" lang="en-US" sz="2000" u="none" cap="none" strike="noStrike">
                <a:solidFill>
                  <a:srgbClr val="000000"/>
                </a:solidFill>
                <a:latin typeface="Noto Sans Symbols"/>
                <a:ea typeface="Noto Sans Symbols"/>
                <a:cs typeface="Noto Sans Symbols"/>
                <a:sym typeface="Noto Sans Symbols"/>
              </a:rPr>
              <a:t>Δ</a:t>
            </a:r>
            <a:r>
              <a:rPr b="0" i="0" lang="en-US" sz="2000" u="none" cap="none" strike="noStrike">
                <a:solidFill>
                  <a:srgbClr val="000000"/>
                </a:solidFill>
                <a:latin typeface="Courier New"/>
                <a:ea typeface="Courier New"/>
                <a:cs typeface="Courier New"/>
                <a:sym typeface="Courier New"/>
              </a:rPr>
              <a: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if Me(E, s) == error</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then error</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else s’ =      			{&lt;i</a:t>
            </a:r>
            <a:r>
              <a:rPr b="0" baseline="-25000" i="0" lang="en-US" sz="2000" u="none" cap="none" strike="noStrike">
                <a:solidFill>
                  <a:srgbClr val="000000"/>
                </a:solidFill>
                <a:latin typeface="Courier New"/>
                <a:ea typeface="Courier New"/>
                <a:cs typeface="Courier New"/>
                <a:sym typeface="Courier New"/>
              </a:rPr>
              <a:t>1</a:t>
            </a:r>
            <a:r>
              <a:rPr b="0" i="0" lang="en-US" sz="2000" u="none" cap="none" strike="noStrike">
                <a:solidFill>
                  <a:srgbClr val="000000"/>
                </a:solidFill>
                <a:latin typeface="Courier New"/>
                <a:ea typeface="Courier New"/>
                <a:cs typeface="Courier New"/>
                <a:sym typeface="Courier New"/>
              </a:rPr>
              <a:t>’,v</a:t>
            </a:r>
            <a:r>
              <a:rPr b="0" baseline="-25000" i="0" lang="en-US" sz="2000" u="none" cap="none" strike="noStrike">
                <a:solidFill>
                  <a:srgbClr val="000000"/>
                </a:solidFill>
                <a:latin typeface="Courier New"/>
                <a:ea typeface="Courier New"/>
                <a:cs typeface="Courier New"/>
                <a:sym typeface="Courier New"/>
              </a:rPr>
              <a:t>1</a:t>
            </a:r>
            <a:r>
              <a:rPr b="0" i="0" lang="en-US" sz="2000" u="none" cap="none" strike="noStrike">
                <a:solidFill>
                  <a:srgbClr val="000000"/>
                </a:solidFill>
                <a:latin typeface="Courier New"/>
                <a:ea typeface="Courier New"/>
                <a:cs typeface="Courier New"/>
                <a:sym typeface="Courier New"/>
              </a:rPr>
              <a:t>’&gt;,&lt;i</a:t>
            </a:r>
            <a:r>
              <a:rPr b="0" baseline="-25000" i="0" lang="en-US" sz="2000" u="none" cap="none" strike="noStrike">
                <a:solidFill>
                  <a:srgbClr val="000000"/>
                </a:solidFill>
                <a:latin typeface="Courier New"/>
                <a:ea typeface="Courier New"/>
                <a:cs typeface="Courier New"/>
                <a:sym typeface="Courier New"/>
              </a:rPr>
              <a:t>2</a:t>
            </a:r>
            <a:r>
              <a:rPr b="0" i="0" lang="en-US" sz="2000" u="none" cap="none" strike="noStrike">
                <a:solidFill>
                  <a:srgbClr val="000000"/>
                </a:solidFill>
                <a:latin typeface="Courier New"/>
                <a:ea typeface="Courier New"/>
                <a:cs typeface="Courier New"/>
                <a:sym typeface="Courier New"/>
              </a:rPr>
              <a:t>’,v</a:t>
            </a:r>
            <a:r>
              <a:rPr b="0" baseline="-25000" i="0" lang="en-US" sz="2000" u="none" cap="none" strike="noStrike">
                <a:solidFill>
                  <a:srgbClr val="000000"/>
                </a:solidFill>
                <a:latin typeface="Courier New"/>
                <a:ea typeface="Courier New"/>
                <a:cs typeface="Courier New"/>
                <a:sym typeface="Courier New"/>
              </a:rPr>
              <a:t>2</a:t>
            </a:r>
            <a:r>
              <a:rPr b="0" i="0" lang="en-US" sz="2000" u="none" cap="none" strike="noStrike">
                <a:solidFill>
                  <a:srgbClr val="000000"/>
                </a:solidFill>
                <a:latin typeface="Courier New"/>
                <a:ea typeface="Courier New"/>
                <a:cs typeface="Courier New"/>
                <a:sym typeface="Courier New"/>
              </a:rPr>
              <a:t>’&gt;,...,&lt;i</a:t>
            </a:r>
            <a:r>
              <a:rPr b="0" baseline="-25000" i="0" lang="en-US" sz="2000" u="none" cap="none" strike="noStrike">
                <a:solidFill>
                  <a:srgbClr val="000000"/>
                </a:solidFill>
                <a:latin typeface="Courier New"/>
                <a:ea typeface="Courier New"/>
                <a:cs typeface="Courier New"/>
                <a:sym typeface="Courier New"/>
              </a:rPr>
              <a:t>n</a:t>
            </a:r>
            <a:r>
              <a:rPr b="0" i="0" lang="en-US" sz="2000" u="none" cap="none" strike="noStrike">
                <a:solidFill>
                  <a:srgbClr val="000000"/>
                </a:solidFill>
                <a:latin typeface="Courier New"/>
                <a:ea typeface="Courier New"/>
                <a:cs typeface="Courier New"/>
                <a:sym typeface="Courier New"/>
              </a:rPr>
              <a:t>’,v</a:t>
            </a:r>
            <a:r>
              <a:rPr b="0" baseline="-25000" i="0" lang="en-US" sz="2000" u="none" cap="none" strike="noStrike">
                <a:solidFill>
                  <a:srgbClr val="000000"/>
                </a:solidFill>
                <a:latin typeface="Courier New"/>
                <a:ea typeface="Courier New"/>
                <a:cs typeface="Courier New"/>
                <a:sym typeface="Courier New"/>
              </a:rPr>
              <a:t>n</a:t>
            </a:r>
            <a:r>
              <a:rPr b="0" i="0" lang="en-US" sz="2000" u="none" cap="none" strike="noStrike">
                <a:solidFill>
                  <a:srgbClr val="000000"/>
                </a:solidFill>
                <a:latin typeface="Courier New"/>
                <a:ea typeface="Courier New"/>
                <a:cs typeface="Courier New"/>
                <a:sym typeface="Courier New"/>
              </a:rPr>
              <a:t>’&gt;},</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where for j = 1, 2, ..., n,</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v</a:t>
            </a:r>
            <a:r>
              <a:rPr b="0" baseline="-25000" i="0" lang="en-US" sz="2000" u="none" cap="none" strike="noStrike">
                <a:solidFill>
                  <a:srgbClr val="000000"/>
                </a:solidFill>
                <a:latin typeface="Courier New"/>
                <a:ea typeface="Courier New"/>
                <a:cs typeface="Courier New"/>
                <a:sym typeface="Courier New"/>
              </a:rPr>
              <a:t>j</a:t>
            </a:r>
            <a:r>
              <a:rPr b="0" i="0" lang="en-US" sz="2000" u="none" cap="none" strike="noStrike">
                <a:solidFill>
                  <a:srgbClr val="000000"/>
                </a:solidFill>
                <a:latin typeface="Courier New"/>
                <a:ea typeface="Courier New"/>
                <a:cs typeface="Courier New"/>
                <a:sym typeface="Courier New"/>
              </a:rPr>
              <a:t>’ = VARMAP(i</a:t>
            </a:r>
            <a:r>
              <a:rPr b="0" baseline="-25000" i="0" lang="en-US" sz="2000" u="none" cap="none" strike="noStrike">
                <a:solidFill>
                  <a:srgbClr val="000000"/>
                </a:solidFill>
                <a:latin typeface="Courier New"/>
                <a:ea typeface="Courier New"/>
                <a:cs typeface="Courier New"/>
                <a:sym typeface="Courier New"/>
              </a:rPr>
              <a:t>j</a:t>
            </a:r>
            <a:r>
              <a:rPr b="0" i="0" lang="en-US" sz="2000" u="none" cap="none" strike="noStrike">
                <a:solidFill>
                  <a:srgbClr val="000000"/>
                </a:solidFill>
                <a:latin typeface="Courier New"/>
                <a:ea typeface="Courier New"/>
                <a:cs typeface="Courier New"/>
                <a:sym typeface="Courier New"/>
              </a:rPr>
              <a:t>, s) if i</a:t>
            </a:r>
            <a:r>
              <a:rPr b="0" baseline="-25000" i="0" lang="en-US" sz="2000" u="none" cap="none" strike="noStrike">
                <a:solidFill>
                  <a:srgbClr val="000000"/>
                </a:solidFill>
                <a:latin typeface="Courier New"/>
                <a:ea typeface="Courier New"/>
                <a:cs typeface="Courier New"/>
                <a:sym typeface="Courier New"/>
              </a:rPr>
              <a:t>j</a:t>
            </a:r>
            <a:r>
              <a:rPr b="0" i="0" lang="en-US" sz="2000" u="none" cap="none" strike="noStrike">
                <a:solidFill>
                  <a:srgbClr val="000000"/>
                </a:solidFill>
                <a:latin typeface="Courier New"/>
                <a:ea typeface="Courier New"/>
                <a:cs typeface="Courier New"/>
                <a:sym typeface="Courier New"/>
              </a:rPr>
              <a:t> &lt;&gt; x</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9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 Me(E, s) if i</a:t>
            </a:r>
            <a:r>
              <a:rPr b="0" baseline="-25000" i="0" lang="en-US" sz="2000" u="none" cap="none" strike="noStrike">
                <a:solidFill>
                  <a:srgbClr val="000000"/>
                </a:solidFill>
                <a:latin typeface="Courier New"/>
                <a:ea typeface="Courier New"/>
                <a:cs typeface="Courier New"/>
                <a:sym typeface="Courier New"/>
              </a:rPr>
              <a:t>j</a:t>
            </a:r>
            <a:r>
              <a:rPr b="0" i="0" lang="en-US" sz="2000" u="none" cap="none" strike="noStrike">
                <a:solidFill>
                  <a:srgbClr val="000000"/>
                </a:solidFill>
                <a:latin typeface="Courier New"/>
                <a:ea typeface="Courier New"/>
                <a:cs typeface="Courier New"/>
                <a:sym typeface="Courier New"/>
              </a:rPr>
              <a:t> == x</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5" name="Shape 705"/>
        <p:cNvGrpSpPr/>
        <p:nvPr/>
      </p:nvGrpSpPr>
      <p:grpSpPr>
        <a:xfrm>
          <a:off x="0" y="0"/>
          <a:ext cx="0" cy="0"/>
          <a:chOff x="0" y="0"/>
          <a:chExt cx="0" cy="0"/>
        </a:xfrm>
      </p:grpSpPr>
      <p:sp>
        <p:nvSpPr>
          <p:cNvPr id="706" name="Google Shape;706;p42"/>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 Logical Pretest Loops</a:t>
            </a:r>
            <a:endParaRPr b="0" i="0" sz="4000" u="none" cap="none" strike="noStrike">
              <a:solidFill>
                <a:srgbClr val="000000"/>
              </a:solidFill>
              <a:latin typeface="Times New Roman"/>
              <a:ea typeface="Times New Roman"/>
              <a:cs typeface="Times New Roman"/>
              <a:sym typeface="Times New Roman"/>
            </a:endParaRPr>
          </a:p>
        </p:txBody>
      </p:sp>
      <p:sp>
        <p:nvSpPr>
          <p:cNvPr id="707" name="Google Shape;707;p42"/>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08" name="Google Shape;708;p42"/>
          <p:cNvSpPr/>
          <p:nvPr/>
        </p:nvSpPr>
        <p:spPr>
          <a:xfrm>
            <a:off x="685800" y="1371600"/>
            <a:ext cx="8077320" cy="4495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Maps state sets to state sets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None/>
            </a:pPr>
            <a:r>
              <a:t/>
            </a:r>
            <a:endParaRPr b="0" i="0" sz="26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Libre Baskerville"/>
                <a:ea typeface="Libre Baskerville"/>
                <a:cs typeface="Libre Baskerville"/>
                <a:sym typeface="Libre Baskerville"/>
              </a:rPr>
              <a:t> </a:t>
            </a:r>
            <a:r>
              <a:rPr b="0" i="0" lang="en-US" sz="2000" u="none" cap="none" strike="noStrike">
                <a:solidFill>
                  <a:srgbClr val="000000"/>
                </a:solidFill>
                <a:latin typeface="Courier New"/>
                <a:ea typeface="Courier New"/>
                <a:cs typeface="Courier New"/>
                <a:sym typeface="Courier New"/>
              </a:rPr>
              <a:t>M</a:t>
            </a:r>
            <a:r>
              <a:rPr b="0" baseline="-25000" i="0" lang="en-US" sz="2000" u="none" cap="none" strike="noStrike">
                <a:solidFill>
                  <a:srgbClr val="000000"/>
                </a:solidFill>
                <a:latin typeface="Courier New"/>
                <a:ea typeface="Courier New"/>
                <a:cs typeface="Courier New"/>
                <a:sym typeface="Courier New"/>
              </a:rPr>
              <a:t>l</a:t>
            </a:r>
            <a:r>
              <a:rPr b="0" i="0" lang="en-US" sz="2000" u="none" cap="none" strike="noStrike">
                <a:solidFill>
                  <a:srgbClr val="000000"/>
                </a:solidFill>
                <a:latin typeface="Courier New"/>
                <a:ea typeface="Courier New"/>
                <a:cs typeface="Courier New"/>
                <a:sym typeface="Courier New"/>
              </a:rPr>
              <a:t>(while B do L, s) </a:t>
            </a:r>
            <a:r>
              <a:rPr b="0" i="0" lang="en-US" sz="2000" u="none" cap="none" strike="noStrike">
                <a:solidFill>
                  <a:srgbClr val="000000"/>
                </a:solidFill>
                <a:latin typeface="Noto Sans Symbols"/>
                <a:ea typeface="Noto Sans Symbols"/>
                <a:cs typeface="Noto Sans Symbols"/>
                <a:sym typeface="Noto Sans Symbols"/>
              </a:rPr>
              <a:t>Δ</a:t>
            </a:r>
            <a:r>
              <a:rPr b="0" i="0" lang="en-US" sz="2000" u="none" cap="none" strike="noStrike">
                <a:solidFill>
                  <a:srgbClr val="000000"/>
                </a:solidFill>
                <a:latin typeface="Courier New"/>
                <a:ea typeface="Courier New"/>
                <a:cs typeface="Courier New"/>
                <a:sym typeface="Courier New"/>
              </a:rPr>
              <a:t>= </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if M</a:t>
            </a:r>
            <a:r>
              <a:rPr b="0" baseline="-25000" i="0" lang="en-US" sz="2000" u="none" cap="none" strike="noStrike">
                <a:solidFill>
                  <a:srgbClr val="000000"/>
                </a:solidFill>
                <a:latin typeface="Courier New"/>
                <a:ea typeface="Courier New"/>
                <a:cs typeface="Courier New"/>
                <a:sym typeface="Courier New"/>
              </a:rPr>
              <a:t>b</a:t>
            </a:r>
            <a:r>
              <a:rPr b="0" i="0" lang="en-US" sz="2000" u="none" cap="none" strike="noStrike">
                <a:solidFill>
                  <a:srgbClr val="000000"/>
                </a:solidFill>
                <a:latin typeface="Courier New"/>
                <a:ea typeface="Courier New"/>
                <a:cs typeface="Courier New"/>
                <a:sym typeface="Courier New"/>
              </a:rPr>
              <a:t>(B, s) == undef</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then error</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else if M</a:t>
            </a:r>
            <a:r>
              <a:rPr b="0" baseline="-25000" i="0" lang="en-US" sz="2000" u="none" cap="none" strike="noStrike">
                <a:solidFill>
                  <a:srgbClr val="000000"/>
                </a:solidFill>
                <a:latin typeface="Courier New"/>
                <a:ea typeface="Courier New"/>
                <a:cs typeface="Courier New"/>
                <a:sym typeface="Courier New"/>
              </a:rPr>
              <a:t>b</a:t>
            </a:r>
            <a:r>
              <a:rPr b="0" i="0" lang="en-US" sz="2000" u="none" cap="none" strike="noStrike">
                <a:solidFill>
                  <a:srgbClr val="000000"/>
                </a:solidFill>
                <a:latin typeface="Courier New"/>
                <a:ea typeface="Courier New"/>
                <a:cs typeface="Courier New"/>
                <a:sym typeface="Courier New"/>
              </a:rPr>
              <a:t>(B, s) == false</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then s</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else if M</a:t>
            </a:r>
            <a:r>
              <a:rPr b="0" baseline="-25000" i="0" lang="en-US" sz="2000" u="none" cap="none" strike="noStrike">
                <a:solidFill>
                  <a:srgbClr val="000000"/>
                </a:solidFill>
                <a:latin typeface="Courier New"/>
                <a:ea typeface="Courier New"/>
                <a:cs typeface="Courier New"/>
                <a:sym typeface="Courier New"/>
              </a:rPr>
              <a:t>sl</a:t>
            </a:r>
            <a:r>
              <a:rPr b="0" i="0" lang="en-US" sz="2000" u="none" cap="none" strike="noStrike">
                <a:solidFill>
                  <a:srgbClr val="000000"/>
                </a:solidFill>
                <a:latin typeface="Courier New"/>
                <a:ea typeface="Courier New"/>
                <a:cs typeface="Courier New"/>
                <a:sym typeface="Courier New"/>
              </a:rPr>
              <a:t>(L, s) == error</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then error</a:t>
            </a:r>
            <a:endParaRPr b="0" i="0" sz="20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000" u="none" cap="none" strike="noStrike">
                <a:solidFill>
                  <a:srgbClr val="000000"/>
                </a:solidFill>
                <a:latin typeface="Courier New"/>
                <a:ea typeface="Courier New"/>
                <a:cs typeface="Courier New"/>
                <a:sym typeface="Courier New"/>
              </a:rPr>
              <a:t>                  else M</a:t>
            </a:r>
            <a:r>
              <a:rPr b="0" baseline="-25000" i="0" lang="en-US" sz="2000" u="none" cap="none" strike="noStrike">
                <a:solidFill>
                  <a:srgbClr val="000000"/>
                </a:solidFill>
                <a:latin typeface="Courier New"/>
                <a:ea typeface="Courier New"/>
                <a:cs typeface="Courier New"/>
                <a:sym typeface="Courier New"/>
              </a:rPr>
              <a:t>l</a:t>
            </a:r>
            <a:r>
              <a:rPr b="0" i="0" lang="en-US" sz="2000" u="none" cap="none" strike="noStrike">
                <a:solidFill>
                  <a:srgbClr val="000000"/>
                </a:solidFill>
                <a:latin typeface="Courier New"/>
                <a:ea typeface="Courier New"/>
                <a:cs typeface="Courier New"/>
                <a:sym typeface="Courier New"/>
              </a:rPr>
              <a:t>(while B do L, M</a:t>
            </a:r>
            <a:r>
              <a:rPr b="0" baseline="-25000" i="0" lang="en-US" sz="2000" u="none" cap="none" strike="noStrike">
                <a:solidFill>
                  <a:srgbClr val="000000"/>
                </a:solidFill>
                <a:latin typeface="Courier New"/>
                <a:ea typeface="Courier New"/>
                <a:cs typeface="Courier New"/>
                <a:sym typeface="Courier New"/>
              </a:rPr>
              <a:t>sl</a:t>
            </a:r>
            <a:r>
              <a:rPr b="0" i="0" lang="en-US" sz="2000" u="none" cap="none" strike="noStrike">
                <a:solidFill>
                  <a:srgbClr val="000000"/>
                </a:solidFill>
                <a:latin typeface="Courier New"/>
                <a:ea typeface="Courier New"/>
                <a:cs typeface="Courier New"/>
                <a:sym typeface="Courier New"/>
              </a:rPr>
              <a:t>(L, s))</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2" name="Shape 712"/>
        <p:cNvGrpSpPr/>
        <p:nvPr/>
      </p:nvGrpSpPr>
      <p:grpSpPr>
        <a:xfrm>
          <a:off x="0" y="0"/>
          <a:ext cx="0" cy="0"/>
          <a:chOff x="0" y="0"/>
          <a:chExt cx="0" cy="0"/>
        </a:xfrm>
      </p:grpSpPr>
      <p:sp>
        <p:nvSpPr>
          <p:cNvPr id="713" name="Google Shape;713;p43"/>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Loop Meaning</a:t>
            </a:r>
            <a:endParaRPr b="0" i="0" sz="4000" u="none" cap="none" strike="noStrike">
              <a:solidFill>
                <a:srgbClr val="000000"/>
              </a:solidFill>
              <a:latin typeface="Times New Roman"/>
              <a:ea typeface="Times New Roman"/>
              <a:cs typeface="Times New Roman"/>
              <a:sym typeface="Times New Roman"/>
            </a:endParaRPr>
          </a:p>
        </p:txBody>
      </p:sp>
      <p:sp>
        <p:nvSpPr>
          <p:cNvPr id="714" name="Google Shape;714;p43"/>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15" name="Google Shape;715;p43"/>
          <p:cNvSpPr/>
          <p:nvPr/>
        </p:nvSpPr>
        <p:spPr>
          <a:xfrm>
            <a:off x="533520" y="1295280"/>
            <a:ext cx="815328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9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meaning of the loop is the value of the program variables after the statements in the loop have been executed the prescribed number of  times, assuming there have been no errors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In essence, the loop has been converted from  iteration to recursion, where the recursive control  is mathematically defined by other recursive state mapping functions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9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Recursion, when compared to iteration, is easier to describe with mathematical rigor</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9" name="Shape 719"/>
        <p:cNvGrpSpPr/>
        <p:nvPr/>
      </p:nvGrpSpPr>
      <p:grpSpPr>
        <a:xfrm>
          <a:off x="0" y="0"/>
          <a:ext cx="0" cy="0"/>
          <a:chOff x="0" y="0"/>
          <a:chExt cx="0" cy="0"/>
        </a:xfrm>
      </p:grpSpPr>
      <p:sp>
        <p:nvSpPr>
          <p:cNvPr id="720" name="Google Shape;720;p44"/>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3200" u="none" cap="none" strike="noStrike">
                <a:solidFill>
                  <a:srgbClr val="696464"/>
                </a:solidFill>
                <a:latin typeface="Libre Franklin"/>
                <a:ea typeface="Libre Franklin"/>
                <a:cs typeface="Libre Franklin"/>
                <a:sym typeface="Libre Franklin"/>
              </a:rPr>
              <a:t>Evaluation of Denotational Semantics</a:t>
            </a:r>
            <a:br>
              <a:rPr b="0" i="0" lang="en-US" sz="1800" u="none" cap="none" strike="noStrike">
                <a:latin typeface="Arial"/>
                <a:ea typeface="Arial"/>
                <a:cs typeface="Arial"/>
                <a:sym typeface="Arial"/>
              </a:rPr>
            </a:br>
            <a:endParaRPr b="0" i="0" sz="3200" u="none" cap="none" strike="noStrike">
              <a:solidFill>
                <a:srgbClr val="000000"/>
              </a:solidFill>
              <a:latin typeface="Times New Roman"/>
              <a:ea typeface="Times New Roman"/>
              <a:cs typeface="Times New Roman"/>
              <a:sym typeface="Times New Roman"/>
            </a:endParaRPr>
          </a:p>
        </p:txBody>
      </p:sp>
      <p:sp>
        <p:nvSpPr>
          <p:cNvPr id="721" name="Google Shape;721;p44"/>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22" name="Google Shape;722;p44"/>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Can be used to prove the correctness of programs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Provides a rigorous way to think about programs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Can be an aid to language design</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Has been used in compiler generation systems </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Because of its complexity, they are of little use to language users</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6" name="Shape 726"/>
        <p:cNvGrpSpPr/>
        <p:nvPr/>
      </p:nvGrpSpPr>
      <p:grpSpPr>
        <a:xfrm>
          <a:off x="0" y="0"/>
          <a:ext cx="0" cy="0"/>
          <a:chOff x="0" y="0"/>
          <a:chExt cx="0" cy="0"/>
        </a:xfrm>
      </p:grpSpPr>
      <p:sp>
        <p:nvSpPr>
          <p:cNvPr id="727" name="Google Shape;727;p45"/>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Axiomatic Semantics</a:t>
            </a:r>
            <a:endParaRPr b="0" i="0" sz="4000" u="none" cap="none" strike="noStrike">
              <a:solidFill>
                <a:srgbClr val="000000"/>
              </a:solidFill>
              <a:latin typeface="Times New Roman"/>
              <a:ea typeface="Times New Roman"/>
              <a:cs typeface="Times New Roman"/>
              <a:sym typeface="Times New Roman"/>
            </a:endParaRPr>
          </a:p>
        </p:txBody>
      </p:sp>
      <p:sp>
        <p:nvSpPr>
          <p:cNvPr id="728" name="Google Shape;728;p45"/>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29" name="Google Shape;729;p45"/>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Based on formal logic (predicate calculus)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Original purpose: formal program verification</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Axioms or inference rules are defined for each statement type in the language (to allow transformations of expressions to other expressions)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expressions are called </a:t>
            </a:r>
            <a:r>
              <a:rPr b="0" i="1" lang="en-US" sz="2600" u="none" cap="none" strike="noStrike">
                <a:solidFill>
                  <a:srgbClr val="000000"/>
                </a:solidFill>
                <a:latin typeface="Libre Baskerville"/>
                <a:ea typeface="Libre Baskerville"/>
                <a:cs typeface="Libre Baskerville"/>
                <a:sym typeface="Libre Baskerville"/>
              </a:rPr>
              <a:t>assertions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None/>
            </a:pPr>
            <a:r>
              <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3" name="Shape 733"/>
        <p:cNvGrpSpPr/>
        <p:nvPr/>
      </p:nvGrpSpPr>
      <p:grpSpPr>
        <a:xfrm>
          <a:off x="0" y="0"/>
          <a:ext cx="0" cy="0"/>
          <a:chOff x="0" y="0"/>
          <a:chExt cx="0" cy="0"/>
        </a:xfrm>
      </p:grpSpPr>
      <p:sp>
        <p:nvSpPr>
          <p:cNvPr id="734" name="Google Shape;734;p46"/>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Axiomatic Semantics (continued)</a:t>
            </a:r>
            <a:endParaRPr b="0" i="0" sz="4000" u="none" cap="none" strike="noStrike">
              <a:solidFill>
                <a:srgbClr val="000000"/>
              </a:solidFill>
              <a:latin typeface="Times New Roman"/>
              <a:ea typeface="Times New Roman"/>
              <a:cs typeface="Times New Roman"/>
              <a:sym typeface="Times New Roman"/>
            </a:endParaRPr>
          </a:p>
        </p:txBody>
      </p:sp>
      <p:sp>
        <p:nvSpPr>
          <p:cNvPr id="735" name="Google Shape;735;p46"/>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36" name="Google Shape;736;p46"/>
          <p:cNvSpPr/>
          <p:nvPr/>
        </p:nvSpPr>
        <p:spPr>
          <a:xfrm>
            <a:off x="533520" y="1371600"/>
            <a:ext cx="815328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An assertion before a statement (a </a:t>
            </a:r>
            <a:r>
              <a:rPr b="0" i="1" lang="en-US" sz="2600" u="none" cap="none" strike="noStrike">
                <a:solidFill>
                  <a:srgbClr val="000000"/>
                </a:solidFill>
                <a:latin typeface="Libre Baskerville"/>
                <a:ea typeface="Libre Baskerville"/>
                <a:cs typeface="Libre Baskerville"/>
                <a:sym typeface="Libre Baskerville"/>
              </a:rPr>
              <a:t>precondition</a:t>
            </a:r>
            <a:r>
              <a:rPr b="0" i="0" lang="en-US" sz="2600" u="none" cap="none" strike="noStrike">
                <a:solidFill>
                  <a:srgbClr val="000000"/>
                </a:solidFill>
                <a:latin typeface="Libre Baskerville"/>
                <a:ea typeface="Libre Baskerville"/>
                <a:cs typeface="Libre Baskerville"/>
                <a:sym typeface="Libre Baskerville"/>
              </a:rPr>
              <a:t>) states the relationships and constraints among variables that are true at that point in execution</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An assertion following a statement is a  </a:t>
            </a:r>
            <a:r>
              <a:rPr b="0" i="1" lang="en-US" sz="2600" u="none" cap="none" strike="noStrike">
                <a:solidFill>
                  <a:srgbClr val="000000"/>
                </a:solidFill>
                <a:latin typeface="Libre Baskerville"/>
                <a:ea typeface="Libre Baskerville"/>
                <a:cs typeface="Libre Baskerville"/>
                <a:sym typeface="Libre Baskerville"/>
              </a:rPr>
              <a:t>postcondition</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 </a:t>
            </a:r>
            <a:r>
              <a:rPr b="0" i="1" lang="en-US" sz="2600" u="none" cap="none" strike="noStrike">
                <a:solidFill>
                  <a:srgbClr val="000000"/>
                </a:solidFill>
                <a:latin typeface="Libre Baskerville"/>
                <a:ea typeface="Libre Baskerville"/>
                <a:cs typeface="Libre Baskerville"/>
                <a:sym typeface="Libre Baskerville"/>
              </a:rPr>
              <a:t>weakest precondition</a:t>
            </a:r>
            <a:r>
              <a:rPr b="0" i="0" lang="en-US" sz="2600" u="none" cap="none" strike="noStrike">
                <a:solidFill>
                  <a:srgbClr val="000000"/>
                </a:solidFill>
                <a:latin typeface="Libre Baskerville"/>
                <a:ea typeface="Libre Baskerville"/>
                <a:cs typeface="Libre Baskerville"/>
                <a:sym typeface="Libre Baskerville"/>
              </a:rPr>
              <a:t> is the least restrictive precondition that will guarantee the postcondition</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0" name="Shape 740"/>
        <p:cNvGrpSpPr/>
        <p:nvPr/>
      </p:nvGrpSpPr>
      <p:grpSpPr>
        <a:xfrm>
          <a:off x="0" y="0"/>
          <a:ext cx="0" cy="0"/>
          <a:chOff x="0" y="0"/>
          <a:chExt cx="0" cy="0"/>
        </a:xfrm>
      </p:grpSpPr>
      <p:sp>
        <p:nvSpPr>
          <p:cNvPr id="741" name="Google Shape;741;p47"/>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Axiomatic Semantics Form</a:t>
            </a:r>
            <a:endParaRPr b="0" i="0" sz="4000" u="none" cap="none" strike="noStrike">
              <a:solidFill>
                <a:srgbClr val="000000"/>
              </a:solidFill>
              <a:latin typeface="Times New Roman"/>
              <a:ea typeface="Times New Roman"/>
              <a:cs typeface="Times New Roman"/>
              <a:sym typeface="Times New Roman"/>
            </a:endParaRPr>
          </a:p>
        </p:txBody>
      </p:sp>
      <p:sp>
        <p:nvSpPr>
          <p:cNvPr id="742" name="Google Shape;742;p47"/>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43" name="Google Shape;743;p47"/>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Pre-, post form:  </a:t>
            </a:r>
            <a:r>
              <a:rPr b="0" i="0" lang="en-US" sz="2600" u="none" cap="none" strike="noStrike">
                <a:solidFill>
                  <a:srgbClr val="000000"/>
                </a:solidFill>
                <a:latin typeface="Courier New"/>
                <a:ea typeface="Courier New"/>
                <a:cs typeface="Courier New"/>
                <a:sym typeface="Courier New"/>
              </a:rPr>
              <a:t>{P} statement {Q}</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An example</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Courier New"/>
                <a:ea typeface="Courier New"/>
                <a:cs typeface="Courier New"/>
                <a:sym typeface="Courier New"/>
              </a:rPr>
              <a:t>a = b + 1  {a &gt; 1}</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One possible precondition: </a:t>
            </a:r>
            <a:r>
              <a:rPr b="0" i="0" lang="en-US" sz="2400" u="none" cap="none" strike="noStrike">
                <a:solidFill>
                  <a:srgbClr val="000000"/>
                </a:solidFill>
                <a:latin typeface="Courier New"/>
                <a:ea typeface="Courier New"/>
                <a:cs typeface="Courier New"/>
                <a:sym typeface="Courier New"/>
              </a:rPr>
              <a:t>{b &gt; 10}</a:t>
            </a:r>
            <a:endParaRPr b="0" i="0" sz="24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Weakest precondition:        </a:t>
            </a:r>
            <a:r>
              <a:rPr b="0" i="0" lang="en-US" sz="2400" u="none" cap="none" strike="noStrike">
                <a:solidFill>
                  <a:srgbClr val="000000"/>
                </a:solidFill>
                <a:latin typeface="Courier New"/>
                <a:ea typeface="Courier New"/>
                <a:cs typeface="Courier New"/>
                <a:sym typeface="Courier New"/>
              </a:rPr>
              <a:t>{b &gt; 0}</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7" name="Shape 747"/>
        <p:cNvGrpSpPr/>
        <p:nvPr/>
      </p:nvGrpSpPr>
      <p:grpSpPr>
        <a:xfrm>
          <a:off x="0" y="0"/>
          <a:ext cx="0" cy="0"/>
          <a:chOff x="0" y="0"/>
          <a:chExt cx="0" cy="0"/>
        </a:xfrm>
      </p:grpSpPr>
      <p:sp>
        <p:nvSpPr>
          <p:cNvPr id="748" name="Google Shape;748;p48"/>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Program Proof Process</a:t>
            </a:r>
            <a:endParaRPr b="0" i="0" sz="4000" u="none" cap="none" strike="noStrike">
              <a:solidFill>
                <a:srgbClr val="000000"/>
              </a:solidFill>
              <a:latin typeface="Times New Roman"/>
              <a:ea typeface="Times New Roman"/>
              <a:cs typeface="Times New Roman"/>
              <a:sym typeface="Times New Roman"/>
            </a:endParaRPr>
          </a:p>
        </p:txBody>
      </p:sp>
      <p:sp>
        <p:nvSpPr>
          <p:cNvPr id="749" name="Google Shape;749;p48"/>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50" name="Google Shape;750;p48"/>
          <p:cNvSpPr/>
          <p:nvPr/>
        </p:nvSpPr>
        <p:spPr>
          <a:xfrm>
            <a:off x="304920" y="1523880"/>
            <a:ext cx="815328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postcondition for the entire program is the desired result</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Work back through the program to the first statement.  If the precondition on the first statement is the same as the program specification, the program is correct.</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4" name="Shape 754"/>
        <p:cNvGrpSpPr/>
        <p:nvPr/>
      </p:nvGrpSpPr>
      <p:grpSpPr>
        <a:xfrm>
          <a:off x="0" y="0"/>
          <a:ext cx="0" cy="0"/>
          <a:chOff x="0" y="0"/>
          <a:chExt cx="0" cy="0"/>
        </a:xfrm>
      </p:grpSpPr>
      <p:sp>
        <p:nvSpPr>
          <p:cNvPr id="755" name="Google Shape;755;p49"/>
          <p:cNvSpPr/>
          <p:nvPr/>
        </p:nvSpPr>
        <p:spPr>
          <a:xfrm>
            <a:off x="609480" y="38088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Axiomatic Semantics: Axioms</a:t>
            </a:r>
            <a:endParaRPr b="0" i="0" sz="4000" u="none" cap="none" strike="noStrike">
              <a:solidFill>
                <a:srgbClr val="000000"/>
              </a:solidFill>
              <a:latin typeface="Times New Roman"/>
              <a:ea typeface="Times New Roman"/>
              <a:cs typeface="Times New Roman"/>
              <a:sym typeface="Times New Roman"/>
            </a:endParaRPr>
          </a:p>
        </p:txBody>
      </p:sp>
      <p:sp>
        <p:nvSpPr>
          <p:cNvPr id="756" name="Google Shape;756;p49"/>
          <p:cNvSpPr/>
          <p:nvPr/>
        </p:nvSpPr>
        <p:spPr>
          <a:xfrm>
            <a:off x="609480" y="160020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An axiom for assignment statements  </a:t>
            </a:r>
            <a:br>
              <a:rPr b="0" i="0" lang="en-US" sz="1800" u="none" cap="none" strike="noStrike">
                <a:latin typeface="Arial"/>
                <a:ea typeface="Arial"/>
                <a:cs typeface="Arial"/>
                <a:sym typeface="Arial"/>
              </a:rPr>
            </a:br>
            <a:r>
              <a:rPr b="0" i="0" lang="en-US" sz="2400" u="none" cap="none" strike="noStrike">
                <a:solidFill>
                  <a:srgbClr val="000000"/>
                </a:solidFill>
                <a:latin typeface="Libre Baskerville"/>
                <a:ea typeface="Libre Baskerville"/>
                <a:cs typeface="Libre Baskerville"/>
                <a:sym typeface="Libre Baskerville"/>
              </a:rPr>
              <a:t>(x = E): {Q</a:t>
            </a:r>
            <a:r>
              <a:rPr b="0" baseline="-25000" i="0" lang="en-US" sz="2400" u="none" cap="none" strike="noStrike">
                <a:solidFill>
                  <a:srgbClr val="000000"/>
                </a:solidFill>
                <a:latin typeface="Libre Baskerville"/>
                <a:ea typeface="Libre Baskerville"/>
                <a:cs typeface="Libre Baskerville"/>
                <a:sym typeface="Libre Baskerville"/>
              </a:rPr>
              <a:t>x-&gt;E</a:t>
            </a:r>
            <a:r>
              <a:rPr b="0" i="0" lang="en-US" sz="2400" u="none" cap="none" strike="noStrike">
                <a:solidFill>
                  <a:srgbClr val="000000"/>
                </a:solidFill>
                <a:latin typeface="Libre Baskerville"/>
                <a:ea typeface="Libre Baskerville"/>
                <a:cs typeface="Libre Baskerville"/>
                <a:sym typeface="Libre Baskerville"/>
              </a:rPr>
              <a:t>} x = E {Q}</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The Rule of Consequence:</a:t>
            </a:r>
            <a:endParaRPr b="0" i="0" sz="2400" u="none" cap="none" strike="noStrike">
              <a:solidFill>
                <a:srgbClr val="000000"/>
              </a:solidFill>
              <a:latin typeface="Times New Roman"/>
              <a:ea typeface="Times New Roman"/>
              <a:cs typeface="Times New Roman"/>
              <a:sym typeface="Times New Roman"/>
            </a:endParaRPr>
          </a:p>
        </p:txBody>
      </p:sp>
      <p:sp>
        <p:nvSpPr>
          <p:cNvPr id="757" name="Google Shape;757;p49"/>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1" name="Shape 761"/>
        <p:cNvGrpSpPr/>
        <p:nvPr/>
      </p:nvGrpSpPr>
      <p:grpSpPr>
        <a:xfrm>
          <a:off x="0" y="0"/>
          <a:ext cx="0" cy="0"/>
          <a:chOff x="0" y="0"/>
          <a:chExt cx="0" cy="0"/>
        </a:xfrm>
      </p:grpSpPr>
      <p:sp>
        <p:nvSpPr>
          <p:cNvPr id="762" name="Google Shape;762;p50"/>
          <p:cNvSpPr/>
          <p:nvPr/>
        </p:nvSpPr>
        <p:spPr>
          <a:xfrm>
            <a:off x="609480" y="38088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Axiomatic Semantics: Axioms</a:t>
            </a:r>
            <a:endParaRPr b="0" i="0" sz="4000" u="none" cap="none" strike="noStrike">
              <a:solidFill>
                <a:srgbClr val="000000"/>
              </a:solidFill>
              <a:latin typeface="Times New Roman"/>
              <a:ea typeface="Times New Roman"/>
              <a:cs typeface="Times New Roman"/>
              <a:sym typeface="Times New Roman"/>
            </a:endParaRPr>
          </a:p>
        </p:txBody>
      </p:sp>
      <p:sp>
        <p:nvSpPr>
          <p:cNvPr id="763" name="Google Shape;763;p50"/>
          <p:cNvSpPr/>
          <p:nvPr/>
        </p:nvSpPr>
        <p:spPr>
          <a:xfrm>
            <a:off x="609480" y="1600200"/>
            <a:ext cx="75438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An inference rule for sequences</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{P1} S1 {P2}</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{P2} S2 {P3}</a:t>
            </a:r>
            <a:endParaRPr b="0" i="0" sz="2400" u="none" cap="none" strike="noStrike">
              <a:solidFill>
                <a:srgbClr val="000000"/>
              </a:solidFill>
              <a:latin typeface="Times New Roman"/>
              <a:ea typeface="Times New Roman"/>
              <a:cs typeface="Times New Roman"/>
              <a:sym typeface="Times New Roman"/>
            </a:endParaRPr>
          </a:p>
        </p:txBody>
      </p:sp>
      <p:sp>
        <p:nvSpPr>
          <p:cNvPr id="764" name="Google Shape;764;p50"/>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8" name="Shape 768"/>
        <p:cNvGrpSpPr/>
        <p:nvPr/>
      </p:nvGrpSpPr>
      <p:grpSpPr>
        <a:xfrm>
          <a:off x="0" y="0"/>
          <a:ext cx="0" cy="0"/>
          <a:chOff x="0" y="0"/>
          <a:chExt cx="0" cy="0"/>
        </a:xfrm>
      </p:grpSpPr>
      <p:sp>
        <p:nvSpPr>
          <p:cNvPr id="769" name="Google Shape;769;p51"/>
          <p:cNvSpPr/>
          <p:nvPr/>
        </p:nvSpPr>
        <p:spPr>
          <a:xfrm>
            <a:off x="609480" y="38088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Axiomatic Semantics: Axioms</a:t>
            </a:r>
            <a:endParaRPr b="0" i="0" sz="4000" u="none" cap="none" strike="noStrike">
              <a:solidFill>
                <a:srgbClr val="000000"/>
              </a:solidFill>
              <a:latin typeface="Times New Roman"/>
              <a:ea typeface="Times New Roman"/>
              <a:cs typeface="Times New Roman"/>
              <a:sym typeface="Times New Roman"/>
            </a:endParaRPr>
          </a:p>
        </p:txBody>
      </p:sp>
      <p:sp>
        <p:nvSpPr>
          <p:cNvPr id="770" name="Google Shape;770;p51"/>
          <p:cNvSpPr/>
          <p:nvPr/>
        </p:nvSpPr>
        <p:spPr>
          <a:xfrm>
            <a:off x="533520" y="1371600"/>
            <a:ext cx="792468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An inference rule for logical pretest loops</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{P} while B do S end {Q}</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a:t>
            </a:r>
            <a:br>
              <a:rPr b="0" i="0" lang="en-US" sz="1800" u="none" cap="none" strike="noStrike">
                <a:latin typeface="Arial"/>
                <a:ea typeface="Arial"/>
                <a:cs typeface="Arial"/>
                <a:sym typeface="Arial"/>
              </a:rPr>
            </a:br>
            <a:endParaRPr b="0" i="0" sz="2400" u="none" cap="none" strike="noStrike">
              <a:solidFill>
                <a:srgbClr val="000000"/>
              </a:solidFill>
              <a:latin typeface="Times New Roman"/>
              <a:ea typeface="Times New Roman"/>
              <a:cs typeface="Times New Roman"/>
              <a:sym typeface="Times New Roman"/>
            </a:endParaRPr>
          </a:p>
          <a:p>
            <a:pPr indent="-271440" lvl="0" marL="272880" marR="0" rtl="0" algn="l">
              <a:lnSpc>
                <a:spcPct val="100000"/>
              </a:lnSpc>
              <a:spcBef>
                <a:spcPts val="573"/>
              </a:spcBef>
              <a:spcAft>
                <a:spcPts val="0"/>
              </a:spcAft>
              <a:buNone/>
            </a:pPr>
            <a:r>
              <a:rPr b="0" i="0" lang="en-US" sz="2400" u="none" cap="none" strike="noStrike">
                <a:solidFill>
                  <a:srgbClr val="000000"/>
                </a:solidFill>
                <a:latin typeface="Libre Baskerville"/>
                <a:ea typeface="Libre Baskerville"/>
                <a:cs typeface="Libre Baskerville"/>
                <a:sym typeface="Libre Baskerville"/>
              </a:rPr>
              <a:t>	where I is the loop invariant (the inductive hypothesis)</a:t>
            </a:r>
            <a:endParaRPr b="0" i="0" sz="2400" u="none" cap="none" strike="noStrike">
              <a:solidFill>
                <a:srgbClr val="000000"/>
              </a:solidFill>
              <a:latin typeface="Times New Roman"/>
              <a:ea typeface="Times New Roman"/>
              <a:cs typeface="Times New Roman"/>
              <a:sym typeface="Times New Roman"/>
            </a:endParaRPr>
          </a:p>
        </p:txBody>
      </p:sp>
      <p:sp>
        <p:nvSpPr>
          <p:cNvPr id="771" name="Google Shape;771;p51"/>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5" name="Shape 775"/>
        <p:cNvGrpSpPr/>
        <p:nvPr/>
      </p:nvGrpSpPr>
      <p:grpSpPr>
        <a:xfrm>
          <a:off x="0" y="0"/>
          <a:ext cx="0" cy="0"/>
          <a:chOff x="0" y="0"/>
          <a:chExt cx="0" cy="0"/>
        </a:xfrm>
      </p:grpSpPr>
      <p:sp>
        <p:nvSpPr>
          <p:cNvPr id="776" name="Google Shape;776;p52"/>
          <p:cNvSpPr/>
          <p:nvPr/>
        </p:nvSpPr>
        <p:spPr>
          <a:xfrm>
            <a:off x="609480" y="152280"/>
            <a:ext cx="815364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Induction vs. Deduction</a:t>
            </a:r>
            <a:endParaRPr b="0" i="0" sz="4000" u="none" cap="none" strike="noStrike">
              <a:solidFill>
                <a:srgbClr val="000000"/>
              </a:solidFill>
              <a:latin typeface="Times New Roman"/>
              <a:ea typeface="Times New Roman"/>
              <a:cs typeface="Times New Roman"/>
              <a:sym typeface="Times New Roman"/>
            </a:endParaRPr>
          </a:p>
        </p:txBody>
      </p:sp>
      <p:sp>
        <p:nvSpPr>
          <p:cNvPr id="777" name="Google Shape;777;p52"/>
          <p:cNvSpPr/>
          <p:nvPr/>
        </p:nvSpPr>
        <p:spPr>
          <a:xfrm>
            <a:off x="380880" y="1371600"/>
            <a:ext cx="792504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040"/>
              <a:buFont typeface="Noto Sans Symbols"/>
              <a:buChar char="⚫"/>
            </a:pPr>
            <a:r>
              <a:rPr b="0" i="0" lang="en-US" sz="2400" u="sng" cap="none" strike="noStrike">
                <a:solidFill>
                  <a:srgbClr val="000000"/>
                </a:solidFill>
                <a:latin typeface="Libre Baskerville"/>
                <a:ea typeface="Libre Baskerville"/>
                <a:cs typeface="Libre Baskerville"/>
                <a:sym typeface="Libre Baskerville"/>
              </a:rPr>
              <a:t>Deductive</a:t>
            </a:r>
            <a:r>
              <a:rPr b="0" i="0" lang="en-US" sz="2400" u="none" cap="none" strike="noStrike">
                <a:solidFill>
                  <a:srgbClr val="000000"/>
                </a:solidFill>
                <a:latin typeface="Libre Baskerville"/>
                <a:ea typeface="Libre Baskerville"/>
                <a:cs typeface="Libre Baskerville"/>
                <a:sym typeface="Libre Baskerville"/>
              </a:rPr>
              <a:t> reasoning works from the more general to the more specific.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040"/>
              <a:buFont typeface="Noto Sans Symbols"/>
              <a:buChar char="⚫"/>
            </a:pPr>
            <a:r>
              <a:rPr b="0" i="0" lang="en-US" sz="2400" u="sng" cap="none" strike="noStrike">
                <a:solidFill>
                  <a:srgbClr val="000000"/>
                </a:solidFill>
                <a:latin typeface="Libre Baskerville"/>
                <a:ea typeface="Libre Baskerville"/>
                <a:cs typeface="Libre Baskerville"/>
                <a:sym typeface="Libre Baskerville"/>
              </a:rPr>
              <a:t>Inductive</a:t>
            </a:r>
            <a:r>
              <a:rPr b="0" i="0" lang="en-US" sz="2400" u="none" cap="none" strike="noStrike">
                <a:solidFill>
                  <a:srgbClr val="000000"/>
                </a:solidFill>
                <a:latin typeface="Libre Baskerville"/>
                <a:ea typeface="Libre Baskerville"/>
                <a:cs typeface="Libre Baskerville"/>
                <a:sym typeface="Libre Baskerville"/>
              </a:rPr>
              <a:t> reasoning works the other way, moving from specific observations to broader generalizations and theories</a:t>
            </a:r>
            <a:endParaRPr b="0" i="0" sz="2400" u="none" cap="none" strike="noStrike">
              <a:solidFill>
                <a:srgbClr val="000000"/>
              </a:solidFill>
              <a:latin typeface="Times New Roman"/>
              <a:ea typeface="Times New Roman"/>
              <a:cs typeface="Times New Roman"/>
              <a:sym typeface="Times New Roman"/>
            </a:endParaRPr>
          </a:p>
        </p:txBody>
      </p:sp>
      <p:sp>
        <p:nvSpPr>
          <p:cNvPr id="778" name="Google Shape;778;p52"/>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pic>
        <p:nvPicPr>
          <p:cNvPr id="779" name="Google Shape;779;p52"/>
          <p:cNvPicPr preferRelativeResize="0"/>
          <p:nvPr/>
        </p:nvPicPr>
        <p:blipFill rotWithShape="1">
          <a:blip r:embed="rId3">
            <a:alphaModFix/>
          </a:blip>
          <a:srcRect b="0" l="0" r="0" t="0"/>
          <a:stretch/>
        </p:blipFill>
        <p:spPr>
          <a:xfrm>
            <a:off x="2209680" y="4898880"/>
            <a:ext cx="3276720" cy="1540080"/>
          </a:xfrm>
          <a:prstGeom prst="rect">
            <a:avLst/>
          </a:prstGeom>
          <a:noFill/>
          <a:ln>
            <a:noFill/>
          </a:ln>
        </p:spPr>
      </p:pic>
      <p:pic>
        <p:nvPicPr>
          <p:cNvPr id="780" name="Google Shape;780;p52"/>
          <p:cNvPicPr preferRelativeResize="0"/>
          <p:nvPr/>
        </p:nvPicPr>
        <p:blipFill rotWithShape="1">
          <a:blip r:embed="rId4">
            <a:alphaModFix/>
          </a:blip>
          <a:srcRect b="0" l="0" r="0" t="0"/>
          <a:stretch/>
        </p:blipFill>
        <p:spPr>
          <a:xfrm>
            <a:off x="2362320" y="2133720"/>
            <a:ext cx="3435120" cy="1468440"/>
          </a:xfrm>
          <a:prstGeom prst="rect">
            <a:avLst/>
          </a:prstGeom>
          <a:noFill/>
          <a:ln>
            <a:noFill/>
          </a:ln>
          <a:effectLst>
            <a:outerShdw dir="2700000" dist="139498">
              <a:srgbClr val="333333">
                <a:alpha val="64705"/>
              </a:srgbClr>
            </a:outerShdw>
          </a:effectLst>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4" name="Shape 784"/>
        <p:cNvGrpSpPr/>
        <p:nvPr/>
      </p:nvGrpSpPr>
      <p:grpSpPr>
        <a:xfrm>
          <a:off x="0" y="0"/>
          <a:ext cx="0" cy="0"/>
          <a:chOff x="0" y="0"/>
          <a:chExt cx="0" cy="0"/>
        </a:xfrm>
      </p:grpSpPr>
      <p:sp>
        <p:nvSpPr>
          <p:cNvPr id="785" name="Google Shape;785;p53"/>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Axiomatic Semantics: Axioms</a:t>
            </a:r>
            <a:endParaRPr b="0" i="0" sz="4000" u="none" cap="none" strike="noStrike">
              <a:solidFill>
                <a:srgbClr val="000000"/>
              </a:solidFill>
              <a:latin typeface="Times New Roman"/>
              <a:ea typeface="Times New Roman"/>
              <a:cs typeface="Times New Roman"/>
              <a:sym typeface="Times New Roman"/>
            </a:endParaRPr>
          </a:p>
        </p:txBody>
      </p:sp>
      <p:sp>
        <p:nvSpPr>
          <p:cNvPr id="786" name="Google Shape;786;p53"/>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87" name="Google Shape;787;p53"/>
          <p:cNvSpPr/>
          <p:nvPr/>
        </p:nvSpPr>
        <p:spPr>
          <a:xfrm>
            <a:off x="457200" y="1371600"/>
            <a:ext cx="84582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Characteristics of the loop invariant: I must meet the following conditions: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P =&gt; I    </a:t>
            </a:r>
            <a:r>
              <a:rPr b="0" i="0" lang="en-US" sz="1600" u="none" cap="none" strike="noStrike">
                <a:solidFill>
                  <a:srgbClr val="000000"/>
                </a:solidFill>
                <a:latin typeface="Libre Baskerville"/>
                <a:ea typeface="Libre Baskerville"/>
                <a:cs typeface="Libre Baskerville"/>
                <a:sym typeface="Libre Baskerville"/>
              </a:rPr>
              <a:t>-- the loop invariant must be true initially</a:t>
            </a:r>
            <a:endParaRPr b="0" i="0" sz="1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 B {I}    </a:t>
            </a:r>
            <a:r>
              <a:rPr b="0" i="0" lang="en-US" sz="1600" u="none" cap="none" strike="noStrike">
                <a:solidFill>
                  <a:srgbClr val="000000"/>
                </a:solidFill>
                <a:latin typeface="Libre Baskerville"/>
                <a:ea typeface="Libre Baskerville"/>
                <a:cs typeface="Libre Baskerville"/>
                <a:sym typeface="Libre Baskerville"/>
              </a:rPr>
              <a:t>-- evaluation of the Boolean must not change the validity of I</a:t>
            </a:r>
            <a:endParaRPr b="0" i="0" sz="1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 and B} S {I}   </a:t>
            </a:r>
            <a:r>
              <a:rPr b="0" i="0" lang="en-US" sz="1600" u="none" cap="none" strike="noStrike">
                <a:solidFill>
                  <a:srgbClr val="000000"/>
                </a:solidFill>
                <a:latin typeface="Libre Baskerville"/>
                <a:ea typeface="Libre Baskerville"/>
                <a:cs typeface="Libre Baskerville"/>
                <a:sym typeface="Libre Baskerville"/>
              </a:rPr>
              <a:t>-- I is not changed by executing the body of the loop</a:t>
            </a:r>
            <a:endParaRPr b="0" i="0" sz="1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(I and (not B)) =&gt; Q     </a:t>
            </a:r>
            <a:r>
              <a:rPr b="0" i="0" lang="en-US" sz="1600" u="none" cap="none" strike="noStrike">
                <a:solidFill>
                  <a:srgbClr val="000000"/>
                </a:solidFill>
                <a:latin typeface="Libre Baskerville"/>
                <a:ea typeface="Libre Baskerville"/>
                <a:cs typeface="Libre Baskerville"/>
                <a:sym typeface="Libre Baskerville"/>
              </a:rPr>
              <a:t>-- if I is true and B is false, is implied</a:t>
            </a:r>
            <a:endParaRPr b="0" i="0" sz="1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The loop terminates</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1" name="Shape 791"/>
        <p:cNvGrpSpPr/>
        <p:nvPr/>
      </p:nvGrpSpPr>
      <p:grpSpPr>
        <a:xfrm>
          <a:off x="0" y="0"/>
          <a:ext cx="0" cy="0"/>
          <a:chOff x="0" y="0"/>
          <a:chExt cx="0" cy="0"/>
        </a:xfrm>
      </p:grpSpPr>
      <p:sp>
        <p:nvSpPr>
          <p:cNvPr id="792" name="Google Shape;792;p54"/>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Loop Invariant</a:t>
            </a:r>
            <a:endParaRPr b="0" i="0" sz="4000" u="none" cap="none" strike="noStrike">
              <a:solidFill>
                <a:srgbClr val="000000"/>
              </a:solidFill>
              <a:latin typeface="Times New Roman"/>
              <a:ea typeface="Times New Roman"/>
              <a:cs typeface="Times New Roman"/>
              <a:sym typeface="Times New Roman"/>
            </a:endParaRPr>
          </a:p>
        </p:txBody>
      </p:sp>
      <p:sp>
        <p:nvSpPr>
          <p:cNvPr id="793" name="Google Shape;793;p54"/>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794" name="Google Shape;794;p54"/>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The loop invariant I is a weakened version of the loop postcondition, and it is also a precondition.</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 must be weak enough to be satisfied prior to the beginning of the loop, but when combined with the loop exit condition, it must be strong enough to force the truth of the postcondition</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8" name="Shape 798"/>
        <p:cNvGrpSpPr/>
        <p:nvPr/>
      </p:nvGrpSpPr>
      <p:grpSpPr>
        <a:xfrm>
          <a:off x="0" y="0"/>
          <a:ext cx="0" cy="0"/>
          <a:chOff x="0" y="0"/>
          <a:chExt cx="0" cy="0"/>
        </a:xfrm>
      </p:grpSpPr>
      <p:sp>
        <p:nvSpPr>
          <p:cNvPr id="799" name="Google Shape;799;p55"/>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Evaluation of Axiomatic Semantics</a:t>
            </a:r>
            <a:endParaRPr b="0" i="0" sz="4000" u="none" cap="none" strike="noStrike">
              <a:solidFill>
                <a:srgbClr val="000000"/>
              </a:solidFill>
              <a:latin typeface="Times New Roman"/>
              <a:ea typeface="Times New Roman"/>
              <a:cs typeface="Times New Roman"/>
              <a:sym typeface="Times New Roman"/>
            </a:endParaRPr>
          </a:p>
        </p:txBody>
      </p:sp>
      <p:sp>
        <p:nvSpPr>
          <p:cNvPr id="800" name="Google Shape;800;p55"/>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801" name="Google Shape;801;p55"/>
          <p:cNvSpPr/>
          <p:nvPr/>
        </p:nvSpPr>
        <p:spPr>
          <a:xfrm>
            <a:off x="914400" y="1447920"/>
            <a:ext cx="7772400" cy="4572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Developing axioms or inference rules for all of the statements in a language is difficult</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It is a good tool for correctness proofs, and an excellent framework for reasoning about  programs, but it is not as useful for language users and compiler writers</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Its usefulness in describing the meaning of a programming language is limited for language users or compiler writers</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5" name="Shape 805"/>
        <p:cNvGrpSpPr/>
        <p:nvPr/>
      </p:nvGrpSpPr>
      <p:grpSpPr>
        <a:xfrm>
          <a:off x="0" y="0"/>
          <a:ext cx="0" cy="0"/>
          <a:chOff x="0" y="0"/>
          <a:chExt cx="0" cy="0"/>
        </a:xfrm>
      </p:grpSpPr>
      <p:sp>
        <p:nvSpPr>
          <p:cNvPr id="806" name="Google Shape;806;p56"/>
          <p:cNvSpPr/>
          <p:nvPr/>
        </p:nvSpPr>
        <p:spPr>
          <a:xfrm>
            <a:off x="914400" y="274680"/>
            <a:ext cx="7772400" cy="1143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91425" lIns="91425" spcFirstLastPara="1" rIns="91425" wrap="square" tIns="45700">
            <a:noAutofit/>
          </a:bodyPr>
          <a:lstStyle/>
          <a:p>
            <a:pPr indent="0" lvl="0" marL="0" marR="0" rtl="0" algn="l">
              <a:lnSpc>
                <a:spcPct val="100000"/>
              </a:lnSpc>
              <a:spcBef>
                <a:spcPts val="0"/>
              </a:spcBef>
              <a:spcAft>
                <a:spcPts val="0"/>
              </a:spcAft>
              <a:buNone/>
            </a:pPr>
            <a:r>
              <a:rPr b="0" i="0" lang="en-US" sz="4000" u="none" cap="none" strike="noStrike">
                <a:solidFill>
                  <a:srgbClr val="696464"/>
                </a:solidFill>
                <a:latin typeface="Libre Franklin"/>
                <a:ea typeface="Libre Franklin"/>
                <a:cs typeface="Libre Franklin"/>
                <a:sym typeface="Libre Franklin"/>
              </a:rPr>
              <a:t>Summary</a:t>
            </a:r>
            <a:endParaRPr b="0" i="0" sz="4000" u="none" cap="none" strike="noStrike">
              <a:solidFill>
                <a:srgbClr val="000000"/>
              </a:solidFill>
              <a:latin typeface="Times New Roman"/>
              <a:ea typeface="Times New Roman"/>
              <a:cs typeface="Times New Roman"/>
              <a:sym typeface="Times New Roman"/>
            </a:endParaRPr>
          </a:p>
        </p:txBody>
      </p:sp>
      <p:sp>
        <p:nvSpPr>
          <p:cNvPr id="807" name="Google Shape;807;p56"/>
          <p:cNvSpPr/>
          <p:nvPr/>
        </p:nvSpPr>
        <p:spPr>
          <a:xfrm>
            <a:off x="146160" y="6210360"/>
            <a:ext cx="457200" cy="457200"/>
          </a:xfrm>
          <a:prstGeom prst="ellipse">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Libre Franklin"/>
                <a:ea typeface="Libre Franklin"/>
                <a:cs typeface="Libre Franklin"/>
                <a:sym typeface="Libre Franklin"/>
              </a:rPr>
              <a:t>1-</a:t>
            </a: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000000"/>
              </a:solidFill>
              <a:latin typeface="Times New Roman"/>
              <a:ea typeface="Times New Roman"/>
              <a:cs typeface="Times New Roman"/>
              <a:sym typeface="Times New Roman"/>
            </a:endParaRPr>
          </a:p>
        </p:txBody>
      </p:sp>
      <p:sp>
        <p:nvSpPr>
          <p:cNvPr id="808" name="Google Shape;808;p56"/>
          <p:cNvSpPr/>
          <p:nvPr/>
        </p:nvSpPr>
        <p:spPr>
          <a:xfrm>
            <a:off x="685800" y="1417670"/>
            <a:ext cx="7772382" cy="4572018"/>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271440" lvl="0" marL="271440" marR="0" rtl="0" algn="l">
              <a:lnSpc>
                <a:spcPct val="100000"/>
              </a:lnSpc>
              <a:spcBef>
                <a:spcPts val="0"/>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BNF and context-free grammars are equivalent meta-languages</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Well-suited for describing the syntax of programming languages</a:t>
            </a:r>
            <a:endParaRPr b="0" i="0" sz="24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An attribute grammar is a descriptive formalism that can describe both the syntax and the semantics of a language</a:t>
            </a:r>
            <a:endParaRPr b="0" i="0" sz="2600" u="none" cap="none" strike="noStrike">
              <a:solidFill>
                <a:srgbClr val="000000"/>
              </a:solidFill>
              <a:latin typeface="Times New Roman"/>
              <a:ea typeface="Times New Roman"/>
              <a:cs typeface="Times New Roman"/>
              <a:sym typeface="Times New Roman"/>
            </a:endParaRPr>
          </a:p>
          <a:p>
            <a:pPr indent="-271440" lvl="0" marL="271440" marR="0" rtl="0" algn="l">
              <a:lnSpc>
                <a:spcPct val="100000"/>
              </a:lnSpc>
              <a:spcBef>
                <a:spcPts val="573"/>
              </a:spcBef>
              <a:spcAft>
                <a:spcPts val="0"/>
              </a:spcAft>
              <a:buClr>
                <a:srgbClr val="D34817"/>
              </a:buClr>
              <a:buSzPts val="2210"/>
              <a:buFont typeface="Noto Sans Symbols"/>
              <a:buChar char="⚫"/>
            </a:pPr>
            <a:r>
              <a:rPr b="0" i="0" lang="en-US" sz="2600" u="none" cap="none" strike="noStrike">
                <a:solidFill>
                  <a:srgbClr val="000000"/>
                </a:solidFill>
                <a:latin typeface="Libre Baskerville"/>
                <a:ea typeface="Libre Baskerville"/>
                <a:cs typeface="Libre Baskerville"/>
                <a:sym typeface="Libre Baskerville"/>
              </a:rPr>
              <a:t>Three primary methods of semantics description</a:t>
            </a:r>
            <a:endParaRPr b="0" i="0" sz="2600" u="none" cap="none" strike="noStrike">
              <a:solidFill>
                <a:srgbClr val="000000"/>
              </a:solidFill>
              <a:latin typeface="Times New Roman"/>
              <a:ea typeface="Times New Roman"/>
              <a:cs typeface="Times New Roman"/>
              <a:sym typeface="Times New Roman"/>
            </a:endParaRPr>
          </a:p>
          <a:p>
            <a:pPr indent="-228600" lvl="1" marL="545760" marR="0" rtl="0" algn="l">
              <a:lnSpc>
                <a:spcPct val="100000"/>
              </a:lnSpc>
              <a:spcBef>
                <a:spcPts val="374"/>
              </a:spcBef>
              <a:spcAft>
                <a:spcPts val="0"/>
              </a:spcAft>
              <a:buClr>
                <a:srgbClr val="9B2D1F"/>
              </a:buClr>
              <a:buSzPts val="2040"/>
              <a:buFont typeface="Noto Sans Symbols"/>
              <a:buChar char="⚫"/>
            </a:pPr>
            <a:r>
              <a:rPr b="0" i="0" lang="en-US" sz="2400" u="none" cap="none" strike="noStrike">
                <a:solidFill>
                  <a:srgbClr val="000000"/>
                </a:solidFill>
                <a:latin typeface="Libre Baskerville"/>
                <a:ea typeface="Libre Baskerville"/>
                <a:cs typeface="Libre Baskerville"/>
                <a:sym typeface="Libre Baskerville"/>
              </a:rPr>
              <a:t>Operation, axiomatic, denotational</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2003-08-01T05:29:19Z</dcterms:created>
  <dc:creator>David Garrett</dc:creator>
</cp:coreProperties>
</file>
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932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756000" y="5078520"/>
            <a:ext cx="6047640" cy="47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lang="en-IN" sz="2000" strike="noStrike">
                <a:latin typeface="Arial"/>
                <a:ea typeface="Arial"/>
                <a:cs typeface="Arial"/>
                <a:sym typeface="Arial"/>
              </a:rPr>
              <a:t>Do not lend themselves to simultaneous execution of different parts of the program, because any command may depend on the changes to variables caused by previous commands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756000" y="5078520"/>
            <a:ext cx="6047640" cy="47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lang="en-IN" sz="2000" strike="noStrike">
                <a:latin typeface="Arial"/>
                <a:ea typeface="Arial"/>
                <a:cs typeface="Arial"/>
                <a:sym typeface="Arial"/>
              </a:rPr>
              <a:t> No variables because the result of one function is immediately passed as a parameter to another function. Because no variables are used, it is easy to define the effects (that is, the semantics) of a program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lang="en-IN" sz="2000" strike="noStrike">
                <a:latin typeface="Arial"/>
                <a:ea typeface="Arial"/>
                <a:cs typeface="Arial"/>
                <a:sym typeface="Arial"/>
              </a:rPr>
              <a:t>No side effects  :  compute results without updating the values associated with variables.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8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9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0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1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4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5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6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7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8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9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0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1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504000" y="1769040"/>
            <a:ext cx="442692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5152680" y="1769040"/>
            <a:ext cx="442692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504000" y="17690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5152680" y="1769040"/>
            <a:ext cx="442692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504000" y="43754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504000" y="1769040"/>
            <a:ext cx="442692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5152680" y="17690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5152680" y="43754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04000" y="17690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5152680" y="17690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504000" y="4375440"/>
            <a:ext cx="907164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504000" y="1769040"/>
            <a:ext cx="907164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504000" y="4375440"/>
            <a:ext cx="907164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504000" y="17690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152680" y="17690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504000" y="43754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152680" y="4375440"/>
            <a:ext cx="442692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04000" y="1769040"/>
            <a:ext cx="292068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571200" y="1769040"/>
            <a:ext cx="292068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638040" y="1769040"/>
            <a:ext cx="292068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504000" y="4375440"/>
            <a:ext cx="292068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571200" y="4375440"/>
            <a:ext cx="292068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638040" y="4375440"/>
            <a:ext cx="2920680" cy="237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504000" y="346320"/>
            <a:ext cx="9071640" cy="6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Functional Programming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latin typeface="Arial"/>
                <a:ea typeface="Arial"/>
                <a:cs typeface="Arial"/>
                <a:sym typeface="Arial"/>
              </a:rPr>
              <a:t>Is functional programming ..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Writing functions ?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Using functions as in imperative/OO languages 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latin typeface="Arial"/>
                <a:ea typeface="Arial"/>
                <a:cs typeface="Arial"/>
                <a:sym typeface="Arial"/>
              </a:rPr>
              <a:t>Imperative Languages 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programs execute commands sequentially,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use variables to organize memory,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update variables with assignment statements.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The result of a program thus comprises the contents of all permanent variables (such as files) at the end of execution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latin typeface="Arial"/>
                <a:ea typeface="Arial"/>
                <a:cs typeface="Arial"/>
                <a:sym typeface="Arial"/>
              </a:rPr>
              <a:t>Cont..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Execution speed is limited by the speed with which individual instructions can be executed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to know the state of a computation, one must know the values of all the variables.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latin typeface="Arial"/>
                <a:ea typeface="Arial"/>
                <a:cs typeface="Arial"/>
                <a:sym typeface="Arial"/>
              </a:rPr>
              <a:t>Programming Paradigms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540360" y="177408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Procedural programming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Decompose program into procedures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Procedures work on data and modify the “state” of the data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Object oriented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Decompose program into data “types”/classes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Data objects talk to each other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latin typeface="Arial"/>
                <a:ea typeface="Arial"/>
                <a:cs typeface="Arial"/>
                <a:sym typeface="Arial"/>
              </a:rPr>
              <a:t>Functional Programming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540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no variables, no assignment statements, and no iterative constructs. 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latin typeface="Arial"/>
                <a:ea typeface="Arial"/>
                <a:cs typeface="Arial"/>
                <a:sym typeface="Arial"/>
              </a:rPr>
              <a:t>Based on the concept of mathematical functions like :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latin typeface="Courier"/>
                <a:ea typeface="Courier"/>
                <a:cs typeface="Courier"/>
                <a:sym typeface="Courier"/>
              </a:rPr>
              <a:t>f(n) =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Courier"/>
                <a:ea typeface="Courier"/>
                <a:cs typeface="Courier"/>
                <a:sym typeface="Courier"/>
              </a:rPr>
              <a:t>    	1 if n = 1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Courier"/>
                <a:ea typeface="Courier"/>
                <a:cs typeface="Courier"/>
                <a:sym typeface="Courier"/>
              </a:rPr>
              <a:t> 		f(3*n+1) if n is odd , n != 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Courier"/>
                <a:ea typeface="Courier"/>
                <a:cs typeface="Courier"/>
                <a:sym typeface="Courier"/>
              </a:rPr>
              <a:t> 		f (n/2) if n is even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Cont..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Mathematical definitions are converted directly into syntax of language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Entire program is simply a function which itself is defined in terms of other functions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Cont...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n is not a variable its identifier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Identifier is bounded to a value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Identifiers generally acquire values through parameter binding.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Cont...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Variables are unnecessary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Easy to define sematics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Functions have no side effects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Cont...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8560" y="1448640"/>
            <a:ext cx="4857480" cy="463824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/>
          <p:nvPr/>
        </p:nvSpPr>
        <p:spPr>
          <a:xfrm>
            <a:off x="4428000" y="6516000"/>
            <a:ext cx="4320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latin typeface="Arial"/>
                <a:ea typeface="Arial"/>
                <a:cs typeface="Arial"/>
                <a:sym typeface="Arial"/>
              </a:rPr>
              <a:t>Fractal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2988000" y="7020000"/>
            <a:ext cx="5580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latin typeface="Arial"/>
                <a:ea typeface="Arial"/>
                <a:cs typeface="Arial"/>
                <a:sym typeface="Arial"/>
              </a:rPr>
              <a:t>Ref : http://classes.yale.edu/fractals/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/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A Little Language of Expression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The little language ----Little Quilt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small enough to permit a short description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different enough to require description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representative enough to make description worthwhile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Constructs in Little Quilt are expressions denoting geometric objects call quilts: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280" y="5680080"/>
            <a:ext cx="6553080" cy="144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What Does Little Quilt Manipulate?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Little Quilt manipulates geometric objects with height, width and texture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Basic Value and Operations: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The two primitive objects in the language are the square piece.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960" y="5181840"/>
            <a:ext cx="3886200" cy="777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...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The operation are specified by the following rules: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A quilt is one of the primitive piece, or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It is formed by turning a quilt clockwise 90°, or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it is formed by sewing a quilt to the right of another quilt of equal height.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Nothing else is a quilt.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280" y="5436000"/>
            <a:ext cx="6400800" cy="190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Cont...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Constants: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 Names for basic values: the pieces be called a and b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Names of operations: the operations be called turn and sew. (like the picture on the previous slide)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now that we have chosen the built-in object and operations (a,b, turn, sew) expressions can be formed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&lt;expression&gt;::=a | b  |  turn(&lt;expression&gt;) 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                            | sew (&lt;expression&gt;,&lt;expression&gt;)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...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Example: sew(turn(turn(b)),a)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40" y="3124440"/>
            <a:ext cx="7774200" cy="2468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...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User-Defined Functions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Some of the frequent operations are not provided directly by Little Quilt.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latin typeface="Arial"/>
                <a:ea typeface="Arial"/>
                <a:cs typeface="Arial"/>
                <a:sym typeface="Arial"/>
              </a:rPr>
              <a:t>These operations can be programmed by using a combination of turning and sewing.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...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User-Defined Functions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Examples: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unturn -- turning a quilt counterclockwise 90°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fun unturn(x)=turn(turn(turn(x)))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pile -- attaching one quilt above another of same width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fun pile(x,y)=unturn(sew(turn(y),turn(x)))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Local Declarations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Let-expressions or let-bindings allow declarations to appear with expressions.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The form is: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       let &lt;declarations&gt; in &lt;expression&gt; end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...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Example: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let fun unturn(x)=turn(turn(turn(x)))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    fun pile(x,y) =unturn(sew(turn(y),turn(x)))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in  pile (unturn(b), turn(b))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end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40" y="5152320"/>
            <a:ext cx="59454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User-Defined Names for Values: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To write large expressions in terms of simpler ones.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A value declaration gives a name to a value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              val &lt;name&gt; = &lt;expression&gt;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Value declarations are used together with let-bindings.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              let val x=E1 in E2  end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occurrences of name x in E2 represent the value of E1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/>
        </p:nvSpPr>
        <p:spPr>
          <a:xfrm>
            <a:off x="468360" y="36000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What does the quilt look like?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4"/>
          <p:cNvSpPr txBox="1"/>
          <p:nvPr/>
        </p:nvSpPr>
        <p:spPr>
          <a:xfrm>
            <a:off x="468360" y="178272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800" strike="noStrike">
                <a:latin typeface="Arial"/>
                <a:ea typeface="Arial"/>
                <a:cs typeface="Arial"/>
                <a:sym typeface="Arial"/>
              </a:rPr>
              <a:t>Let fun unturn(x) = turn(turn(turn(x)))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800" strike="noStrike">
                <a:latin typeface="Arial"/>
                <a:ea typeface="Arial"/>
                <a:cs typeface="Arial"/>
                <a:sym typeface="Arial"/>
              </a:rPr>
              <a:t>       fun pile (x,y) = unturn(sew(turn(y),turn(x)))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800" strike="noStrike">
                <a:latin typeface="Arial"/>
                <a:ea typeface="Arial"/>
                <a:cs typeface="Arial"/>
                <a:sym typeface="Arial"/>
              </a:rPr>
              <a:t>       val aa = pile(a, trun(turn(a)))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800" strike="noStrike">
                <a:latin typeface="Arial"/>
                <a:ea typeface="Arial"/>
                <a:cs typeface="Arial"/>
                <a:sym typeface="Arial"/>
              </a:rPr>
              <a:t>       val bb = pile(unturn(b),turn(b))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800" strike="noStrike">
                <a:latin typeface="Arial"/>
                <a:ea typeface="Arial"/>
                <a:cs typeface="Arial"/>
                <a:sym typeface="Arial"/>
              </a:rPr>
              <a:t>       val p = sew(bb,aa)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800" strike="noStrike">
                <a:latin typeface="Arial"/>
                <a:ea typeface="Arial"/>
                <a:cs typeface="Arial"/>
                <a:sym typeface="Arial"/>
              </a:rPr>
              <a:t>       val q = sew(aa,bb)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800" strike="noStrike">
                <a:latin typeface="Arial"/>
                <a:ea typeface="Arial"/>
                <a:cs typeface="Arial"/>
                <a:sym typeface="Arial"/>
              </a:rPr>
              <a:t>in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800" strike="noStrike">
                <a:latin typeface="Arial"/>
                <a:ea typeface="Arial"/>
                <a:cs typeface="Arial"/>
                <a:sym typeface="Arial"/>
              </a:rPr>
              <a:t>      pile(p,q)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800" strike="noStrike">
                <a:latin typeface="Arial"/>
                <a:ea typeface="Arial"/>
                <a:cs typeface="Arial"/>
                <a:sym typeface="Arial"/>
              </a:rPr>
              <a:t>end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5724360" y="3793680"/>
            <a:ext cx="720000" cy="852840"/>
          </a:xfrm>
          <a:custGeom>
            <a:rect b="b" l="l" r="r" t="t"/>
            <a:pathLst>
              <a:path extrusionOk="0" h="307" w="184">
                <a:moveTo>
                  <a:pt x="0" y="0"/>
                </a:moveTo>
                <a:cubicBezTo>
                  <a:pt x="16" y="3"/>
                  <a:pt x="34" y="2"/>
                  <a:pt x="48" y="10"/>
                </a:cubicBezTo>
                <a:cubicBezTo>
                  <a:pt x="67" y="22"/>
                  <a:pt x="96" y="58"/>
                  <a:pt x="96" y="58"/>
                </a:cubicBezTo>
                <a:cubicBezTo>
                  <a:pt x="114" y="117"/>
                  <a:pt x="129" y="179"/>
                  <a:pt x="163" y="231"/>
                </a:cubicBezTo>
                <a:cubicBezTo>
                  <a:pt x="184" y="294"/>
                  <a:pt x="182" y="268"/>
                  <a:pt x="182" y="307"/>
                </a:cubicBezTo>
                <a:lnTo>
                  <a:pt x="182" y="221"/>
                </a:lnTo>
              </a:path>
            </a:pathLst>
          </a:custGeom>
          <a:noFill/>
          <a:ln cap="flat" cmpd="sng" w="126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4"/>
          <p:cNvSpPr txBox="1"/>
          <p:nvPr/>
        </p:nvSpPr>
        <p:spPr>
          <a:xfrm>
            <a:off x="2160000" y="6300000"/>
            <a:ext cx="5940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latin typeface="Arial"/>
                <a:ea typeface="Arial"/>
                <a:cs typeface="Arial"/>
                <a:sym typeface="Arial"/>
              </a:rPr>
              <a:t>Refer : Ravi Sethi (PL- chapter 8)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/>
        </p:nvSpPr>
        <p:spPr>
          <a:xfrm>
            <a:off x="504000" y="346320"/>
            <a:ext cx="9071640" cy="636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Functional Programming in Python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Sequences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6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Strings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List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Tuple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Dictionary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Iterators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7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s = “hello”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it = iter (s)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print it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it.next()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???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l = [1,2,3,4]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it = iter(l)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&gt;&gt;&gt;max(it)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lt = (1,2,3,4,5)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it = iter (lt)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min (it)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8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Are  next() , max () , min() functions 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What do they do  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Do they  change/modify the  sequence ?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Operators like “in” , “not in”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Question of the day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9"/>
          <p:cNvSpPr txBox="1"/>
          <p:nvPr/>
        </p:nvSpPr>
        <p:spPr>
          <a:xfrm>
            <a:off x="540000" y="1733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Can files support  iteration 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Common Operations on Iterator's Output </a:t>
            </a: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0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Perform some operation for every operation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Selecting subset of elements that meet some condition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List comprehensions and generator expressions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1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Concise notation for common operations on iterator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List comprehension : [ 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[expression for expr in seq] 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Generator expressions : ( 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(expression for expr in seq1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   				If cond1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					for expr in seq2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          			If cond2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What is the output ?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2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line_list = ['    line 1\n','line 2    \n']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for line in line_list 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				line.strip()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3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Generator Expression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3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stripped_iter = (line.strip() for line in line_list)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Generator expressions returns iterator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List Comprehension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4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stripped_list = [line.strip() for line in line_list]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List comprehension returns a list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Example 2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5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seq1 = 'abc'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seq2 = (1,2,3)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[(x,y) for x in seq1 for y in seq2 ]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Generators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6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In imperative/OOP what happens to return value of a function ?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def generate_ints(N):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				for i in range(N):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				yield i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Any function containing a yield keyword is a generator function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232559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Lambda Calculus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7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Example 1 : f(x) -&gt; x*x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Example 2 : f (x) -&gt; 1 for x &lt;=1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                              -&gt; x*f(x-1) for x = 2,3,4.....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Example 3 : f (x,y) -&gt; x+y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8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Lambda Functions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8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&gt;&gt;&gt;lines = ['  line 1 \n','line 2     \n']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[line.strip() for line in lines]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?????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Can we write some function like : f(lines) which will give us above output ?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Lambda Function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9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&lt;function_name&gt; = lambda expr : List Comprehension or generator expression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&gt;&gt;&gt; gstrip = lambda lines : (line.strip() for line in lines)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gstrip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????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 lstrip = lambda lines : [line.strip() for line in lines]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????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&gt;&gt;&gt;lstrip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Lambda Function examples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0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Sqaure of x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Cube of x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1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Factorial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1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Recursive  version 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fact (n) 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			if n&lt;=1 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				return 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			else 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 				return n*fact(n-1)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We cant write this as lambda function since this function has if/else statement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Lambda functions have only expressions with for 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Cont ...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2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Use ternary operator with short circuiting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Ternary operators 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x = trueValue if condition else falseValue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287999" lvl="2" marL="1296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IN" sz="2400" u="none" cap="none" strike="noStrike">
                <a:latin typeface="Arial"/>
                <a:ea typeface="Arial"/>
                <a:cs typeface="Arial"/>
                <a:sym typeface="Arial"/>
              </a:rPr>
              <a:t>score = int(ss) if ss != ’AA’ else 0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7999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IN" sz="2400" u="none" cap="none" strike="noStrike">
                <a:latin typeface="Arial"/>
                <a:ea typeface="Arial"/>
                <a:cs typeface="Arial"/>
                <a:sym typeface="Arial"/>
              </a:rPr>
              <a:t>print "The temperature is %s freezing." % ("below" if temp &lt; 32 else "above")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7999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IN" sz="2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7999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IN" sz="2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 txBox="1"/>
          <p:nvPr/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Lambda Function for Factorial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3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latin typeface="Arial"/>
                <a:ea typeface="Arial"/>
                <a:cs typeface="Arial"/>
                <a:sym typeface="Arial"/>
              </a:rPr>
              <a:t>f = lambda x : x and x*f(x-1) or 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4"/>
          <p:cNvSpPr txBox="1"/>
          <p:nvPr/>
        </p:nvSpPr>
        <p:spPr>
          <a:xfrm>
            <a:off x="504000" y="30744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400" strike="noStrike">
                <a:latin typeface="Arial"/>
                <a:ea typeface="Arial"/>
                <a:cs typeface="Arial"/>
                <a:sym typeface="Arial"/>
              </a:rPr>
              <a:t>Lambda Function for Fibonacci sequence 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4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
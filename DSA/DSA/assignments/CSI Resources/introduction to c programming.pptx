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Lst>
  <p:sldSz cy="6858000" cx="12192000"/>
  <p:notesSz cx="6858000" cy="9144000"/>
  <p:embeddedFontLst>
    <p:embeddedFont>
      <p:font typeface="Roboto"/>
      <p:regular r:id="rId109"/>
      <p:bold r:id="rId110"/>
      <p:italic r:id="rId111"/>
      <p:boldItalic r:id="rId112"/>
    </p:embeddedFont>
    <p:embeddedFont>
      <p:font typeface="Arimo"/>
      <p:regular r:id="rId113"/>
      <p:bold r:id="rId114"/>
      <p:italic r:id="rId115"/>
      <p:boldItalic r:id="rId1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http://customooxmlschemas.google.com/">
      <go:slidesCustomData xmlns:go="http://customooxmlschemas.google.com/" r:id="rId117" roundtripDataSignature="AMtx7miRuRqvLAsAuJMFuVD6KRJXl/B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D9BF88-F2FA-47AB-A2AE-C283F5D904F1}">
  <a:tblStyle styleId="{77D9BF88-F2FA-47AB-A2AE-C283F5D904F1}"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40000"/>
            </a:schemeClr>
          </a:solidFill>
        </a:fill>
      </a:tcStyle>
    </a:band1H>
    <a:band2H>
      <a:tcTxStyle/>
    </a:band2H>
    <a:band1V>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Calibri"/>
          <a:ea typeface="Calibri"/>
          <a:cs typeface="Calibri"/>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font" Target="fonts/Roboto-regular.fntdata"/><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7" Type="http://customschemas.google.com/relationships/presentationmetadata" Target="metadata"/><Relationship Id="rId116" Type="http://schemas.openxmlformats.org/officeDocument/2006/relationships/font" Target="fonts/Arimo-boldItalic.fntdata"/><Relationship Id="rId115" Type="http://schemas.openxmlformats.org/officeDocument/2006/relationships/font" Target="fonts/Arimo-italic.fntdata"/><Relationship Id="rId15" Type="http://schemas.openxmlformats.org/officeDocument/2006/relationships/slide" Target="slides/slide9.xml"/><Relationship Id="rId110" Type="http://schemas.openxmlformats.org/officeDocument/2006/relationships/font" Target="fonts/Roboto-bold.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Arimo-bold.fntdata"/><Relationship Id="rId18" Type="http://schemas.openxmlformats.org/officeDocument/2006/relationships/slide" Target="slides/slide12.xml"/><Relationship Id="rId113" Type="http://schemas.openxmlformats.org/officeDocument/2006/relationships/font" Target="fonts/Arimo-regular.fntdata"/><Relationship Id="rId112" Type="http://schemas.openxmlformats.org/officeDocument/2006/relationships/font" Target="fonts/Roboto-boldItalic.fntdata"/><Relationship Id="rId111" Type="http://schemas.openxmlformats.org/officeDocument/2006/relationships/font" Target="fonts/Roboto-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3" name="Google Shape;10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1" name="Google Shape;111;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7" name="Google Shape;19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5" name="Google Shape;20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6" name="Google Shape;21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24" name="Google Shape;224;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9" name="Google Shape;239;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6" name="Google Shape;246;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53" name="Google Shape;253;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0" name="Google Shape;26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95" name="Google Shape;29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302" name="Google Shape;302;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11" name="Google Shape;31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0" name="Google Shape;32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8" name="Google Shape;328;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50" name="Google Shape;350;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57" name="Google Shape;357;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64" name="Google Shape;364;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71" name="Google Shape;371;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79" name="Google Shape;379;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87" name="Google Shape;38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95" name="Google Shape;395;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03" name="Google Shape;403;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440" name="Google Shape;440;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9" name="Google Shape;499;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20" name="Google Shape;520;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42" name="Google Shape;542;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50" name="Google Shape;550;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59" name="Google Shape;559;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7" name="Google Shape;567;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75" name="Google Shape;575;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83" name="Google Shape;583;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92" name="Google Shape;592;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0" name="Google Shape;600;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9" name="Google Shape;609;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17" name="Google Shape;617;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26" name="Google Shape;626;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36" name="Google Shape;636;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45" name="Google Shape;645;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53" name="Google Shape;653;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62" name="Google Shape;662;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71" name="Google Shape;671;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79" name="Google Shape;679;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88" name="Google Shape;688;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96" name="Google Shape;696;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4" name="Google Shape;704;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12" name="Google Shape;712;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20" name="Google Shape;720;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28" name="Google Shape;728;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36" name="Google Shape;736;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44" name="Google Shape;744;p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52" name="Google Shape;752;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60" name="Google Shape;760;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83" name="Google Shape;783;p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92" name="Google Shape;792;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00" name="Google Shape;800;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08" name="Google Shape;808;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5" name="Google Shape;815;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16" name="Google Shape;816;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24" name="Google Shape;824;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32" name="Google Shape;832;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40" name="Google Shape;840;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48" name="Google Shape;848;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56" name="Google Shape;856;p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65" name="Google Shape;865;p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73" name="Google Shape;873;p1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81" name="Google Shape;881;p1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4"/>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4"/>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5"/>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0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6"/>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6"/>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0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07"/>
          <p:cNvSpPr txBox="1"/>
          <p:nvPr>
            <p:ph idx="1" type="body"/>
          </p:nvPr>
        </p:nvSpPr>
        <p:spPr>
          <a:xfrm>
            <a:off x="812800" y="1600203"/>
            <a:ext cx="7213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07"/>
          <p:cNvSpPr txBox="1"/>
          <p:nvPr>
            <p:ph idx="2" type="body"/>
          </p:nvPr>
        </p:nvSpPr>
        <p:spPr>
          <a:xfrm>
            <a:off x="8229600" y="1600203"/>
            <a:ext cx="7213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0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0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8"/>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08"/>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08"/>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08"/>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0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0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0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11"/>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11"/>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11"/>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2"/>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2"/>
          <p:cNvSpPr/>
          <p:nvPr>
            <p:ph idx="2" type="pic"/>
          </p:nvPr>
        </p:nvSpPr>
        <p:spPr>
          <a:xfrm>
            <a:off x="2389717" y="612775"/>
            <a:ext cx="73152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12"/>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3"/>
          <p:cNvSpPr txBox="1"/>
          <p:nvPr>
            <p:ph idx="1" type="body"/>
          </p:nvPr>
        </p:nvSpPr>
        <p:spPr>
          <a:xfrm rot="5400000">
            <a:off x="3833019" y="-1623215"/>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14"/>
          <p:cNvSpPr txBox="1"/>
          <p:nvPr>
            <p:ph type="title"/>
          </p:nvPr>
        </p:nvSpPr>
        <p:spPr>
          <a:xfrm rot="5400000">
            <a:off x="10688637" y="1371604"/>
            <a:ext cx="5851525" cy="3657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4"/>
          <p:cNvSpPr txBox="1"/>
          <p:nvPr>
            <p:ph idx="1" type="body"/>
          </p:nvPr>
        </p:nvSpPr>
        <p:spPr>
          <a:xfrm rot="5400000">
            <a:off x="3271838" y="-2184396"/>
            <a:ext cx="5851525" cy="1076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1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3"/>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0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spk.comp@coep.ac.in" TargetMode="External"/><Relationship Id="rId4" Type="http://schemas.openxmlformats.org/officeDocument/2006/relationships/hyperlink" Target="mailto:asm.comp@coep.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en.wikipedia.org/wiki/Brian_Kernighan" TargetMode="External"/><Relationship Id="rId4" Type="http://schemas.openxmlformats.org/officeDocument/2006/relationships/hyperlink" Target="https://www.hellocodies.com/c-standard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hellocodies.com/cplusplus-programming-introduc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hellocodies.com/cplusplus/" TargetMode="External"/><Relationship Id="rId4" Type="http://schemas.openxmlformats.org/officeDocument/2006/relationships/hyperlink" Target="https://en.wikipedia.org/wiki/GObject" TargetMode="External"/><Relationship Id="rId5" Type="http://schemas.openxmlformats.org/officeDocument/2006/relationships/hyperlink" Target="https://en.wikipedia.org/wiki/Boehm_garbage_collecto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ide.geeksforgeeks.org/" TargetMode="External"/><Relationship Id="rId4" Type="http://schemas.openxmlformats.org/officeDocument/2006/relationships/hyperlink" Target="http://ideone.com/" TargetMode="External"/><Relationship Id="rId5" Type="http://schemas.openxmlformats.org/officeDocument/2006/relationships/hyperlink" Target="http://codepad.org/" TargetMode="External"/><Relationship Id="rId6" Type="http://schemas.openxmlformats.org/officeDocument/2006/relationships/hyperlink" Target="http://www.codeblocks.org/downloads/26" TargetMode="External"/><Relationship Id="rId7" Type="http://schemas.openxmlformats.org/officeDocument/2006/relationships/hyperlink" Target="http://www.bloodshed.net/download.html" TargetMode="External"/><Relationship Id="rId8" Type="http://schemas.openxmlformats.org/officeDocument/2006/relationships/hyperlink" Target="http://en.wikipedia.org/wiki/GNU_Compiler_Collectio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4.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1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1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097280" y="758952"/>
            <a:ext cx="10058400" cy="174612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accent2"/>
              </a:buClr>
              <a:buSzPts val="5400"/>
              <a:buFont typeface="Calibri"/>
              <a:buNone/>
            </a:pPr>
            <a:r>
              <a:rPr lang="en-US" sz="5400">
                <a:solidFill>
                  <a:schemeClr val="accent2"/>
                </a:solidFill>
              </a:rPr>
              <a:t>Introduction to C Programming</a:t>
            </a:r>
            <a:endParaRPr/>
          </a:p>
        </p:txBody>
      </p:sp>
      <p:sp>
        <p:nvSpPr>
          <p:cNvPr id="89" name="Google Shape;89;p1"/>
          <p:cNvSpPr txBox="1"/>
          <p:nvPr/>
        </p:nvSpPr>
        <p:spPr>
          <a:xfrm>
            <a:off x="4007805" y="2782669"/>
            <a:ext cx="577414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Prof. Shrida Kalamkar | Prof. Ashwini Matange</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200" u="sng" cap="none" strike="noStrike">
                <a:solidFill>
                  <a:schemeClr val="dk1"/>
                </a:solidFill>
                <a:latin typeface="Calibri"/>
                <a:ea typeface="Calibri"/>
                <a:cs typeface="Calibri"/>
                <a:sym typeface="Calibri"/>
                <a:hlinkClick r:id="rId3">
                  <a:extLst>
                    <a:ext uri="{A12FA001-AC4F-418D-AE19-62706E023703}">
                      <ahyp:hlinkClr val="tx"/>
                    </a:ext>
                  </a:extLst>
                </a:hlinkClick>
              </a:rPr>
              <a:t>spk.comp@coep.ac.in</a:t>
            </a:r>
            <a:r>
              <a:rPr b="0" i="0" lang="en-US" sz="1200" u="none" cap="none" strike="noStrike">
                <a:solidFill>
                  <a:schemeClr val="dk1"/>
                </a:solidFill>
                <a:latin typeface="Calibri"/>
                <a:ea typeface="Calibri"/>
                <a:cs typeface="Calibri"/>
                <a:sym typeface="Calibri"/>
              </a:rPr>
              <a:t>   | </a:t>
            </a:r>
            <a:r>
              <a:rPr b="0" i="0" lang="en-US" sz="1200" u="sng" cap="none" strike="noStrike">
                <a:solidFill>
                  <a:schemeClr val="dk1"/>
                </a:solidFill>
                <a:latin typeface="Calibri"/>
                <a:ea typeface="Calibri"/>
                <a:cs typeface="Calibri"/>
                <a:sym typeface="Calibri"/>
                <a:hlinkClick r:id="rId4">
                  <a:extLst>
                    <a:ext uri="{A12FA001-AC4F-418D-AE19-62706E023703}">
                      <ahyp:hlinkClr val="tx"/>
                    </a:ext>
                  </a:extLst>
                </a:hlinkClick>
              </a:rPr>
              <a:t>asm.comp@coep.ac.in</a:t>
            </a:r>
            <a:r>
              <a:rPr b="0" i="0" lang="en-US" sz="12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ph idx="11" type="ftr"/>
          </p:nvPr>
        </p:nvSpPr>
        <p:spPr>
          <a:xfrm>
            <a:off x="454713" y="649287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Data Structures and Algorithms - I                                                  Odd Sem 2020</a:t>
            </a:r>
            <a:endParaRPr/>
          </a:p>
        </p:txBody>
      </p:sp>
      <p:sp>
        <p:nvSpPr>
          <p:cNvPr id="91" name="Google Shape;91;p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Programming Languages</a:t>
            </a:r>
            <a:endParaRPr/>
          </a:p>
        </p:txBody>
      </p:sp>
      <p:sp>
        <p:nvSpPr>
          <p:cNvPr id="98" name="Google Shape;98;p2"/>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Programmers write instructions in various programming languages, some directly understandable by computers and others requiring intermediate translation steps.</a:t>
            </a:r>
            <a:endParaRPr/>
          </a:p>
        </p:txBody>
      </p:sp>
      <p:sp>
        <p:nvSpPr>
          <p:cNvPr id="99" name="Google Shape;99;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814917" y="0"/>
            <a:ext cx="11038416"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Levels of Programming Languages</a:t>
            </a:r>
            <a:endParaRPr/>
          </a:p>
        </p:txBody>
      </p:sp>
      <p:sp>
        <p:nvSpPr>
          <p:cNvPr id="106" name="Google Shape;106;p3"/>
          <p:cNvSpPr txBox="1"/>
          <p:nvPr/>
        </p:nvSpPr>
        <p:spPr>
          <a:xfrm>
            <a:off x="203200" y="1148260"/>
            <a:ext cx="11857421" cy="563231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2400" u="none" cap="none" strike="noStrike">
                <a:solidFill>
                  <a:schemeClr val="dk1"/>
                </a:solidFill>
                <a:latin typeface="Times New Roman"/>
                <a:ea typeface="Times New Roman"/>
                <a:cs typeface="Times New Roman"/>
                <a:sym typeface="Times New Roman"/>
              </a:rPr>
              <a:t>Machine Languages</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Any computer can directly understand only its own </a:t>
            </a:r>
            <a:r>
              <a:rPr b="1" i="0" lang="en-US" sz="2400" u="none" cap="none" strike="noStrike">
                <a:solidFill>
                  <a:schemeClr val="dk1"/>
                </a:solidFill>
                <a:latin typeface="Times New Roman"/>
                <a:ea typeface="Times New Roman"/>
                <a:cs typeface="Times New Roman"/>
                <a:sym typeface="Times New Roman"/>
              </a:rPr>
              <a:t>machine language</a:t>
            </a:r>
            <a:r>
              <a:rPr b="0" i="1"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defined by its hardware architecture.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Machine languages generally consist of numbers (ultimately reduced to 1s and 0s). Such languages are cumbersome for humans.</a:t>
            </a:r>
            <a:endParaRPr/>
          </a:p>
          <a:p>
            <a:pPr indent="-190500" lvl="0" marL="3429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i="1" lang="en-US" sz="2400" u="none" cap="none" strike="noStrike">
                <a:solidFill>
                  <a:schemeClr val="dk1"/>
                </a:solidFill>
                <a:latin typeface="Times New Roman"/>
                <a:ea typeface="Times New Roman"/>
                <a:cs typeface="Times New Roman"/>
                <a:sym typeface="Times New Roman"/>
              </a:rPr>
              <a:t>Assembly Languages</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Programming in machine language was simply too slow and tedious for most programmers.</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Instead, they began using English like </a:t>
            </a:r>
            <a:r>
              <a:rPr b="0" i="1" lang="en-US" sz="2400" u="none" cap="none" strike="noStrike">
                <a:solidFill>
                  <a:schemeClr val="dk1"/>
                </a:solidFill>
                <a:latin typeface="Times New Roman"/>
                <a:ea typeface="Times New Roman"/>
                <a:cs typeface="Times New Roman"/>
                <a:sym typeface="Times New Roman"/>
              </a:rPr>
              <a:t>abbreviations </a:t>
            </a:r>
            <a:r>
              <a:rPr b="0" i="0" lang="en-US" sz="2400" u="none" cap="none" strike="noStrike">
                <a:solidFill>
                  <a:schemeClr val="dk1"/>
                </a:solidFill>
                <a:latin typeface="Times New Roman"/>
                <a:ea typeface="Times New Roman"/>
                <a:cs typeface="Times New Roman"/>
                <a:sym typeface="Times New Roman"/>
              </a:rPr>
              <a:t>to represent elementary operations.</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These abbreviations formed the basis of </a:t>
            </a:r>
            <a:r>
              <a:rPr b="1" i="0" lang="en-US" sz="2400" u="none" cap="none" strike="noStrike">
                <a:solidFill>
                  <a:schemeClr val="dk1"/>
                </a:solidFill>
                <a:latin typeface="Times New Roman"/>
                <a:ea typeface="Times New Roman"/>
                <a:cs typeface="Times New Roman"/>
                <a:sym typeface="Times New Roman"/>
              </a:rPr>
              <a:t>assembly languages</a:t>
            </a:r>
            <a:r>
              <a:rPr b="0" i="1" lang="en-US" sz="2400" u="none" cap="none" strike="noStrike">
                <a:solidFill>
                  <a:schemeClr val="dk1"/>
                </a:solidFill>
                <a:latin typeface="Times New Roman"/>
                <a:ea typeface="Times New Roman"/>
                <a:cs typeface="Times New Roman"/>
                <a:sym typeface="Times New Roman"/>
              </a:rPr>
              <a:t>. </a:t>
            </a:r>
            <a:endParaRPr/>
          </a:p>
          <a:p>
            <a:pPr indent="-342900" lvl="0" marL="342900" marR="0" rtl="0" algn="just">
              <a:spcBef>
                <a:spcPts val="0"/>
              </a:spcBef>
              <a:spcAft>
                <a:spcPts val="0"/>
              </a:spcAft>
              <a:buClr>
                <a:schemeClr val="dk1"/>
              </a:buClr>
              <a:buSzPts val="2400"/>
              <a:buFont typeface="Arial"/>
              <a:buChar char="•"/>
            </a:pPr>
            <a:r>
              <a:rPr b="0" i="1" lang="en-US" sz="2400" u="none" cap="none" strike="noStrike">
                <a:solidFill>
                  <a:schemeClr val="dk1"/>
                </a:solidFill>
                <a:latin typeface="Times New Roman"/>
                <a:ea typeface="Times New Roman"/>
                <a:cs typeface="Times New Roman"/>
                <a:sym typeface="Times New Roman"/>
              </a:rPr>
              <a:t>Translator programs </a:t>
            </a:r>
            <a:r>
              <a:rPr b="0" i="0" lang="en-US" sz="2400" u="none" cap="none" strike="noStrike">
                <a:solidFill>
                  <a:schemeClr val="dk1"/>
                </a:solidFill>
                <a:latin typeface="Times New Roman"/>
                <a:ea typeface="Times New Roman"/>
                <a:cs typeface="Times New Roman"/>
                <a:sym typeface="Times New Roman"/>
              </a:rPr>
              <a:t>called </a:t>
            </a:r>
            <a:r>
              <a:rPr b="1" i="0" lang="en-US" sz="2400" u="none" cap="none" strike="noStrike">
                <a:solidFill>
                  <a:schemeClr val="dk1"/>
                </a:solidFill>
                <a:latin typeface="Times New Roman"/>
                <a:ea typeface="Times New Roman"/>
                <a:cs typeface="Times New Roman"/>
                <a:sym typeface="Times New Roman"/>
              </a:rPr>
              <a:t>assemblers </a:t>
            </a:r>
            <a:r>
              <a:rPr b="0" i="0" lang="en-US" sz="2400" u="none" cap="none" strike="noStrike">
                <a:solidFill>
                  <a:schemeClr val="dk1"/>
                </a:solidFill>
                <a:latin typeface="Times New Roman"/>
                <a:ea typeface="Times New Roman"/>
                <a:cs typeface="Times New Roman"/>
                <a:sym typeface="Times New Roman"/>
              </a:rPr>
              <a:t>were developed to convert assembly-language programs to machine language.</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Although assembly-language code is clearer to humans, it’s incomprehensible to computers until translated to machine language.</a:t>
            </a:r>
            <a:endParaRPr/>
          </a:p>
          <a:p>
            <a:pPr indent="0" lvl="0" marL="0" marR="0" rtl="0" algn="just">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Courier"/>
              <a:ea typeface="Courier"/>
              <a:cs typeface="Courier"/>
              <a:sym typeface="Courier"/>
            </a:endParaRPr>
          </a:p>
        </p:txBody>
      </p:sp>
      <p:sp>
        <p:nvSpPr>
          <p:cNvPr id="107" name="Google Shape;107;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814917" y="0"/>
            <a:ext cx="11038416"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Levels of Programming Languages</a:t>
            </a:r>
            <a:endParaRPr/>
          </a:p>
        </p:txBody>
      </p:sp>
      <p:sp>
        <p:nvSpPr>
          <p:cNvPr id="114" name="Google Shape;114;p4"/>
          <p:cNvSpPr txBox="1"/>
          <p:nvPr/>
        </p:nvSpPr>
        <p:spPr>
          <a:xfrm>
            <a:off x="203200" y="1148260"/>
            <a:ext cx="11857421" cy="526297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US" sz="2400" u="none" cap="none" strike="noStrike">
                <a:solidFill>
                  <a:schemeClr val="dk1"/>
                </a:solidFill>
                <a:latin typeface="Times New Roman"/>
                <a:ea typeface="Times New Roman"/>
                <a:cs typeface="Times New Roman"/>
                <a:sym typeface="Times New Roman"/>
              </a:rPr>
              <a:t>High-Level Languages</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To speed the programming process even further, </a:t>
            </a:r>
            <a:r>
              <a:rPr b="1" i="0" lang="en-US" sz="2400" u="none" cap="none" strike="noStrike">
                <a:solidFill>
                  <a:schemeClr val="dk1"/>
                </a:solidFill>
                <a:latin typeface="Times New Roman"/>
                <a:ea typeface="Times New Roman"/>
                <a:cs typeface="Times New Roman"/>
                <a:sym typeface="Times New Roman"/>
              </a:rPr>
              <a:t>high-level languages </a:t>
            </a:r>
            <a:r>
              <a:rPr b="0" i="0" lang="en-US" sz="2400" u="none" cap="none" strike="noStrike">
                <a:solidFill>
                  <a:schemeClr val="dk1"/>
                </a:solidFill>
                <a:latin typeface="Times New Roman"/>
                <a:ea typeface="Times New Roman"/>
                <a:cs typeface="Times New Roman"/>
                <a:sym typeface="Times New Roman"/>
              </a:rPr>
              <a:t>were developed in which single statements could be written to accomplish substantial tasks.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High-level languages allow you to write instructions that look almost like everyday English and contain commonly used mathematical expressions.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Translator programs called </a:t>
            </a:r>
            <a:r>
              <a:rPr b="1" i="0" lang="en-US" sz="2400" u="none" cap="none" strike="noStrike">
                <a:solidFill>
                  <a:schemeClr val="dk1"/>
                </a:solidFill>
                <a:latin typeface="Times New Roman"/>
                <a:ea typeface="Times New Roman"/>
                <a:cs typeface="Times New Roman"/>
                <a:sym typeface="Times New Roman"/>
              </a:rPr>
              <a:t>compilers or interpreters </a:t>
            </a:r>
            <a:r>
              <a:rPr b="0" i="0" lang="en-US" sz="2400" u="none" cap="none" strike="noStrike">
                <a:solidFill>
                  <a:schemeClr val="dk1"/>
                </a:solidFill>
                <a:latin typeface="Times New Roman"/>
                <a:ea typeface="Times New Roman"/>
                <a:cs typeface="Times New Roman"/>
                <a:sym typeface="Times New Roman"/>
              </a:rPr>
              <a:t>convert high-level language programs into machine language.</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Compilers translate the entire program into machine language before executing any of the instructions.</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Interpreters, on the other hand, proceed through a program by translating and then executing single instructions or small groups of instructions. </a:t>
            </a:r>
            <a:endParaRPr/>
          </a:p>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Every computer must have its own compiler or interpreter for a particular high-level language.</a:t>
            </a:r>
            <a:endParaRPr/>
          </a:p>
          <a:p>
            <a:pPr indent="-190500" lvl="0" marL="3429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5" name="Google Shape;115;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814917" y="0"/>
            <a:ext cx="11038416"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Levels of Programming Languages</a:t>
            </a:r>
            <a:endParaRPr/>
          </a:p>
        </p:txBody>
      </p:sp>
      <p:sp>
        <p:nvSpPr>
          <p:cNvPr id="121" name="Google Shape;121;p5"/>
          <p:cNvSpPr txBox="1"/>
          <p:nvPr/>
        </p:nvSpPr>
        <p:spPr>
          <a:xfrm>
            <a:off x="203200" y="990600"/>
            <a:ext cx="765386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a:ea typeface="Times"/>
                <a:cs typeface="Times"/>
                <a:sym typeface="Times"/>
              </a:rPr>
              <a:t>High-level language</a:t>
            </a:r>
            <a:endParaRPr b="0" i="0" sz="2400" u="none" cap="none" strike="noStrike">
              <a:solidFill>
                <a:schemeClr val="dk1"/>
              </a:solidFill>
              <a:latin typeface="Courier"/>
              <a:ea typeface="Courier"/>
              <a:cs typeface="Courier"/>
              <a:sym typeface="Courier"/>
            </a:endParaRPr>
          </a:p>
        </p:txBody>
      </p:sp>
      <p:sp>
        <p:nvSpPr>
          <p:cNvPr id="122" name="Google Shape;122;p5"/>
          <p:cNvSpPr/>
          <p:nvPr/>
        </p:nvSpPr>
        <p:spPr>
          <a:xfrm>
            <a:off x="4747685" y="1127951"/>
            <a:ext cx="2528256" cy="1477328"/>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class Triangle {</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   </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float surface()</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return b*h/2;</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a:t>
            </a:r>
            <a:endParaRPr/>
          </a:p>
        </p:txBody>
      </p:sp>
      <p:sp>
        <p:nvSpPr>
          <p:cNvPr id="123" name="Google Shape;123;p5"/>
          <p:cNvSpPr txBox="1"/>
          <p:nvPr/>
        </p:nvSpPr>
        <p:spPr>
          <a:xfrm>
            <a:off x="203200" y="3124200"/>
            <a:ext cx="3657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a:ea typeface="Times"/>
                <a:cs typeface="Times"/>
                <a:sym typeface="Times"/>
              </a:rPr>
              <a:t>Assembly language</a:t>
            </a:r>
            <a:endParaRPr b="0" i="0" sz="2400" u="none" cap="none" strike="noStrike">
              <a:solidFill>
                <a:schemeClr val="dk1"/>
              </a:solidFill>
              <a:latin typeface="Courier"/>
              <a:ea typeface="Courier"/>
              <a:cs typeface="Courier"/>
              <a:sym typeface="Courier"/>
            </a:endParaRPr>
          </a:p>
        </p:txBody>
      </p:sp>
      <p:sp>
        <p:nvSpPr>
          <p:cNvPr id="124" name="Google Shape;124;p5"/>
          <p:cNvSpPr/>
          <p:nvPr/>
        </p:nvSpPr>
        <p:spPr>
          <a:xfrm>
            <a:off x="4775200" y="3124200"/>
            <a:ext cx="4368800" cy="1477328"/>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LOAD r1,b</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LOAD r2,h</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MUL r1,r2</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DIV r1,#2</a:t>
            </a:r>
            <a:endParaRPr/>
          </a:p>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RET</a:t>
            </a:r>
            <a:endParaRPr/>
          </a:p>
        </p:txBody>
      </p:sp>
      <p:sp>
        <p:nvSpPr>
          <p:cNvPr id="125" name="Google Shape;125;p5"/>
          <p:cNvSpPr txBox="1"/>
          <p:nvPr/>
        </p:nvSpPr>
        <p:spPr>
          <a:xfrm>
            <a:off x="304800" y="5181600"/>
            <a:ext cx="4572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a:ea typeface="Times"/>
                <a:cs typeface="Times"/>
                <a:sym typeface="Times"/>
              </a:rPr>
              <a:t>Machine language</a:t>
            </a:r>
            <a:endParaRPr b="0" i="0" sz="2400" u="none" cap="none" strike="noStrike">
              <a:solidFill>
                <a:schemeClr val="dk1"/>
              </a:solidFill>
              <a:latin typeface="Courier"/>
              <a:ea typeface="Courier"/>
              <a:cs typeface="Courier"/>
              <a:sym typeface="Courier"/>
            </a:endParaRPr>
          </a:p>
        </p:txBody>
      </p:sp>
      <p:sp>
        <p:nvSpPr>
          <p:cNvPr id="126" name="Google Shape;126;p5"/>
          <p:cNvSpPr/>
          <p:nvPr/>
        </p:nvSpPr>
        <p:spPr>
          <a:xfrm>
            <a:off x="4775200" y="5257801"/>
            <a:ext cx="4368800" cy="646331"/>
          </a:xfrm>
          <a:prstGeom prst="rect">
            <a:avLst/>
          </a:prstGeom>
          <a:solidFill>
            <a:schemeClr val="lt1"/>
          </a:solidFill>
          <a:ln cap="flat" cmpd="sng" w="9525">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0001001001000101001001001110110010101101001...</a:t>
            </a:r>
            <a:endParaRPr/>
          </a:p>
        </p:txBody>
      </p:sp>
      <p:sp>
        <p:nvSpPr>
          <p:cNvPr id="127" name="Google Shape;127;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What is Compiler in C?</a:t>
            </a:r>
            <a:endParaRPr/>
          </a:p>
        </p:txBody>
      </p:sp>
      <p:sp>
        <p:nvSpPr>
          <p:cNvPr id="134" name="Google Shape;134;p6"/>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Char char="•"/>
            </a:pPr>
            <a:r>
              <a:rPr lang="en-US"/>
              <a:t>A compiler is a computer program that transforms human readable (programming language) source code into another computer language (binary) code.</a:t>
            </a:r>
            <a:endParaRPr/>
          </a:p>
          <a:p>
            <a:pPr indent="-342900" lvl="0" marL="342900" rtl="0" algn="just">
              <a:lnSpc>
                <a:spcPct val="90000"/>
              </a:lnSpc>
              <a:spcBef>
                <a:spcPts val="640"/>
              </a:spcBef>
              <a:spcAft>
                <a:spcPts val="0"/>
              </a:spcAft>
              <a:buClr>
                <a:schemeClr val="dk1"/>
              </a:buClr>
              <a:buSzPts val="3200"/>
              <a:buChar char="•"/>
            </a:pPr>
            <a:r>
              <a:rPr lang="en-US"/>
              <a:t>A compiler or interpreter is itself a computer program. </a:t>
            </a:r>
            <a:endParaRPr/>
          </a:p>
          <a:p>
            <a:pPr indent="-342900" lvl="0" marL="342900" rtl="0" algn="just">
              <a:lnSpc>
                <a:spcPct val="90000"/>
              </a:lnSpc>
              <a:spcBef>
                <a:spcPts val="640"/>
              </a:spcBef>
              <a:spcAft>
                <a:spcPts val="0"/>
              </a:spcAft>
              <a:buClr>
                <a:schemeClr val="dk1"/>
              </a:buClr>
              <a:buSzPts val="3200"/>
              <a:buChar char="•"/>
            </a:pPr>
            <a:r>
              <a:rPr lang="en-US"/>
              <a:t>It accepts a program written in a high-level language (e.g., C) as input, and generates a corresponding machine-language program as output. </a:t>
            </a:r>
            <a:endParaRPr/>
          </a:p>
          <a:p>
            <a:pPr indent="-342900" lvl="0" marL="342900" rtl="0" algn="just">
              <a:lnSpc>
                <a:spcPct val="90000"/>
              </a:lnSpc>
              <a:spcBef>
                <a:spcPts val="640"/>
              </a:spcBef>
              <a:spcAft>
                <a:spcPts val="0"/>
              </a:spcAft>
              <a:buClr>
                <a:schemeClr val="dk1"/>
              </a:buClr>
              <a:buSzPts val="3200"/>
              <a:buChar char="•"/>
            </a:pPr>
            <a:r>
              <a:rPr lang="en-US"/>
              <a:t>C compiler is a software application that transforms human readable C program code to machine readable code. </a:t>
            </a:r>
            <a:endParaRPr/>
          </a:p>
          <a:p>
            <a:pPr indent="-342900" lvl="0" marL="342900" rtl="0" algn="just">
              <a:lnSpc>
                <a:spcPct val="90000"/>
              </a:lnSpc>
              <a:spcBef>
                <a:spcPts val="640"/>
              </a:spcBef>
              <a:spcAft>
                <a:spcPts val="0"/>
              </a:spcAft>
              <a:buClr>
                <a:schemeClr val="dk1"/>
              </a:buClr>
              <a:buSzPts val="3200"/>
              <a:buChar char="•"/>
            </a:pPr>
            <a:r>
              <a:rPr lang="en-US"/>
              <a:t>The process of transforming the code from High Level Language to Machine Level Language is called “Compilation”. </a:t>
            </a:r>
            <a:endParaRPr/>
          </a:p>
        </p:txBody>
      </p:sp>
      <p:sp>
        <p:nvSpPr>
          <p:cNvPr id="135" name="Google Shape;135;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Programming Introduction</a:t>
            </a:r>
            <a:endParaRPr/>
          </a:p>
        </p:txBody>
      </p:sp>
      <p:sp>
        <p:nvSpPr>
          <p:cNvPr id="141" name="Google Shape;141;p7"/>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 is a powerful general-purpose programming language. </a:t>
            </a:r>
            <a:endParaRPr/>
          </a:p>
          <a:p>
            <a:pPr indent="-342900" lvl="0" marL="342900" rtl="0" algn="l">
              <a:spcBef>
                <a:spcPts val="640"/>
              </a:spcBef>
              <a:spcAft>
                <a:spcPts val="0"/>
              </a:spcAft>
              <a:buClr>
                <a:schemeClr val="dk1"/>
              </a:buClr>
              <a:buSzPts val="3200"/>
              <a:buChar char="•"/>
            </a:pPr>
            <a:r>
              <a:rPr lang="en-US"/>
              <a:t>C Programming is fast, easy, portable, highly efficient and available on all platforms. </a:t>
            </a:r>
            <a:endParaRPr/>
          </a:p>
          <a:p>
            <a:pPr indent="-342900" lvl="0" marL="342900" rtl="0" algn="l">
              <a:spcBef>
                <a:spcPts val="640"/>
              </a:spcBef>
              <a:spcAft>
                <a:spcPts val="0"/>
              </a:spcAft>
              <a:buClr>
                <a:schemeClr val="dk1"/>
              </a:buClr>
              <a:buSzPts val="3200"/>
              <a:buChar char="•"/>
            </a:pPr>
            <a:r>
              <a:rPr lang="en-US"/>
              <a:t>That’s the main reason behind its popularity despite being nearly 50 years old.</a:t>
            </a:r>
            <a:endParaRPr/>
          </a:p>
          <a:p>
            <a:pPr indent="-342900" lvl="0" marL="342900" rtl="0" algn="l">
              <a:spcBef>
                <a:spcPts val="640"/>
              </a:spcBef>
              <a:spcAft>
                <a:spcPts val="0"/>
              </a:spcAft>
              <a:buClr>
                <a:schemeClr val="dk1"/>
              </a:buClr>
              <a:buSzPts val="3200"/>
              <a:buChar char="•"/>
            </a:pPr>
            <a:r>
              <a:rPr lang="en-US"/>
              <a:t>Standard C programs are portable. </a:t>
            </a:r>
            <a:endParaRPr/>
          </a:p>
          <a:p>
            <a:pPr indent="-342900" lvl="0" marL="342900" rtl="0" algn="l">
              <a:spcBef>
                <a:spcPts val="640"/>
              </a:spcBef>
              <a:spcAft>
                <a:spcPts val="0"/>
              </a:spcAft>
              <a:buClr>
                <a:schemeClr val="dk1"/>
              </a:buClr>
              <a:buSzPts val="3200"/>
              <a:buChar char="•"/>
            </a:pPr>
            <a:r>
              <a:rPr lang="en-US"/>
              <a:t>The code written in one system works in another operating system without any change.</a:t>
            </a:r>
            <a:endParaRPr/>
          </a:p>
          <a:p>
            <a:pPr indent="-139700" lvl="0" marL="342900" rtl="0" algn="l">
              <a:spcBef>
                <a:spcPts val="640"/>
              </a:spcBef>
              <a:spcAft>
                <a:spcPts val="0"/>
              </a:spcAft>
              <a:buClr>
                <a:schemeClr val="dk1"/>
              </a:buClr>
              <a:buSzPts val="3200"/>
              <a:buNone/>
            </a:pPr>
            <a:r>
              <a:t/>
            </a:r>
            <a:endParaRPr/>
          </a:p>
        </p:txBody>
      </p:sp>
      <p:sp>
        <p:nvSpPr>
          <p:cNvPr id="142" name="Google Shape;142;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 C History &amp; Standardization</a:t>
            </a:r>
            <a:endParaRPr/>
          </a:p>
        </p:txBody>
      </p:sp>
      <p:sp>
        <p:nvSpPr>
          <p:cNvPr id="149" name="Google Shape;149;p8"/>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720"/>
              <a:buChar char="•"/>
            </a:pPr>
            <a:r>
              <a:rPr lang="en-US" sz="2720"/>
              <a:t>C evolved from two previous languages, BCPL and B. </a:t>
            </a:r>
            <a:endParaRPr/>
          </a:p>
          <a:p>
            <a:pPr indent="-342900" lvl="0" marL="342900" rtl="0" algn="just">
              <a:lnSpc>
                <a:spcPct val="80000"/>
              </a:lnSpc>
              <a:spcBef>
                <a:spcPts val="544"/>
              </a:spcBef>
              <a:spcAft>
                <a:spcPts val="0"/>
              </a:spcAft>
              <a:buClr>
                <a:schemeClr val="dk1"/>
              </a:buClr>
              <a:buSzPts val="2720"/>
              <a:buChar char="•"/>
            </a:pPr>
            <a:r>
              <a:rPr lang="en-US" sz="2720"/>
              <a:t>The C language was developed by Dennis Ritchie at Bell Laboratories and was originally implemented in 1972. </a:t>
            </a:r>
            <a:endParaRPr/>
          </a:p>
          <a:p>
            <a:pPr indent="-342900" lvl="0" marL="342900" rtl="0" algn="just">
              <a:lnSpc>
                <a:spcPct val="80000"/>
              </a:lnSpc>
              <a:spcBef>
                <a:spcPts val="544"/>
              </a:spcBef>
              <a:spcAft>
                <a:spcPts val="0"/>
              </a:spcAft>
              <a:buClr>
                <a:schemeClr val="dk1"/>
              </a:buClr>
              <a:buSzPts val="2720"/>
              <a:buChar char="•"/>
            </a:pPr>
            <a:r>
              <a:rPr lang="en-US" sz="2720"/>
              <a:t>C initially became widely known as the development language of the UNIX operating system. </a:t>
            </a:r>
            <a:endParaRPr/>
          </a:p>
          <a:p>
            <a:pPr indent="-342900" lvl="0" marL="342900" rtl="0" algn="just">
              <a:lnSpc>
                <a:spcPct val="80000"/>
              </a:lnSpc>
              <a:spcBef>
                <a:spcPts val="544"/>
              </a:spcBef>
              <a:spcAft>
                <a:spcPts val="0"/>
              </a:spcAft>
              <a:buClr>
                <a:schemeClr val="dk1"/>
              </a:buClr>
              <a:buSzPts val="2720"/>
              <a:buChar char="•"/>
            </a:pPr>
            <a:r>
              <a:rPr lang="en-US" sz="2720"/>
              <a:t>The rapid expansion of C over various types of computers (sometimes called </a:t>
            </a:r>
            <a:r>
              <a:rPr b="1" lang="en-US" sz="2720"/>
              <a:t>hardware platforms</a:t>
            </a:r>
            <a:r>
              <a:rPr lang="en-US" sz="2720"/>
              <a:t>) led to many variations that were similar but often incompatible.</a:t>
            </a:r>
            <a:endParaRPr/>
          </a:p>
          <a:p>
            <a:pPr indent="-342900" lvl="0" marL="342900" rtl="0" algn="just">
              <a:lnSpc>
                <a:spcPct val="80000"/>
              </a:lnSpc>
              <a:spcBef>
                <a:spcPts val="544"/>
              </a:spcBef>
              <a:spcAft>
                <a:spcPts val="0"/>
              </a:spcAft>
              <a:buClr>
                <a:schemeClr val="dk1"/>
              </a:buClr>
              <a:buSzPts val="2720"/>
              <a:buChar char="•"/>
            </a:pPr>
            <a:r>
              <a:rPr lang="en-US" sz="2720"/>
              <a:t>Consequently, the American National Standards Institute(ANSI) developed a standardized (X3) definition of the C language. </a:t>
            </a:r>
            <a:endParaRPr/>
          </a:p>
          <a:p>
            <a:pPr indent="-342900" lvl="0" marL="342900" rtl="0" algn="just">
              <a:lnSpc>
                <a:spcPct val="80000"/>
              </a:lnSpc>
              <a:spcBef>
                <a:spcPts val="544"/>
              </a:spcBef>
              <a:spcAft>
                <a:spcPts val="0"/>
              </a:spcAft>
              <a:buClr>
                <a:schemeClr val="dk1"/>
              </a:buClr>
              <a:buSzPts val="2720"/>
              <a:buChar char="•"/>
            </a:pPr>
            <a:r>
              <a:rPr lang="en-US" sz="2720"/>
              <a:t>Revised standard came in 1999 known as C99. New C standard is C11.</a:t>
            </a:r>
            <a:endParaRPr/>
          </a:p>
          <a:p>
            <a:pPr indent="-342900" lvl="0" marL="342900" rtl="0" algn="just">
              <a:lnSpc>
                <a:spcPct val="80000"/>
              </a:lnSpc>
              <a:spcBef>
                <a:spcPts val="544"/>
              </a:spcBef>
              <a:spcAft>
                <a:spcPts val="0"/>
              </a:spcAft>
              <a:buClr>
                <a:schemeClr val="dk1"/>
              </a:buClr>
              <a:buSzPts val="2720"/>
              <a:buChar char="•"/>
            </a:pPr>
            <a:r>
              <a:rPr lang="en-US" sz="2720"/>
              <a:t>Virtually all commercial C compilers and interpreters now adhere to the ANSI standard. Many also provide additional features of their own.</a:t>
            </a:r>
            <a:endParaRPr/>
          </a:p>
        </p:txBody>
      </p:sp>
      <p:sp>
        <p:nvSpPr>
          <p:cNvPr id="150" name="Google Shape;150;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Early Development of C Programming</a:t>
            </a:r>
            <a:endParaRPr/>
          </a:p>
        </p:txBody>
      </p:sp>
      <p:sp>
        <p:nvSpPr>
          <p:cNvPr id="156" name="Google Shape;156;p9"/>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720"/>
              <a:buChar char="•"/>
            </a:pPr>
            <a:r>
              <a:rPr lang="en-US" sz="2720"/>
              <a:t>Since then C Language became the most widely used programming languages of all time with C compilers from various manufacturers available for the majority of existing computer architectures and operating systems.</a:t>
            </a:r>
            <a:endParaRPr/>
          </a:p>
          <a:p>
            <a:pPr indent="-342900" lvl="0" marL="342900" rtl="0" algn="l">
              <a:lnSpc>
                <a:spcPct val="90000"/>
              </a:lnSpc>
              <a:spcBef>
                <a:spcPts val="544"/>
              </a:spcBef>
              <a:spcAft>
                <a:spcPts val="0"/>
              </a:spcAft>
              <a:buClr>
                <a:schemeClr val="dk1"/>
              </a:buClr>
              <a:buSzPts val="2720"/>
              <a:buChar char="•"/>
            </a:pPr>
            <a:r>
              <a:rPr lang="en-US" sz="2720"/>
              <a:t>C has been standardized by the (ANSI) American National Standards Institute in 1989 as called ANSI C and subsequently by the International Organization for Standardization (ISO).</a:t>
            </a:r>
            <a:endParaRPr/>
          </a:p>
          <a:p>
            <a:pPr indent="-342900" lvl="0" marL="342900" rtl="0" algn="l">
              <a:lnSpc>
                <a:spcPct val="90000"/>
              </a:lnSpc>
              <a:spcBef>
                <a:spcPts val="544"/>
              </a:spcBef>
              <a:spcAft>
                <a:spcPts val="0"/>
              </a:spcAft>
              <a:buClr>
                <a:schemeClr val="dk1"/>
              </a:buClr>
              <a:buSzPts val="2720"/>
              <a:buChar char="•"/>
            </a:pPr>
            <a:r>
              <a:rPr lang="en-US" sz="2720"/>
              <a:t>In 1978, </a:t>
            </a:r>
            <a:r>
              <a:rPr lang="en-US" sz="2720" u="sng">
                <a:solidFill>
                  <a:schemeClr val="hlink"/>
                </a:solidFill>
                <a:hlinkClick r:id="rId3"/>
              </a:rPr>
              <a:t>Brian Kernighan</a:t>
            </a:r>
            <a:r>
              <a:rPr lang="en-US" sz="2720"/>
              <a:t> and Dennis Ritchie published the first edition of C Programming Language book known to C programmers as “K&amp;R C”, served as an informal specification of the language for many years. </a:t>
            </a:r>
            <a:endParaRPr/>
          </a:p>
          <a:p>
            <a:pPr indent="-342900" lvl="0" marL="342900" rtl="0" algn="l">
              <a:lnSpc>
                <a:spcPct val="90000"/>
              </a:lnSpc>
              <a:spcBef>
                <a:spcPts val="544"/>
              </a:spcBef>
              <a:spcAft>
                <a:spcPts val="0"/>
              </a:spcAft>
              <a:buClr>
                <a:schemeClr val="dk1"/>
              </a:buClr>
              <a:buSzPts val="2720"/>
              <a:buChar char="•"/>
            </a:pPr>
            <a:r>
              <a:rPr lang="en-US" sz="2720"/>
              <a:t>The 2nd edition covers the </a:t>
            </a:r>
            <a:r>
              <a:rPr lang="en-US" sz="2720" u="sng">
                <a:solidFill>
                  <a:schemeClr val="hlink"/>
                </a:solidFill>
                <a:hlinkClick r:id="rId4"/>
              </a:rPr>
              <a:t>ANSI C standard</a:t>
            </a:r>
            <a:r>
              <a:rPr lang="en-US" sz="2720"/>
              <a:t>, described below.</a:t>
            </a:r>
            <a:endParaRPr/>
          </a:p>
          <a:p>
            <a:pPr indent="-170180" lvl="0" marL="342900" rtl="0" algn="l">
              <a:lnSpc>
                <a:spcPct val="90000"/>
              </a:lnSpc>
              <a:spcBef>
                <a:spcPts val="544"/>
              </a:spcBef>
              <a:spcAft>
                <a:spcPts val="0"/>
              </a:spcAft>
              <a:buClr>
                <a:schemeClr val="dk1"/>
              </a:buClr>
              <a:buSzPts val="2720"/>
              <a:buNone/>
            </a:pPr>
            <a:r>
              <a:t/>
            </a:r>
            <a:endParaRPr sz="2720"/>
          </a:p>
          <a:p>
            <a:pPr indent="-170180" lvl="0" marL="342900" rtl="0" algn="l">
              <a:lnSpc>
                <a:spcPct val="90000"/>
              </a:lnSpc>
              <a:spcBef>
                <a:spcPts val="544"/>
              </a:spcBef>
              <a:spcAft>
                <a:spcPts val="0"/>
              </a:spcAft>
              <a:buClr>
                <a:schemeClr val="dk1"/>
              </a:buClr>
              <a:buSzPts val="2720"/>
              <a:buNone/>
            </a:pPr>
            <a:r>
              <a:t/>
            </a:r>
            <a:endParaRPr sz="2720"/>
          </a:p>
        </p:txBody>
      </p:sp>
      <p:sp>
        <p:nvSpPr>
          <p:cNvPr id="157" name="Google Shape;157;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63" name="Google Shape;163;p10"/>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K&amp;R introduced several language features:</a:t>
            </a:r>
            <a:endParaRPr/>
          </a:p>
          <a:p>
            <a:pPr indent="-285750" lvl="1" marL="742950" rtl="0" algn="l">
              <a:spcBef>
                <a:spcPts val="560"/>
              </a:spcBef>
              <a:spcAft>
                <a:spcPts val="0"/>
              </a:spcAft>
              <a:buClr>
                <a:schemeClr val="dk1"/>
              </a:buClr>
              <a:buSzPts val="2800"/>
              <a:buChar char="–"/>
            </a:pPr>
            <a:r>
              <a:rPr lang="en-US"/>
              <a:t>Standard I/O library</a:t>
            </a:r>
            <a:endParaRPr/>
          </a:p>
          <a:p>
            <a:pPr indent="-285750" lvl="1" marL="742950" rtl="0" algn="l">
              <a:spcBef>
                <a:spcPts val="560"/>
              </a:spcBef>
              <a:spcAft>
                <a:spcPts val="0"/>
              </a:spcAft>
              <a:buClr>
                <a:schemeClr val="dk1"/>
              </a:buClr>
              <a:buSzPts val="2800"/>
              <a:buChar char="–"/>
            </a:pPr>
            <a:r>
              <a:rPr lang="en-US"/>
              <a:t>long int data type</a:t>
            </a:r>
            <a:endParaRPr/>
          </a:p>
          <a:p>
            <a:pPr indent="-285750" lvl="1" marL="742950" rtl="0" algn="l">
              <a:spcBef>
                <a:spcPts val="560"/>
              </a:spcBef>
              <a:spcAft>
                <a:spcPts val="0"/>
              </a:spcAft>
              <a:buClr>
                <a:schemeClr val="dk1"/>
              </a:buClr>
              <a:buSzPts val="2800"/>
              <a:buChar char="–"/>
            </a:pPr>
            <a:r>
              <a:rPr lang="en-US"/>
              <a:t>unsigned int data type</a:t>
            </a:r>
            <a:endParaRPr/>
          </a:p>
          <a:p>
            <a:pPr indent="-342900" lvl="0" marL="342900" rtl="0" algn="l">
              <a:spcBef>
                <a:spcPts val="640"/>
              </a:spcBef>
              <a:spcAft>
                <a:spcPts val="0"/>
              </a:spcAft>
              <a:buClr>
                <a:schemeClr val="dk1"/>
              </a:buClr>
              <a:buSzPts val="3200"/>
              <a:buChar char="•"/>
            </a:pPr>
            <a:r>
              <a:rPr b="1" lang="en-US"/>
              <a:t>Important NOTE:</a:t>
            </a:r>
            <a:r>
              <a:rPr lang="en-US"/>
              <a:t> </a:t>
            </a:r>
            <a:r>
              <a:rPr i="1" lang="en-US"/>
              <a:t>In early versions of C, functions that do not have return type has “INT” as default return type.</a:t>
            </a:r>
            <a:endParaRPr/>
          </a:p>
          <a:p>
            <a:pPr indent="-139700" lvl="0" marL="342900" rtl="0" algn="l">
              <a:spcBef>
                <a:spcPts val="640"/>
              </a:spcBef>
              <a:spcAft>
                <a:spcPts val="0"/>
              </a:spcAft>
              <a:buClr>
                <a:schemeClr val="dk1"/>
              </a:buClr>
              <a:buSzPts val="3200"/>
              <a:buNone/>
            </a:pPr>
            <a:r>
              <a:t/>
            </a:r>
            <a:endParaRPr/>
          </a:p>
        </p:txBody>
      </p:sp>
      <p:sp>
        <p:nvSpPr>
          <p:cNvPr id="164" name="Google Shape;164;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relation with other Programming languages</a:t>
            </a:r>
            <a:endParaRPr/>
          </a:p>
        </p:txBody>
      </p:sp>
      <p:sp>
        <p:nvSpPr>
          <p:cNvPr id="170" name="Google Shape;170;p11"/>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Many languages developed after C language existence have their syntax or library files written directly or indirectly in C, including </a:t>
            </a:r>
            <a:r>
              <a:rPr lang="en-US" sz="2960">
                <a:solidFill>
                  <a:srgbClr val="000000"/>
                </a:solidFill>
                <a:uFill>
                  <a:noFill/>
                </a:uFill>
                <a:hlinkClick r:id="rId3">
                  <a:extLst>
                    <a:ext uri="{A12FA001-AC4F-418D-AE19-62706E023703}">
                      <ahyp:hlinkClr val="tx"/>
                    </a:ext>
                  </a:extLst>
                </a:hlinkClick>
              </a:rPr>
              <a:t>C++</a:t>
            </a:r>
            <a:r>
              <a:rPr lang="en-US" sz="2960"/>
              <a:t>, JavaScript, C#, Java, Unix’s C shell, D, Go, Limbo, LPC, Objective-C, Perl, PHP, Python, Rust, Swift, and Verilog (hardware description language).</a:t>
            </a:r>
            <a:endParaRPr/>
          </a:p>
          <a:p>
            <a:pPr indent="-342900" lvl="0" marL="342900" rtl="0" algn="l">
              <a:lnSpc>
                <a:spcPct val="80000"/>
              </a:lnSpc>
              <a:spcBef>
                <a:spcPts val="592"/>
              </a:spcBef>
              <a:spcAft>
                <a:spcPts val="0"/>
              </a:spcAft>
              <a:buClr>
                <a:schemeClr val="dk1"/>
              </a:buClr>
              <a:buSzPts val="2960"/>
              <a:buChar char="•"/>
            </a:pPr>
            <a:r>
              <a:rPr lang="en-US" sz="2960"/>
              <a:t>These languages got many of their control structures and other features from C. </a:t>
            </a:r>
            <a:endParaRPr/>
          </a:p>
          <a:p>
            <a:pPr indent="-342900" lvl="0" marL="342900" rtl="0" algn="l">
              <a:lnSpc>
                <a:spcPct val="80000"/>
              </a:lnSpc>
              <a:spcBef>
                <a:spcPts val="592"/>
              </a:spcBef>
              <a:spcAft>
                <a:spcPts val="0"/>
              </a:spcAft>
              <a:buClr>
                <a:schemeClr val="dk1"/>
              </a:buClr>
              <a:buSzPts val="2960"/>
              <a:buChar char="•"/>
            </a:pPr>
            <a:r>
              <a:rPr lang="en-US" sz="2960"/>
              <a:t>Most of them have their syntax very similar to C programs in general, and if you know C programming than you can easily understand compile or debug most of the languages without knowing it properly.</a:t>
            </a:r>
            <a:endParaRPr/>
          </a:p>
          <a:p>
            <a:pPr indent="-154940" lvl="0" marL="342900" rtl="0" algn="l">
              <a:lnSpc>
                <a:spcPct val="80000"/>
              </a:lnSpc>
              <a:spcBef>
                <a:spcPts val="592"/>
              </a:spcBef>
              <a:spcAft>
                <a:spcPts val="0"/>
              </a:spcAft>
              <a:buClr>
                <a:schemeClr val="dk1"/>
              </a:buClr>
              <a:buSzPts val="2960"/>
              <a:buNone/>
            </a:pPr>
            <a:r>
              <a:t/>
            </a:r>
            <a:endParaRPr sz="2960"/>
          </a:p>
        </p:txBody>
      </p:sp>
      <p:sp>
        <p:nvSpPr>
          <p:cNvPr id="171" name="Google Shape;171;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Overview of C Programming</a:t>
            </a:r>
            <a:endParaRPr/>
          </a:p>
        </p:txBody>
      </p:sp>
      <p:sp>
        <p:nvSpPr>
          <p:cNvPr id="177" name="Google Shape;177;p12"/>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C is also a structured programming language and allowing variable scope and recursion. </a:t>
            </a:r>
            <a:endParaRPr/>
          </a:p>
          <a:p>
            <a:pPr indent="-342900" lvl="0" marL="342900" rtl="0" algn="l">
              <a:lnSpc>
                <a:spcPct val="80000"/>
              </a:lnSpc>
              <a:spcBef>
                <a:spcPts val="592"/>
              </a:spcBef>
              <a:spcAft>
                <a:spcPts val="0"/>
              </a:spcAft>
              <a:buClr>
                <a:schemeClr val="dk1"/>
              </a:buClr>
              <a:buSzPts val="2960"/>
              <a:buChar char="•"/>
            </a:pPr>
            <a:r>
              <a:rPr lang="en-US" sz="2960"/>
              <a:t>In C, all executable code is divided into subprogram called as “Functions”. </a:t>
            </a:r>
            <a:endParaRPr/>
          </a:p>
          <a:p>
            <a:pPr indent="-342900" lvl="0" marL="342900" rtl="0" algn="l">
              <a:lnSpc>
                <a:spcPct val="80000"/>
              </a:lnSpc>
              <a:spcBef>
                <a:spcPts val="592"/>
              </a:spcBef>
              <a:spcAft>
                <a:spcPts val="0"/>
              </a:spcAft>
              <a:buClr>
                <a:schemeClr val="dk1"/>
              </a:buClr>
              <a:buSzPts val="2960"/>
              <a:buChar char="•"/>
            </a:pPr>
            <a:r>
              <a:rPr lang="en-US" sz="2960"/>
              <a:t>Function parameters are always passed by value. </a:t>
            </a:r>
            <a:endParaRPr/>
          </a:p>
          <a:p>
            <a:pPr indent="-342900" lvl="0" marL="342900" rtl="0" algn="l">
              <a:lnSpc>
                <a:spcPct val="80000"/>
              </a:lnSpc>
              <a:spcBef>
                <a:spcPts val="592"/>
              </a:spcBef>
              <a:spcAft>
                <a:spcPts val="0"/>
              </a:spcAft>
              <a:buClr>
                <a:schemeClr val="dk1"/>
              </a:buClr>
              <a:buSzPts val="2960"/>
              <a:buChar char="•"/>
            </a:pPr>
            <a:r>
              <a:rPr lang="en-US" sz="2960"/>
              <a:t>Pass-by-reference is achieved in C by explicitly passing pointer values while calling the function.</a:t>
            </a:r>
            <a:endParaRPr/>
          </a:p>
          <a:p>
            <a:pPr indent="-342900" lvl="0" marL="342900" rtl="0" algn="l">
              <a:lnSpc>
                <a:spcPct val="80000"/>
              </a:lnSpc>
              <a:spcBef>
                <a:spcPts val="592"/>
              </a:spcBef>
              <a:spcAft>
                <a:spcPts val="0"/>
              </a:spcAft>
              <a:buClr>
                <a:schemeClr val="dk1"/>
              </a:buClr>
              <a:buSzPts val="2960"/>
              <a:buChar char="•"/>
            </a:pPr>
            <a:r>
              <a:rPr lang="en-US" sz="2960"/>
              <a:t>C program source is a simple text, free from any format and a semicolon at the end of each line called “Statement terminator” and curly braces for grouping blocks of statements.</a:t>
            </a:r>
            <a:endParaRPr/>
          </a:p>
          <a:p>
            <a:pPr indent="-154940" lvl="0" marL="342900" rtl="0" algn="l">
              <a:lnSpc>
                <a:spcPct val="80000"/>
              </a:lnSpc>
              <a:spcBef>
                <a:spcPts val="592"/>
              </a:spcBef>
              <a:spcAft>
                <a:spcPts val="0"/>
              </a:spcAft>
              <a:buClr>
                <a:schemeClr val="dk1"/>
              </a:buClr>
              <a:buSzPts val="2960"/>
              <a:buNone/>
            </a:pPr>
            <a:r>
              <a:t/>
            </a:r>
            <a:endParaRPr sz="2960"/>
          </a:p>
        </p:txBody>
      </p:sp>
      <p:sp>
        <p:nvSpPr>
          <p:cNvPr id="178" name="Google Shape;178;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59"/>
              <a:buFont typeface="Calibri"/>
              <a:buNone/>
            </a:pPr>
            <a:r>
              <a:rPr b="1" lang="en-US" sz="3959"/>
              <a:t>The C language has the following characteristics:</a:t>
            </a:r>
            <a:endParaRPr sz="3959"/>
          </a:p>
        </p:txBody>
      </p:sp>
      <p:sp>
        <p:nvSpPr>
          <p:cNvPr id="184" name="Google Shape;184;p1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5" name="Google Shape;185;p13"/>
          <p:cNvSpPr txBox="1"/>
          <p:nvPr>
            <p:ph idx="1" type="body"/>
          </p:nvPr>
        </p:nvSpPr>
        <p:spPr>
          <a:xfrm>
            <a:off x="304800" y="1417638"/>
            <a:ext cx="11582400" cy="5416868"/>
          </a:xfrm>
          <a:prstGeom prst="rect">
            <a:avLst/>
          </a:prstGeom>
          <a:solidFill>
            <a:srgbClr val="FFFFFF"/>
          </a:solid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C has a rich set of keywords, including the set of control flow statements such as </a:t>
            </a:r>
            <a:r>
              <a:rPr b="1" i="0" lang="en-US" sz="2200" u="none" cap="none" strike="noStrike">
                <a:solidFill>
                  <a:srgbClr val="150202"/>
                </a:solidFill>
                <a:latin typeface="Roboto"/>
                <a:ea typeface="Roboto"/>
                <a:cs typeface="Roboto"/>
                <a:sym typeface="Roboto"/>
              </a:rPr>
              <a:t>for, if/else, while, switch,</a:t>
            </a:r>
            <a:r>
              <a:rPr b="0" i="0" lang="en-US" sz="2200" u="none" cap="none" strike="noStrike">
                <a:solidFill>
                  <a:srgbClr val="150202"/>
                </a:solidFill>
                <a:latin typeface="Roboto"/>
                <a:ea typeface="Roboto"/>
                <a:cs typeface="Roboto"/>
                <a:sym typeface="Roboto"/>
              </a:rPr>
              <a:t> and </a:t>
            </a:r>
            <a:r>
              <a:rPr b="1" i="0" lang="en-US" sz="2200" u="none" cap="none" strike="noStrike">
                <a:solidFill>
                  <a:srgbClr val="150202"/>
                </a:solidFill>
                <a:latin typeface="Roboto"/>
                <a:ea typeface="Roboto"/>
                <a:cs typeface="Roboto"/>
                <a:sym typeface="Roboto"/>
              </a:rPr>
              <a:t>do/while</a:t>
            </a:r>
            <a:r>
              <a:rPr b="0" i="0" lang="en-US" sz="2200" u="none" cap="none" strike="noStrike">
                <a:solidFill>
                  <a:srgbClr val="150202"/>
                </a:solidFill>
                <a:latin typeface="Roboto"/>
                <a:ea typeface="Roboto"/>
                <a:cs typeface="Roboto"/>
                <a:sym typeface="Roboto"/>
              </a:rPr>
              <a:t>.</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C has a large number of arithmetical and logical operators, such as,</a:t>
            </a:r>
            <a:r>
              <a:rPr b="0" i="0" lang="en-US" sz="2200" u="none" cap="none" strike="noStrike">
                <a:solidFill>
                  <a:srgbClr val="150202"/>
                </a:solidFill>
                <a:latin typeface="Arimo"/>
                <a:ea typeface="Arimo"/>
                <a:cs typeface="Arimo"/>
                <a:sym typeface="Arimo"/>
              </a:rPr>
              <a:t>+, +=, ++, &amp;, ~</a:t>
            </a:r>
            <a:r>
              <a:rPr b="0" i="0" lang="en-US" sz="2200" u="none" cap="none" strike="noStrike">
                <a:solidFill>
                  <a:srgbClr val="150202"/>
                </a:solidFill>
                <a:latin typeface="Roboto"/>
                <a:ea typeface="Roboto"/>
                <a:cs typeface="Roboto"/>
                <a:sym typeface="Roboto"/>
              </a:rPr>
              <a:t> etc.</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More than one variable assignment can be performed in a single statement separated by a comma.</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All data and variables have a type, but implicit conversions may be performed during execution.</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User-defined (typedef) data type and compound types are possible.</a:t>
            </a:r>
            <a:endParaRPr/>
          </a:p>
          <a:p>
            <a:pPr indent="-342900" lvl="0" marL="342900" marR="0" rtl="0" algn="l">
              <a:lnSpc>
                <a:spcPct val="100000"/>
              </a:lnSpc>
              <a:spcBef>
                <a:spcPts val="0"/>
              </a:spcBef>
              <a:spcAft>
                <a:spcPts val="0"/>
              </a:spcAft>
              <a:buClr>
                <a:srgbClr val="150202"/>
              </a:buClr>
              <a:buSzPts val="2200"/>
              <a:buFont typeface="Noto Sans Symbols"/>
              <a:buChar char="▪"/>
            </a:pPr>
            <a:r>
              <a:rPr b="1" i="0" lang="en-US" sz="2200" u="none" cap="none" strike="noStrike">
                <a:solidFill>
                  <a:srgbClr val="150202"/>
                </a:solidFill>
                <a:latin typeface="Roboto"/>
                <a:ea typeface="Roboto"/>
                <a:cs typeface="Roboto"/>
                <a:sym typeface="Roboto"/>
              </a:rPr>
              <a:t>“Struct”</a:t>
            </a:r>
            <a:r>
              <a:rPr b="0" i="0" lang="en-US" sz="2200" u="none" cap="none" strike="noStrike">
                <a:solidFill>
                  <a:srgbClr val="150202"/>
                </a:solidFill>
                <a:latin typeface="Roboto"/>
                <a:ea typeface="Roboto"/>
                <a:cs typeface="Roboto"/>
                <a:sym typeface="Roboto"/>
              </a:rPr>
              <a:t> datatype allows the user to group co-related different data type elements in a single user-defined datatype.</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Union is a structure with only the last initialized member has valid memory and Union gets the memory size of the largest datatype it contains.</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Pointers allow Low-level access to computer memory.</a:t>
            </a:r>
            <a:endParaRPr/>
          </a:p>
          <a:p>
            <a:pPr indent="-342900" lvl="0" marL="342900" marR="0" rtl="0" algn="l">
              <a:lnSpc>
                <a:spcPct val="100000"/>
              </a:lnSpc>
              <a:spcBef>
                <a:spcPts val="0"/>
              </a:spcBef>
              <a:spcAft>
                <a:spcPts val="0"/>
              </a:spcAft>
              <a:buClr>
                <a:srgbClr val="150202"/>
              </a:buClr>
              <a:buSzPts val="2200"/>
              <a:buFont typeface="Noto Sans Symbols"/>
              <a:buChar char="▪"/>
            </a:pPr>
            <a:r>
              <a:rPr b="0" i="0" lang="en-US" sz="2200" u="none" cap="none" strike="noStrike">
                <a:solidFill>
                  <a:srgbClr val="150202"/>
                </a:solidFill>
                <a:latin typeface="Roboto"/>
                <a:ea typeface="Roboto"/>
                <a:cs typeface="Roboto"/>
                <a:sym typeface="Roboto"/>
              </a:rPr>
              <a:t>A preprocessor directives used to performs macro definition, source code file inclusion, and conditional compilation.</a:t>
            </a:r>
            <a:endParaRPr/>
          </a:p>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APPLICATIONS OF C LANGUAGE</a:t>
            </a:r>
            <a:endParaRPr/>
          </a:p>
        </p:txBody>
      </p:sp>
      <p:sp>
        <p:nvSpPr>
          <p:cNvPr id="191" name="Google Shape;191;p14"/>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720"/>
              <a:buChar char="•"/>
            </a:pPr>
            <a:r>
              <a:rPr lang="en-US" sz="2720"/>
              <a:t>C language used in creating computer applications and Embedded software.</a:t>
            </a:r>
            <a:endParaRPr/>
          </a:p>
          <a:p>
            <a:pPr indent="-342900" lvl="0" marL="342900" rtl="0" algn="l">
              <a:lnSpc>
                <a:spcPct val="80000"/>
              </a:lnSpc>
              <a:spcBef>
                <a:spcPts val="544"/>
              </a:spcBef>
              <a:spcAft>
                <a:spcPts val="0"/>
              </a:spcAft>
              <a:buClr>
                <a:schemeClr val="dk1"/>
              </a:buClr>
              <a:buSzPts val="2720"/>
              <a:buChar char="•"/>
            </a:pPr>
            <a:r>
              <a:rPr lang="en-US" sz="2720"/>
              <a:t>Firmware for industrial and communications products which uses micro-controllers.</a:t>
            </a:r>
            <a:endParaRPr/>
          </a:p>
          <a:p>
            <a:pPr indent="-342900" lvl="0" marL="342900" rtl="0" algn="l">
              <a:lnSpc>
                <a:spcPct val="80000"/>
              </a:lnSpc>
              <a:spcBef>
                <a:spcPts val="544"/>
              </a:spcBef>
              <a:spcAft>
                <a:spcPts val="0"/>
              </a:spcAft>
              <a:buClr>
                <a:schemeClr val="dk1"/>
              </a:buClr>
              <a:buSzPts val="2720"/>
              <a:buChar char="•"/>
            </a:pPr>
            <a:r>
              <a:rPr lang="en-US" sz="2720"/>
              <a:t>Used in developing Compiler for different Languages which covert input from other language into lower level machine language.</a:t>
            </a:r>
            <a:endParaRPr/>
          </a:p>
          <a:p>
            <a:pPr indent="-342900" lvl="0" marL="342900" rtl="0" algn="l">
              <a:lnSpc>
                <a:spcPct val="80000"/>
              </a:lnSpc>
              <a:spcBef>
                <a:spcPts val="544"/>
              </a:spcBef>
              <a:spcAft>
                <a:spcPts val="0"/>
              </a:spcAft>
              <a:buClr>
                <a:schemeClr val="dk1"/>
              </a:buClr>
              <a:buSzPts val="2720"/>
              <a:buChar char="•"/>
            </a:pPr>
            <a:r>
              <a:rPr lang="en-US" sz="2720"/>
              <a:t>C is used to implement different OS Operations.</a:t>
            </a:r>
            <a:endParaRPr/>
          </a:p>
          <a:p>
            <a:pPr indent="-342900" lvl="0" marL="342900" rtl="0" algn="l">
              <a:lnSpc>
                <a:spcPct val="80000"/>
              </a:lnSpc>
              <a:spcBef>
                <a:spcPts val="544"/>
              </a:spcBef>
              <a:spcAft>
                <a:spcPts val="0"/>
              </a:spcAft>
              <a:buClr>
                <a:schemeClr val="dk1"/>
              </a:buClr>
              <a:buSzPts val="2720"/>
              <a:buChar char="•"/>
            </a:pPr>
            <a:r>
              <a:rPr lang="en-US" sz="2720"/>
              <a:t>UNIX kernel is developed in C Language.</a:t>
            </a:r>
            <a:endParaRPr/>
          </a:p>
          <a:p>
            <a:pPr indent="-342900" lvl="0" marL="342900" rtl="0" algn="l">
              <a:lnSpc>
                <a:spcPct val="80000"/>
              </a:lnSpc>
              <a:spcBef>
                <a:spcPts val="544"/>
              </a:spcBef>
              <a:spcAft>
                <a:spcPts val="0"/>
              </a:spcAft>
              <a:buClr>
                <a:schemeClr val="dk1"/>
              </a:buClr>
              <a:buSzPts val="2720"/>
              <a:buChar char="•"/>
            </a:pPr>
            <a:r>
              <a:rPr lang="en-US" sz="2720"/>
              <a:t>C &amp; </a:t>
            </a:r>
            <a:r>
              <a:rPr lang="en-US" sz="2720" u="sng">
                <a:solidFill>
                  <a:schemeClr val="hlink"/>
                </a:solidFill>
                <a:hlinkClick r:id="rId3"/>
              </a:rPr>
              <a:t>C++</a:t>
            </a:r>
            <a:r>
              <a:rPr lang="en-US" sz="2720"/>
              <a:t> used in developing VLC player.</a:t>
            </a:r>
            <a:endParaRPr/>
          </a:p>
          <a:p>
            <a:pPr indent="-342900" lvl="0" marL="342900" rtl="0" algn="l">
              <a:lnSpc>
                <a:spcPct val="80000"/>
              </a:lnSpc>
              <a:spcBef>
                <a:spcPts val="544"/>
              </a:spcBef>
              <a:spcAft>
                <a:spcPts val="0"/>
              </a:spcAft>
              <a:buClr>
                <a:schemeClr val="dk1"/>
              </a:buClr>
              <a:buSzPts val="2720"/>
              <a:buChar char="•"/>
            </a:pPr>
            <a:r>
              <a:rPr lang="en-US" sz="2720"/>
              <a:t>C language is also used in database engines and Device driver development.</a:t>
            </a:r>
            <a:endParaRPr/>
          </a:p>
          <a:p>
            <a:pPr indent="0" lvl="0" marL="0" rtl="0" algn="l">
              <a:lnSpc>
                <a:spcPct val="80000"/>
              </a:lnSpc>
              <a:spcBef>
                <a:spcPts val="544"/>
              </a:spcBef>
              <a:spcAft>
                <a:spcPts val="0"/>
              </a:spcAft>
              <a:buClr>
                <a:schemeClr val="dk1"/>
              </a:buClr>
              <a:buSzPts val="2720"/>
              <a:buNone/>
            </a:pPr>
            <a:r>
              <a:t/>
            </a:r>
            <a:endParaRPr sz="2720"/>
          </a:p>
        </p:txBody>
      </p:sp>
      <p:sp>
        <p:nvSpPr>
          <p:cNvPr id="192" name="Google Shape;192;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3" name="Google Shape;193;p14"/>
          <p:cNvSpPr txBox="1"/>
          <p:nvPr/>
        </p:nvSpPr>
        <p:spPr>
          <a:xfrm>
            <a:off x="333154" y="5894688"/>
            <a:ext cx="11375571"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Note: </a:t>
            </a:r>
            <a:r>
              <a:rPr b="1" i="1" lang="en-US" sz="1800" u="none" cap="none" strike="noStrike">
                <a:solidFill>
                  <a:schemeClr val="dk1"/>
                </a:solidFill>
                <a:latin typeface="Calibri"/>
                <a:ea typeface="Calibri"/>
                <a:cs typeface="Calibri"/>
                <a:sym typeface="Calibri"/>
              </a:rPr>
              <a:t>C does not include some features found in other languages, like object orientation or garbage collection, such features can be implemented or emulated in C, often by way of external libraries (e.g.,</a:t>
            </a:r>
            <a:r>
              <a:rPr b="1" i="1" lang="en-US" sz="1800" u="sng" cap="none" strike="noStrike">
                <a:solidFill>
                  <a:schemeClr val="dk1"/>
                </a:solidFill>
                <a:latin typeface="Calibri"/>
                <a:ea typeface="Calibri"/>
                <a:cs typeface="Calibri"/>
                <a:sym typeface="Calibri"/>
                <a:hlinkClick r:id="rId4">
                  <a:extLst>
                    <a:ext uri="{A12FA001-AC4F-418D-AE19-62706E023703}">
                      <ahyp:hlinkClr val="tx"/>
                    </a:ext>
                  </a:extLst>
                </a:hlinkClick>
              </a:rPr>
              <a:t>GLib Object System</a:t>
            </a:r>
            <a:r>
              <a:rPr b="1" i="1" lang="en-US" sz="1800" u="none" cap="none" strike="noStrike">
                <a:solidFill>
                  <a:schemeClr val="dk1"/>
                </a:solidFill>
                <a:latin typeface="Calibri"/>
                <a:ea typeface="Calibri"/>
                <a:cs typeface="Calibri"/>
                <a:sym typeface="Calibri"/>
              </a:rPr>
              <a:t> or the </a:t>
            </a:r>
            <a:r>
              <a:rPr b="1" i="1"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Boehm garbage collector</a:t>
            </a:r>
            <a:r>
              <a:rPr b="1" i="1"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‘main’ function and Standard Library </a:t>
            </a:r>
            <a:endParaRPr b="1"/>
          </a:p>
        </p:txBody>
      </p:sp>
      <p:sp>
        <p:nvSpPr>
          <p:cNvPr id="200" name="Google Shape;200;p15"/>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Every C program consists of one or more modules called </a:t>
            </a:r>
            <a:r>
              <a:rPr b="1" lang="en-US" sz="2960"/>
              <a:t>functions.</a:t>
            </a:r>
            <a:endParaRPr/>
          </a:p>
          <a:p>
            <a:pPr indent="-342900" lvl="0" marL="342900" rtl="0" algn="just">
              <a:lnSpc>
                <a:spcPct val="80000"/>
              </a:lnSpc>
              <a:spcBef>
                <a:spcPts val="592"/>
              </a:spcBef>
              <a:spcAft>
                <a:spcPts val="0"/>
              </a:spcAft>
              <a:buClr>
                <a:schemeClr val="dk1"/>
              </a:buClr>
              <a:buSzPts val="2960"/>
              <a:buChar char="•"/>
            </a:pPr>
            <a:r>
              <a:rPr lang="en-US" sz="2960"/>
              <a:t>A function contains </a:t>
            </a:r>
            <a:r>
              <a:rPr i="1" lang="en-US" sz="2960"/>
              <a:t>statements </a:t>
            </a:r>
            <a:r>
              <a:rPr lang="en-US" sz="2960"/>
              <a:t>that specify the computing operations to be done.</a:t>
            </a:r>
            <a:endParaRPr/>
          </a:p>
          <a:p>
            <a:pPr indent="-342900" lvl="0" marL="342900" rtl="0" algn="just">
              <a:lnSpc>
                <a:spcPct val="80000"/>
              </a:lnSpc>
              <a:spcBef>
                <a:spcPts val="592"/>
              </a:spcBef>
              <a:spcAft>
                <a:spcPts val="0"/>
              </a:spcAft>
              <a:buClr>
                <a:schemeClr val="dk1"/>
              </a:buClr>
              <a:buSzPts val="2960"/>
              <a:buChar char="•"/>
            </a:pPr>
            <a:r>
              <a:rPr lang="en-US" sz="2960"/>
              <a:t>The </a:t>
            </a:r>
            <a:r>
              <a:rPr b="1" lang="en-US" sz="2960"/>
              <a:t>C Standard Library</a:t>
            </a:r>
            <a:r>
              <a:rPr lang="en-US" sz="2960"/>
              <a:t> is a rich collection of existing functions.</a:t>
            </a:r>
            <a:endParaRPr/>
          </a:p>
          <a:p>
            <a:pPr indent="-342900" lvl="0" marL="342900" rtl="0" algn="just">
              <a:lnSpc>
                <a:spcPct val="80000"/>
              </a:lnSpc>
              <a:spcBef>
                <a:spcPts val="592"/>
              </a:spcBef>
              <a:spcAft>
                <a:spcPts val="0"/>
              </a:spcAft>
              <a:buClr>
                <a:schemeClr val="dk1"/>
              </a:buClr>
              <a:buSzPts val="2960"/>
              <a:buChar char="•"/>
            </a:pPr>
            <a:r>
              <a:rPr lang="en-US" sz="2960"/>
              <a:t>You can also program all the functions that you need to form a C program.</a:t>
            </a:r>
            <a:endParaRPr/>
          </a:p>
          <a:p>
            <a:pPr indent="-342900" lvl="0" marL="342900" rtl="0" algn="just">
              <a:lnSpc>
                <a:spcPct val="80000"/>
              </a:lnSpc>
              <a:spcBef>
                <a:spcPts val="592"/>
              </a:spcBef>
              <a:spcAft>
                <a:spcPts val="0"/>
              </a:spcAft>
              <a:buClr>
                <a:schemeClr val="dk1"/>
              </a:buClr>
              <a:buSzPts val="2960"/>
              <a:buChar char="•"/>
            </a:pPr>
            <a:r>
              <a:rPr lang="en-US" sz="2960"/>
              <a:t>Normally you are at liberty to give functions whatever names you like, but "main" is special.</a:t>
            </a:r>
            <a:endParaRPr/>
          </a:p>
          <a:p>
            <a:pPr indent="-342900" lvl="0" marL="342900" rtl="0" algn="just">
              <a:lnSpc>
                <a:spcPct val="80000"/>
              </a:lnSpc>
              <a:spcBef>
                <a:spcPts val="592"/>
              </a:spcBef>
              <a:spcAft>
                <a:spcPts val="0"/>
              </a:spcAft>
              <a:buClr>
                <a:schemeClr val="dk1"/>
              </a:buClr>
              <a:buSzPts val="2960"/>
              <a:buChar char="•"/>
            </a:pPr>
            <a:r>
              <a:rPr lang="en-US" sz="2960"/>
              <a:t>The program will always begin by executing the </a:t>
            </a:r>
            <a:r>
              <a:rPr b="1" lang="en-US" sz="2960"/>
              <a:t>main </a:t>
            </a:r>
            <a:r>
              <a:rPr lang="en-US" sz="2960"/>
              <a:t>function.</a:t>
            </a:r>
            <a:endParaRPr/>
          </a:p>
          <a:p>
            <a:pPr indent="-342900" lvl="0" marL="342900" rtl="0" algn="just">
              <a:lnSpc>
                <a:spcPct val="80000"/>
              </a:lnSpc>
              <a:spcBef>
                <a:spcPts val="592"/>
              </a:spcBef>
              <a:spcAft>
                <a:spcPts val="0"/>
              </a:spcAft>
              <a:buClr>
                <a:schemeClr val="dk1"/>
              </a:buClr>
              <a:buSzPts val="2960"/>
              <a:buChar char="•"/>
            </a:pPr>
            <a:r>
              <a:rPr lang="en-US" sz="2960"/>
              <a:t>This means that every program must have a main somewhere.</a:t>
            </a:r>
            <a:endParaRPr/>
          </a:p>
          <a:p>
            <a:pPr indent="-342900" lvl="0" marL="342900" rtl="0" algn="just">
              <a:lnSpc>
                <a:spcPct val="80000"/>
              </a:lnSpc>
              <a:spcBef>
                <a:spcPts val="592"/>
              </a:spcBef>
              <a:spcAft>
                <a:spcPts val="0"/>
              </a:spcAft>
              <a:buClr>
                <a:schemeClr val="dk1"/>
              </a:buClr>
              <a:buSzPts val="2960"/>
              <a:buChar char="•"/>
            </a:pPr>
            <a:r>
              <a:rPr b="1" lang="en-US" sz="2960"/>
              <a:t>main </a:t>
            </a:r>
            <a:r>
              <a:rPr lang="en-US" sz="2960"/>
              <a:t>will usually call other functions to help perform its job, some that you wrote, and others from libraries that are provided for you. </a:t>
            </a:r>
            <a:endParaRPr b="1" sz="2960"/>
          </a:p>
        </p:txBody>
      </p:sp>
      <p:sp>
        <p:nvSpPr>
          <p:cNvPr id="201" name="Google Shape;201;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6"/>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b="1" lang="en-US"/>
              <a:t>Why Should You Learn C Language?</a:t>
            </a:r>
            <a:endParaRPr/>
          </a:p>
        </p:txBody>
      </p:sp>
      <p:sp>
        <p:nvSpPr>
          <p:cNvPr id="208" name="Google Shape;208;p16"/>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 is versatile</a:t>
            </a:r>
            <a:endParaRPr/>
          </a:p>
          <a:p>
            <a:pPr indent="-342900" lvl="0" marL="342900" rtl="0" algn="l">
              <a:spcBef>
                <a:spcPts val="640"/>
              </a:spcBef>
              <a:spcAft>
                <a:spcPts val="0"/>
              </a:spcAft>
              <a:buClr>
                <a:schemeClr val="dk1"/>
              </a:buClr>
              <a:buSzPts val="3200"/>
              <a:buChar char="•"/>
            </a:pPr>
            <a:r>
              <a:rPr lang="en-US"/>
              <a:t>C is the mother of all languages.</a:t>
            </a:r>
            <a:endParaRPr/>
          </a:p>
          <a:p>
            <a:pPr indent="-342900" lvl="0" marL="342900" rtl="0" algn="l">
              <a:spcBef>
                <a:spcPts val="640"/>
              </a:spcBef>
              <a:spcAft>
                <a:spcPts val="0"/>
              </a:spcAft>
              <a:buClr>
                <a:schemeClr val="dk1"/>
              </a:buClr>
              <a:buSzPts val="3200"/>
              <a:buChar char="•"/>
            </a:pPr>
            <a:r>
              <a:rPr lang="en-US"/>
              <a:t>C is an old language. </a:t>
            </a:r>
            <a:endParaRPr/>
          </a:p>
          <a:p>
            <a:pPr indent="-342900" lvl="0" marL="342900" rtl="0" algn="l">
              <a:spcBef>
                <a:spcPts val="640"/>
              </a:spcBef>
              <a:spcAft>
                <a:spcPts val="0"/>
              </a:spcAft>
              <a:buClr>
                <a:schemeClr val="dk1"/>
              </a:buClr>
              <a:buSzPts val="3200"/>
              <a:buChar char="•"/>
            </a:pPr>
            <a:r>
              <a:rPr lang="en-US"/>
              <a:t>C is portable.</a:t>
            </a:r>
            <a:endParaRPr/>
          </a:p>
          <a:p>
            <a:pPr indent="-342900" lvl="0" marL="342900" rtl="0" algn="l">
              <a:spcBef>
                <a:spcPts val="640"/>
              </a:spcBef>
              <a:spcAft>
                <a:spcPts val="0"/>
              </a:spcAft>
              <a:buClr>
                <a:schemeClr val="dk1"/>
              </a:buClr>
              <a:buSzPts val="3200"/>
              <a:buChar char="•"/>
            </a:pPr>
            <a:r>
              <a:rPr lang="en-US"/>
              <a:t>C is simple.</a:t>
            </a:r>
            <a:endParaRPr/>
          </a:p>
          <a:p>
            <a:pPr indent="-342900" lvl="0" marL="342900" rtl="0" algn="l">
              <a:spcBef>
                <a:spcPts val="640"/>
              </a:spcBef>
              <a:spcAft>
                <a:spcPts val="0"/>
              </a:spcAft>
              <a:buClr>
                <a:schemeClr val="dk1"/>
              </a:buClr>
              <a:buSzPts val="3200"/>
              <a:buChar char="•"/>
            </a:pPr>
            <a:r>
              <a:rPr lang="en-US"/>
              <a:t>C is 'free'.</a:t>
            </a:r>
            <a:endParaRPr/>
          </a:p>
          <a:p>
            <a:pPr indent="-139700" lvl="0" marL="342900" rtl="0" algn="l">
              <a:spcBef>
                <a:spcPts val="640"/>
              </a:spcBef>
              <a:spcAft>
                <a:spcPts val="0"/>
              </a:spcAft>
              <a:buClr>
                <a:schemeClr val="dk1"/>
              </a:buClr>
              <a:buSzPts val="3200"/>
              <a:buNone/>
            </a:pPr>
            <a:r>
              <a:t/>
            </a:r>
            <a:endParaRPr/>
          </a:p>
        </p:txBody>
      </p:sp>
      <p:sp>
        <p:nvSpPr>
          <p:cNvPr id="209" name="Google Shape;209;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descr="Image result for Why Should You Learn C?" id="210" name="Google Shape;210;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mage result for Why Should You Learn C?" id="211" name="Google Shape;211;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result for Why Should You Learn C?" id="212" name="Google Shape;212;p16"/>
          <p:cNvPicPr preferRelativeResize="0"/>
          <p:nvPr/>
        </p:nvPicPr>
        <p:blipFill rotWithShape="1">
          <a:blip r:embed="rId3">
            <a:alphaModFix/>
          </a:blip>
          <a:srcRect b="0" l="0" r="0" t="0"/>
          <a:stretch/>
        </p:blipFill>
        <p:spPr>
          <a:xfrm>
            <a:off x="9364717" y="63064"/>
            <a:ext cx="2017986" cy="110553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ph type="title"/>
          </p:nvPr>
        </p:nvSpPr>
        <p:spPr>
          <a:xfrm>
            <a:off x="315310" y="189187"/>
            <a:ext cx="11713780" cy="8040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b="1" lang="en-US" sz="3600"/>
              <a:t>Running a C Program Using GNU C Compiler (gcc) with Linux</a:t>
            </a:r>
            <a:endParaRPr b="1" sz="3600"/>
          </a:p>
        </p:txBody>
      </p:sp>
      <p:sp>
        <p:nvSpPr>
          <p:cNvPr id="219" name="Google Shape;219;p17"/>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Write your program in any editor (vi, gedit) and save your file with .c extension </a:t>
            </a:r>
            <a:endParaRPr/>
          </a:p>
          <a:p>
            <a:pPr indent="-342900" lvl="0" marL="342900" rtl="0" algn="just">
              <a:lnSpc>
                <a:spcPct val="80000"/>
              </a:lnSpc>
              <a:spcBef>
                <a:spcPts val="592"/>
              </a:spcBef>
              <a:spcAft>
                <a:spcPts val="0"/>
              </a:spcAft>
              <a:buClr>
                <a:schemeClr val="dk1"/>
              </a:buClr>
              <a:buSzPts val="2960"/>
              <a:buChar char="•"/>
            </a:pPr>
            <a:r>
              <a:rPr lang="en-US" sz="2960"/>
              <a:t>To compile, type</a:t>
            </a:r>
            <a:endParaRPr/>
          </a:p>
          <a:p>
            <a:pPr indent="0" lvl="0" marL="0" rtl="0" algn="just">
              <a:lnSpc>
                <a:spcPct val="80000"/>
              </a:lnSpc>
              <a:spcBef>
                <a:spcPts val="592"/>
              </a:spcBef>
              <a:spcAft>
                <a:spcPts val="0"/>
              </a:spcAft>
              <a:buClr>
                <a:schemeClr val="dk1"/>
              </a:buClr>
              <a:buSzPts val="2960"/>
              <a:buNone/>
            </a:pPr>
            <a:r>
              <a:rPr b="1" lang="en-US" sz="2960"/>
              <a:t>	gcc filename</a:t>
            </a:r>
            <a:r>
              <a:rPr lang="en-US" sz="2960"/>
              <a:t>			 for eg., </a:t>
            </a:r>
            <a:r>
              <a:rPr b="1" lang="en-US" sz="2960"/>
              <a:t>gcc test.c</a:t>
            </a:r>
            <a:endParaRPr b="1" sz="2960"/>
          </a:p>
          <a:p>
            <a:pPr indent="0" lvl="0" marL="0" rtl="0" algn="just">
              <a:lnSpc>
                <a:spcPct val="80000"/>
              </a:lnSpc>
              <a:spcBef>
                <a:spcPts val="592"/>
              </a:spcBef>
              <a:spcAft>
                <a:spcPts val="0"/>
              </a:spcAft>
              <a:buClr>
                <a:schemeClr val="dk1"/>
              </a:buClr>
              <a:buSzPts val="2960"/>
              <a:buNone/>
            </a:pPr>
            <a:r>
              <a:rPr b="1" lang="en-US" sz="2960"/>
              <a:t>     </a:t>
            </a:r>
            <a:r>
              <a:rPr lang="en-US" sz="2960"/>
              <a:t>this will create </a:t>
            </a:r>
            <a:r>
              <a:rPr b="1" lang="en-US" sz="2960"/>
              <a:t>a.out </a:t>
            </a:r>
            <a:r>
              <a:rPr lang="en-US" sz="2960"/>
              <a:t>file  (if no syntax error)</a:t>
            </a:r>
            <a:endParaRPr/>
          </a:p>
          <a:p>
            <a:pPr indent="0" lvl="0" marL="0" rtl="0" algn="just">
              <a:lnSpc>
                <a:spcPct val="80000"/>
              </a:lnSpc>
              <a:spcBef>
                <a:spcPts val="592"/>
              </a:spcBef>
              <a:spcAft>
                <a:spcPts val="0"/>
              </a:spcAft>
              <a:buClr>
                <a:schemeClr val="dk1"/>
              </a:buClr>
              <a:buSzPts val="2960"/>
              <a:buNone/>
            </a:pPr>
            <a:r>
              <a:rPr lang="en-US" sz="2960"/>
              <a:t>	</a:t>
            </a:r>
            <a:r>
              <a:rPr lang="en-US" sz="2405"/>
              <a:t>OR</a:t>
            </a:r>
            <a:endParaRPr/>
          </a:p>
          <a:p>
            <a:pPr indent="0" lvl="0" marL="0" rtl="0" algn="just">
              <a:lnSpc>
                <a:spcPct val="80000"/>
              </a:lnSpc>
              <a:spcBef>
                <a:spcPts val="592"/>
              </a:spcBef>
              <a:spcAft>
                <a:spcPts val="0"/>
              </a:spcAft>
              <a:buClr>
                <a:schemeClr val="dk1"/>
              </a:buClr>
              <a:buSzPts val="2960"/>
              <a:buNone/>
            </a:pPr>
            <a:r>
              <a:rPr lang="en-US" sz="2960"/>
              <a:t>         </a:t>
            </a:r>
            <a:r>
              <a:rPr b="1" lang="en-US" sz="2960"/>
              <a:t>gcc test.c -o output</a:t>
            </a:r>
            <a:r>
              <a:rPr lang="en-US" sz="2960"/>
              <a:t>  or </a:t>
            </a:r>
            <a:r>
              <a:rPr b="1" lang="en-US" sz="2960"/>
              <a:t>gcc -o output test.c </a:t>
            </a:r>
            <a:endParaRPr sz="2960"/>
          </a:p>
          <a:p>
            <a:pPr indent="-342900" lvl="0" marL="342900" rtl="0" algn="just">
              <a:lnSpc>
                <a:spcPct val="80000"/>
              </a:lnSpc>
              <a:spcBef>
                <a:spcPts val="592"/>
              </a:spcBef>
              <a:spcAft>
                <a:spcPts val="0"/>
              </a:spcAft>
              <a:buClr>
                <a:schemeClr val="dk1"/>
              </a:buClr>
              <a:buSzPts val="2960"/>
              <a:buChar char="•"/>
            </a:pPr>
            <a:r>
              <a:rPr lang="en-US" sz="2960"/>
              <a:t>This line invokes the C compiler called gcc, asks it to compile test.c and asks it to create the executable file with the name </a:t>
            </a:r>
            <a:r>
              <a:rPr b="1" lang="en-US" sz="2960"/>
              <a:t> output</a:t>
            </a:r>
            <a:endParaRPr/>
          </a:p>
          <a:p>
            <a:pPr indent="-342900" lvl="0" marL="342900" rtl="0" algn="just">
              <a:lnSpc>
                <a:spcPct val="80000"/>
              </a:lnSpc>
              <a:spcBef>
                <a:spcPts val="592"/>
              </a:spcBef>
              <a:spcAft>
                <a:spcPts val="0"/>
              </a:spcAft>
              <a:buClr>
                <a:schemeClr val="dk1"/>
              </a:buClr>
              <a:buSzPts val="2960"/>
              <a:buChar char="•"/>
            </a:pPr>
            <a:r>
              <a:rPr lang="en-US" sz="2960"/>
              <a:t>To run the program, type </a:t>
            </a:r>
            <a:endParaRPr/>
          </a:p>
          <a:p>
            <a:pPr indent="0" lvl="1" marL="457200" rtl="0" algn="just">
              <a:lnSpc>
                <a:spcPct val="80000"/>
              </a:lnSpc>
              <a:spcBef>
                <a:spcPts val="592"/>
              </a:spcBef>
              <a:spcAft>
                <a:spcPts val="0"/>
              </a:spcAft>
              <a:buClr>
                <a:schemeClr val="dk1"/>
              </a:buClr>
              <a:buSzPts val="2960"/>
              <a:buNone/>
            </a:pPr>
            <a:r>
              <a:rPr lang="en-US" sz="2960"/>
              <a:t>	</a:t>
            </a:r>
            <a:r>
              <a:rPr b="1" lang="en-US" sz="2960"/>
              <a:t>./a.out </a:t>
            </a:r>
            <a:r>
              <a:rPr lang="en-US" sz="2590"/>
              <a:t>		OR</a:t>
            </a:r>
            <a:endParaRPr/>
          </a:p>
          <a:p>
            <a:pPr indent="0" lvl="0" marL="0" rtl="0" algn="just">
              <a:lnSpc>
                <a:spcPct val="80000"/>
              </a:lnSpc>
              <a:spcBef>
                <a:spcPts val="592"/>
              </a:spcBef>
              <a:spcAft>
                <a:spcPts val="0"/>
              </a:spcAft>
              <a:buClr>
                <a:schemeClr val="dk1"/>
              </a:buClr>
              <a:buSzPts val="2960"/>
              <a:buNone/>
            </a:pPr>
            <a:r>
              <a:rPr lang="en-US" sz="2960"/>
              <a:t> 	</a:t>
            </a:r>
            <a:r>
              <a:rPr b="1" lang="en-US" sz="2960"/>
              <a:t>./output </a:t>
            </a:r>
            <a:r>
              <a:rPr lang="en-US" sz="2960"/>
              <a:t> </a:t>
            </a:r>
            <a:endParaRPr sz="2960"/>
          </a:p>
        </p:txBody>
      </p:sp>
      <p:sp>
        <p:nvSpPr>
          <p:cNvPr id="220" name="Google Shape;220;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How to compile and run a C program</a:t>
            </a:r>
            <a:endParaRPr b="1"/>
          </a:p>
        </p:txBody>
      </p:sp>
      <p:sp>
        <p:nvSpPr>
          <p:cNvPr id="227" name="Google Shape;227;p18"/>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28" name="Google Shape;228;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Administrator\Dropbox\coep\FCP\FCP\U1 Introduction to Problem Solving\c-compile.gif" id="229" name="Google Shape;229;p18"/>
          <p:cNvPicPr preferRelativeResize="0"/>
          <p:nvPr/>
        </p:nvPicPr>
        <p:blipFill rotWithShape="1">
          <a:blip r:embed="rId3">
            <a:alphaModFix/>
          </a:blip>
          <a:srcRect b="0" l="0" r="0" t="0"/>
          <a:stretch/>
        </p:blipFill>
        <p:spPr>
          <a:xfrm>
            <a:off x="2774731" y="1040524"/>
            <a:ext cx="5975131" cy="5817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First C Program</a:t>
            </a:r>
            <a:endParaRPr/>
          </a:p>
        </p:txBody>
      </p:sp>
      <p:sp>
        <p:nvSpPr>
          <p:cNvPr id="235" name="Google Shape;235;p19"/>
          <p:cNvSpPr txBox="1"/>
          <p:nvPr>
            <p:ph idx="1" type="body"/>
          </p:nvPr>
        </p:nvSpPr>
        <p:spPr>
          <a:xfrm>
            <a:off x="609600" y="1355835"/>
            <a:ext cx="10972800" cy="4770332"/>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090"/>
              <a:buFont typeface="Arial"/>
              <a:buNone/>
            </a:pPr>
            <a:r>
              <a:rPr lang="en-US" sz="2090"/>
              <a:t>/* First </a:t>
            </a:r>
            <a:endParaRPr/>
          </a:p>
          <a:p>
            <a:pPr indent="-342900" lvl="0" marL="342900" rtl="0" algn="l">
              <a:lnSpc>
                <a:spcPct val="80000"/>
              </a:lnSpc>
              <a:spcBef>
                <a:spcPts val="418"/>
              </a:spcBef>
              <a:spcAft>
                <a:spcPts val="0"/>
              </a:spcAft>
              <a:buClr>
                <a:schemeClr val="dk1"/>
              </a:buClr>
              <a:buSzPts val="2090"/>
              <a:buFont typeface="Arial"/>
              <a:buNone/>
            </a:pPr>
            <a:r>
              <a:rPr lang="en-US" sz="2090"/>
              <a:t>C </a:t>
            </a:r>
            <a:endParaRPr/>
          </a:p>
          <a:p>
            <a:pPr indent="-342900" lvl="0" marL="342900" rtl="0" algn="l">
              <a:lnSpc>
                <a:spcPct val="80000"/>
              </a:lnSpc>
              <a:spcBef>
                <a:spcPts val="418"/>
              </a:spcBef>
              <a:spcAft>
                <a:spcPts val="0"/>
              </a:spcAft>
              <a:buClr>
                <a:schemeClr val="dk1"/>
              </a:buClr>
              <a:buSzPts val="2090"/>
              <a:buFont typeface="Arial"/>
              <a:buNone/>
            </a:pPr>
            <a:r>
              <a:rPr lang="en-US" sz="2090"/>
              <a:t>Program*/				/*multi-line comments*/</a:t>
            </a:r>
            <a:endParaRPr sz="2090"/>
          </a:p>
          <a:p>
            <a:pPr indent="-342900" lvl="0" marL="342900" rtl="0" algn="l">
              <a:lnSpc>
                <a:spcPct val="80000"/>
              </a:lnSpc>
              <a:spcBef>
                <a:spcPts val="418"/>
              </a:spcBef>
              <a:spcAft>
                <a:spcPts val="0"/>
              </a:spcAft>
              <a:buClr>
                <a:schemeClr val="dk1"/>
              </a:buClr>
              <a:buSzPts val="2090"/>
              <a:buNone/>
            </a:pPr>
            <a:r>
              <a:t/>
            </a:r>
            <a:endParaRPr sz="2090"/>
          </a:p>
          <a:p>
            <a:pPr indent="-342900" lvl="0" marL="342900" rtl="0" algn="l">
              <a:lnSpc>
                <a:spcPct val="80000"/>
              </a:lnSpc>
              <a:spcBef>
                <a:spcPts val="418"/>
              </a:spcBef>
              <a:spcAft>
                <a:spcPts val="0"/>
              </a:spcAft>
              <a:buClr>
                <a:schemeClr val="dk1"/>
              </a:buClr>
              <a:buSzPts val="2090"/>
              <a:buNone/>
            </a:pPr>
            <a:r>
              <a:rPr lang="en-US" sz="2090"/>
              <a:t>// A first program in C  			//Single line  comment</a:t>
            </a:r>
            <a:endParaRPr/>
          </a:p>
          <a:p>
            <a:pPr indent="-342900" lvl="0" marL="342900" rtl="0" algn="l">
              <a:lnSpc>
                <a:spcPct val="80000"/>
              </a:lnSpc>
              <a:spcBef>
                <a:spcPts val="418"/>
              </a:spcBef>
              <a:spcAft>
                <a:spcPts val="0"/>
              </a:spcAft>
              <a:buClr>
                <a:schemeClr val="dk1"/>
              </a:buClr>
              <a:buSzPts val="2090"/>
              <a:buNone/>
            </a:pPr>
            <a:r>
              <a:t/>
            </a:r>
            <a:endParaRPr sz="2090"/>
          </a:p>
          <a:p>
            <a:pPr indent="-342900" lvl="0" marL="342900" rtl="0" algn="l">
              <a:lnSpc>
                <a:spcPct val="80000"/>
              </a:lnSpc>
              <a:spcBef>
                <a:spcPts val="304"/>
              </a:spcBef>
              <a:spcAft>
                <a:spcPts val="0"/>
              </a:spcAft>
              <a:buClr>
                <a:schemeClr val="dk1"/>
              </a:buClr>
              <a:buSzPts val="1520"/>
              <a:buNone/>
            </a:pPr>
            <a:r>
              <a:t/>
            </a:r>
            <a:endParaRPr sz="1520"/>
          </a:p>
          <a:p>
            <a:pPr indent="-342900" lvl="0" marL="342900" rtl="0" algn="l">
              <a:lnSpc>
                <a:spcPct val="80000"/>
              </a:lnSpc>
              <a:spcBef>
                <a:spcPts val="484"/>
              </a:spcBef>
              <a:spcAft>
                <a:spcPts val="0"/>
              </a:spcAft>
              <a:buClr>
                <a:schemeClr val="dk1"/>
              </a:buClr>
              <a:buSzPts val="2422"/>
              <a:buFont typeface="Arial"/>
              <a:buNone/>
            </a:pPr>
            <a:r>
              <a:rPr b="1" lang="en-US" sz="2422"/>
              <a:t>#include &lt;stdio.h&gt;  		</a:t>
            </a:r>
            <a:r>
              <a:rPr lang="en-US" sz="2422"/>
              <a:t>//first line of code</a:t>
            </a:r>
            <a:endParaRPr/>
          </a:p>
          <a:p>
            <a:pPr indent="-342900" lvl="0" marL="342900" rtl="0" algn="l">
              <a:lnSpc>
                <a:spcPct val="80000"/>
              </a:lnSpc>
              <a:spcBef>
                <a:spcPts val="484"/>
              </a:spcBef>
              <a:spcAft>
                <a:spcPts val="0"/>
              </a:spcAft>
              <a:buClr>
                <a:schemeClr val="dk1"/>
              </a:buClr>
              <a:buSzPts val="2422"/>
              <a:buFont typeface="Arial"/>
              <a:buNone/>
            </a:pPr>
            <a:r>
              <a:rPr b="1" lang="en-US" sz="2422"/>
              <a:t>main()</a:t>
            </a:r>
            <a:endParaRPr/>
          </a:p>
          <a:p>
            <a:pPr indent="-342900" lvl="0" marL="342900" rtl="0" algn="l">
              <a:lnSpc>
                <a:spcPct val="80000"/>
              </a:lnSpc>
              <a:spcBef>
                <a:spcPts val="484"/>
              </a:spcBef>
              <a:spcAft>
                <a:spcPts val="0"/>
              </a:spcAft>
              <a:buClr>
                <a:schemeClr val="dk1"/>
              </a:buClr>
              <a:buSzPts val="2422"/>
              <a:buFont typeface="Arial"/>
              <a:buNone/>
            </a:pPr>
            <a:r>
              <a:rPr b="1" lang="en-US" sz="2422"/>
              <a:t>{   </a:t>
            </a:r>
            <a:endParaRPr/>
          </a:p>
          <a:p>
            <a:pPr indent="-342900" lvl="0" marL="342900" rtl="0" algn="l">
              <a:lnSpc>
                <a:spcPct val="80000"/>
              </a:lnSpc>
              <a:spcBef>
                <a:spcPts val="484"/>
              </a:spcBef>
              <a:spcAft>
                <a:spcPts val="0"/>
              </a:spcAft>
              <a:buClr>
                <a:schemeClr val="dk1"/>
              </a:buClr>
              <a:buSzPts val="2422"/>
              <a:buFont typeface="Arial"/>
              <a:buNone/>
            </a:pPr>
            <a:r>
              <a:rPr b="1" lang="en-US" sz="2422"/>
              <a:t>  printf(“Welcome to the world of Programming\n");</a:t>
            </a:r>
            <a:br>
              <a:rPr b="1" lang="en-US" sz="2422"/>
            </a:br>
            <a:endParaRPr b="1" sz="2422"/>
          </a:p>
          <a:p>
            <a:pPr indent="-342900" lvl="0" marL="342900" rtl="0" algn="l">
              <a:lnSpc>
                <a:spcPct val="80000"/>
              </a:lnSpc>
              <a:spcBef>
                <a:spcPts val="817"/>
              </a:spcBef>
              <a:spcAft>
                <a:spcPts val="0"/>
              </a:spcAft>
              <a:buClr>
                <a:schemeClr val="dk1"/>
              </a:buClr>
              <a:buSzPts val="2422"/>
              <a:buFont typeface="Arial"/>
              <a:buNone/>
            </a:pPr>
            <a:r>
              <a:rPr b="1" lang="en-US" sz="2422"/>
              <a:t>}</a:t>
            </a:r>
            <a:br>
              <a:rPr b="1" lang="en-US" sz="4084"/>
            </a:br>
            <a:endParaRPr b="1" sz="152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animEffect filter="fade" transition="in">
                                      <p:cBhvr>
                                        <p:cTn dur="2000"/>
                                        <p:tgtEl>
                                          <p:spTgt spid="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animEffect filter="fade" transition="in">
                                      <p:cBhvr>
                                        <p:cTn dur="2000"/>
                                        <p:tgtEl>
                                          <p:spTgt spid="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animEffect filter="fade" transition="in">
                                      <p:cBhvr>
                                        <p:cTn dur="2000"/>
                                        <p:tgtEl>
                                          <p:spTgt spid="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animEffect filter="fade" transition="in">
                                      <p:cBhvr>
                                        <p:cTn dur="2000"/>
                                        <p:tgtEl>
                                          <p:spTgt spid="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animEffect filter="fade" transition="in">
                                      <p:cBhvr>
                                        <p:cTn dur="2000"/>
                                        <p:tgtEl>
                                          <p:spTgt spid="2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5" st="5"/>
                                            </p:txEl>
                                          </p:spTgt>
                                        </p:tgtEl>
                                        <p:attrNameLst>
                                          <p:attrName>style.visibility</p:attrName>
                                        </p:attrNameLst>
                                      </p:cBhvr>
                                      <p:to>
                                        <p:strVal val="visible"/>
                                      </p:to>
                                    </p:set>
                                    <p:animEffect filter="fade" transition="in">
                                      <p:cBhvr>
                                        <p:cTn dur="2000"/>
                                        <p:tgtEl>
                                          <p:spTgt spid="2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6" st="6"/>
                                            </p:txEl>
                                          </p:spTgt>
                                        </p:tgtEl>
                                        <p:attrNameLst>
                                          <p:attrName>style.visibility</p:attrName>
                                        </p:attrNameLst>
                                      </p:cBhvr>
                                      <p:to>
                                        <p:strVal val="visible"/>
                                      </p:to>
                                    </p:set>
                                    <p:animEffect filter="fade" transition="in">
                                      <p:cBhvr>
                                        <p:cTn dur="2000"/>
                                        <p:tgtEl>
                                          <p:spTgt spid="2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7" st="7"/>
                                            </p:txEl>
                                          </p:spTgt>
                                        </p:tgtEl>
                                        <p:attrNameLst>
                                          <p:attrName>style.visibility</p:attrName>
                                        </p:attrNameLst>
                                      </p:cBhvr>
                                      <p:to>
                                        <p:strVal val="visible"/>
                                      </p:to>
                                    </p:set>
                                    <p:animEffect filter="fade" transition="in">
                                      <p:cBhvr>
                                        <p:cTn dur="2000"/>
                                        <p:tgtEl>
                                          <p:spTgt spid="2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8" st="8"/>
                                            </p:txEl>
                                          </p:spTgt>
                                        </p:tgtEl>
                                        <p:attrNameLst>
                                          <p:attrName>style.visibility</p:attrName>
                                        </p:attrNameLst>
                                      </p:cBhvr>
                                      <p:to>
                                        <p:strVal val="visible"/>
                                      </p:to>
                                    </p:set>
                                    <p:animEffect filter="fade" transition="in">
                                      <p:cBhvr>
                                        <p:cTn dur="2000"/>
                                        <p:tgtEl>
                                          <p:spTgt spid="2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9" st="9"/>
                                            </p:txEl>
                                          </p:spTgt>
                                        </p:tgtEl>
                                        <p:attrNameLst>
                                          <p:attrName>style.visibility</p:attrName>
                                        </p:attrNameLst>
                                      </p:cBhvr>
                                      <p:to>
                                        <p:strVal val="visible"/>
                                      </p:to>
                                    </p:set>
                                    <p:animEffect filter="fade" transition="in">
                                      <p:cBhvr>
                                        <p:cTn dur="2000"/>
                                        <p:tgtEl>
                                          <p:spTgt spid="23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0" st="10"/>
                                            </p:txEl>
                                          </p:spTgt>
                                        </p:tgtEl>
                                        <p:attrNameLst>
                                          <p:attrName>style.visibility</p:attrName>
                                        </p:attrNameLst>
                                      </p:cBhvr>
                                      <p:to>
                                        <p:strVal val="visible"/>
                                      </p:to>
                                    </p:set>
                                    <p:animEffect filter="fade" transition="in">
                                      <p:cBhvr>
                                        <p:cTn dur="2000"/>
                                        <p:tgtEl>
                                          <p:spTgt spid="23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1" st="11"/>
                                            </p:txEl>
                                          </p:spTgt>
                                        </p:tgtEl>
                                        <p:attrNameLst>
                                          <p:attrName>style.visibility</p:attrName>
                                        </p:attrNameLst>
                                      </p:cBhvr>
                                      <p:to>
                                        <p:strVal val="visible"/>
                                      </p:to>
                                    </p:set>
                                    <p:animEffect filter="fade" transition="in">
                                      <p:cBhvr>
                                        <p:cTn dur="2000"/>
                                        <p:tgtEl>
                                          <p:spTgt spid="23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ph type="title"/>
          </p:nvPr>
        </p:nvSpPr>
        <p:spPr>
          <a:xfrm>
            <a:off x="609600" y="274638"/>
            <a:ext cx="10972800" cy="4978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59"/>
              <a:buFont typeface="Calibri"/>
              <a:buNone/>
            </a:pPr>
            <a:r>
              <a:rPr lang="en-US" sz="3959"/>
              <a:t>First C Program</a:t>
            </a:r>
            <a:endParaRPr/>
          </a:p>
        </p:txBody>
      </p:sp>
      <p:sp>
        <p:nvSpPr>
          <p:cNvPr id="242" name="Google Shape;242;p20"/>
          <p:cNvSpPr txBox="1"/>
          <p:nvPr>
            <p:ph idx="1" type="body"/>
          </p:nvPr>
        </p:nvSpPr>
        <p:spPr>
          <a:xfrm>
            <a:off x="204952" y="1024759"/>
            <a:ext cx="11824138" cy="5612524"/>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170"/>
              <a:buChar char="•"/>
            </a:pPr>
            <a:r>
              <a:rPr b="1" lang="en-US" sz="2170"/>
              <a:t>Line 1: #include &lt;stdio.h&gt;        </a:t>
            </a:r>
            <a:r>
              <a:rPr b="1" i="1" lang="en-US" sz="2015"/>
              <a:t>(Preprocessor Directive)</a:t>
            </a:r>
            <a:endParaRPr b="1" sz="2015"/>
          </a:p>
          <a:p>
            <a:pPr indent="-205105" lvl="0" marL="342900" rtl="0" algn="just">
              <a:lnSpc>
                <a:spcPct val="80000"/>
              </a:lnSpc>
              <a:spcBef>
                <a:spcPts val="434"/>
              </a:spcBef>
              <a:spcAft>
                <a:spcPts val="0"/>
              </a:spcAft>
              <a:buClr>
                <a:schemeClr val="dk1"/>
              </a:buClr>
              <a:buSzPts val="2170"/>
              <a:buNone/>
            </a:pPr>
            <a:r>
              <a:t/>
            </a:r>
            <a:endParaRPr b="1" sz="2170"/>
          </a:p>
          <a:p>
            <a:pPr indent="-342900" lvl="0" marL="342900" rtl="0" algn="just">
              <a:lnSpc>
                <a:spcPct val="80000"/>
              </a:lnSpc>
              <a:spcBef>
                <a:spcPts val="496"/>
              </a:spcBef>
              <a:spcAft>
                <a:spcPts val="0"/>
              </a:spcAft>
              <a:buClr>
                <a:schemeClr val="dk1"/>
              </a:buClr>
              <a:buSzPts val="2480"/>
              <a:buChar char="•"/>
            </a:pPr>
            <a:r>
              <a:rPr lang="en-US" sz="2480"/>
              <a:t>This line includes the "standard I/O library" into your program. </a:t>
            </a:r>
            <a:endParaRPr/>
          </a:p>
          <a:p>
            <a:pPr indent="-342900" lvl="0" marL="342900" rtl="0" algn="just">
              <a:lnSpc>
                <a:spcPct val="80000"/>
              </a:lnSpc>
              <a:spcBef>
                <a:spcPts val="496"/>
              </a:spcBef>
              <a:spcAft>
                <a:spcPts val="0"/>
              </a:spcAft>
              <a:buClr>
                <a:schemeClr val="dk1"/>
              </a:buClr>
              <a:buSzPts val="2480"/>
              <a:buChar char="•"/>
            </a:pPr>
            <a:r>
              <a:rPr lang="en-US" sz="2480"/>
              <a:t>The standard I/O library lets you read input from the keyboard (called "standard in"), write output to the screen (called "standard out"), process text files stored on the disk, and so on. It is an extremely useful library.</a:t>
            </a:r>
            <a:endParaRPr/>
          </a:p>
          <a:p>
            <a:pPr indent="-342900" lvl="0" marL="342900" rtl="0" algn="just">
              <a:lnSpc>
                <a:spcPct val="80000"/>
              </a:lnSpc>
              <a:spcBef>
                <a:spcPts val="496"/>
              </a:spcBef>
              <a:spcAft>
                <a:spcPts val="0"/>
              </a:spcAft>
              <a:buClr>
                <a:schemeClr val="dk1"/>
              </a:buClr>
              <a:buSzPts val="2480"/>
              <a:buChar char="•"/>
            </a:pPr>
            <a:r>
              <a:rPr lang="en-US" sz="2480"/>
              <a:t>C has a large number of standard libraries like stdio, including string, time and math libraries.</a:t>
            </a:r>
            <a:endParaRPr/>
          </a:p>
          <a:p>
            <a:pPr indent="-342900" lvl="0" marL="342900" rtl="0" algn="just">
              <a:lnSpc>
                <a:spcPct val="80000"/>
              </a:lnSpc>
              <a:spcBef>
                <a:spcPts val="496"/>
              </a:spcBef>
              <a:spcAft>
                <a:spcPts val="0"/>
              </a:spcAft>
              <a:buClr>
                <a:schemeClr val="dk1"/>
              </a:buClr>
              <a:buSzPts val="2480"/>
              <a:buChar char="•"/>
            </a:pPr>
            <a:r>
              <a:rPr lang="en-US" sz="2480"/>
              <a:t>A </a:t>
            </a:r>
            <a:r>
              <a:rPr b="1" lang="en-US" sz="2480"/>
              <a:t>library</a:t>
            </a:r>
            <a:r>
              <a:rPr lang="en-US" sz="2480"/>
              <a:t> is simply a package of code that someone else has written to make your life easier.</a:t>
            </a:r>
            <a:endParaRPr/>
          </a:p>
          <a:p>
            <a:pPr indent="-342900" lvl="0" marL="342900" rtl="0" algn="just">
              <a:lnSpc>
                <a:spcPct val="80000"/>
              </a:lnSpc>
              <a:spcBef>
                <a:spcPts val="496"/>
              </a:spcBef>
              <a:spcAft>
                <a:spcPts val="0"/>
              </a:spcAft>
              <a:buClr>
                <a:schemeClr val="dk1"/>
              </a:buClr>
              <a:buSzPts val="2480"/>
              <a:buChar char="•"/>
            </a:pPr>
            <a:r>
              <a:rPr lang="en-US" sz="2480"/>
              <a:t>As part of compilation, the C compiler runs a program called the </a:t>
            </a:r>
            <a:r>
              <a:rPr b="1" lang="en-US" sz="2480" u="sng"/>
              <a:t>C preprocessor</a:t>
            </a:r>
            <a:r>
              <a:rPr lang="en-US" sz="2480"/>
              <a:t>. The preprocessor is able to add and remove code from your source file. </a:t>
            </a:r>
            <a:endParaRPr/>
          </a:p>
          <a:p>
            <a:pPr indent="-342900" lvl="0" marL="342900" rtl="0" algn="just">
              <a:lnSpc>
                <a:spcPct val="80000"/>
              </a:lnSpc>
              <a:spcBef>
                <a:spcPts val="496"/>
              </a:spcBef>
              <a:spcAft>
                <a:spcPts val="0"/>
              </a:spcAft>
              <a:buClr>
                <a:schemeClr val="dk1"/>
              </a:buClr>
              <a:buSzPts val="2480"/>
              <a:buChar char="•"/>
            </a:pPr>
            <a:r>
              <a:rPr lang="en-US" sz="2480"/>
              <a:t>In this case, the </a:t>
            </a:r>
            <a:r>
              <a:rPr b="1" lang="en-US" sz="2480" u="sng"/>
              <a:t>directive #include</a:t>
            </a:r>
            <a:r>
              <a:rPr lang="en-US" sz="2480"/>
              <a:t> tells the preprocessor to include code from the header file </a:t>
            </a:r>
            <a:r>
              <a:rPr b="1" lang="en-US" sz="2480" u="sng"/>
              <a:t>stdio.h.</a:t>
            </a:r>
            <a:r>
              <a:rPr lang="en-US" sz="2480"/>
              <a:t> </a:t>
            </a:r>
            <a:endParaRPr/>
          </a:p>
          <a:p>
            <a:pPr indent="-342900" lvl="0" marL="342900" rtl="0" algn="just">
              <a:lnSpc>
                <a:spcPct val="80000"/>
              </a:lnSpc>
              <a:spcBef>
                <a:spcPts val="496"/>
              </a:spcBef>
              <a:spcAft>
                <a:spcPts val="0"/>
              </a:spcAft>
              <a:buClr>
                <a:schemeClr val="dk1"/>
              </a:buClr>
              <a:buSzPts val="2480"/>
              <a:buChar char="•"/>
            </a:pPr>
            <a:r>
              <a:rPr lang="en-US" sz="2480"/>
              <a:t>This file contains declarations for functions that the program needs to use. A declaration for the </a:t>
            </a:r>
            <a:r>
              <a:rPr b="1" lang="en-US" sz="2170" u="sng"/>
              <a:t>printf </a:t>
            </a:r>
            <a:r>
              <a:rPr lang="en-US" sz="2480"/>
              <a:t>function is in this file.</a:t>
            </a:r>
            <a:endParaRPr/>
          </a:p>
          <a:p>
            <a:pPr indent="-185420" lvl="0" marL="342900" rtl="0" algn="just">
              <a:lnSpc>
                <a:spcPct val="80000"/>
              </a:lnSpc>
              <a:spcBef>
                <a:spcPts val="496"/>
              </a:spcBef>
              <a:spcAft>
                <a:spcPts val="0"/>
              </a:spcAft>
              <a:buClr>
                <a:schemeClr val="dk1"/>
              </a:buClr>
              <a:buSzPts val="2480"/>
              <a:buNone/>
            </a:pPr>
            <a:r>
              <a:t/>
            </a:r>
            <a:endParaRPr sz="2480"/>
          </a:p>
          <a:p>
            <a:pPr indent="-185420" lvl="0" marL="342900" rtl="0" algn="just">
              <a:lnSpc>
                <a:spcPct val="80000"/>
              </a:lnSpc>
              <a:spcBef>
                <a:spcPts val="496"/>
              </a:spcBef>
              <a:spcAft>
                <a:spcPts val="0"/>
              </a:spcAft>
              <a:buClr>
                <a:schemeClr val="dk1"/>
              </a:buClr>
              <a:buSzPts val="2480"/>
              <a:buNone/>
            </a:pPr>
            <a:r>
              <a:t/>
            </a:r>
            <a:endParaRPr sz="248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First C Program</a:t>
            </a:r>
            <a:endParaRPr/>
          </a:p>
        </p:txBody>
      </p:sp>
      <p:sp>
        <p:nvSpPr>
          <p:cNvPr id="249" name="Google Shape;249;p21"/>
          <p:cNvSpPr txBox="1"/>
          <p:nvPr>
            <p:ph idx="1" type="body"/>
          </p:nvPr>
        </p:nvSpPr>
        <p:spPr>
          <a:xfrm>
            <a:off x="299545" y="1600203"/>
            <a:ext cx="11508827"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590"/>
              <a:buChar char="•"/>
            </a:pPr>
            <a:r>
              <a:rPr b="1" lang="en-US" sz="2590"/>
              <a:t>Line 2: void main()</a:t>
            </a:r>
            <a:endParaRPr/>
          </a:p>
          <a:p>
            <a:pPr indent="-154940" lvl="0" marL="342900" rtl="0" algn="just">
              <a:lnSpc>
                <a:spcPct val="80000"/>
              </a:lnSpc>
              <a:spcBef>
                <a:spcPts val="592"/>
              </a:spcBef>
              <a:spcAft>
                <a:spcPts val="0"/>
              </a:spcAft>
              <a:buClr>
                <a:schemeClr val="dk1"/>
              </a:buClr>
              <a:buSzPts val="2960"/>
              <a:buNone/>
            </a:pPr>
            <a:r>
              <a:t/>
            </a:r>
            <a:endParaRPr sz="2960"/>
          </a:p>
          <a:p>
            <a:pPr indent="-342900" lvl="0" marL="342900" rtl="0" algn="just">
              <a:lnSpc>
                <a:spcPct val="80000"/>
              </a:lnSpc>
              <a:spcBef>
                <a:spcPts val="592"/>
              </a:spcBef>
              <a:spcAft>
                <a:spcPts val="0"/>
              </a:spcAft>
              <a:buClr>
                <a:schemeClr val="dk1"/>
              </a:buClr>
              <a:buSzPts val="2960"/>
              <a:buChar char="•"/>
            </a:pPr>
            <a:r>
              <a:rPr lang="en-US" sz="2960"/>
              <a:t>This statement declares the </a:t>
            </a:r>
            <a:r>
              <a:rPr b="1" lang="en-US" sz="2960"/>
              <a:t>main function</a:t>
            </a:r>
            <a:r>
              <a:rPr lang="en-US" sz="2960"/>
              <a:t>. </a:t>
            </a:r>
            <a:endParaRPr/>
          </a:p>
          <a:p>
            <a:pPr indent="-342900" lvl="0" marL="342900" rtl="0" algn="just">
              <a:lnSpc>
                <a:spcPct val="80000"/>
              </a:lnSpc>
              <a:spcBef>
                <a:spcPts val="592"/>
              </a:spcBef>
              <a:spcAft>
                <a:spcPts val="0"/>
              </a:spcAft>
              <a:buClr>
                <a:schemeClr val="dk1"/>
              </a:buClr>
              <a:buSzPts val="2960"/>
              <a:buChar char="•"/>
            </a:pPr>
            <a:r>
              <a:rPr lang="en-US" sz="2960"/>
              <a:t>A C program can contain many functions but must always have one main function.</a:t>
            </a:r>
            <a:endParaRPr/>
          </a:p>
          <a:p>
            <a:pPr indent="-342900" lvl="0" marL="342900" rtl="0" algn="l">
              <a:lnSpc>
                <a:spcPct val="80000"/>
              </a:lnSpc>
              <a:spcBef>
                <a:spcPts val="592"/>
              </a:spcBef>
              <a:spcAft>
                <a:spcPts val="0"/>
              </a:spcAft>
              <a:buClr>
                <a:schemeClr val="dk1"/>
              </a:buClr>
              <a:buSzPts val="2960"/>
              <a:buChar char="•"/>
            </a:pPr>
            <a:r>
              <a:rPr lang="en-US" sz="2960"/>
              <a:t>The parentheses after main indicate that main is a program building block called a </a:t>
            </a:r>
            <a:r>
              <a:rPr b="1" lang="en-US" sz="2960"/>
              <a:t>function.</a:t>
            </a:r>
            <a:endParaRPr sz="2960"/>
          </a:p>
          <a:p>
            <a:pPr indent="-342900" lvl="0" marL="342900" rtl="0" algn="just">
              <a:lnSpc>
                <a:spcPct val="80000"/>
              </a:lnSpc>
              <a:spcBef>
                <a:spcPts val="592"/>
              </a:spcBef>
              <a:spcAft>
                <a:spcPts val="0"/>
              </a:spcAft>
              <a:buClr>
                <a:schemeClr val="dk1"/>
              </a:buClr>
              <a:buSzPts val="2960"/>
              <a:buChar char="•"/>
            </a:pPr>
            <a:r>
              <a:rPr lang="en-US" sz="2960"/>
              <a:t>A function is a self-contained module of code that can accomplish some task. </a:t>
            </a:r>
            <a:endParaRPr/>
          </a:p>
          <a:p>
            <a:pPr indent="-342900" lvl="0" marL="342900" rtl="0" algn="just">
              <a:lnSpc>
                <a:spcPct val="80000"/>
              </a:lnSpc>
              <a:spcBef>
                <a:spcPts val="592"/>
              </a:spcBef>
              <a:spcAft>
                <a:spcPts val="0"/>
              </a:spcAft>
              <a:buClr>
                <a:schemeClr val="dk1"/>
              </a:buClr>
              <a:buSzPts val="2960"/>
              <a:buChar char="•"/>
            </a:pPr>
            <a:r>
              <a:rPr lang="en-US" sz="2960"/>
              <a:t>Every program in C begins executing at the function main.</a:t>
            </a:r>
            <a:endParaRPr/>
          </a:p>
          <a:p>
            <a:pPr indent="-154940" lvl="0" marL="342900" rtl="0" algn="just">
              <a:lnSpc>
                <a:spcPct val="80000"/>
              </a:lnSpc>
              <a:spcBef>
                <a:spcPts val="592"/>
              </a:spcBef>
              <a:spcAft>
                <a:spcPts val="0"/>
              </a:spcAft>
              <a:buClr>
                <a:schemeClr val="dk1"/>
              </a:buClr>
              <a:buSzPts val="2960"/>
              <a:buNone/>
            </a:pPr>
            <a:r>
              <a:t/>
            </a:r>
            <a:endParaRPr sz="2960"/>
          </a:p>
          <a:p>
            <a:pPr indent="0" lvl="0" marL="0" rtl="0" algn="just">
              <a:lnSpc>
                <a:spcPct val="80000"/>
              </a:lnSpc>
              <a:spcBef>
                <a:spcPts val="592"/>
              </a:spcBef>
              <a:spcAft>
                <a:spcPts val="0"/>
              </a:spcAft>
              <a:buClr>
                <a:schemeClr val="dk1"/>
              </a:buClr>
              <a:buSzPts val="2960"/>
              <a:buFont typeface="Arial"/>
              <a:buNone/>
            </a:pPr>
            <a:r>
              <a:t/>
            </a:r>
            <a:endParaRPr sz="2960"/>
          </a:p>
          <a:p>
            <a:pPr indent="-154940" lvl="0" marL="342900" rtl="0" algn="just">
              <a:lnSpc>
                <a:spcPct val="80000"/>
              </a:lnSpc>
              <a:spcBef>
                <a:spcPts val="592"/>
              </a:spcBef>
              <a:spcAft>
                <a:spcPts val="0"/>
              </a:spcAft>
              <a:buClr>
                <a:schemeClr val="dk1"/>
              </a:buClr>
              <a:buSzPts val="2960"/>
              <a:buNone/>
            </a:pPr>
            <a:r>
              <a:t/>
            </a:r>
            <a:endParaRPr sz="296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First C Program</a:t>
            </a:r>
            <a:endParaRPr b="1"/>
          </a:p>
        </p:txBody>
      </p:sp>
      <p:sp>
        <p:nvSpPr>
          <p:cNvPr id="256" name="Google Shape;256;p22"/>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b="1" lang="en-US" sz="2800"/>
              <a:t>Line 3: { </a:t>
            </a:r>
            <a:endParaRPr/>
          </a:p>
          <a:p>
            <a:pPr indent="-165100" lvl="0" marL="342900" rtl="0" algn="l">
              <a:spcBef>
                <a:spcPts val="560"/>
              </a:spcBef>
              <a:spcAft>
                <a:spcPts val="0"/>
              </a:spcAft>
              <a:buClr>
                <a:schemeClr val="dk1"/>
              </a:buClr>
              <a:buSzPts val="2800"/>
              <a:buNone/>
            </a:pPr>
            <a:r>
              <a:t/>
            </a:r>
            <a:endParaRPr b="1" sz="2800"/>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b="1" lang="en-US"/>
              <a:t>A left brace</a:t>
            </a:r>
            <a:r>
              <a:rPr lang="en-US"/>
              <a:t>, </a:t>
            </a:r>
            <a:r>
              <a:rPr b="1" lang="en-US"/>
              <a:t>{</a:t>
            </a:r>
            <a:r>
              <a:rPr lang="en-US"/>
              <a:t>, begins the </a:t>
            </a:r>
            <a:r>
              <a:rPr b="1" lang="en-US"/>
              <a:t>body </a:t>
            </a:r>
            <a:r>
              <a:rPr lang="en-US"/>
              <a:t>of every function.</a:t>
            </a:r>
            <a:endParaRPr/>
          </a:p>
          <a:p>
            <a:pPr indent="-342900" lvl="0" marL="342900" rtl="0" algn="l">
              <a:spcBef>
                <a:spcPts val="640"/>
              </a:spcBef>
              <a:spcAft>
                <a:spcPts val="0"/>
              </a:spcAft>
              <a:buClr>
                <a:schemeClr val="dk1"/>
              </a:buClr>
              <a:buSzPts val="3200"/>
              <a:buChar char="•"/>
            </a:pPr>
            <a:r>
              <a:rPr lang="en-US"/>
              <a:t>A corresponding </a:t>
            </a:r>
            <a:r>
              <a:rPr b="1" lang="en-US"/>
              <a:t>right brace } </a:t>
            </a:r>
            <a:r>
              <a:rPr lang="en-US"/>
              <a:t>ends each function.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First C Program</a:t>
            </a:r>
            <a:endParaRPr/>
          </a:p>
        </p:txBody>
      </p:sp>
      <p:sp>
        <p:nvSpPr>
          <p:cNvPr id="263" name="Google Shape;263;p23"/>
          <p:cNvSpPr txBox="1"/>
          <p:nvPr>
            <p:ph idx="1" type="body"/>
          </p:nvPr>
        </p:nvSpPr>
        <p:spPr>
          <a:xfrm>
            <a:off x="0" y="1295400"/>
            <a:ext cx="12149667"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590"/>
              <a:buChar char="•"/>
            </a:pPr>
            <a:r>
              <a:rPr b="1" lang="en-US" sz="2590"/>
              <a:t>Line 4: </a:t>
            </a:r>
            <a:r>
              <a:rPr lang="en-US" sz="2590"/>
              <a:t> </a:t>
            </a:r>
            <a:r>
              <a:rPr b="1" lang="en-US" sz="2960"/>
              <a:t>printf(“Welcome to the world of Programming\n");</a:t>
            </a:r>
            <a:br>
              <a:rPr b="1" lang="en-US" sz="2960"/>
            </a:br>
            <a:endParaRPr b="1" sz="2590"/>
          </a:p>
          <a:p>
            <a:pPr indent="-342900" lvl="0" marL="342900" rtl="0" algn="just">
              <a:lnSpc>
                <a:spcPct val="80000"/>
              </a:lnSpc>
              <a:spcBef>
                <a:spcPts val="592"/>
              </a:spcBef>
              <a:spcAft>
                <a:spcPts val="0"/>
              </a:spcAft>
              <a:buClr>
                <a:schemeClr val="dk1"/>
              </a:buClr>
              <a:buSzPts val="2960"/>
              <a:buChar char="•"/>
            </a:pPr>
            <a:r>
              <a:rPr b="1" lang="en-US" sz="2960" u="sng"/>
              <a:t>printf</a:t>
            </a:r>
            <a:r>
              <a:rPr lang="en-US" sz="2960"/>
              <a:t> is a function from a standard C library that is used to print strings to the standard output, normally your screen.</a:t>
            </a:r>
            <a:endParaRPr/>
          </a:p>
          <a:p>
            <a:pPr indent="-342900" lvl="0" marL="342900" rtl="0" algn="just">
              <a:lnSpc>
                <a:spcPct val="80000"/>
              </a:lnSpc>
              <a:spcBef>
                <a:spcPts val="592"/>
              </a:spcBef>
              <a:spcAft>
                <a:spcPts val="0"/>
              </a:spcAft>
              <a:buClr>
                <a:schemeClr val="dk1"/>
              </a:buClr>
              <a:buSzPts val="2960"/>
              <a:buChar char="•"/>
            </a:pPr>
            <a:r>
              <a:rPr lang="en-US" sz="2960"/>
              <a:t>The backslash (\) is called an </a:t>
            </a:r>
            <a:r>
              <a:rPr b="1" lang="en-US" sz="2960"/>
              <a:t>escape character</a:t>
            </a:r>
            <a:r>
              <a:rPr lang="en-US" sz="2960"/>
              <a:t>.  </a:t>
            </a:r>
            <a:endParaRPr/>
          </a:p>
          <a:p>
            <a:pPr indent="-342900" lvl="0" marL="342900" rtl="0" algn="just">
              <a:lnSpc>
                <a:spcPct val="80000"/>
              </a:lnSpc>
              <a:spcBef>
                <a:spcPts val="592"/>
              </a:spcBef>
              <a:spcAft>
                <a:spcPts val="0"/>
              </a:spcAft>
              <a:buClr>
                <a:schemeClr val="dk1"/>
              </a:buClr>
              <a:buSzPts val="2960"/>
              <a:buChar char="•"/>
            </a:pPr>
            <a:r>
              <a:rPr lang="en-US" sz="2960"/>
              <a:t>When encountering a backslash in a string, the compiler looks ahead at the next character and combines it with the backslash to form an </a:t>
            </a:r>
            <a:r>
              <a:rPr b="1" lang="en-US" sz="2960"/>
              <a:t>escape sequence</a:t>
            </a:r>
            <a:r>
              <a:rPr lang="en-US" sz="2960"/>
              <a:t>. </a:t>
            </a:r>
            <a:endParaRPr/>
          </a:p>
          <a:p>
            <a:pPr indent="-342900" lvl="0" marL="342900" rtl="0" algn="just">
              <a:lnSpc>
                <a:spcPct val="80000"/>
              </a:lnSpc>
              <a:spcBef>
                <a:spcPts val="592"/>
              </a:spcBef>
              <a:spcAft>
                <a:spcPts val="0"/>
              </a:spcAft>
              <a:buClr>
                <a:schemeClr val="dk1"/>
              </a:buClr>
              <a:buSzPts val="2960"/>
              <a:buChar char="•"/>
            </a:pPr>
            <a:r>
              <a:rPr lang="en-US" sz="2960"/>
              <a:t>The escape sequence </a:t>
            </a:r>
            <a:r>
              <a:rPr b="1" lang="en-US" sz="2960"/>
              <a:t>\n </a:t>
            </a:r>
            <a:r>
              <a:rPr lang="en-US" sz="2960"/>
              <a:t>means </a:t>
            </a:r>
            <a:r>
              <a:rPr b="1" lang="en-US" sz="2960"/>
              <a:t>newline</a:t>
            </a:r>
            <a:r>
              <a:rPr lang="en-US" sz="2960"/>
              <a:t>, causes the cursor to position to the beginning of the next line on the screen.</a:t>
            </a:r>
            <a:endParaRPr sz="2960"/>
          </a:p>
          <a:p>
            <a:pPr indent="-342900" lvl="0" marL="342900" rtl="0" algn="just">
              <a:lnSpc>
                <a:spcPct val="80000"/>
              </a:lnSpc>
              <a:spcBef>
                <a:spcPts val="592"/>
              </a:spcBef>
              <a:spcAft>
                <a:spcPts val="0"/>
              </a:spcAft>
              <a:buClr>
                <a:schemeClr val="dk1"/>
              </a:buClr>
              <a:buSzPts val="2960"/>
              <a:buChar char="•"/>
            </a:pPr>
            <a:r>
              <a:rPr lang="en-US" sz="2960"/>
              <a:t>If there were another </a:t>
            </a:r>
            <a:r>
              <a:rPr b="1" lang="en-US" sz="2960" u="sng"/>
              <a:t>printf</a:t>
            </a:r>
            <a:r>
              <a:rPr lang="en-US" sz="2960"/>
              <a:t> in this program, its string would print on the next line.</a:t>
            </a:r>
            <a:endParaRPr/>
          </a:p>
          <a:p>
            <a:pPr indent="-154940" lvl="0" marL="342900" rtl="0" algn="just">
              <a:lnSpc>
                <a:spcPct val="80000"/>
              </a:lnSpc>
              <a:spcBef>
                <a:spcPts val="592"/>
              </a:spcBef>
              <a:spcAft>
                <a:spcPts val="0"/>
              </a:spcAft>
              <a:buClr>
                <a:schemeClr val="dk1"/>
              </a:buClr>
              <a:buSzPts val="2960"/>
              <a:buNone/>
            </a:pPr>
            <a:r>
              <a:t/>
            </a:r>
            <a:endParaRPr sz="296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How to excecute the above program:</a:t>
            </a:r>
            <a:endParaRPr/>
          </a:p>
        </p:txBody>
      </p:sp>
      <p:sp>
        <p:nvSpPr>
          <p:cNvPr id="269" name="Google Shape;269;p24"/>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960"/>
              <a:buFont typeface="Noto Sans Symbols"/>
              <a:buChar char="▪"/>
            </a:pPr>
            <a:r>
              <a:rPr lang="en-US" sz="2960"/>
              <a:t>Inorder to execute the above program, we need to have a compiler to compile and run our programs. </a:t>
            </a:r>
            <a:endParaRPr/>
          </a:p>
          <a:p>
            <a:pPr indent="-342900" lvl="0" marL="342900" rtl="0" algn="l">
              <a:spcBef>
                <a:spcPts val="592"/>
              </a:spcBef>
              <a:spcAft>
                <a:spcPts val="0"/>
              </a:spcAft>
              <a:buClr>
                <a:schemeClr val="dk1"/>
              </a:buClr>
              <a:buSzPts val="2960"/>
              <a:buFont typeface="Noto Sans Symbols"/>
              <a:buChar char="▪"/>
            </a:pPr>
            <a:r>
              <a:rPr lang="en-US" sz="2960"/>
              <a:t>There are certain online compilers like </a:t>
            </a:r>
            <a:r>
              <a:rPr lang="en-US" sz="2960" u="sng">
                <a:solidFill>
                  <a:schemeClr val="hlink"/>
                </a:solidFill>
                <a:hlinkClick r:id="rId3"/>
              </a:rPr>
              <a:t>https://ide.geeksforgeeks.org/</a:t>
            </a:r>
            <a:r>
              <a:rPr lang="en-US" sz="2960"/>
              <a:t>, </a:t>
            </a:r>
            <a:r>
              <a:rPr lang="en-US" sz="2960" u="sng">
                <a:solidFill>
                  <a:schemeClr val="hlink"/>
                </a:solidFill>
                <a:hlinkClick r:id="rId4"/>
              </a:rPr>
              <a:t>http://ideone.com/</a:t>
            </a:r>
            <a:r>
              <a:rPr lang="en-US" sz="2960"/>
              <a:t> or </a:t>
            </a:r>
            <a:r>
              <a:rPr lang="en-US" sz="2960" u="sng">
                <a:solidFill>
                  <a:schemeClr val="hlink"/>
                </a:solidFill>
                <a:hlinkClick r:id="rId5"/>
              </a:rPr>
              <a:t>http://codepad.org/</a:t>
            </a:r>
            <a:r>
              <a:rPr lang="en-US" sz="2960"/>
              <a:t> that can be used to start C without installing a compiler.</a:t>
            </a:r>
            <a:endParaRPr/>
          </a:p>
          <a:p>
            <a:pPr indent="-342900" lvl="0" marL="342900" rtl="0" algn="l">
              <a:spcBef>
                <a:spcPts val="592"/>
              </a:spcBef>
              <a:spcAft>
                <a:spcPts val="0"/>
              </a:spcAft>
              <a:buClr>
                <a:schemeClr val="dk1"/>
              </a:buClr>
              <a:buSzPts val="2960"/>
              <a:buFont typeface="Noto Sans Symbols"/>
              <a:buChar char="▪"/>
            </a:pPr>
            <a:r>
              <a:rPr b="1" i="1" lang="en-US" sz="2960"/>
              <a:t>Windows:</a:t>
            </a:r>
            <a:r>
              <a:rPr lang="en-US" sz="2960"/>
              <a:t> There are many compilers available freely for compilation of C programs like </a:t>
            </a:r>
            <a:r>
              <a:rPr lang="en-US" sz="2960" u="sng">
                <a:solidFill>
                  <a:schemeClr val="hlink"/>
                </a:solidFill>
                <a:hlinkClick r:id="rId6"/>
              </a:rPr>
              <a:t>Code Blocks </a:t>
            </a:r>
            <a:r>
              <a:rPr lang="en-US" sz="2960"/>
              <a:t> and </a:t>
            </a:r>
            <a:r>
              <a:rPr lang="en-US" sz="2960" u="sng">
                <a:solidFill>
                  <a:schemeClr val="hlink"/>
                </a:solidFill>
                <a:hlinkClick r:id="rId7"/>
              </a:rPr>
              <a:t>Dev-CPP</a:t>
            </a:r>
            <a:r>
              <a:rPr lang="en-US" sz="2960"/>
              <a:t>.   </a:t>
            </a:r>
            <a:endParaRPr/>
          </a:p>
          <a:p>
            <a:pPr indent="-342900" lvl="0" marL="342900" rtl="0" algn="l">
              <a:spcBef>
                <a:spcPts val="592"/>
              </a:spcBef>
              <a:spcAft>
                <a:spcPts val="0"/>
              </a:spcAft>
              <a:buClr>
                <a:schemeClr val="dk1"/>
              </a:buClr>
              <a:buSzPts val="2960"/>
              <a:buFont typeface="Noto Sans Symbols"/>
              <a:buChar char="▪"/>
            </a:pPr>
            <a:r>
              <a:rPr b="1" i="1" lang="en-US" sz="2960"/>
              <a:t>Linux:</a:t>
            </a:r>
            <a:r>
              <a:rPr lang="en-US" sz="2960"/>
              <a:t> For Linux, </a:t>
            </a:r>
            <a:r>
              <a:rPr lang="en-US" sz="2960" u="sng">
                <a:solidFill>
                  <a:schemeClr val="hlink"/>
                </a:solidFill>
                <a:hlinkClick r:id="rId8"/>
              </a:rPr>
              <a:t>gcc </a:t>
            </a:r>
            <a:r>
              <a:rPr lang="en-US" sz="2960"/>
              <a:t>comes bundled with the linux,  Code Blocks can also be used with Linux.</a:t>
            </a:r>
            <a:endParaRPr/>
          </a:p>
          <a:p>
            <a:pPr indent="-154940" lvl="0" marL="342900" rtl="0" algn="l">
              <a:spcBef>
                <a:spcPts val="592"/>
              </a:spcBef>
              <a:spcAft>
                <a:spcPts val="0"/>
              </a:spcAft>
              <a:buClr>
                <a:schemeClr val="dk1"/>
              </a:buClr>
              <a:buSzPts val="2960"/>
              <a:buNone/>
            </a:pPr>
            <a:r>
              <a:t/>
            </a:r>
            <a:endParaRPr sz="2960"/>
          </a:p>
        </p:txBody>
      </p:sp>
      <p:sp>
        <p:nvSpPr>
          <p:cNvPr id="270" name="Google Shape;270;p2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Data Structures and Algorithms - I                                                  Odd Sem 2020</a:t>
            </a:r>
            <a:endParaRPr/>
          </a:p>
        </p:txBody>
      </p:sp>
      <p:sp>
        <p:nvSpPr>
          <p:cNvPr id="271" name="Google Shape;271;p2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The C Character Set</a:t>
            </a:r>
            <a:endParaRPr/>
          </a:p>
        </p:txBody>
      </p:sp>
      <p:sp>
        <p:nvSpPr>
          <p:cNvPr id="277" name="Google Shape;277;p25"/>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Alphabets 			A, B, ….., Y, Z</a:t>
            </a:r>
            <a:endParaRPr/>
          </a:p>
          <a:p>
            <a:pPr indent="-342900" lvl="0" marL="342900" rtl="0" algn="l">
              <a:spcBef>
                <a:spcPts val="640"/>
              </a:spcBef>
              <a:spcAft>
                <a:spcPts val="0"/>
              </a:spcAft>
              <a:buClr>
                <a:schemeClr val="dk1"/>
              </a:buClr>
              <a:buSzPts val="3200"/>
              <a:buFont typeface="Arial"/>
              <a:buNone/>
            </a:pPr>
            <a:r>
              <a:rPr lang="en-US"/>
              <a:t>						a, b, ……, y, z</a:t>
            </a:r>
            <a:endParaRPr/>
          </a:p>
          <a:p>
            <a:pPr indent="-342900" lvl="0" marL="342900" rtl="0" algn="l">
              <a:spcBef>
                <a:spcPts val="640"/>
              </a:spcBef>
              <a:spcAft>
                <a:spcPts val="0"/>
              </a:spcAft>
              <a:buClr>
                <a:schemeClr val="dk1"/>
              </a:buClr>
              <a:buSzPts val="3200"/>
              <a:buFont typeface="Arial"/>
              <a:buNone/>
            </a:pPr>
            <a:r>
              <a:t/>
            </a:r>
            <a:endParaRPr/>
          </a:p>
          <a:p>
            <a:pPr indent="-342900" lvl="0" marL="342900" rtl="0" algn="l">
              <a:spcBef>
                <a:spcPts val="640"/>
              </a:spcBef>
              <a:spcAft>
                <a:spcPts val="0"/>
              </a:spcAft>
              <a:buClr>
                <a:schemeClr val="dk1"/>
              </a:buClr>
              <a:buSzPts val="3200"/>
              <a:buChar char="•"/>
            </a:pPr>
            <a:r>
              <a:rPr lang="en-US"/>
              <a:t>Digits 				0, 1, 2, 3, 4, 5, 6, 7, 8, 9</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Special symbols 		~ ‘ ! @ # % ^ &amp; * ( ) </a:t>
            </a:r>
            <a:endParaRPr/>
          </a:p>
          <a:p>
            <a:pPr indent="-342900" lvl="0" marL="342900" rtl="0" algn="l">
              <a:spcBef>
                <a:spcPts val="640"/>
              </a:spcBef>
              <a:spcAft>
                <a:spcPts val="0"/>
              </a:spcAft>
              <a:buClr>
                <a:schemeClr val="dk1"/>
              </a:buClr>
              <a:buSzPts val="3200"/>
              <a:buFont typeface="Arial"/>
              <a:buNone/>
            </a:pPr>
            <a:r>
              <a:rPr lang="en-US"/>
              <a:t>					_ - + = | \ { } [ ] : ; " ' &lt; &gt; , . ?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20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20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20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20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20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20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2000"/>
                                        <p:tgtEl>
                                          <p:spTgt spid="2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Effect filter="fade" transition="in">
                                      <p:cBhvr>
                                        <p:cTn dur="2000"/>
                                        <p:tgtEl>
                                          <p:spTgt spid="27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 Tokens</a:t>
            </a:r>
            <a:endParaRPr/>
          </a:p>
        </p:txBody>
      </p:sp>
      <p:sp>
        <p:nvSpPr>
          <p:cNvPr id="283" name="Google Shape;283;p26"/>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token is the smallest element of a program that is meaningful to the compiler. Tokens can be classified as follows:</a:t>
            </a:r>
            <a:endParaRPr/>
          </a:p>
          <a:p>
            <a:pPr indent="-285750" lvl="1" marL="742950" rtl="0" algn="l">
              <a:spcBef>
                <a:spcPts val="560"/>
              </a:spcBef>
              <a:spcAft>
                <a:spcPts val="0"/>
              </a:spcAft>
              <a:buClr>
                <a:schemeClr val="dk1"/>
              </a:buClr>
              <a:buSzPts val="2800"/>
              <a:buChar char="–"/>
            </a:pPr>
            <a:r>
              <a:rPr lang="en-US"/>
              <a:t>Keywords</a:t>
            </a:r>
            <a:endParaRPr/>
          </a:p>
          <a:p>
            <a:pPr indent="-285750" lvl="1" marL="742950" rtl="0" algn="l">
              <a:spcBef>
                <a:spcPts val="560"/>
              </a:spcBef>
              <a:spcAft>
                <a:spcPts val="0"/>
              </a:spcAft>
              <a:buClr>
                <a:schemeClr val="dk1"/>
              </a:buClr>
              <a:buSzPts val="2800"/>
              <a:buChar char="–"/>
            </a:pPr>
            <a:r>
              <a:rPr lang="en-US"/>
              <a:t>Identifiers</a:t>
            </a:r>
            <a:endParaRPr/>
          </a:p>
          <a:p>
            <a:pPr indent="-285750" lvl="1" marL="742950" rtl="0" algn="l">
              <a:spcBef>
                <a:spcPts val="560"/>
              </a:spcBef>
              <a:spcAft>
                <a:spcPts val="0"/>
              </a:spcAft>
              <a:buClr>
                <a:schemeClr val="dk1"/>
              </a:buClr>
              <a:buSzPts val="2800"/>
              <a:buChar char="–"/>
            </a:pPr>
            <a:r>
              <a:rPr lang="en-US"/>
              <a:t>Constants</a:t>
            </a:r>
            <a:endParaRPr/>
          </a:p>
          <a:p>
            <a:pPr indent="-285750" lvl="1" marL="742950" rtl="0" algn="l">
              <a:spcBef>
                <a:spcPts val="560"/>
              </a:spcBef>
              <a:spcAft>
                <a:spcPts val="0"/>
              </a:spcAft>
              <a:buClr>
                <a:schemeClr val="dk1"/>
              </a:buClr>
              <a:buSzPts val="2800"/>
              <a:buChar char="–"/>
            </a:pPr>
            <a:r>
              <a:rPr lang="en-US"/>
              <a:t>Strings</a:t>
            </a:r>
            <a:endParaRPr/>
          </a:p>
          <a:p>
            <a:pPr indent="-285750" lvl="1" marL="742950" rtl="0" algn="l">
              <a:spcBef>
                <a:spcPts val="560"/>
              </a:spcBef>
              <a:spcAft>
                <a:spcPts val="0"/>
              </a:spcAft>
              <a:buClr>
                <a:schemeClr val="dk1"/>
              </a:buClr>
              <a:buSzPts val="2800"/>
              <a:buChar char="–"/>
            </a:pPr>
            <a:r>
              <a:rPr lang="en-US"/>
              <a:t>Special Symbols</a:t>
            </a:r>
            <a:endParaRPr/>
          </a:p>
          <a:p>
            <a:pPr indent="-285750" lvl="1" marL="742950" rtl="0" algn="l">
              <a:spcBef>
                <a:spcPts val="560"/>
              </a:spcBef>
              <a:spcAft>
                <a:spcPts val="0"/>
              </a:spcAft>
              <a:buClr>
                <a:schemeClr val="dk1"/>
              </a:buClr>
              <a:buSzPts val="2800"/>
              <a:buChar char="–"/>
            </a:pPr>
            <a:r>
              <a:rPr lang="en-US"/>
              <a:t>Operators</a:t>
            </a:r>
            <a:endParaRPr/>
          </a:p>
          <a:p>
            <a:pPr indent="-139700" lvl="0" marL="342900" rtl="0" algn="l">
              <a:spcBef>
                <a:spcPts val="640"/>
              </a:spcBef>
              <a:spcAft>
                <a:spcPts val="0"/>
              </a:spcAft>
              <a:buClr>
                <a:schemeClr val="dk1"/>
              </a:buClr>
              <a:buSzPts val="3200"/>
              <a:buNone/>
            </a:pPr>
            <a:r>
              <a:t/>
            </a:r>
            <a:endParaRPr/>
          </a:p>
        </p:txBody>
      </p:sp>
      <p:sp>
        <p:nvSpPr>
          <p:cNvPr id="284" name="Google Shape;284;p2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txBox="1"/>
          <p:nvPr>
            <p:ph type="title"/>
          </p:nvPr>
        </p:nvSpPr>
        <p:spPr>
          <a:xfrm>
            <a:off x="609600" y="274638"/>
            <a:ext cx="10972800" cy="4978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59"/>
              <a:buFont typeface="Calibri"/>
              <a:buNone/>
            </a:pPr>
            <a:r>
              <a:rPr b="1" lang="en-US" sz="3959"/>
              <a:t>C Keywords</a:t>
            </a:r>
            <a:endParaRPr/>
          </a:p>
        </p:txBody>
      </p:sp>
      <p:sp>
        <p:nvSpPr>
          <p:cNvPr id="290" name="Google Shape;290;p27"/>
          <p:cNvSpPr txBox="1"/>
          <p:nvPr>
            <p:ph idx="1" type="body"/>
          </p:nvPr>
        </p:nvSpPr>
        <p:spPr>
          <a:xfrm>
            <a:off x="198966" y="949435"/>
            <a:ext cx="11814358" cy="5782441"/>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There are certain reserved words, called </a:t>
            </a:r>
            <a:r>
              <a:rPr b="1" i="1" lang="en-US"/>
              <a:t>keywords, </a:t>
            </a:r>
            <a:r>
              <a:rPr lang="en-US"/>
              <a:t>that have standard, predefined meanings in C. </a:t>
            </a:r>
            <a:endParaRPr/>
          </a:p>
          <a:p>
            <a:pPr indent="-342900" lvl="0" marL="342900" rtl="0" algn="just">
              <a:spcBef>
                <a:spcPts val="640"/>
              </a:spcBef>
              <a:spcAft>
                <a:spcPts val="0"/>
              </a:spcAft>
              <a:buClr>
                <a:schemeClr val="dk1"/>
              </a:buClr>
              <a:buSzPts val="3200"/>
              <a:buChar char="•"/>
            </a:pPr>
            <a:r>
              <a:rPr lang="en-US"/>
              <a:t>These keywords can be used only for their intended purpose; they cannot be used as programmer-defined identifiers.</a:t>
            </a:r>
            <a:endParaRPr/>
          </a:p>
          <a:p>
            <a:pPr indent="-342900" lvl="0" marL="342900" rtl="0" algn="just">
              <a:spcBef>
                <a:spcPts val="640"/>
              </a:spcBef>
              <a:spcAft>
                <a:spcPts val="0"/>
              </a:spcAft>
              <a:buClr>
                <a:schemeClr val="dk1"/>
              </a:buClr>
              <a:buSzPts val="3200"/>
              <a:buChar char="•"/>
            </a:pPr>
            <a:r>
              <a:rPr lang="en-US"/>
              <a:t>The keywords </a:t>
            </a:r>
            <a:r>
              <a:rPr b="1" lang="en-US"/>
              <a:t>cannot be used as variable names.</a:t>
            </a:r>
            <a:endParaRPr/>
          </a:p>
          <a:p>
            <a:pPr indent="-342900" lvl="0" marL="342900" rtl="0" algn="just">
              <a:spcBef>
                <a:spcPts val="640"/>
              </a:spcBef>
              <a:spcAft>
                <a:spcPts val="0"/>
              </a:spcAft>
              <a:buClr>
                <a:schemeClr val="dk1"/>
              </a:buClr>
              <a:buSzPts val="3200"/>
              <a:buChar char="•"/>
            </a:pPr>
            <a:r>
              <a:rPr lang="en-US"/>
              <a:t>C supports 32 keywords</a:t>
            </a:r>
            <a:endParaRPr/>
          </a:p>
          <a:p>
            <a:pPr indent="-139700" lvl="0" marL="342900" rtl="0" algn="just">
              <a:spcBef>
                <a:spcPts val="640"/>
              </a:spcBef>
              <a:spcAft>
                <a:spcPts val="0"/>
              </a:spcAft>
              <a:buClr>
                <a:schemeClr val="dk1"/>
              </a:buClr>
              <a:buSzPts val="3200"/>
              <a:buNone/>
            </a:pPr>
            <a:r>
              <a:t/>
            </a:r>
            <a:endParaRPr/>
          </a:p>
          <a:p>
            <a:pPr indent="-139700" lvl="0" marL="342900" rtl="0" algn="just">
              <a:spcBef>
                <a:spcPts val="640"/>
              </a:spcBef>
              <a:spcAft>
                <a:spcPts val="0"/>
              </a:spcAft>
              <a:buClr>
                <a:schemeClr val="dk1"/>
              </a:buClr>
              <a:buSzPts val="3200"/>
              <a:buNone/>
            </a:pPr>
            <a:r>
              <a:t/>
            </a:r>
            <a:endParaRPr/>
          </a:p>
          <a:p>
            <a:pPr indent="-139700" lvl="0" marL="342900" rtl="0" algn="just">
              <a:spcBef>
                <a:spcPts val="640"/>
              </a:spcBef>
              <a:spcAft>
                <a:spcPts val="0"/>
              </a:spcAft>
              <a:buClr>
                <a:schemeClr val="dk1"/>
              </a:buClr>
              <a:buSzPts val="3200"/>
              <a:buNone/>
            </a:pPr>
            <a:r>
              <a:t/>
            </a:r>
            <a:endParaRPr/>
          </a:p>
          <a:p>
            <a:pPr indent="-139700" lvl="0" marL="342900" rtl="0" algn="just">
              <a:spcBef>
                <a:spcPts val="640"/>
              </a:spcBef>
              <a:spcAft>
                <a:spcPts val="0"/>
              </a:spcAft>
              <a:buClr>
                <a:schemeClr val="dk1"/>
              </a:buClr>
              <a:buSzPts val="3200"/>
              <a:buNone/>
            </a:pPr>
            <a:r>
              <a:t/>
            </a:r>
            <a:endParaRPr/>
          </a:p>
          <a:p>
            <a:pPr indent="0" lvl="0" marL="0" rtl="0" algn="just">
              <a:spcBef>
                <a:spcPts val="640"/>
              </a:spcBef>
              <a:spcAft>
                <a:spcPts val="0"/>
              </a:spcAft>
              <a:buClr>
                <a:schemeClr val="dk1"/>
              </a:buClr>
              <a:buSzPts val="3200"/>
              <a:buNone/>
            </a:pPr>
            <a:r>
              <a:t/>
            </a:r>
            <a:endParaRPr/>
          </a:p>
          <a:p>
            <a:pPr indent="-139700" lvl="0" marL="342900" rtl="0" algn="just">
              <a:spcBef>
                <a:spcPts val="640"/>
              </a:spcBef>
              <a:spcAft>
                <a:spcPts val="0"/>
              </a:spcAft>
              <a:buClr>
                <a:schemeClr val="dk1"/>
              </a:buClr>
              <a:buSzPts val="3200"/>
              <a:buNone/>
            </a:pPr>
            <a:r>
              <a:t/>
            </a:r>
            <a:endParaRPr b="1"/>
          </a:p>
          <a:p>
            <a:pPr indent="-139700" lvl="0" marL="342900" rtl="0" algn="just">
              <a:spcBef>
                <a:spcPts val="640"/>
              </a:spcBef>
              <a:spcAft>
                <a:spcPts val="0"/>
              </a:spcAft>
              <a:buClr>
                <a:schemeClr val="dk1"/>
              </a:buClr>
              <a:buSzPts val="3200"/>
              <a:buNone/>
            </a:pPr>
            <a:r>
              <a:t/>
            </a:r>
            <a:endParaRPr/>
          </a:p>
        </p:txBody>
      </p:sp>
      <p:pic>
        <p:nvPicPr>
          <p:cNvPr id="291" name="Google Shape;291;p27"/>
          <p:cNvPicPr preferRelativeResize="0"/>
          <p:nvPr/>
        </p:nvPicPr>
        <p:blipFill rotWithShape="1">
          <a:blip r:embed="rId3">
            <a:alphaModFix/>
          </a:blip>
          <a:srcRect b="0" l="0" r="0" t="0"/>
          <a:stretch/>
        </p:blipFill>
        <p:spPr>
          <a:xfrm>
            <a:off x="570614" y="4179176"/>
            <a:ext cx="4572000" cy="2552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IDENTIFIERS</a:t>
            </a:r>
            <a:endParaRPr/>
          </a:p>
        </p:txBody>
      </p:sp>
      <p:sp>
        <p:nvSpPr>
          <p:cNvPr id="298" name="Google Shape;298;p28"/>
          <p:cNvSpPr txBox="1"/>
          <p:nvPr>
            <p:ph idx="1" type="body"/>
          </p:nvPr>
        </p:nvSpPr>
        <p:spPr>
          <a:xfrm>
            <a:off x="141889" y="1295401"/>
            <a:ext cx="11902965" cy="5562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b="1" i="1" lang="en-US" sz="2960"/>
              <a:t>Identifiers </a:t>
            </a:r>
            <a:r>
              <a:rPr lang="en-US" sz="2960"/>
              <a:t>are names that are given to various program elements, such as variables, functions and arrays.</a:t>
            </a:r>
            <a:endParaRPr/>
          </a:p>
          <a:p>
            <a:pPr indent="-342900" lvl="0" marL="342900" rtl="0" algn="l">
              <a:lnSpc>
                <a:spcPct val="90000"/>
              </a:lnSpc>
              <a:spcBef>
                <a:spcPts val="592"/>
              </a:spcBef>
              <a:spcAft>
                <a:spcPts val="0"/>
              </a:spcAft>
              <a:buClr>
                <a:schemeClr val="dk1"/>
              </a:buClr>
              <a:buSzPts val="2960"/>
              <a:buChar char="•"/>
            </a:pPr>
            <a:r>
              <a:rPr lang="en-US" sz="2960"/>
              <a:t>Identifiers consist of letters and digits, in any order, except that </a:t>
            </a:r>
            <a:r>
              <a:rPr b="1" i="1" lang="en-US" sz="2960"/>
              <a:t>the first character must be a letter. </a:t>
            </a:r>
            <a:endParaRPr/>
          </a:p>
          <a:p>
            <a:pPr indent="-342900" lvl="0" marL="342900" rtl="0" algn="l">
              <a:lnSpc>
                <a:spcPct val="90000"/>
              </a:lnSpc>
              <a:spcBef>
                <a:spcPts val="592"/>
              </a:spcBef>
              <a:spcAft>
                <a:spcPts val="0"/>
              </a:spcAft>
              <a:buClr>
                <a:schemeClr val="dk1"/>
              </a:buClr>
              <a:buSzPts val="2960"/>
              <a:buChar char="•"/>
            </a:pPr>
            <a:r>
              <a:rPr lang="en-US" sz="2960"/>
              <a:t>Both upper- and lowercase letters are permitted, though common usage favors the use of lowercase letters for most types of identifiers.</a:t>
            </a:r>
            <a:endParaRPr/>
          </a:p>
          <a:p>
            <a:pPr indent="-342900" lvl="0" marL="342900" rtl="0" algn="l">
              <a:lnSpc>
                <a:spcPct val="90000"/>
              </a:lnSpc>
              <a:spcBef>
                <a:spcPts val="592"/>
              </a:spcBef>
              <a:spcAft>
                <a:spcPts val="0"/>
              </a:spcAft>
              <a:buClr>
                <a:schemeClr val="dk1"/>
              </a:buClr>
              <a:buSzPts val="2960"/>
              <a:buChar char="•"/>
            </a:pPr>
            <a:r>
              <a:rPr lang="en-US" sz="2960"/>
              <a:t>Upper- and lowercase letters are not interchangeable (i.e., an uppercase letter is </a:t>
            </a:r>
            <a:r>
              <a:rPr b="1" i="1" lang="en-US" sz="2960"/>
              <a:t>not </a:t>
            </a:r>
            <a:r>
              <a:rPr lang="en-US" sz="2960"/>
              <a:t>equivalent to the corresponding lowercase letter.) </a:t>
            </a:r>
            <a:endParaRPr/>
          </a:p>
          <a:p>
            <a:pPr indent="-342900" lvl="0" marL="342900" rtl="0" algn="l">
              <a:lnSpc>
                <a:spcPct val="90000"/>
              </a:lnSpc>
              <a:spcBef>
                <a:spcPts val="592"/>
              </a:spcBef>
              <a:spcAft>
                <a:spcPts val="0"/>
              </a:spcAft>
              <a:buClr>
                <a:schemeClr val="dk1"/>
              </a:buClr>
              <a:buSzPts val="2960"/>
              <a:buChar char="•"/>
            </a:pPr>
            <a:r>
              <a:rPr lang="en-US" sz="2960"/>
              <a:t>The underscore character ( _ ) can also be included, and is considered to be a letter. </a:t>
            </a:r>
            <a:endParaRPr/>
          </a:p>
          <a:p>
            <a:pPr indent="-342900" lvl="0" marL="342900" rtl="0" algn="l">
              <a:lnSpc>
                <a:spcPct val="90000"/>
              </a:lnSpc>
              <a:spcBef>
                <a:spcPts val="592"/>
              </a:spcBef>
              <a:spcAft>
                <a:spcPts val="0"/>
              </a:spcAft>
              <a:buClr>
                <a:schemeClr val="dk1"/>
              </a:buClr>
              <a:buSzPts val="2960"/>
              <a:buChar char="•"/>
            </a:pPr>
            <a:r>
              <a:rPr lang="en-US" sz="2960"/>
              <a:t>An underscore is often used in the middle of an identifier. An identifier may also begin with an underscore, though this is rarely done in practice.</a:t>
            </a:r>
            <a:endParaRPr sz="296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IDENTIFIERS</a:t>
            </a:r>
            <a:endParaRPr/>
          </a:p>
        </p:txBody>
      </p:sp>
      <p:sp>
        <p:nvSpPr>
          <p:cNvPr id="305" name="Google Shape;305;p29"/>
          <p:cNvSpPr txBox="1"/>
          <p:nvPr>
            <p:ph idx="1" type="body"/>
          </p:nvPr>
        </p:nvSpPr>
        <p:spPr>
          <a:xfrm>
            <a:off x="141889" y="1295401"/>
            <a:ext cx="11902965" cy="5562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Valid identifiers</a:t>
            </a:r>
            <a:endParaRPr/>
          </a:p>
          <a:p>
            <a:pPr indent="-3175" lvl="0" marL="346075" rtl="0" algn="l">
              <a:spcBef>
                <a:spcPts val="640"/>
              </a:spcBef>
              <a:spcAft>
                <a:spcPts val="0"/>
              </a:spcAft>
              <a:buClr>
                <a:schemeClr val="dk1"/>
              </a:buClr>
              <a:buSzPts val="3200"/>
              <a:buChar char="•"/>
            </a:pPr>
            <a:r>
              <a:rPr lang="en-US"/>
              <a:t>number</a:t>
            </a:r>
            <a:endParaRPr/>
          </a:p>
          <a:p>
            <a:pPr indent="-3175" lvl="0" marL="346075" rtl="0" algn="l">
              <a:spcBef>
                <a:spcPts val="640"/>
              </a:spcBef>
              <a:spcAft>
                <a:spcPts val="0"/>
              </a:spcAft>
              <a:buClr>
                <a:schemeClr val="dk1"/>
              </a:buClr>
              <a:buSzPts val="3200"/>
              <a:buChar char="•"/>
            </a:pPr>
            <a:r>
              <a:rPr lang="en-US"/>
              <a:t>year_17</a:t>
            </a:r>
            <a:endParaRPr/>
          </a:p>
          <a:p>
            <a:pPr indent="-3175" lvl="0" marL="346075" rtl="0" algn="l">
              <a:spcBef>
                <a:spcPts val="640"/>
              </a:spcBef>
              <a:spcAft>
                <a:spcPts val="0"/>
              </a:spcAft>
              <a:buClr>
                <a:schemeClr val="dk1"/>
              </a:buClr>
              <a:buSzPts val="3200"/>
              <a:buChar char="•"/>
            </a:pPr>
            <a:r>
              <a:rPr lang="en-US"/>
              <a:t>_name</a:t>
            </a:r>
            <a:endParaRPr/>
          </a:p>
          <a:p>
            <a:pPr indent="-3175" lvl="0" marL="346075" rtl="0" algn="l">
              <a:spcBef>
                <a:spcPts val="640"/>
              </a:spcBef>
              <a:spcAft>
                <a:spcPts val="0"/>
              </a:spcAft>
              <a:buClr>
                <a:schemeClr val="dk1"/>
              </a:buClr>
              <a:buSzPts val="3200"/>
              <a:buChar char="•"/>
            </a:pPr>
            <a:r>
              <a:rPr lang="en-US"/>
              <a:t>GRADE</a:t>
            </a:r>
            <a:endParaRPr/>
          </a:p>
          <a:p>
            <a:pPr indent="-3175" lvl="0" marL="346075" rtl="0" algn="l">
              <a:spcBef>
                <a:spcPts val="640"/>
              </a:spcBef>
              <a:spcAft>
                <a:spcPts val="0"/>
              </a:spcAft>
              <a:buClr>
                <a:schemeClr val="dk1"/>
              </a:buClr>
              <a:buSzPts val="3200"/>
              <a:buChar char="•"/>
            </a:pPr>
            <a:r>
              <a:rPr lang="en-US"/>
              <a:t>DIV_7</a:t>
            </a:r>
            <a:endParaRPr/>
          </a:p>
          <a:p>
            <a:pPr indent="149225" lvl="0" marL="346075" rtl="0" algn="l">
              <a:spcBef>
                <a:spcPts val="480"/>
              </a:spcBef>
              <a:spcAft>
                <a:spcPts val="0"/>
              </a:spcAft>
              <a:buClr>
                <a:schemeClr val="dk1"/>
              </a:buClr>
              <a:buSzPts val="2400"/>
              <a:buNone/>
            </a:pPr>
            <a:r>
              <a:t/>
            </a:r>
            <a:endParaRPr sz="2400"/>
          </a:p>
          <a:p>
            <a:pPr indent="149225" lvl="0" marL="346075" rtl="0" algn="l">
              <a:spcBef>
                <a:spcPts val="480"/>
              </a:spcBef>
              <a:spcAft>
                <a:spcPts val="0"/>
              </a:spcAft>
              <a:buClr>
                <a:schemeClr val="dk1"/>
              </a:buClr>
              <a:buSzPts val="2400"/>
              <a:buNone/>
            </a:pPr>
            <a:r>
              <a:t/>
            </a:r>
            <a:endParaRPr sz="2400"/>
          </a:p>
          <a:p>
            <a:pPr indent="149225" lvl="0" marL="346075" rtl="0" algn="l">
              <a:spcBef>
                <a:spcPts val="480"/>
              </a:spcBef>
              <a:spcAft>
                <a:spcPts val="0"/>
              </a:spcAft>
              <a:buClr>
                <a:schemeClr val="dk1"/>
              </a:buClr>
              <a:buSzPts val="2400"/>
              <a:buNone/>
            </a:pPr>
            <a:r>
              <a:t/>
            </a:r>
            <a:endParaRPr sz="2400"/>
          </a:p>
          <a:p>
            <a:pPr indent="149225" lvl="0" marL="346075" rtl="0" algn="l">
              <a:spcBef>
                <a:spcPts val="480"/>
              </a:spcBef>
              <a:spcAft>
                <a:spcPts val="0"/>
              </a:spcAft>
              <a:buClr>
                <a:schemeClr val="dk1"/>
              </a:buClr>
              <a:buSzPts val="2400"/>
              <a:buNone/>
            </a:pPr>
            <a:r>
              <a:t/>
            </a:r>
            <a:endParaRPr sz="2400"/>
          </a:p>
          <a:p>
            <a:pPr indent="-3175" lvl="0" marL="346075" rtl="0" algn="l">
              <a:spcBef>
                <a:spcPts val="640"/>
              </a:spcBef>
              <a:spcAft>
                <a:spcPts val="0"/>
              </a:spcAft>
              <a:buClr>
                <a:schemeClr val="dk1"/>
              </a:buClr>
              <a:buSzPts val="3200"/>
              <a:buChar char="•"/>
            </a:pPr>
            <a:r>
              <a:rPr lang="en-US"/>
              <a:t>Invalid identifiers</a:t>
            </a:r>
            <a:endParaRPr/>
          </a:p>
          <a:p>
            <a:pPr indent="-3175" lvl="0" marL="628650" rtl="0" algn="l">
              <a:spcBef>
                <a:spcPts val="640"/>
              </a:spcBef>
              <a:spcAft>
                <a:spcPts val="0"/>
              </a:spcAft>
              <a:buClr>
                <a:schemeClr val="dk1"/>
              </a:buClr>
              <a:buSzPts val="3200"/>
              <a:buChar char="•"/>
            </a:pPr>
            <a:r>
              <a:rPr lang="en-US"/>
              <a:t>123ab</a:t>
            </a:r>
            <a:endParaRPr/>
          </a:p>
          <a:p>
            <a:pPr indent="-3175" lvl="0" marL="628650" rtl="0" algn="l">
              <a:spcBef>
                <a:spcPts val="640"/>
              </a:spcBef>
              <a:spcAft>
                <a:spcPts val="0"/>
              </a:spcAft>
              <a:buClr>
                <a:schemeClr val="dk1"/>
              </a:buClr>
              <a:buSzPts val="3200"/>
              <a:buChar char="•"/>
            </a:pPr>
            <a:r>
              <a:rPr lang="en-US"/>
              <a:t>mobile-no.</a:t>
            </a:r>
            <a:endParaRPr/>
          </a:p>
          <a:p>
            <a:pPr indent="-3175" lvl="0" marL="628650" rtl="0" algn="l">
              <a:spcBef>
                <a:spcPts val="640"/>
              </a:spcBef>
              <a:spcAft>
                <a:spcPts val="0"/>
              </a:spcAft>
              <a:buClr>
                <a:schemeClr val="dk1"/>
              </a:buClr>
              <a:buSzPts val="3200"/>
              <a:buChar char="•"/>
            </a:pPr>
            <a:r>
              <a:rPr lang="en-US"/>
              <a:t>first name</a:t>
            </a:r>
            <a:endParaRPr/>
          </a:p>
          <a:p>
            <a:pPr indent="-3175" lvl="0" marL="628650" rtl="0" algn="l">
              <a:spcBef>
                <a:spcPts val="640"/>
              </a:spcBef>
              <a:spcAft>
                <a:spcPts val="0"/>
              </a:spcAft>
              <a:buClr>
                <a:schemeClr val="dk1"/>
              </a:buClr>
              <a:buSzPts val="3200"/>
              <a:buChar char="•"/>
            </a:pPr>
            <a:r>
              <a:rPr lang="en-US"/>
              <a:t>email@id</a:t>
            </a:r>
            <a:endParaRPr/>
          </a:p>
          <a:p>
            <a:pPr indent="200025" lvl="0" marL="346075" rtl="0" algn="l">
              <a:spcBef>
                <a:spcPts val="640"/>
              </a:spcBef>
              <a:spcAft>
                <a:spcPts val="0"/>
              </a:spcAft>
              <a:buClr>
                <a:schemeClr val="dk1"/>
              </a:buClr>
              <a:buSzPts val="3200"/>
              <a:buNone/>
            </a:pPr>
            <a:r>
              <a:t/>
            </a:r>
            <a:endParaRPr/>
          </a:p>
          <a:p>
            <a:pPr indent="200025" lvl="0" marL="346075"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
        <p:nvSpPr>
          <p:cNvPr id="306" name="Google Shape;306;p29"/>
          <p:cNvSpPr txBox="1"/>
          <p:nvPr/>
        </p:nvSpPr>
        <p:spPr>
          <a:xfrm>
            <a:off x="237460" y="4954773"/>
            <a:ext cx="4185684"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Example: </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int main()</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int a=10;</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return 0;</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29"/>
          <p:cNvSpPr txBox="1"/>
          <p:nvPr/>
        </p:nvSpPr>
        <p:spPr>
          <a:xfrm flipH="1">
            <a:off x="3990398" y="5121556"/>
            <a:ext cx="532053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 this program there are </a:t>
            </a:r>
            <a:r>
              <a:rPr b="1" lang="en-US" sz="1800">
                <a:solidFill>
                  <a:schemeClr val="dk1"/>
                </a:solidFill>
                <a:latin typeface="Calibri"/>
                <a:ea typeface="Calibri"/>
                <a:cs typeface="Calibri"/>
                <a:sym typeface="Calibri"/>
              </a:rPr>
              <a:t>2 identifiers: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main: </a:t>
            </a:r>
            <a:r>
              <a:rPr lang="en-US" sz="1800">
                <a:solidFill>
                  <a:schemeClr val="dk1"/>
                </a:solidFill>
                <a:latin typeface="Calibri"/>
                <a:ea typeface="Calibri"/>
                <a:cs typeface="Calibri"/>
                <a:sym typeface="Calibri"/>
              </a:rPr>
              <a:t>method name.</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a: </a:t>
            </a:r>
            <a:r>
              <a:rPr lang="en-US" sz="1800">
                <a:solidFill>
                  <a:schemeClr val="dk1"/>
                </a:solidFill>
                <a:latin typeface="Calibri"/>
                <a:ea typeface="Calibri"/>
                <a:cs typeface="Calibri"/>
                <a:sym typeface="Calibri"/>
              </a:rPr>
              <a:t>variable name.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Constants</a:t>
            </a:r>
            <a:endParaRPr b="1"/>
          </a:p>
        </p:txBody>
      </p:sp>
      <p:sp>
        <p:nvSpPr>
          <p:cNvPr id="314" name="Google Shape;314;p30"/>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t>It is an identifier whose value can not be changed at the execution time of program. In general </a:t>
            </a:r>
            <a:r>
              <a:rPr b="1" lang="en-US" sz="2400"/>
              <a:t>constant</a:t>
            </a:r>
            <a:r>
              <a:rPr lang="en-US" sz="2400"/>
              <a:t> can be used to represent as fixed values in a C program. </a:t>
            </a:r>
            <a:endParaRPr/>
          </a:p>
          <a:p>
            <a:pPr indent="-342900" lvl="0" marL="342900" rtl="0" algn="just">
              <a:spcBef>
                <a:spcPts val="480"/>
              </a:spcBef>
              <a:spcAft>
                <a:spcPts val="0"/>
              </a:spcAft>
              <a:buClr>
                <a:schemeClr val="dk1"/>
              </a:buClr>
              <a:buSzPts val="2400"/>
              <a:buChar char="•"/>
            </a:pPr>
            <a:r>
              <a:rPr lang="en-US" sz="2400"/>
              <a:t>Constants are classified into </a:t>
            </a:r>
            <a:endParaRPr/>
          </a:p>
          <a:p>
            <a:pPr indent="0" lvl="0" marL="0" rtl="0" algn="just">
              <a:spcBef>
                <a:spcPts val="480"/>
              </a:spcBef>
              <a:spcAft>
                <a:spcPts val="0"/>
              </a:spcAft>
              <a:buClr>
                <a:schemeClr val="dk1"/>
              </a:buClr>
              <a:buSzPts val="2400"/>
              <a:buNone/>
            </a:pPr>
            <a:r>
              <a:rPr lang="en-US" sz="2400"/>
              <a:t>following types.</a:t>
            </a:r>
            <a:endParaRPr/>
          </a:p>
          <a:p>
            <a:pPr indent="-342900" lvl="0" marL="342900" rtl="0" algn="just">
              <a:spcBef>
                <a:spcPts val="480"/>
              </a:spcBef>
              <a:spcAft>
                <a:spcPts val="0"/>
              </a:spcAft>
              <a:buClr>
                <a:schemeClr val="dk1"/>
              </a:buClr>
              <a:buSzPts val="2400"/>
              <a:buChar char="•"/>
            </a:pPr>
            <a:r>
              <a:rPr lang="en-US" sz="2400"/>
              <a:t>Constants are also called </a:t>
            </a:r>
            <a:r>
              <a:rPr b="1" lang="en-US" sz="2400"/>
              <a:t>literals.</a:t>
            </a:r>
            <a:endParaRPr/>
          </a:p>
          <a:p>
            <a:pPr indent="-342900" lvl="0" marL="342900" rtl="0" algn="l">
              <a:spcBef>
                <a:spcPts val="480"/>
              </a:spcBef>
              <a:spcAft>
                <a:spcPts val="0"/>
              </a:spcAft>
              <a:buClr>
                <a:schemeClr val="dk1"/>
              </a:buClr>
              <a:buSzPts val="2400"/>
              <a:buChar char="•"/>
            </a:pPr>
            <a:r>
              <a:rPr i="1" lang="en-US" sz="2400"/>
              <a:t>It is considered best practice to define </a:t>
            </a:r>
            <a:endParaRPr/>
          </a:p>
          <a:p>
            <a:pPr indent="0" lvl="0" marL="0" rtl="0" algn="l">
              <a:spcBef>
                <a:spcPts val="480"/>
              </a:spcBef>
              <a:spcAft>
                <a:spcPts val="0"/>
              </a:spcAft>
              <a:buClr>
                <a:schemeClr val="dk1"/>
              </a:buClr>
              <a:buSzPts val="2400"/>
              <a:buNone/>
            </a:pPr>
            <a:r>
              <a:rPr i="1" lang="en-US" sz="2400"/>
              <a:t>constants using only upper-case names.</a:t>
            </a:r>
            <a:endParaRPr/>
          </a:p>
          <a:p>
            <a:pPr indent="0" lvl="0" marL="0" rtl="0" algn="l">
              <a:spcBef>
                <a:spcPts val="480"/>
              </a:spcBef>
              <a:spcAft>
                <a:spcPts val="0"/>
              </a:spcAft>
              <a:buClr>
                <a:schemeClr val="dk1"/>
              </a:buClr>
              <a:buSzPts val="2400"/>
              <a:buNone/>
            </a:pPr>
            <a:r>
              <a:t/>
            </a:r>
            <a:endParaRPr sz="2400" u="sng"/>
          </a:p>
        </p:txBody>
      </p:sp>
      <p:sp>
        <p:nvSpPr>
          <p:cNvPr id="315" name="Google Shape;315;p3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onstant in c" id="316" name="Google Shape;316;p30"/>
          <p:cNvPicPr preferRelativeResize="0"/>
          <p:nvPr/>
        </p:nvPicPr>
        <p:blipFill rotWithShape="1">
          <a:blip r:embed="rId3">
            <a:alphaModFix/>
          </a:blip>
          <a:srcRect b="0" l="0" r="5354" t="0"/>
          <a:stretch/>
        </p:blipFill>
        <p:spPr>
          <a:xfrm>
            <a:off x="5594706" y="2203231"/>
            <a:ext cx="6213694" cy="466681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Constants</a:t>
            </a:r>
            <a:endParaRPr b="1"/>
          </a:p>
        </p:txBody>
      </p:sp>
      <p:sp>
        <p:nvSpPr>
          <p:cNvPr id="323" name="Google Shape;323;p31"/>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There are two simple ways in C to define constants −</a:t>
            </a:r>
            <a:endParaRPr/>
          </a:p>
          <a:p>
            <a:pPr indent="-342900" lvl="0" marL="342900" rtl="0" algn="l">
              <a:spcBef>
                <a:spcPts val="480"/>
              </a:spcBef>
              <a:spcAft>
                <a:spcPts val="0"/>
              </a:spcAft>
              <a:buClr>
                <a:schemeClr val="dk1"/>
              </a:buClr>
              <a:buSzPts val="2400"/>
              <a:buChar char="•"/>
            </a:pPr>
            <a:r>
              <a:rPr lang="en-US" sz="2400"/>
              <a:t>Using </a:t>
            </a:r>
            <a:r>
              <a:rPr b="1" lang="en-US" sz="2400"/>
              <a:t>#define</a:t>
            </a:r>
            <a:r>
              <a:rPr lang="en-US" sz="2400"/>
              <a:t> preprocessor.</a:t>
            </a:r>
            <a:endParaRPr/>
          </a:p>
          <a:p>
            <a:pPr indent="-342900" lvl="0" marL="342900" rtl="0" algn="l">
              <a:spcBef>
                <a:spcPts val="480"/>
              </a:spcBef>
              <a:spcAft>
                <a:spcPts val="0"/>
              </a:spcAft>
              <a:buClr>
                <a:schemeClr val="dk1"/>
              </a:buClr>
              <a:buSzPts val="2400"/>
              <a:buChar char="•"/>
            </a:pPr>
            <a:r>
              <a:rPr lang="en-US" sz="2400"/>
              <a:t>Using </a:t>
            </a:r>
            <a:r>
              <a:rPr b="1" lang="en-US" sz="2400"/>
              <a:t>const</a:t>
            </a:r>
            <a:r>
              <a:rPr lang="en-US" sz="2400"/>
              <a:t> keyword.</a:t>
            </a:r>
            <a:endParaRPr/>
          </a:p>
          <a:p>
            <a:pPr indent="-190500" lvl="0" marL="342900" rtl="0" algn="just">
              <a:spcBef>
                <a:spcPts val="480"/>
              </a:spcBef>
              <a:spcAft>
                <a:spcPts val="0"/>
              </a:spcAft>
              <a:buClr>
                <a:schemeClr val="dk1"/>
              </a:buClr>
              <a:buSzPts val="2400"/>
              <a:buNone/>
            </a:pPr>
            <a:r>
              <a:t/>
            </a:r>
            <a:endParaRPr b="1" sz="2400"/>
          </a:p>
          <a:p>
            <a:pPr indent="-342900" lvl="0" marL="342900" rtl="0" algn="just">
              <a:spcBef>
                <a:spcPts val="480"/>
              </a:spcBef>
              <a:spcAft>
                <a:spcPts val="0"/>
              </a:spcAft>
              <a:buClr>
                <a:schemeClr val="dk1"/>
              </a:buClr>
              <a:buSzPts val="2400"/>
              <a:buChar char="•"/>
            </a:pPr>
            <a:r>
              <a:rPr lang="en-US" sz="2400"/>
              <a:t>Syntax-</a:t>
            </a:r>
            <a:endParaRPr/>
          </a:p>
          <a:p>
            <a:pPr indent="0" lvl="0" marL="0" rtl="0" algn="just">
              <a:spcBef>
                <a:spcPts val="480"/>
              </a:spcBef>
              <a:spcAft>
                <a:spcPts val="0"/>
              </a:spcAft>
              <a:buClr>
                <a:schemeClr val="dk1"/>
              </a:buClr>
              <a:buSzPts val="2400"/>
              <a:buNone/>
            </a:pPr>
            <a:r>
              <a:rPr b="1" lang="en-US" sz="2400"/>
              <a:t>	#define identifier value</a:t>
            </a:r>
            <a:endParaRPr/>
          </a:p>
          <a:p>
            <a:pPr indent="-342900" lvl="0" marL="342900" rtl="0" algn="just">
              <a:spcBef>
                <a:spcPts val="480"/>
              </a:spcBef>
              <a:spcAft>
                <a:spcPts val="0"/>
              </a:spcAft>
              <a:buClr>
                <a:schemeClr val="dk1"/>
              </a:buClr>
              <a:buSzPts val="2400"/>
              <a:buChar char="•"/>
            </a:pPr>
            <a:r>
              <a:rPr lang="en-US" sz="2400"/>
              <a:t>Example-</a:t>
            </a:r>
            <a:r>
              <a:rPr b="1" lang="en-US" sz="2400"/>
              <a:t>  </a:t>
            </a:r>
            <a:r>
              <a:rPr lang="en-US" sz="2400"/>
              <a:t>#define LENGTH 10 </a:t>
            </a:r>
            <a:endParaRPr/>
          </a:p>
          <a:p>
            <a:pPr indent="-342900" lvl="0" marL="342900" rtl="0" algn="just">
              <a:spcBef>
                <a:spcPts val="480"/>
              </a:spcBef>
              <a:spcAft>
                <a:spcPts val="0"/>
              </a:spcAft>
              <a:buClr>
                <a:schemeClr val="dk1"/>
              </a:buClr>
              <a:buSzPts val="2400"/>
              <a:buChar char="•"/>
            </a:pPr>
            <a:r>
              <a:rPr lang="en-US" sz="2400"/>
              <a:t>Syntax-</a:t>
            </a:r>
            <a:endParaRPr/>
          </a:p>
          <a:p>
            <a:pPr indent="0" lvl="0" marL="0" rtl="0" algn="just">
              <a:spcBef>
                <a:spcPts val="480"/>
              </a:spcBef>
              <a:spcAft>
                <a:spcPts val="0"/>
              </a:spcAft>
              <a:buClr>
                <a:schemeClr val="dk1"/>
              </a:buClr>
              <a:buSzPts val="2400"/>
              <a:buNone/>
            </a:pPr>
            <a:r>
              <a:rPr lang="en-US" sz="2400"/>
              <a:t>	</a:t>
            </a:r>
            <a:r>
              <a:rPr b="1" lang="en-US" sz="2400"/>
              <a:t>const type variable_name = value;</a:t>
            </a:r>
            <a:endParaRPr/>
          </a:p>
          <a:p>
            <a:pPr indent="-342900" lvl="0" marL="342900" rtl="0" algn="just">
              <a:spcBef>
                <a:spcPts val="480"/>
              </a:spcBef>
              <a:spcAft>
                <a:spcPts val="0"/>
              </a:spcAft>
              <a:buClr>
                <a:schemeClr val="dk1"/>
              </a:buClr>
              <a:buSzPts val="2400"/>
              <a:buChar char="•"/>
            </a:pPr>
            <a:r>
              <a:rPr lang="en-US" sz="2400"/>
              <a:t>Example- const int SIDE = 10;</a:t>
            </a:r>
            <a:endParaRPr b="1" sz="2400"/>
          </a:p>
        </p:txBody>
      </p:sp>
      <p:sp>
        <p:nvSpPr>
          <p:cNvPr id="324" name="Google Shape;324;p3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Constants Example</a:t>
            </a:r>
            <a:endParaRPr b="1"/>
          </a:p>
        </p:txBody>
      </p:sp>
      <p:sp>
        <p:nvSpPr>
          <p:cNvPr id="331" name="Google Shape;331;p32"/>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#include &lt;stdio.h&gt;</a:t>
            </a:r>
            <a:endParaRPr/>
          </a:p>
          <a:p>
            <a:pPr indent="0" lvl="0" marL="0" rtl="0" algn="l">
              <a:spcBef>
                <a:spcPts val="480"/>
              </a:spcBef>
              <a:spcAft>
                <a:spcPts val="0"/>
              </a:spcAft>
              <a:buClr>
                <a:schemeClr val="dk1"/>
              </a:buClr>
              <a:buSzPts val="2400"/>
              <a:buNone/>
            </a:pPr>
            <a:r>
              <a:rPr lang="en-US" sz="2400"/>
              <a:t>#define LENGTH 10 </a:t>
            </a:r>
            <a:endParaRPr/>
          </a:p>
          <a:p>
            <a:pPr indent="0" lvl="0" marL="0" rtl="0" algn="l">
              <a:spcBef>
                <a:spcPts val="480"/>
              </a:spcBef>
              <a:spcAft>
                <a:spcPts val="0"/>
              </a:spcAft>
              <a:buClr>
                <a:schemeClr val="dk1"/>
              </a:buClr>
              <a:buSzPts val="2400"/>
              <a:buNone/>
            </a:pPr>
            <a:r>
              <a:rPr lang="en-US" sz="2400"/>
              <a:t>int main() </a:t>
            </a:r>
            <a:endParaRPr/>
          </a:p>
          <a:p>
            <a:pPr indent="0" lvl="0" marL="0" rtl="0" algn="l">
              <a:spcBef>
                <a:spcPts val="480"/>
              </a:spcBef>
              <a:spcAft>
                <a:spcPts val="0"/>
              </a:spcAft>
              <a:buClr>
                <a:schemeClr val="dk1"/>
              </a:buClr>
              <a:buSzPts val="2400"/>
              <a:buNone/>
            </a:pPr>
            <a:r>
              <a:rPr lang="en-US" sz="2400"/>
              <a:t>{</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US" sz="2400"/>
              <a:t>	const int  WIDTH = 5;</a:t>
            </a:r>
            <a:endParaRPr/>
          </a:p>
          <a:p>
            <a:pPr indent="0" lvl="0" marL="0" rtl="0" algn="l">
              <a:spcBef>
                <a:spcPts val="480"/>
              </a:spcBef>
              <a:spcAft>
                <a:spcPts val="0"/>
              </a:spcAft>
              <a:buClr>
                <a:schemeClr val="dk1"/>
              </a:buClr>
              <a:buSzPts val="2400"/>
              <a:buNone/>
            </a:pPr>
            <a:r>
              <a:rPr lang="en-US" sz="2400"/>
              <a:t>	int area;  </a:t>
            </a:r>
            <a:endParaRPr/>
          </a:p>
          <a:p>
            <a:pPr indent="0" lvl="0" marL="0" rtl="0" algn="l">
              <a:spcBef>
                <a:spcPts val="480"/>
              </a:spcBef>
              <a:spcAft>
                <a:spcPts val="0"/>
              </a:spcAft>
              <a:buClr>
                <a:schemeClr val="dk1"/>
              </a:buClr>
              <a:buSzPts val="2400"/>
              <a:buNone/>
            </a:pPr>
            <a:r>
              <a:rPr lang="en-US" sz="2400"/>
              <a:t>   	area = LENGTH * WIDTH;</a:t>
            </a:r>
            <a:endParaRPr/>
          </a:p>
          <a:p>
            <a:pPr indent="0" lvl="0" marL="0" rtl="0" algn="l">
              <a:spcBef>
                <a:spcPts val="480"/>
              </a:spcBef>
              <a:spcAft>
                <a:spcPts val="0"/>
              </a:spcAft>
              <a:buClr>
                <a:schemeClr val="dk1"/>
              </a:buClr>
              <a:buSzPts val="2400"/>
              <a:buNone/>
            </a:pPr>
            <a:r>
              <a:rPr lang="en-US" sz="2400"/>
              <a:t>   	printf("value of area : %d", area);</a:t>
            </a:r>
            <a:endParaRPr/>
          </a:p>
          <a:p>
            <a:pPr indent="0" lvl="0" marL="0" rtl="0" algn="l">
              <a:spcBef>
                <a:spcPts val="480"/>
              </a:spcBef>
              <a:spcAft>
                <a:spcPts val="0"/>
              </a:spcAft>
              <a:buClr>
                <a:schemeClr val="dk1"/>
              </a:buClr>
              <a:buSzPts val="2400"/>
              <a:buNone/>
            </a:pPr>
            <a:r>
              <a:rPr lang="en-US" sz="2400"/>
              <a:t>   	return 0;</a:t>
            </a:r>
            <a:endParaRPr/>
          </a:p>
          <a:p>
            <a:pPr indent="0" lvl="0" marL="0" rtl="0" algn="l">
              <a:spcBef>
                <a:spcPts val="480"/>
              </a:spcBef>
              <a:spcAft>
                <a:spcPts val="0"/>
              </a:spcAft>
              <a:buClr>
                <a:schemeClr val="dk1"/>
              </a:buClr>
              <a:buSzPts val="2400"/>
              <a:buNone/>
            </a:pPr>
            <a:r>
              <a:rPr lang="en-US" sz="2400"/>
              <a:t>}</a:t>
            </a:r>
            <a:endParaRPr b="1" sz="2400"/>
          </a:p>
        </p:txBody>
      </p:sp>
      <p:sp>
        <p:nvSpPr>
          <p:cNvPr id="332" name="Google Shape;332;p3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txBox="1"/>
          <p:nvPr>
            <p:ph type="title"/>
          </p:nvPr>
        </p:nvSpPr>
        <p:spPr>
          <a:xfrm>
            <a:off x="609600" y="110359"/>
            <a:ext cx="10972800" cy="5944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Calibri"/>
              <a:buNone/>
            </a:pPr>
            <a:r>
              <a:rPr b="1" lang="en-US" sz="4000"/>
              <a:t>Escape Sequence</a:t>
            </a:r>
            <a:endParaRPr/>
          </a:p>
        </p:txBody>
      </p:sp>
      <p:sp>
        <p:nvSpPr>
          <p:cNvPr id="338" name="Google Shape;338;p33"/>
          <p:cNvSpPr txBox="1"/>
          <p:nvPr>
            <p:ph idx="1" type="body"/>
          </p:nvPr>
        </p:nvSpPr>
        <p:spPr>
          <a:xfrm>
            <a:off x="204951" y="1135117"/>
            <a:ext cx="11776841" cy="4991049"/>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Certain nonprinting characters, as well as the backslash (\) and the apostrophe ( </a:t>
            </a:r>
            <a:r>
              <a:rPr b="1" lang="en-US"/>
              <a:t>‘ </a:t>
            </a:r>
            <a:r>
              <a:rPr lang="en-US"/>
              <a:t>), can be expressed in terms of </a:t>
            </a:r>
            <a:r>
              <a:rPr b="1" i="1" lang="en-US"/>
              <a:t>escape sequences. </a:t>
            </a:r>
            <a:endParaRPr/>
          </a:p>
          <a:p>
            <a:pPr indent="-342900" lvl="0" marL="342900" rtl="0" algn="just">
              <a:spcBef>
                <a:spcPts val="640"/>
              </a:spcBef>
              <a:spcAft>
                <a:spcPts val="0"/>
              </a:spcAft>
              <a:buClr>
                <a:schemeClr val="dk1"/>
              </a:buClr>
              <a:buSzPts val="3200"/>
              <a:buChar char="•"/>
            </a:pPr>
            <a:r>
              <a:rPr lang="en-US"/>
              <a:t>An escape sequence always begins with a backward slash and is followed by one or more special characters. </a:t>
            </a:r>
            <a:endParaRPr/>
          </a:p>
          <a:p>
            <a:pPr indent="-342900" lvl="0" marL="342900" rtl="0" algn="just">
              <a:spcBef>
                <a:spcPts val="640"/>
              </a:spcBef>
              <a:spcAft>
                <a:spcPts val="0"/>
              </a:spcAft>
              <a:buClr>
                <a:schemeClr val="dk1"/>
              </a:buClr>
              <a:buSzPts val="3200"/>
              <a:buChar char="•"/>
            </a:pPr>
            <a:r>
              <a:rPr lang="en-US"/>
              <a:t>For example, a line feed </a:t>
            </a:r>
            <a:r>
              <a:rPr b="1" lang="en-US"/>
              <a:t>(LF), </a:t>
            </a:r>
            <a:r>
              <a:rPr lang="en-US"/>
              <a:t>which is referred to as a </a:t>
            </a:r>
            <a:r>
              <a:rPr b="1" i="1" lang="en-US"/>
              <a:t>newline </a:t>
            </a:r>
            <a:r>
              <a:rPr lang="en-US"/>
              <a:t>in C, can be represented as \n. </a:t>
            </a:r>
            <a:endParaRPr/>
          </a:p>
          <a:p>
            <a:pPr indent="-342900" lvl="0" marL="342900" rtl="0" algn="just">
              <a:spcBef>
                <a:spcPts val="640"/>
              </a:spcBef>
              <a:spcAft>
                <a:spcPts val="0"/>
              </a:spcAft>
              <a:buClr>
                <a:schemeClr val="dk1"/>
              </a:buClr>
              <a:buSzPts val="3200"/>
              <a:buChar char="•"/>
            </a:pPr>
            <a:r>
              <a:rPr lang="en-US"/>
              <a:t>Such escape sequences always represent single characters, even though they are written in terms of two or more characters.</a:t>
            </a:r>
            <a:endParaRPr/>
          </a:p>
          <a:p>
            <a:pPr indent="-342900" lvl="0" marL="342900" rtl="0" algn="just">
              <a:spcBef>
                <a:spcPts val="640"/>
              </a:spcBef>
              <a:spcAft>
                <a:spcPts val="0"/>
              </a:spcAft>
              <a:buClr>
                <a:schemeClr val="dk1"/>
              </a:buClr>
              <a:buSzPts val="3200"/>
              <a:buChar char="•"/>
            </a:pPr>
            <a:r>
              <a:rPr lang="en-US"/>
              <a:t>The commonly used escape sequences are listed below.</a:t>
            </a:r>
            <a:endParaRPr/>
          </a:p>
          <a:p>
            <a:pPr indent="-139700" lvl="0" marL="342900" rtl="0" algn="just">
              <a:spcBef>
                <a:spcPts val="640"/>
              </a:spcBef>
              <a:spcAft>
                <a:spcPts val="0"/>
              </a:spcAft>
              <a:buClr>
                <a:schemeClr val="dk1"/>
              </a:buClr>
              <a:buSzPts val="3200"/>
              <a:buNone/>
            </a:pPr>
            <a:r>
              <a:t/>
            </a:r>
            <a:endParaRPr/>
          </a:p>
        </p:txBody>
      </p:sp>
      <p:sp>
        <p:nvSpPr>
          <p:cNvPr id="339" name="Google Shape;339;p3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ph type="title"/>
          </p:nvPr>
        </p:nvSpPr>
        <p:spPr>
          <a:xfrm>
            <a:off x="609600" y="110359"/>
            <a:ext cx="10972800" cy="5944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b="1" lang="en-US" sz="2400"/>
              <a:t>Escape Sequence</a:t>
            </a:r>
            <a:endParaRPr/>
          </a:p>
        </p:txBody>
      </p:sp>
      <p:sp>
        <p:nvSpPr>
          <p:cNvPr id="345" name="Google Shape;345;p3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46" name="Google Shape;346;p34"/>
          <p:cNvPicPr preferRelativeResize="0"/>
          <p:nvPr/>
        </p:nvPicPr>
        <p:blipFill rotWithShape="1">
          <a:blip r:embed="rId3">
            <a:alphaModFix/>
          </a:blip>
          <a:srcRect b="63133" l="21835" r="36376" t="11260"/>
          <a:stretch/>
        </p:blipFill>
        <p:spPr>
          <a:xfrm>
            <a:off x="2354580" y="1238250"/>
            <a:ext cx="7646670" cy="5505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5"/>
          <p:cNvSpPr txBox="1"/>
          <p:nvPr>
            <p:ph type="title"/>
          </p:nvPr>
        </p:nvSpPr>
        <p:spPr>
          <a:xfrm>
            <a:off x="609600" y="274638"/>
            <a:ext cx="10972800" cy="81318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Variables in C</a:t>
            </a:r>
            <a:endParaRPr/>
          </a:p>
        </p:txBody>
      </p:sp>
      <p:sp>
        <p:nvSpPr>
          <p:cNvPr id="353" name="Google Shape;353;p35"/>
          <p:cNvSpPr txBox="1"/>
          <p:nvPr>
            <p:ph idx="1" type="body"/>
          </p:nvPr>
        </p:nvSpPr>
        <p:spPr>
          <a:xfrm>
            <a:off x="0" y="1100138"/>
            <a:ext cx="12149667" cy="5334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960"/>
              <a:buChar char="•"/>
            </a:pPr>
            <a:r>
              <a:rPr lang="en-US" sz="2960"/>
              <a:t>Variables are memory locations(storage area) in C programming language.</a:t>
            </a:r>
            <a:endParaRPr/>
          </a:p>
          <a:p>
            <a:pPr indent="-342900" lvl="0" marL="342900" rtl="0" algn="just">
              <a:spcBef>
                <a:spcPts val="592"/>
              </a:spcBef>
              <a:spcAft>
                <a:spcPts val="0"/>
              </a:spcAft>
              <a:buClr>
                <a:schemeClr val="dk1"/>
              </a:buClr>
              <a:buSzPts val="2960"/>
              <a:buChar char="•"/>
            </a:pPr>
            <a:r>
              <a:rPr lang="en-US" sz="2960"/>
              <a:t>The main purpose of variables is to store data in memory for later use.</a:t>
            </a:r>
            <a:endParaRPr/>
          </a:p>
          <a:p>
            <a:pPr indent="-342900" lvl="0" marL="342900" rtl="0" algn="just">
              <a:spcBef>
                <a:spcPts val="592"/>
              </a:spcBef>
              <a:spcAft>
                <a:spcPts val="0"/>
              </a:spcAft>
              <a:buClr>
                <a:schemeClr val="dk1"/>
              </a:buClr>
              <a:buSzPts val="2960"/>
              <a:buChar char="•"/>
            </a:pPr>
            <a:r>
              <a:rPr lang="en-US" sz="2960"/>
              <a:t>Variables value may change during execution. </a:t>
            </a:r>
            <a:endParaRPr/>
          </a:p>
          <a:p>
            <a:pPr indent="-342900" lvl="0" marL="342900" rtl="0" algn="just">
              <a:spcBef>
                <a:spcPts val="592"/>
              </a:spcBef>
              <a:spcAft>
                <a:spcPts val="0"/>
              </a:spcAft>
              <a:buClr>
                <a:schemeClr val="dk1"/>
              </a:buClr>
              <a:buSzPts val="2960"/>
              <a:buChar char="•"/>
            </a:pPr>
            <a:r>
              <a:rPr lang="en-US" sz="2960"/>
              <a:t>If you declare a variable in C, that means you are asking to the operating system for reserve a piece of memory with that variable name.</a:t>
            </a:r>
            <a:endParaRPr/>
          </a:p>
          <a:p>
            <a:pPr indent="-342900" lvl="0" marL="342900" rtl="0" algn="just">
              <a:spcBef>
                <a:spcPts val="592"/>
              </a:spcBef>
              <a:spcAft>
                <a:spcPts val="0"/>
              </a:spcAft>
              <a:buClr>
                <a:schemeClr val="dk1"/>
              </a:buClr>
              <a:buSzPts val="2960"/>
              <a:buChar char="•"/>
            </a:pPr>
            <a:r>
              <a:rPr lang="en-US" sz="2960"/>
              <a:t>Each variable in C has a specific type, which determines the size and layout of the variable's memory; the range of values that can be stored within that memory; and the set of operations that can be applied to the variable.</a:t>
            </a:r>
            <a:endParaRPr/>
          </a:p>
          <a:p>
            <a:pPr indent="-342900" lvl="0" marL="342900" rtl="0" algn="just">
              <a:spcBef>
                <a:spcPts val="592"/>
              </a:spcBef>
              <a:spcAft>
                <a:spcPts val="0"/>
              </a:spcAft>
              <a:buClr>
                <a:schemeClr val="dk1"/>
              </a:buClr>
              <a:buSzPts val="2960"/>
              <a:buChar char="•"/>
            </a:pPr>
            <a:r>
              <a:rPr b="1" lang="en-US" sz="2960"/>
              <a:t>While you can have multiple variables of the same data type, you cannot have multiple variables with the same name.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6"/>
          <p:cNvSpPr txBox="1"/>
          <p:nvPr>
            <p:ph type="title"/>
          </p:nvPr>
        </p:nvSpPr>
        <p:spPr>
          <a:xfrm>
            <a:off x="609600" y="274638"/>
            <a:ext cx="10972800" cy="81318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Variable Declaration in C</a:t>
            </a:r>
            <a:endParaRPr/>
          </a:p>
        </p:txBody>
      </p:sp>
      <p:sp>
        <p:nvSpPr>
          <p:cNvPr id="360" name="Google Shape;360;p36"/>
          <p:cNvSpPr txBox="1"/>
          <p:nvPr>
            <p:ph idx="1" type="body"/>
          </p:nvPr>
        </p:nvSpPr>
        <p:spPr>
          <a:xfrm>
            <a:off x="0" y="1100138"/>
            <a:ext cx="12149667" cy="5334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A declaration consists of a data type, followed by one or more variable names, ending with a semicolon.</a:t>
            </a:r>
            <a:endParaRPr/>
          </a:p>
          <a:p>
            <a:pPr indent="-342900" lvl="0" marL="342900" rtl="0" algn="just">
              <a:spcBef>
                <a:spcPts val="640"/>
              </a:spcBef>
              <a:spcAft>
                <a:spcPts val="0"/>
              </a:spcAft>
              <a:buClr>
                <a:schemeClr val="dk1"/>
              </a:buClr>
              <a:buSzPts val="3200"/>
              <a:buChar char="•"/>
            </a:pPr>
            <a:r>
              <a:rPr lang="en-US" u="sng"/>
              <a:t>Syntax:</a:t>
            </a:r>
            <a:endParaRPr/>
          </a:p>
          <a:p>
            <a:pPr indent="-342900" lvl="0" marL="342900" rtl="0" algn="just">
              <a:spcBef>
                <a:spcPts val="640"/>
              </a:spcBef>
              <a:spcAft>
                <a:spcPts val="0"/>
              </a:spcAft>
              <a:buClr>
                <a:schemeClr val="dk1"/>
              </a:buClr>
              <a:buSzPts val="3200"/>
              <a:buChar char="•"/>
            </a:pPr>
            <a:r>
              <a:rPr b="1" lang="en-US"/>
              <a:t>type variable_name;</a:t>
            </a:r>
            <a:endParaRPr/>
          </a:p>
          <a:p>
            <a:pPr indent="0" lvl="0" marL="0" rtl="0" algn="just">
              <a:spcBef>
                <a:spcPts val="640"/>
              </a:spcBef>
              <a:spcAft>
                <a:spcPts val="0"/>
              </a:spcAft>
              <a:buClr>
                <a:schemeClr val="dk1"/>
              </a:buClr>
              <a:buSzPts val="3200"/>
              <a:buNone/>
            </a:pPr>
            <a:r>
              <a:rPr lang="en-US"/>
              <a:t>	or</a:t>
            </a:r>
            <a:endParaRPr/>
          </a:p>
          <a:p>
            <a:pPr indent="-342900" lvl="0" marL="342900" rtl="0" algn="just">
              <a:spcBef>
                <a:spcPts val="640"/>
              </a:spcBef>
              <a:spcAft>
                <a:spcPts val="0"/>
              </a:spcAft>
              <a:buClr>
                <a:schemeClr val="dk1"/>
              </a:buClr>
              <a:buSzPts val="3200"/>
              <a:buChar char="•"/>
            </a:pPr>
            <a:r>
              <a:rPr b="1" lang="en-US"/>
              <a:t>type variable_name, variable_name, variable_name;</a:t>
            </a:r>
            <a:endParaRPr/>
          </a:p>
          <a:p>
            <a:pPr indent="-342900" lvl="0" marL="342900" rtl="0" algn="just">
              <a:spcBef>
                <a:spcPts val="640"/>
              </a:spcBef>
              <a:spcAft>
                <a:spcPts val="0"/>
              </a:spcAft>
              <a:buClr>
                <a:schemeClr val="dk1"/>
              </a:buClr>
              <a:buSzPts val="3200"/>
              <a:buChar char="•"/>
            </a:pPr>
            <a:r>
              <a:rPr lang="en-US"/>
              <a:t>Here, </a:t>
            </a:r>
            <a:r>
              <a:rPr b="1" lang="en-US"/>
              <a:t>type</a:t>
            </a:r>
            <a:r>
              <a:rPr lang="en-US"/>
              <a:t> must be a valid C data type including char, int, float, double, or any user-defined object; and </a:t>
            </a:r>
            <a:r>
              <a:rPr b="1" lang="en-US"/>
              <a:t>variable_name </a:t>
            </a:r>
            <a:r>
              <a:rPr lang="en-US"/>
              <a:t>is an identifier name separated by commas.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7"/>
          <p:cNvSpPr txBox="1"/>
          <p:nvPr>
            <p:ph type="title"/>
          </p:nvPr>
        </p:nvSpPr>
        <p:spPr>
          <a:xfrm>
            <a:off x="609600" y="274638"/>
            <a:ext cx="10972800" cy="81318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Variable Declaration in C</a:t>
            </a:r>
            <a:endParaRPr/>
          </a:p>
        </p:txBody>
      </p:sp>
      <p:sp>
        <p:nvSpPr>
          <p:cNvPr id="367" name="Google Shape;367;p37"/>
          <p:cNvSpPr txBox="1"/>
          <p:nvPr>
            <p:ph idx="1" type="body"/>
          </p:nvPr>
        </p:nvSpPr>
        <p:spPr>
          <a:xfrm>
            <a:off x="0" y="1100138"/>
            <a:ext cx="12149667" cy="5334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 compiler is able to distinguish between the variable names by making it compulsory for you to declare the type of any variable name that you wish to use in a program.</a:t>
            </a:r>
            <a:endParaRPr/>
          </a:p>
          <a:p>
            <a:pPr indent="-342900" lvl="0" marL="342900" rtl="0" algn="just">
              <a:spcBef>
                <a:spcPts val="640"/>
              </a:spcBef>
              <a:spcAft>
                <a:spcPts val="0"/>
              </a:spcAft>
              <a:buClr>
                <a:schemeClr val="dk1"/>
              </a:buClr>
              <a:buSzPts val="3200"/>
              <a:buChar char="•"/>
            </a:pPr>
            <a:r>
              <a:rPr lang="en-US"/>
              <a:t>Any variable used in the program must be declared before using it in any statement.</a:t>
            </a:r>
            <a:endParaRPr/>
          </a:p>
          <a:p>
            <a:pPr indent="-342900" lvl="0" marL="342900" rtl="0" algn="just">
              <a:spcBef>
                <a:spcPts val="640"/>
              </a:spcBef>
              <a:spcAft>
                <a:spcPts val="0"/>
              </a:spcAft>
              <a:buClr>
                <a:schemeClr val="dk1"/>
              </a:buClr>
              <a:buSzPts val="3200"/>
              <a:buChar char="•"/>
            </a:pPr>
            <a:r>
              <a:rPr lang="en-US"/>
              <a:t>A declaration associates a group of variables with a specific data type. </a:t>
            </a:r>
            <a:endParaRPr/>
          </a:p>
          <a:p>
            <a:pPr indent="-342900" lvl="0" marL="342900" rtl="0" algn="just">
              <a:spcBef>
                <a:spcPts val="640"/>
              </a:spcBef>
              <a:spcAft>
                <a:spcPts val="0"/>
              </a:spcAft>
              <a:buClr>
                <a:schemeClr val="dk1"/>
              </a:buClr>
              <a:buSzPts val="3200"/>
              <a:buChar char="•"/>
            </a:pPr>
            <a:r>
              <a:rPr lang="en-US"/>
              <a:t>E.g. int MIS_no;</a:t>
            </a:r>
            <a:endParaRPr/>
          </a:p>
          <a:p>
            <a:pPr indent="-342900" lvl="0" marL="342900" rtl="0" algn="just">
              <a:spcBef>
                <a:spcPts val="640"/>
              </a:spcBef>
              <a:spcAft>
                <a:spcPts val="0"/>
              </a:spcAft>
              <a:buClr>
                <a:schemeClr val="dk1"/>
              </a:buClr>
              <a:buSzPts val="3200"/>
              <a:buFont typeface="Arial"/>
              <a:buNone/>
            </a:pPr>
            <a:r>
              <a:rPr lang="en-US"/>
              <a:t>		float marks, percentage;</a:t>
            </a:r>
            <a:endParaRPr/>
          </a:p>
          <a:p>
            <a:pPr indent="-342900" lvl="0" marL="342900" rtl="0" algn="just">
              <a:spcBef>
                <a:spcPts val="640"/>
              </a:spcBef>
              <a:spcAft>
                <a:spcPts val="0"/>
              </a:spcAft>
              <a:buClr>
                <a:schemeClr val="dk1"/>
              </a:buClr>
              <a:buSzPts val="3200"/>
              <a:buFont typeface="Arial"/>
              <a:buNone/>
            </a:pPr>
            <a:r>
              <a:rPr lang="en-US"/>
              <a:t>		char grade;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Variable Definition in C</a:t>
            </a:r>
            <a:endParaRPr b="1"/>
          </a:p>
        </p:txBody>
      </p:sp>
      <p:sp>
        <p:nvSpPr>
          <p:cNvPr id="374" name="Google Shape;374;p38"/>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Char char="•"/>
            </a:pPr>
            <a:r>
              <a:rPr lang="en-US"/>
              <a:t>A C program contains the following type declarations.</a:t>
            </a:r>
            <a:endParaRPr/>
          </a:p>
          <a:p>
            <a:pPr indent="-342900" lvl="0" marL="342900" rtl="0" algn="just">
              <a:lnSpc>
                <a:spcPct val="90000"/>
              </a:lnSpc>
              <a:spcBef>
                <a:spcPts val="640"/>
              </a:spcBef>
              <a:spcAft>
                <a:spcPts val="0"/>
              </a:spcAft>
              <a:buClr>
                <a:schemeClr val="dk1"/>
              </a:buClr>
              <a:buSzPts val="3200"/>
              <a:buChar char="•"/>
            </a:pPr>
            <a:r>
              <a:rPr lang="en-US"/>
              <a:t>short int a, b, c;</a:t>
            </a:r>
            <a:endParaRPr/>
          </a:p>
          <a:p>
            <a:pPr indent="-342900" lvl="0" marL="342900" rtl="0" algn="just">
              <a:lnSpc>
                <a:spcPct val="90000"/>
              </a:lnSpc>
              <a:spcBef>
                <a:spcPts val="640"/>
              </a:spcBef>
              <a:spcAft>
                <a:spcPts val="0"/>
              </a:spcAft>
              <a:buClr>
                <a:schemeClr val="dk1"/>
              </a:buClr>
              <a:buSzPts val="3200"/>
              <a:buChar char="•"/>
            </a:pPr>
            <a:r>
              <a:rPr lang="en-US"/>
              <a:t>long int r, s, t;</a:t>
            </a:r>
            <a:endParaRPr/>
          </a:p>
          <a:p>
            <a:pPr indent="-342900" lvl="0" marL="342900" rtl="0" algn="just">
              <a:lnSpc>
                <a:spcPct val="90000"/>
              </a:lnSpc>
              <a:spcBef>
                <a:spcPts val="640"/>
              </a:spcBef>
              <a:spcAft>
                <a:spcPts val="0"/>
              </a:spcAft>
              <a:buClr>
                <a:schemeClr val="dk1"/>
              </a:buClr>
              <a:buSzPts val="3200"/>
              <a:buChar char="•"/>
            </a:pPr>
            <a:r>
              <a:rPr lang="en-US"/>
              <a:t>int p, q;</a:t>
            </a:r>
            <a:endParaRPr/>
          </a:p>
          <a:p>
            <a:pPr indent="-139700" lvl="0" marL="342900" rtl="0" algn="just">
              <a:lnSpc>
                <a:spcPct val="90000"/>
              </a:lnSpc>
              <a:spcBef>
                <a:spcPts val="640"/>
              </a:spcBef>
              <a:spcAft>
                <a:spcPts val="0"/>
              </a:spcAft>
              <a:buClr>
                <a:schemeClr val="dk1"/>
              </a:buClr>
              <a:buSzPts val="3200"/>
              <a:buNone/>
            </a:pPr>
            <a:r>
              <a:t/>
            </a:r>
            <a:endParaRPr/>
          </a:p>
          <a:p>
            <a:pPr indent="-342900" lvl="0" marL="342900" rtl="0" algn="just">
              <a:lnSpc>
                <a:spcPct val="90000"/>
              </a:lnSpc>
              <a:spcBef>
                <a:spcPts val="640"/>
              </a:spcBef>
              <a:spcAft>
                <a:spcPts val="0"/>
              </a:spcAft>
              <a:buClr>
                <a:schemeClr val="dk1"/>
              </a:buClr>
              <a:buSzPts val="3200"/>
              <a:buChar char="•"/>
            </a:pPr>
            <a:r>
              <a:rPr lang="en-US"/>
              <a:t>The above declarations could have been written as</a:t>
            </a:r>
            <a:endParaRPr/>
          </a:p>
          <a:p>
            <a:pPr indent="-342900" lvl="0" marL="342900" rtl="0" algn="just">
              <a:lnSpc>
                <a:spcPct val="90000"/>
              </a:lnSpc>
              <a:spcBef>
                <a:spcPts val="640"/>
              </a:spcBef>
              <a:spcAft>
                <a:spcPts val="0"/>
              </a:spcAft>
              <a:buClr>
                <a:schemeClr val="dk1"/>
              </a:buClr>
              <a:buSzPts val="3200"/>
              <a:buChar char="•"/>
            </a:pPr>
            <a:r>
              <a:rPr lang="en-US"/>
              <a:t>short a, b, c;</a:t>
            </a:r>
            <a:endParaRPr/>
          </a:p>
          <a:p>
            <a:pPr indent="-342900" lvl="0" marL="342900" rtl="0" algn="just">
              <a:lnSpc>
                <a:spcPct val="90000"/>
              </a:lnSpc>
              <a:spcBef>
                <a:spcPts val="640"/>
              </a:spcBef>
              <a:spcAft>
                <a:spcPts val="0"/>
              </a:spcAft>
              <a:buClr>
                <a:schemeClr val="dk1"/>
              </a:buClr>
              <a:buSzPts val="3200"/>
              <a:buChar char="•"/>
            </a:pPr>
            <a:r>
              <a:rPr lang="en-US"/>
              <a:t>long r, s, t ;</a:t>
            </a:r>
            <a:endParaRPr/>
          </a:p>
          <a:p>
            <a:pPr indent="-342900" lvl="0" marL="342900" rtl="0" algn="just">
              <a:lnSpc>
                <a:spcPct val="90000"/>
              </a:lnSpc>
              <a:spcBef>
                <a:spcPts val="640"/>
              </a:spcBef>
              <a:spcAft>
                <a:spcPts val="0"/>
              </a:spcAft>
              <a:buClr>
                <a:schemeClr val="dk1"/>
              </a:buClr>
              <a:buSzPts val="3200"/>
              <a:buChar char="•"/>
            </a:pPr>
            <a:r>
              <a:rPr lang="en-US"/>
              <a:t>int p, q;</a:t>
            </a:r>
            <a:endParaRPr/>
          </a:p>
          <a:p>
            <a:pPr indent="-342900" lvl="0" marL="342900" rtl="0" algn="just">
              <a:lnSpc>
                <a:spcPct val="90000"/>
              </a:lnSpc>
              <a:spcBef>
                <a:spcPts val="640"/>
              </a:spcBef>
              <a:spcAft>
                <a:spcPts val="0"/>
              </a:spcAft>
              <a:buClr>
                <a:schemeClr val="dk1"/>
              </a:buClr>
              <a:buSzPts val="3200"/>
              <a:buChar char="•"/>
            </a:pPr>
            <a:r>
              <a:rPr lang="en-US"/>
              <a:t>Thus, short and short int are equivalent, as are long and long int .</a:t>
            </a:r>
            <a:endParaRPr/>
          </a:p>
        </p:txBody>
      </p:sp>
      <p:sp>
        <p:nvSpPr>
          <p:cNvPr id="375" name="Google Shape;375;p3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9"/>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Variable Initialization in C</a:t>
            </a:r>
            <a:endParaRPr b="1"/>
          </a:p>
        </p:txBody>
      </p:sp>
      <p:sp>
        <p:nvSpPr>
          <p:cNvPr id="382" name="Google Shape;382;p39"/>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480"/>
              <a:buChar char="•"/>
            </a:pPr>
            <a:r>
              <a:rPr lang="en-US" sz="2480"/>
              <a:t>Initial values can be assigned to variables within a type declaration. </a:t>
            </a:r>
            <a:endParaRPr/>
          </a:p>
          <a:p>
            <a:pPr indent="-342900" lvl="0" marL="342900" rtl="0" algn="just">
              <a:lnSpc>
                <a:spcPct val="80000"/>
              </a:lnSpc>
              <a:spcBef>
                <a:spcPts val="496"/>
              </a:spcBef>
              <a:spcAft>
                <a:spcPts val="0"/>
              </a:spcAft>
              <a:buClr>
                <a:schemeClr val="dk1"/>
              </a:buClr>
              <a:buSzPts val="2480"/>
              <a:buChar char="•"/>
            </a:pPr>
            <a:r>
              <a:rPr lang="en-US" sz="2480"/>
              <a:t>To do so, the declaration must consist of a data type, followed by a variable name, an equal sign (=) and an expression, the expression serves as an initializer. A semicolon must appear at the end.</a:t>
            </a:r>
            <a:endParaRPr/>
          </a:p>
          <a:p>
            <a:pPr indent="-342900" lvl="0" marL="342900" rtl="0" algn="just">
              <a:lnSpc>
                <a:spcPct val="80000"/>
              </a:lnSpc>
              <a:spcBef>
                <a:spcPts val="496"/>
              </a:spcBef>
              <a:spcAft>
                <a:spcPts val="0"/>
              </a:spcAft>
              <a:buClr>
                <a:schemeClr val="dk1"/>
              </a:buClr>
              <a:buSzPts val="2480"/>
              <a:buChar char="•"/>
            </a:pPr>
            <a:r>
              <a:rPr i="1" lang="en-US" sz="2480"/>
              <a:t>Syntax:</a:t>
            </a:r>
            <a:endParaRPr/>
          </a:p>
          <a:p>
            <a:pPr indent="-342900" lvl="0" marL="342900" rtl="0" algn="just">
              <a:lnSpc>
                <a:spcPct val="80000"/>
              </a:lnSpc>
              <a:spcBef>
                <a:spcPts val="496"/>
              </a:spcBef>
              <a:spcAft>
                <a:spcPts val="0"/>
              </a:spcAft>
              <a:buClr>
                <a:schemeClr val="dk1"/>
              </a:buClr>
              <a:buSzPts val="2480"/>
              <a:buChar char="•"/>
            </a:pPr>
            <a:r>
              <a:rPr b="1" lang="en-US" sz="2480"/>
              <a:t>type variable_name = value;</a:t>
            </a:r>
            <a:endParaRPr/>
          </a:p>
          <a:p>
            <a:pPr indent="-185420" lvl="0" marL="342900" rtl="0" algn="just">
              <a:lnSpc>
                <a:spcPct val="80000"/>
              </a:lnSpc>
              <a:spcBef>
                <a:spcPts val="496"/>
              </a:spcBef>
              <a:spcAft>
                <a:spcPts val="0"/>
              </a:spcAft>
              <a:buClr>
                <a:schemeClr val="dk1"/>
              </a:buClr>
              <a:buSzPts val="2480"/>
              <a:buNone/>
            </a:pPr>
            <a:r>
              <a:t/>
            </a:r>
            <a:endParaRPr sz="2480"/>
          </a:p>
          <a:p>
            <a:pPr indent="-342900" lvl="0" marL="342900" rtl="0" algn="just">
              <a:lnSpc>
                <a:spcPct val="80000"/>
              </a:lnSpc>
              <a:spcBef>
                <a:spcPts val="496"/>
              </a:spcBef>
              <a:spcAft>
                <a:spcPts val="0"/>
              </a:spcAft>
              <a:buClr>
                <a:schemeClr val="dk1"/>
              </a:buClr>
              <a:buSzPts val="2480"/>
              <a:buChar char="•"/>
            </a:pPr>
            <a:r>
              <a:rPr lang="en-US" sz="2480"/>
              <a:t>E.g. </a:t>
            </a:r>
            <a:endParaRPr/>
          </a:p>
          <a:p>
            <a:pPr indent="-342900" lvl="0" marL="342900" rtl="0" algn="just">
              <a:lnSpc>
                <a:spcPct val="80000"/>
              </a:lnSpc>
              <a:spcBef>
                <a:spcPts val="496"/>
              </a:spcBef>
              <a:spcAft>
                <a:spcPts val="0"/>
              </a:spcAft>
              <a:buClr>
                <a:schemeClr val="dk1"/>
              </a:buClr>
              <a:buSzPts val="2480"/>
              <a:buChar char="•"/>
            </a:pPr>
            <a:r>
              <a:rPr lang="en-US" sz="2480"/>
              <a:t>int d = 3, f = 5; 	// definition and initializing d and f</a:t>
            </a:r>
            <a:endParaRPr/>
          </a:p>
          <a:p>
            <a:pPr indent="-342900" lvl="0" marL="342900" rtl="0" algn="just">
              <a:lnSpc>
                <a:spcPct val="80000"/>
              </a:lnSpc>
              <a:spcBef>
                <a:spcPts val="496"/>
              </a:spcBef>
              <a:spcAft>
                <a:spcPts val="0"/>
              </a:spcAft>
              <a:buClr>
                <a:schemeClr val="dk1"/>
              </a:buClr>
              <a:buSzPts val="2480"/>
              <a:buChar char="•"/>
            </a:pPr>
            <a:r>
              <a:rPr lang="en-US" sz="2480"/>
              <a:t>char x = ‘a';  	// the variable x has the value ‘a'. </a:t>
            </a:r>
            <a:endParaRPr/>
          </a:p>
          <a:p>
            <a:pPr indent="-342900" lvl="0" marL="342900" rtl="0" algn="just">
              <a:lnSpc>
                <a:spcPct val="80000"/>
              </a:lnSpc>
              <a:spcBef>
                <a:spcPts val="496"/>
              </a:spcBef>
              <a:spcAft>
                <a:spcPts val="0"/>
              </a:spcAft>
              <a:buClr>
                <a:schemeClr val="dk1"/>
              </a:buClr>
              <a:buSzPts val="2480"/>
              <a:buChar char="•"/>
            </a:pPr>
            <a:r>
              <a:rPr lang="en-US" sz="2480"/>
              <a:t>int c = 12;</a:t>
            </a:r>
            <a:endParaRPr/>
          </a:p>
          <a:p>
            <a:pPr indent="-342900" lvl="0" marL="342900" rtl="0" algn="just">
              <a:lnSpc>
                <a:spcPct val="80000"/>
              </a:lnSpc>
              <a:spcBef>
                <a:spcPts val="496"/>
              </a:spcBef>
              <a:spcAft>
                <a:spcPts val="0"/>
              </a:spcAft>
              <a:buClr>
                <a:schemeClr val="dk1"/>
              </a:buClr>
              <a:buSzPts val="2480"/>
              <a:buChar char="•"/>
            </a:pPr>
            <a:r>
              <a:rPr lang="en-US" sz="2480"/>
              <a:t>float sum = 0.1 ;</a:t>
            </a:r>
            <a:endParaRPr/>
          </a:p>
          <a:p>
            <a:pPr indent="-342900" lvl="0" marL="342900" rtl="0" algn="just">
              <a:lnSpc>
                <a:spcPct val="80000"/>
              </a:lnSpc>
              <a:spcBef>
                <a:spcPts val="496"/>
              </a:spcBef>
              <a:spcAft>
                <a:spcPts val="0"/>
              </a:spcAft>
              <a:buClr>
                <a:schemeClr val="dk1"/>
              </a:buClr>
              <a:buSzPts val="2480"/>
              <a:buChar char="•"/>
            </a:pPr>
            <a:r>
              <a:rPr lang="en-US" sz="2480"/>
              <a:t>double factor = 0.21023e-6; 	/*factor is a double-precision variable whose initial value is 0.21023 x 10-6 */</a:t>
            </a:r>
            <a:endParaRPr/>
          </a:p>
          <a:p>
            <a:pPr indent="-185420" lvl="0" marL="342900" rtl="0" algn="just">
              <a:lnSpc>
                <a:spcPct val="80000"/>
              </a:lnSpc>
              <a:spcBef>
                <a:spcPts val="496"/>
              </a:spcBef>
              <a:spcAft>
                <a:spcPts val="0"/>
              </a:spcAft>
              <a:buClr>
                <a:schemeClr val="dk1"/>
              </a:buClr>
              <a:buSzPts val="2480"/>
              <a:buNone/>
            </a:pPr>
            <a:r>
              <a:t/>
            </a:r>
            <a:endParaRPr sz="2480"/>
          </a:p>
        </p:txBody>
      </p:sp>
      <p:sp>
        <p:nvSpPr>
          <p:cNvPr id="383" name="Google Shape;383;p3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0"/>
          <p:cNvSpPr txBox="1"/>
          <p:nvPr>
            <p:ph type="title"/>
          </p:nvPr>
        </p:nvSpPr>
        <p:spPr>
          <a:xfrm>
            <a:off x="609600" y="189187"/>
            <a:ext cx="10972800" cy="31531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59"/>
              <a:buFont typeface="Calibri"/>
              <a:buNone/>
            </a:pPr>
            <a:r>
              <a:rPr b="1" lang="en-US" sz="3959"/>
              <a:t>Variable in C</a:t>
            </a:r>
            <a:endParaRPr b="1" sz="3959"/>
          </a:p>
        </p:txBody>
      </p:sp>
      <p:sp>
        <p:nvSpPr>
          <p:cNvPr id="390" name="Google Shape;390;p40"/>
          <p:cNvSpPr txBox="1"/>
          <p:nvPr>
            <p:ph idx="1" type="body"/>
          </p:nvPr>
        </p:nvSpPr>
        <p:spPr>
          <a:xfrm>
            <a:off x="189187" y="709448"/>
            <a:ext cx="11729544" cy="5896305"/>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000"/>
              <a:buChar char="•"/>
            </a:pPr>
            <a:r>
              <a:rPr lang="en-US" sz="2000"/>
              <a:t>A restriction on variables is that variable declarations must come before other types of statements in the given "code block" (a code block is just a segment of code surrounded by { and } ). So in C you must declare all of your variables before you do anything else: </a:t>
            </a:r>
            <a:br>
              <a:rPr lang="en-US" sz="2000"/>
            </a:br>
            <a:endParaRPr sz="2000"/>
          </a:p>
          <a:p>
            <a:pPr indent="0" lvl="0" marL="0" rtl="0" algn="just">
              <a:lnSpc>
                <a:spcPct val="80000"/>
              </a:lnSpc>
              <a:spcBef>
                <a:spcPts val="336"/>
              </a:spcBef>
              <a:spcAft>
                <a:spcPts val="0"/>
              </a:spcAft>
              <a:buClr>
                <a:schemeClr val="dk1"/>
              </a:buClr>
              <a:buSzPts val="1679"/>
              <a:buNone/>
            </a:pPr>
            <a:r>
              <a:rPr b="1" lang="en-US" sz="1679"/>
              <a:t>Wrong</a:t>
            </a:r>
            <a:endParaRPr/>
          </a:p>
          <a:p>
            <a:pPr indent="0" lvl="0" marL="0" rtl="0" algn="just">
              <a:lnSpc>
                <a:spcPct val="80000"/>
              </a:lnSpc>
              <a:spcBef>
                <a:spcPts val="336"/>
              </a:spcBef>
              <a:spcAft>
                <a:spcPts val="0"/>
              </a:spcAft>
              <a:buClr>
                <a:schemeClr val="dk1"/>
              </a:buClr>
              <a:buSzPts val="1679"/>
              <a:buNone/>
            </a:pPr>
            <a:r>
              <a:rPr lang="en-US" sz="1679"/>
              <a:t>#include &lt;stdio.h&gt; </a:t>
            </a:r>
            <a:endParaRPr/>
          </a:p>
          <a:p>
            <a:pPr indent="0" lvl="0" marL="0" rtl="0" algn="just">
              <a:lnSpc>
                <a:spcPct val="80000"/>
              </a:lnSpc>
              <a:spcBef>
                <a:spcPts val="336"/>
              </a:spcBef>
              <a:spcAft>
                <a:spcPts val="0"/>
              </a:spcAft>
              <a:buClr>
                <a:schemeClr val="dk1"/>
              </a:buClr>
              <a:buSzPts val="1679"/>
              <a:buNone/>
            </a:pPr>
            <a:r>
              <a:rPr lang="en-US" sz="1679"/>
              <a:t>int main() </a:t>
            </a:r>
            <a:endParaRPr/>
          </a:p>
          <a:p>
            <a:pPr indent="0" lvl="1" marL="457200" rtl="0" algn="just">
              <a:lnSpc>
                <a:spcPct val="80000"/>
              </a:lnSpc>
              <a:spcBef>
                <a:spcPts val="336"/>
              </a:spcBef>
              <a:spcAft>
                <a:spcPts val="0"/>
              </a:spcAft>
              <a:buClr>
                <a:schemeClr val="dk1"/>
              </a:buClr>
              <a:buSzPts val="1679"/>
              <a:buNone/>
            </a:pPr>
            <a:r>
              <a:rPr lang="en-US" sz="1679"/>
              <a:t> { </a:t>
            </a:r>
            <a:endParaRPr/>
          </a:p>
          <a:p>
            <a:pPr indent="0" lvl="1" marL="457200" rtl="0" algn="just">
              <a:lnSpc>
                <a:spcPct val="80000"/>
              </a:lnSpc>
              <a:spcBef>
                <a:spcPts val="336"/>
              </a:spcBef>
              <a:spcAft>
                <a:spcPts val="0"/>
              </a:spcAft>
              <a:buClr>
                <a:schemeClr val="dk1"/>
              </a:buClr>
              <a:buSzPts val="1679"/>
              <a:buNone/>
            </a:pPr>
            <a:r>
              <a:rPr lang="en-US" sz="1679"/>
              <a:t>	/* wrong! The variable declaration must appear first */ </a:t>
            </a:r>
            <a:endParaRPr/>
          </a:p>
          <a:p>
            <a:pPr indent="0" lvl="1" marL="457200" rtl="0" algn="just">
              <a:lnSpc>
                <a:spcPct val="80000"/>
              </a:lnSpc>
              <a:spcBef>
                <a:spcPts val="336"/>
              </a:spcBef>
              <a:spcAft>
                <a:spcPts val="0"/>
              </a:spcAft>
              <a:buClr>
                <a:schemeClr val="dk1"/>
              </a:buClr>
              <a:buSzPts val="1679"/>
              <a:buNone/>
            </a:pPr>
            <a:r>
              <a:rPr lang="en-US" sz="1679"/>
              <a:t>	printf("Declare x next" ); </a:t>
            </a:r>
            <a:endParaRPr/>
          </a:p>
          <a:p>
            <a:pPr indent="0" lvl="1" marL="457200" rtl="0" algn="just">
              <a:lnSpc>
                <a:spcPct val="80000"/>
              </a:lnSpc>
              <a:spcBef>
                <a:spcPts val="336"/>
              </a:spcBef>
              <a:spcAft>
                <a:spcPts val="0"/>
              </a:spcAft>
              <a:buClr>
                <a:schemeClr val="dk1"/>
              </a:buClr>
              <a:buSzPts val="1679"/>
              <a:buNone/>
            </a:pPr>
            <a:r>
              <a:rPr lang="en-US" sz="1679"/>
              <a:t>	int x; </a:t>
            </a:r>
            <a:endParaRPr/>
          </a:p>
          <a:p>
            <a:pPr indent="0" lvl="1" marL="457200" rtl="0" algn="just">
              <a:lnSpc>
                <a:spcPct val="80000"/>
              </a:lnSpc>
              <a:spcBef>
                <a:spcPts val="336"/>
              </a:spcBef>
              <a:spcAft>
                <a:spcPts val="0"/>
              </a:spcAft>
              <a:buClr>
                <a:schemeClr val="dk1"/>
              </a:buClr>
              <a:buSzPts val="1679"/>
              <a:buNone/>
            </a:pPr>
            <a:r>
              <a:rPr lang="en-US" sz="1679"/>
              <a:t>	return 0; </a:t>
            </a:r>
            <a:endParaRPr/>
          </a:p>
          <a:p>
            <a:pPr indent="0" lvl="1" marL="457200" rtl="0" algn="just">
              <a:lnSpc>
                <a:spcPct val="80000"/>
              </a:lnSpc>
              <a:spcBef>
                <a:spcPts val="336"/>
              </a:spcBef>
              <a:spcAft>
                <a:spcPts val="0"/>
              </a:spcAft>
              <a:buClr>
                <a:schemeClr val="dk1"/>
              </a:buClr>
              <a:buSzPts val="1679"/>
              <a:buNone/>
            </a:pPr>
            <a:r>
              <a:rPr lang="en-US" sz="1679"/>
              <a:t>} </a:t>
            </a:r>
            <a:endParaRPr/>
          </a:p>
          <a:p>
            <a:pPr indent="0" lvl="1" marL="0" rtl="0" algn="just">
              <a:lnSpc>
                <a:spcPct val="80000"/>
              </a:lnSpc>
              <a:spcBef>
                <a:spcPts val="336"/>
              </a:spcBef>
              <a:spcAft>
                <a:spcPts val="0"/>
              </a:spcAft>
              <a:buClr>
                <a:schemeClr val="dk1"/>
              </a:buClr>
              <a:buSzPts val="1679"/>
              <a:buNone/>
            </a:pPr>
            <a:r>
              <a:rPr b="1" lang="en-US" sz="1679"/>
              <a:t>Fixed</a:t>
            </a:r>
            <a:endParaRPr/>
          </a:p>
          <a:p>
            <a:pPr indent="0" lvl="1" marL="0" rtl="0" algn="just">
              <a:lnSpc>
                <a:spcPct val="80000"/>
              </a:lnSpc>
              <a:spcBef>
                <a:spcPts val="336"/>
              </a:spcBef>
              <a:spcAft>
                <a:spcPts val="0"/>
              </a:spcAft>
              <a:buClr>
                <a:schemeClr val="dk1"/>
              </a:buClr>
              <a:buSzPts val="1679"/>
              <a:buNone/>
            </a:pPr>
            <a:r>
              <a:rPr lang="en-US" sz="1679"/>
              <a:t>#include &lt;stdio.h&gt; </a:t>
            </a:r>
            <a:endParaRPr/>
          </a:p>
          <a:p>
            <a:pPr indent="0" lvl="1" marL="0" rtl="0" algn="just">
              <a:lnSpc>
                <a:spcPct val="80000"/>
              </a:lnSpc>
              <a:spcBef>
                <a:spcPts val="336"/>
              </a:spcBef>
              <a:spcAft>
                <a:spcPts val="0"/>
              </a:spcAft>
              <a:buClr>
                <a:schemeClr val="dk1"/>
              </a:buClr>
              <a:buSzPts val="1679"/>
              <a:buNone/>
            </a:pPr>
            <a:r>
              <a:rPr lang="en-US" sz="1679"/>
              <a:t>int main() </a:t>
            </a:r>
            <a:endParaRPr/>
          </a:p>
          <a:p>
            <a:pPr indent="-520700" lvl="1" marL="520700" rtl="0" algn="just">
              <a:lnSpc>
                <a:spcPct val="80000"/>
              </a:lnSpc>
              <a:spcBef>
                <a:spcPts val="336"/>
              </a:spcBef>
              <a:spcAft>
                <a:spcPts val="0"/>
              </a:spcAft>
              <a:buClr>
                <a:schemeClr val="dk1"/>
              </a:buClr>
              <a:buSzPts val="1679"/>
              <a:buNone/>
            </a:pPr>
            <a:r>
              <a:rPr lang="en-US" sz="1679"/>
              <a:t>	{ </a:t>
            </a:r>
            <a:endParaRPr/>
          </a:p>
          <a:p>
            <a:pPr indent="-520700" lvl="1" marL="520700" rtl="0" algn="just">
              <a:lnSpc>
                <a:spcPct val="80000"/>
              </a:lnSpc>
              <a:spcBef>
                <a:spcPts val="336"/>
              </a:spcBef>
              <a:spcAft>
                <a:spcPts val="0"/>
              </a:spcAft>
              <a:buClr>
                <a:schemeClr val="dk1"/>
              </a:buClr>
              <a:buSzPts val="1679"/>
              <a:buNone/>
            </a:pPr>
            <a:r>
              <a:rPr lang="en-US" sz="1679"/>
              <a:t>		int x; </a:t>
            </a:r>
            <a:endParaRPr/>
          </a:p>
          <a:p>
            <a:pPr indent="-520700" lvl="1" marL="520700" rtl="0" algn="just">
              <a:lnSpc>
                <a:spcPct val="80000"/>
              </a:lnSpc>
              <a:spcBef>
                <a:spcPts val="336"/>
              </a:spcBef>
              <a:spcAft>
                <a:spcPts val="0"/>
              </a:spcAft>
              <a:buClr>
                <a:schemeClr val="dk1"/>
              </a:buClr>
              <a:buSzPts val="1679"/>
              <a:buNone/>
            </a:pPr>
            <a:r>
              <a:rPr lang="en-US" sz="1679"/>
              <a:t>		printf("Declare x first" ); </a:t>
            </a:r>
            <a:endParaRPr/>
          </a:p>
          <a:p>
            <a:pPr indent="-520700" lvl="1" marL="520700" rtl="0" algn="just">
              <a:lnSpc>
                <a:spcPct val="80000"/>
              </a:lnSpc>
              <a:spcBef>
                <a:spcPts val="336"/>
              </a:spcBef>
              <a:spcAft>
                <a:spcPts val="0"/>
              </a:spcAft>
              <a:buClr>
                <a:schemeClr val="dk1"/>
              </a:buClr>
              <a:buSzPts val="1679"/>
              <a:buNone/>
            </a:pPr>
            <a:r>
              <a:rPr lang="en-US" sz="1679"/>
              <a:t>		return 0; </a:t>
            </a:r>
            <a:endParaRPr/>
          </a:p>
          <a:p>
            <a:pPr indent="-520700" lvl="1" marL="520700" rtl="0" algn="just">
              <a:lnSpc>
                <a:spcPct val="80000"/>
              </a:lnSpc>
              <a:spcBef>
                <a:spcPts val="336"/>
              </a:spcBef>
              <a:spcAft>
                <a:spcPts val="0"/>
              </a:spcAft>
              <a:buClr>
                <a:schemeClr val="dk1"/>
              </a:buClr>
              <a:buSzPts val="1679"/>
              <a:buNone/>
            </a:pPr>
            <a:r>
              <a:rPr lang="en-US" sz="1679"/>
              <a:t>	}</a:t>
            </a:r>
            <a:endParaRPr/>
          </a:p>
        </p:txBody>
      </p:sp>
      <p:sp>
        <p:nvSpPr>
          <p:cNvPr id="391" name="Google Shape;391;p4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Format specifiers</a:t>
            </a:r>
            <a:endParaRPr/>
          </a:p>
        </p:txBody>
      </p:sp>
      <p:sp>
        <p:nvSpPr>
          <p:cNvPr id="398" name="Google Shape;398;p41"/>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It tells the compiler that which type of value you want to </a:t>
            </a:r>
            <a:r>
              <a:rPr b="1" lang="en-US"/>
              <a:t>print</a:t>
            </a:r>
            <a:r>
              <a:rPr lang="en-US"/>
              <a:t> or </a:t>
            </a:r>
            <a:r>
              <a:rPr b="1" lang="en-US"/>
              <a:t>read</a:t>
            </a:r>
            <a:r>
              <a:rPr lang="en-US"/>
              <a:t>. </a:t>
            </a:r>
            <a:endParaRPr/>
          </a:p>
          <a:p>
            <a:pPr indent="-342900" lvl="0" marL="342900" rtl="0" algn="l">
              <a:spcBef>
                <a:spcPts val="640"/>
              </a:spcBef>
              <a:spcAft>
                <a:spcPts val="0"/>
              </a:spcAft>
              <a:buClr>
                <a:schemeClr val="dk1"/>
              </a:buClr>
              <a:buSzPts val="3200"/>
              <a:buChar char="•"/>
            </a:pPr>
            <a:r>
              <a:rPr lang="en-US"/>
              <a:t>Example:</a:t>
            </a:r>
            <a:endParaRPr/>
          </a:p>
          <a:p>
            <a:pPr indent="0" lvl="0" marL="346075" rtl="0" algn="l">
              <a:spcBef>
                <a:spcPts val="640"/>
              </a:spcBef>
              <a:spcAft>
                <a:spcPts val="0"/>
              </a:spcAft>
              <a:buClr>
                <a:schemeClr val="dk1"/>
              </a:buClr>
              <a:buSzPts val="3200"/>
              <a:buNone/>
            </a:pPr>
            <a:r>
              <a:rPr b="1" lang="en-US"/>
              <a:t>printf(“%d”, a);</a:t>
            </a:r>
            <a:endParaRPr/>
          </a:p>
          <a:p>
            <a:pPr indent="0" lvl="0" marL="346075" rtl="0" algn="l">
              <a:spcBef>
                <a:spcPts val="560"/>
              </a:spcBef>
              <a:spcAft>
                <a:spcPts val="0"/>
              </a:spcAft>
              <a:buClr>
                <a:schemeClr val="dk1"/>
              </a:buClr>
              <a:buSzPts val="2800"/>
              <a:buNone/>
            </a:pPr>
            <a:r>
              <a:rPr lang="en-US" sz="2800"/>
              <a:t>Here %d is format specifier and it tells the compiler that we want to print an integer value that is present in variable a.</a:t>
            </a:r>
            <a:endParaRPr/>
          </a:p>
          <a:p>
            <a:pPr indent="-342900" lvl="0" marL="342900" rtl="0" algn="just">
              <a:spcBef>
                <a:spcPts val="640"/>
              </a:spcBef>
              <a:spcAft>
                <a:spcPts val="0"/>
              </a:spcAft>
              <a:buClr>
                <a:schemeClr val="dk1"/>
              </a:buClr>
              <a:buSzPts val="3200"/>
              <a:buChar char="•"/>
            </a:pPr>
            <a:r>
              <a:rPr lang="en-US"/>
              <a:t>Format specifier is a special character in the C language used to specify the data type of value.</a:t>
            </a:r>
            <a:endParaRPr/>
          </a:p>
          <a:p>
            <a:pPr indent="-342900" lvl="0" marL="342900" rtl="0" algn="just">
              <a:spcBef>
                <a:spcPts val="640"/>
              </a:spcBef>
              <a:spcAft>
                <a:spcPts val="0"/>
              </a:spcAft>
              <a:buClr>
                <a:schemeClr val="dk1"/>
              </a:buClr>
              <a:buSzPts val="3200"/>
              <a:buChar char="•"/>
            </a:pPr>
            <a:r>
              <a:rPr lang="en-US"/>
              <a:t>Format specifiers start with a percentage </a:t>
            </a:r>
            <a:r>
              <a:rPr b="1" lang="en-US"/>
              <a:t>% </a:t>
            </a:r>
            <a:r>
              <a:rPr lang="en-US"/>
              <a:t>operator and followed by a special character for identifying the type of the data.</a:t>
            </a:r>
            <a:endParaRPr/>
          </a:p>
          <a:p>
            <a:pPr indent="-165100" lvl="0" marL="342900" rtl="0" algn="just">
              <a:spcBef>
                <a:spcPts val="560"/>
              </a:spcBef>
              <a:spcAft>
                <a:spcPts val="0"/>
              </a:spcAft>
              <a:buClr>
                <a:schemeClr val="dk1"/>
              </a:buClr>
              <a:buSzPts val="2800"/>
              <a:buNone/>
            </a:pPr>
            <a:r>
              <a:t/>
            </a:r>
            <a:endParaRPr sz="2800"/>
          </a:p>
        </p:txBody>
      </p:sp>
      <p:sp>
        <p:nvSpPr>
          <p:cNvPr id="399" name="Google Shape;399;p4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Format specifiers</a:t>
            </a:r>
            <a:endParaRPr/>
          </a:p>
        </p:txBody>
      </p:sp>
      <p:sp>
        <p:nvSpPr>
          <p:cNvPr id="406" name="Google Shape;406;p42"/>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165100" lvl="0" marL="342900" rtl="0" algn="just">
              <a:spcBef>
                <a:spcPts val="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p:txBody>
      </p:sp>
      <p:sp>
        <p:nvSpPr>
          <p:cNvPr id="407" name="Google Shape;407;p4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08" name="Google Shape;408;p42"/>
          <p:cNvGraphicFramePr/>
          <p:nvPr/>
        </p:nvGraphicFramePr>
        <p:xfrm>
          <a:off x="2254468" y="1270804"/>
          <a:ext cx="3000000" cy="3000000"/>
        </p:xfrm>
        <a:graphic>
          <a:graphicData uri="http://schemas.openxmlformats.org/drawingml/2006/table">
            <a:tbl>
              <a:tblPr>
                <a:gradFill>
                  <a:gsLst>
                    <a:gs pos="0">
                      <a:srgbClr val="9FC3FF"/>
                    </a:gs>
                    <a:gs pos="35000">
                      <a:srgbClr val="BDD5FF"/>
                    </a:gs>
                    <a:gs pos="100000">
                      <a:srgbClr val="E4EEFF"/>
                    </a:gs>
                  </a:gsLst>
                  <a:lin ang="16200000" scaled="0"/>
                </a:gradFill>
                <a:tableStyleId>{77D9BF88-F2FA-47AB-A2AE-C283F5D904F1}</a:tableStyleId>
              </a:tblPr>
              <a:tblGrid>
                <a:gridCol w="3854675"/>
                <a:gridCol w="3854675"/>
              </a:tblGrid>
              <a:tr h="520625">
                <a:tc>
                  <a:txBody>
                    <a:bodyPr/>
                    <a:lstStyle/>
                    <a:p>
                      <a:pPr indent="0" lvl="0" marL="0" marR="0" rtl="0" algn="l">
                        <a:spcBef>
                          <a:spcPts val="0"/>
                        </a:spcBef>
                        <a:spcAft>
                          <a:spcPts val="0"/>
                        </a:spcAft>
                        <a:buNone/>
                      </a:pPr>
                      <a:r>
                        <a:rPr b="1" lang="en-US" sz="1800" u="none" cap="none" strike="noStrike"/>
                        <a:t>Format specifier</a:t>
                      </a:r>
                      <a:endParaRPr b="1" sz="1800" u="none" cap="none" strike="noStrike">
                        <a:solidFill>
                          <a:srgbClr val="FFFFFF"/>
                        </a:solidFill>
                      </a:endParaRPr>
                    </a:p>
                  </a:txBody>
                  <a:tcPr marT="76200" marB="76200" marR="76200" marL="76200"/>
                </a:tc>
                <a:tc>
                  <a:txBody>
                    <a:bodyPr/>
                    <a:lstStyle/>
                    <a:p>
                      <a:pPr indent="0" lvl="0" marL="0" marR="0" rtl="0" algn="l">
                        <a:spcBef>
                          <a:spcPts val="0"/>
                        </a:spcBef>
                        <a:spcAft>
                          <a:spcPts val="0"/>
                        </a:spcAft>
                        <a:buNone/>
                      </a:pPr>
                      <a:r>
                        <a:rPr b="1" lang="en-US" sz="1800" u="none" cap="none" strike="noStrike"/>
                        <a:t>Description</a:t>
                      </a:r>
                      <a:endParaRPr b="1" sz="1800" u="none" cap="none" strike="noStrike">
                        <a:solidFill>
                          <a:srgbClr val="FFFFFF"/>
                        </a:solidFill>
                      </a:endParaRPr>
                    </a:p>
                  </a:txBody>
                  <a:tcPr marT="76200" marB="76200" marR="76200" marL="76200"/>
                </a:tc>
              </a:tr>
              <a:tr h="520625">
                <a:tc>
                  <a:txBody>
                    <a:bodyPr/>
                    <a:lstStyle/>
                    <a:p>
                      <a:pPr indent="0" lvl="0" marL="0" marR="0" rtl="0" algn="l">
                        <a:spcBef>
                          <a:spcPts val="0"/>
                        </a:spcBef>
                        <a:spcAft>
                          <a:spcPts val="0"/>
                        </a:spcAft>
                        <a:buNone/>
                      </a:pPr>
                      <a:r>
                        <a:rPr lang="en-US" sz="1800" u="none" cap="none" strike="noStrike"/>
                        <a:t>%d</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Integer Format Specifier</a:t>
                      </a:r>
                      <a:endParaRPr sz="1800" u="none" cap="none" strike="noStrike">
                        <a:solidFill>
                          <a:srgbClr val="111111"/>
                        </a:solidFill>
                      </a:endParaRPr>
                    </a:p>
                  </a:txBody>
                  <a:tcPr marT="76200" marB="76200" marR="76200" marL="76200"/>
                </a:tc>
              </a:tr>
              <a:tr h="520625">
                <a:tc>
                  <a:txBody>
                    <a:bodyPr/>
                    <a:lstStyle/>
                    <a:p>
                      <a:pPr indent="0" lvl="0" marL="0" marR="0" rtl="0" algn="l">
                        <a:spcBef>
                          <a:spcPts val="0"/>
                        </a:spcBef>
                        <a:spcAft>
                          <a:spcPts val="0"/>
                        </a:spcAft>
                        <a:buNone/>
                      </a:pPr>
                      <a:r>
                        <a:rPr lang="en-US" sz="1800" u="none" cap="none" strike="noStrike"/>
                        <a:t>%f</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Float Format Specifier</a:t>
                      </a:r>
                      <a:endParaRPr sz="1800" u="none" cap="none" strike="noStrike">
                        <a:solidFill>
                          <a:srgbClr val="111111"/>
                        </a:solidFill>
                      </a:endParaRPr>
                    </a:p>
                  </a:txBody>
                  <a:tcPr marT="76200" marB="76200" marR="76200" marL="76200"/>
                </a:tc>
              </a:tr>
              <a:tr h="520625">
                <a:tc>
                  <a:txBody>
                    <a:bodyPr/>
                    <a:lstStyle/>
                    <a:p>
                      <a:pPr indent="0" lvl="0" marL="0" marR="0" rtl="0" algn="l">
                        <a:spcBef>
                          <a:spcPts val="0"/>
                        </a:spcBef>
                        <a:spcAft>
                          <a:spcPts val="0"/>
                        </a:spcAft>
                        <a:buNone/>
                      </a:pPr>
                      <a:r>
                        <a:rPr lang="en-US" sz="1800" u="none" cap="none" strike="noStrike"/>
                        <a:t>%c</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Character Format Specifier</a:t>
                      </a:r>
                      <a:endParaRPr sz="1800" u="none" cap="none" strike="noStrike">
                        <a:solidFill>
                          <a:srgbClr val="111111"/>
                        </a:solidFill>
                      </a:endParaRPr>
                    </a:p>
                  </a:txBody>
                  <a:tcPr marT="76200" marB="76200" marR="76200" marL="76200"/>
                </a:tc>
              </a:tr>
              <a:tr h="520625">
                <a:tc>
                  <a:txBody>
                    <a:bodyPr/>
                    <a:lstStyle/>
                    <a:p>
                      <a:pPr indent="0" lvl="0" marL="0" marR="0" rtl="0" algn="l">
                        <a:spcBef>
                          <a:spcPts val="0"/>
                        </a:spcBef>
                        <a:spcAft>
                          <a:spcPts val="0"/>
                        </a:spcAft>
                        <a:buNone/>
                      </a:pPr>
                      <a:r>
                        <a:rPr lang="en-US" sz="1800" u="none" cap="none" strike="noStrike"/>
                        <a:t>%s</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String Format Specifier</a:t>
                      </a:r>
                      <a:endParaRPr sz="1800" u="none" cap="none" strike="noStrike">
                        <a:solidFill>
                          <a:srgbClr val="111111"/>
                        </a:solidFill>
                      </a:endParaRPr>
                    </a:p>
                  </a:txBody>
                  <a:tcPr marT="76200" marB="76200" marR="76200" marL="76200"/>
                </a:tc>
              </a:tr>
              <a:tr h="855325">
                <a:tc>
                  <a:txBody>
                    <a:bodyPr/>
                    <a:lstStyle/>
                    <a:p>
                      <a:pPr indent="0" lvl="0" marL="0" marR="0" rtl="0" algn="l">
                        <a:spcBef>
                          <a:spcPts val="0"/>
                        </a:spcBef>
                        <a:spcAft>
                          <a:spcPts val="0"/>
                        </a:spcAft>
                        <a:buNone/>
                      </a:pPr>
                      <a:r>
                        <a:rPr lang="en-US" sz="1800" u="none" cap="none" strike="noStrike"/>
                        <a:t>%u</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Unsigned Integer Format Specifier</a:t>
                      </a:r>
                      <a:endParaRPr sz="1800" u="none" cap="none" strike="noStrike">
                        <a:solidFill>
                          <a:srgbClr val="111111"/>
                        </a:solidFill>
                      </a:endParaRPr>
                    </a:p>
                  </a:txBody>
                  <a:tcPr marT="76200" marB="76200" marR="76200" marL="76200"/>
                </a:tc>
              </a:tr>
              <a:tr h="520625">
                <a:tc>
                  <a:txBody>
                    <a:bodyPr/>
                    <a:lstStyle/>
                    <a:p>
                      <a:pPr indent="0" lvl="0" marL="0" marR="0" rtl="0" algn="l">
                        <a:spcBef>
                          <a:spcPts val="0"/>
                        </a:spcBef>
                        <a:spcAft>
                          <a:spcPts val="0"/>
                        </a:spcAft>
                        <a:buNone/>
                      </a:pPr>
                      <a:r>
                        <a:rPr lang="en-US" sz="1800" u="none" cap="none" strike="noStrike"/>
                        <a:t>%ld</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Long Int Format Specifier</a:t>
                      </a:r>
                      <a:endParaRPr sz="1800" u="none" cap="none" strike="noStrike">
                        <a:solidFill>
                          <a:srgbClr val="111111"/>
                        </a:solidFill>
                      </a:endParaRPr>
                    </a:p>
                  </a:txBody>
                  <a:tcPr marT="76200" marB="76200" marR="76200" marL="76200"/>
                </a:tc>
              </a:tr>
            </a:tbl>
          </a:graphicData>
        </a:graphic>
      </p:graphicFrame>
      <p:sp>
        <p:nvSpPr>
          <p:cNvPr id="409" name="Google Shape;409;p42"/>
          <p:cNvSpPr/>
          <p:nvPr/>
        </p:nvSpPr>
        <p:spPr>
          <a:xfrm>
            <a:off x="340597" y="5577630"/>
            <a:ext cx="10222300" cy="46166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Format specifiers are also called as format string.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Data Types in C</a:t>
            </a:r>
            <a:endParaRPr/>
          </a:p>
        </p:txBody>
      </p:sp>
      <p:sp>
        <p:nvSpPr>
          <p:cNvPr id="415" name="Google Shape;415;p43"/>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C language has a rich set of data types to handle different kind of data entered by programmer. </a:t>
            </a:r>
            <a:endParaRPr/>
          </a:p>
          <a:p>
            <a:pPr indent="-342900" lvl="0" marL="342900" rtl="0" algn="l">
              <a:spcBef>
                <a:spcPts val="640"/>
              </a:spcBef>
              <a:spcAft>
                <a:spcPts val="0"/>
              </a:spcAft>
              <a:buClr>
                <a:schemeClr val="dk1"/>
              </a:buClr>
              <a:buSzPts val="3200"/>
              <a:buChar char="•"/>
            </a:pPr>
            <a:r>
              <a:rPr lang="en-US"/>
              <a:t>Basically a data type informs compiler about how much memory a declared variable required to store input. </a:t>
            </a:r>
            <a:endParaRPr/>
          </a:p>
          <a:p>
            <a:pPr indent="-342900" lvl="0" marL="342900" rtl="0" algn="l">
              <a:spcBef>
                <a:spcPts val="640"/>
              </a:spcBef>
              <a:spcAft>
                <a:spcPts val="0"/>
              </a:spcAft>
              <a:buClr>
                <a:schemeClr val="dk1"/>
              </a:buClr>
              <a:buSzPts val="3200"/>
              <a:buChar char="•"/>
            </a:pPr>
            <a:r>
              <a:rPr lang="en-US"/>
              <a:t>Data types are used extensively for declaring variables and functions of different types.</a:t>
            </a:r>
            <a:endParaRPr/>
          </a:p>
        </p:txBody>
      </p:sp>
      <p:sp>
        <p:nvSpPr>
          <p:cNvPr id="416" name="Google Shape;416;p4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Data Types in C" id="422" name="Google Shape;422;p44"/>
          <p:cNvPicPr preferRelativeResize="0"/>
          <p:nvPr>
            <p:ph idx="1" type="body"/>
          </p:nvPr>
        </p:nvPicPr>
        <p:blipFill rotWithShape="1">
          <a:blip r:embed="rId3">
            <a:alphaModFix/>
          </a:blip>
          <a:srcRect b="0" l="0" r="0" t="0"/>
          <a:stretch/>
        </p:blipFill>
        <p:spPr>
          <a:xfrm>
            <a:off x="1871331" y="595424"/>
            <a:ext cx="8623004" cy="553074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Signed vs Unsigned </a:t>
            </a:r>
            <a:endParaRPr/>
          </a:p>
        </p:txBody>
      </p:sp>
      <p:sp>
        <p:nvSpPr>
          <p:cNvPr id="428" name="Google Shape;428;p45"/>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term "unsigned" in computer programming indicates a variable that can hold only positive numbers. </a:t>
            </a:r>
            <a:endParaRPr/>
          </a:p>
          <a:p>
            <a:pPr indent="-342900" lvl="0" marL="342900" rtl="0" algn="l">
              <a:spcBef>
                <a:spcPts val="640"/>
              </a:spcBef>
              <a:spcAft>
                <a:spcPts val="0"/>
              </a:spcAft>
              <a:buClr>
                <a:schemeClr val="dk1"/>
              </a:buClr>
              <a:buSzPts val="3200"/>
              <a:buChar char="•"/>
            </a:pPr>
            <a:r>
              <a:rPr lang="en-US"/>
              <a:t>The term "signed" in computer code indicates that a variable can hold negative and positive values. </a:t>
            </a:r>
            <a:endParaRPr/>
          </a:p>
          <a:p>
            <a:pPr indent="-342900" lvl="0" marL="342900" rtl="0" algn="l">
              <a:spcBef>
                <a:spcPts val="640"/>
              </a:spcBef>
              <a:spcAft>
                <a:spcPts val="0"/>
              </a:spcAft>
              <a:buClr>
                <a:schemeClr val="dk1"/>
              </a:buClr>
              <a:buSzPts val="3200"/>
              <a:buChar char="•"/>
            </a:pPr>
            <a:r>
              <a:rPr lang="en-US"/>
              <a:t>The property can be applied to most of the numeric data types including int, char, short and long.</a:t>
            </a:r>
            <a:endParaRPr/>
          </a:p>
        </p:txBody>
      </p:sp>
      <p:sp>
        <p:nvSpPr>
          <p:cNvPr id="429" name="Google Shape;429;p4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Unsigned Variable Type of Integer</a:t>
            </a:r>
            <a:endParaRPr/>
          </a:p>
        </p:txBody>
      </p:sp>
      <p:sp>
        <p:nvSpPr>
          <p:cNvPr id="435" name="Google Shape;435;p46"/>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An unsigned variable type of int can hold zero and positive numbers, and a signed int holds negative, zero and positive numbers.</a:t>
            </a:r>
            <a:endParaRPr/>
          </a:p>
          <a:p>
            <a:pPr indent="-342900" lvl="0" marL="342900" rtl="0" algn="just">
              <a:lnSpc>
                <a:spcPct val="80000"/>
              </a:lnSpc>
              <a:spcBef>
                <a:spcPts val="592"/>
              </a:spcBef>
              <a:spcAft>
                <a:spcPts val="0"/>
              </a:spcAft>
              <a:buClr>
                <a:schemeClr val="dk1"/>
              </a:buClr>
              <a:buSzPts val="2960"/>
              <a:buChar char="•"/>
            </a:pPr>
            <a:r>
              <a:rPr lang="en-US" sz="2960"/>
              <a:t>In 32-bit integers, an unsigned integer has a range of 0 to 2</a:t>
            </a:r>
            <a:r>
              <a:rPr baseline="30000" lang="en-US" sz="2960"/>
              <a:t>32</a:t>
            </a:r>
            <a:r>
              <a:rPr lang="en-US" sz="2960"/>
              <a:t>-1 = 0 to 4,294,967,295 or about 4 billion. </a:t>
            </a:r>
            <a:endParaRPr/>
          </a:p>
          <a:p>
            <a:pPr indent="-342900" lvl="0" marL="342900" rtl="0" algn="just">
              <a:lnSpc>
                <a:spcPct val="80000"/>
              </a:lnSpc>
              <a:spcBef>
                <a:spcPts val="592"/>
              </a:spcBef>
              <a:spcAft>
                <a:spcPts val="0"/>
              </a:spcAft>
              <a:buClr>
                <a:schemeClr val="dk1"/>
              </a:buClr>
              <a:buSzPts val="2960"/>
              <a:buChar char="•"/>
            </a:pPr>
            <a:r>
              <a:rPr lang="en-US" sz="2960"/>
              <a:t>The signed version goes from -2</a:t>
            </a:r>
            <a:r>
              <a:rPr baseline="30000" lang="en-US" sz="2960"/>
              <a:t>31</a:t>
            </a:r>
            <a:r>
              <a:rPr lang="en-US" sz="2960"/>
              <a:t>-1 to (2</a:t>
            </a:r>
            <a:r>
              <a:rPr baseline="30000" lang="en-US" sz="2960"/>
              <a:t>31</a:t>
            </a:r>
            <a:r>
              <a:rPr lang="en-US" sz="2960"/>
              <a:t> -1 ) which is –2,147,483,648 to 2,147,483,647 or about -2 billion to +2 billion. </a:t>
            </a:r>
            <a:endParaRPr/>
          </a:p>
          <a:p>
            <a:pPr indent="-342900" lvl="0" marL="342900" rtl="0" algn="just">
              <a:lnSpc>
                <a:spcPct val="80000"/>
              </a:lnSpc>
              <a:spcBef>
                <a:spcPts val="592"/>
              </a:spcBef>
              <a:spcAft>
                <a:spcPts val="0"/>
              </a:spcAft>
              <a:buClr>
                <a:schemeClr val="dk1"/>
              </a:buClr>
              <a:buSzPts val="2960"/>
              <a:buChar char="•"/>
            </a:pPr>
            <a:r>
              <a:rPr lang="en-US" sz="2960"/>
              <a:t>An int type in C, C++, and C# is signed by default. </a:t>
            </a:r>
            <a:endParaRPr/>
          </a:p>
          <a:p>
            <a:pPr indent="-342900" lvl="0" marL="342900" rtl="0" algn="just">
              <a:lnSpc>
                <a:spcPct val="80000"/>
              </a:lnSpc>
              <a:spcBef>
                <a:spcPts val="592"/>
              </a:spcBef>
              <a:spcAft>
                <a:spcPts val="0"/>
              </a:spcAft>
              <a:buClr>
                <a:schemeClr val="dk1"/>
              </a:buClr>
              <a:buSzPts val="2960"/>
              <a:buChar char="•"/>
            </a:pPr>
            <a:r>
              <a:rPr lang="en-US" sz="2960"/>
              <a:t>If negative numbers are involved, the int must be signed; an unsigned int cannot represent a negative number.</a:t>
            </a:r>
            <a:endParaRPr/>
          </a:p>
        </p:txBody>
      </p:sp>
      <p:sp>
        <p:nvSpPr>
          <p:cNvPr id="436" name="Google Shape;436;p4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DATA TYPES</a:t>
            </a:r>
            <a:endParaRPr/>
          </a:p>
        </p:txBody>
      </p:sp>
      <p:sp>
        <p:nvSpPr>
          <p:cNvPr id="443" name="Google Shape;443;p47"/>
          <p:cNvSpPr txBox="1"/>
          <p:nvPr>
            <p:ph idx="1" type="body"/>
          </p:nvPr>
        </p:nvSpPr>
        <p:spPr>
          <a:xfrm>
            <a:off x="812800" y="1295401"/>
            <a:ext cx="10871200" cy="243681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range/values of data types</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signed = -2^(n-1) to (2^(n-1)) </a:t>
            </a:r>
            <a:endParaRPr/>
          </a:p>
          <a:p>
            <a:pPr indent="-342900" lvl="0" marL="342900" rtl="0" algn="l">
              <a:spcBef>
                <a:spcPts val="640"/>
              </a:spcBef>
              <a:spcAft>
                <a:spcPts val="0"/>
              </a:spcAft>
              <a:buClr>
                <a:schemeClr val="dk1"/>
              </a:buClr>
              <a:buSzPts val="3200"/>
              <a:buChar char="•"/>
            </a:pPr>
            <a:r>
              <a:rPr lang="en-US"/>
              <a:t>unsigned = 0 to (2^n) -1</a:t>
            </a:r>
            <a:endParaRPr/>
          </a:p>
          <a:p>
            <a:pPr indent="-342900" lvl="0" marL="34290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Primary Data Types</a:t>
            </a:r>
            <a:endParaRPr/>
          </a:p>
        </p:txBody>
      </p:sp>
      <p:sp>
        <p:nvSpPr>
          <p:cNvPr id="449" name="Google Shape;449;p48"/>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Primary data types are those which are already defined in programming languages also known </a:t>
            </a:r>
            <a:r>
              <a:rPr b="1" lang="en-US"/>
              <a:t>in-built data types</a:t>
            </a:r>
            <a:r>
              <a:rPr lang="en-US"/>
              <a:t>.</a:t>
            </a:r>
            <a:endParaRPr/>
          </a:p>
          <a:p>
            <a:pPr indent="-342900" lvl="0" marL="342900" rtl="0" algn="just">
              <a:spcBef>
                <a:spcPts val="640"/>
              </a:spcBef>
              <a:spcAft>
                <a:spcPts val="0"/>
              </a:spcAft>
              <a:buClr>
                <a:schemeClr val="dk1"/>
              </a:buClr>
              <a:buSzPts val="3200"/>
              <a:buChar char="•"/>
            </a:pPr>
            <a:r>
              <a:rPr lang="en-US"/>
              <a:t>These data types are basic building blocks of any programming language and numerous composite data types are constructed from this basic type.</a:t>
            </a:r>
            <a:endParaRPr/>
          </a:p>
          <a:p>
            <a:pPr indent="-342900" lvl="0" marL="342900" rtl="0" algn="just">
              <a:spcBef>
                <a:spcPts val="640"/>
              </a:spcBef>
              <a:spcAft>
                <a:spcPts val="0"/>
              </a:spcAft>
              <a:buClr>
                <a:schemeClr val="dk1"/>
              </a:buClr>
              <a:buSzPts val="3200"/>
              <a:buChar char="•"/>
            </a:pPr>
            <a:r>
              <a:rPr lang="en-US"/>
              <a:t>We can check the memory size of any variable by using </a:t>
            </a:r>
            <a:r>
              <a:rPr b="1" lang="en-US"/>
              <a:t>sizeof()</a:t>
            </a:r>
            <a:r>
              <a:rPr lang="en-US"/>
              <a:t> operator and a format specifier %lu.</a:t>
            </a:r>
            <a:endParaRPr/>
          </a:p>
          <a:p>
            <a:pPr indent="-139700" lvl="0" marL="342900" rtl="0" algn="just">
              <a:spcBef>
                <a:spcPts val="640"/>
              </a:spcBef>
              <a:spcAft>
                <a:spcPts val="0"/>
              </a:spcAft>
              <a:buClr>
                <a:schemeClr val="dk1"/>
              </a:buClr>
              <a:buSzPts val="3200"/>
              <a:buNone/>
            </a:pPr>
            <a:r>
              <a:t/>
            </a:r>
            <a:endParaRPr/>
          </a:p>
        </p:txBody>
      </p:sp>
      <p:sp>
        <p:nvSpPr>
          <p:cNvPr id="450" name="Google Shape;450;p4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Character Types:</a:t>
            </a:r>
            <a:endParaRPr/>
          </a:p>
        </p:txBody>
      </p:sp>
      <p:sp>
        <p:nvSpPr>
          <p:cNvPr id="456" name="Google Shape;456;p49"/>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A single character in C is of “char” type data. </a:t>
            </a:r>
            <a:endParaRPr/>
          </a:p>
          <a:p>
            <a:pPr indent="-342900" lvl="0" marL="342900" rtl="0" algn="l">
              <a:lnSpc>
                <a:spcPct val="90000"/>
              </a:lnSpc>
              <a:spcBef>
                <a:spcPts val="640"/>
              </a:spcBef>
              <a:spcAft>
                <a:spcPts val="0"/>
              </a:spcAft>
              <a:buClr>
                <a:schemeClr val="dk1"/>
              </a:buClr>
              <a:buSzPts val="3200"/>
              <a:buChar char="•"/>
            </a:pPr>
            <a:r>
              <a:rPr lang="en-US"/>
              <a:t>Characters stored in 8 bits or 1 byte of memory and the character can also be signed and unsigned. </a:t>
            </a:r>
            <a:endParaRPr/>
          </a:p>
          <a:p>
            <a:pPr indent="-342900" lvl="0" marL="342900" rtl="0" algn="l">
              <a:lnSpc>
                <a:spcPct val="90000"/>
              </a:lnSpc>
              <a:spcBef>
                <a:spcPts val="640"/>
              </a:spcBef>
              <a:spcAft>
                <a:spcPts val="0"/>
              </a:spcAft>
              <a:buClr>
                <a:schemeClr val="dk1"/>
              </a:buClr>
              <a:buSzPts val="3200"/>
              <a:buChar char="•"/>
            </a:pPr>
            <a:r>
              <a:rPr lang="en-US"/>
              <a:t>Signed and unsigned char both used to store single character as per their ASCII values. </a:t>
            </a:r>
            <a:endParaRPr/>
          </a:p>
          <a:p>
            <a:pPr indent="-342900" lvl="0" marL="342900" rtl="0" algn="l">
              <a:lnSpc>
                <a:spcPct val="90000"/>
              </a:lnSpc>
              <a:spcBef>
                <a:spcPts val="640"/>
              </a:spcBef>
              <a:spcAft>
                <a:spcPts val="0"/>
              </a:spcAft>
              <a:buClr>
                <a:schemeClr val="dk1"/>
              </a:buClr>
              <a:buSzPts val="3200"/>
              <a:buChar char="•"/>
            </a:pPr>
            <a:r>
              <a:rPr lang="en-US"/>
              <a:t>For example, ‘A’ will be stored as 65. we don’t need to specify keyword ‘</a:t>
            </a:r>
            <a:r>
              <a:rPr b="1" lang="en-US"/>
              <a:t>signed</a:t>
            </a:r>
            <a:r>
              <a:rPr lang="en-US"/>
              <a:t>’ for using signed char.</a:t>
            </a:r>
            <a:endParaRPr/>
          </a:p>
          <a:p>
            <a:pPr indent="0" lvl="0" marL="0" rtl="0" algn="l">
              <a:lnSpc>
                <a:spcPct val="90000"/>
              </a:lnSpc>
              <a:spcBef>
                <a:spcPts val="640"/>
              </a:spcBef>
              <a:spcAft>
                <a:spcPts val="0"/>
              </a:spcAft>
              <a:buClr>
                <a:schemeClr val="dk1"/>
              </a:buClr>
              <a:buSzPts val="3200"/>
              <a:buNone/>
            </a:pPr>
            <a:br>
              <a:rPr lang="en-US"/>
            </a:br>
            <a:endParaRPr/>
          </a:p>
        </p:txBody>
      </p:sp>
      <p:sp>
        <p:nvSpPr>
          <p:cNvPr id="457" name="Google Shape;457;p4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58" name="Google Shape;458;p49"/>
          <p:cNvPicPr preferRelativeResize="0"/>
          <p:nvPr/>
        </p:nvPicPr>
        <p:blipFill rotWithShape="1">
          <a:blip r:embed="rId3">
            <a:alphaModFix/>
          </a:blip>
          <a:srcRect b="0" l="0" r="0" t="0"/>
          <a:stretch/>
        </p:blipFill>
        <p:spPr>
          <a:xfrm>
            <a:off x="2457524" y="5151498"/>
            <a:ext cx="6280076" cy="138741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Integer Types:</a:t>
            </a:r>
            <a:endParaRPr/>
          </a:p>
        </p:txBody>
      </p:sp>
      <p:sp>
        <p:nvSpPr>
          <p:cNvPr id="464" name="Google Shape;464;p50"/>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hold only integer values. </a:t>
            </a:r>
            <a:endParaRPr/>
          </a:p>
          <a:p>
            <a:pPr indent="-342900" lvl="0" marL="342900" rtl="0" algn="l">
              <a:spcBef>
                <a:spcPts val="640"/>
              </a:spcBef>
              <a:spcAft>
                <a:spcPts val="0"/>
              </a:spcAft>
              <a:buClr>
                <a:schemeClr val="dk1"/>
              </a:buClr>
              <a:buSzPts val="3200"/>
              <a:buChar char="•"/>
            </a:pPr>
            <a:r>
              <a:rPr lang="en-US"/>
              <a:t>stores values in range limited from </a:t>
            </a:r>
            <a:r>
              <a:rPr b="1" lang="en-US"/>
              <a:t>-2147483648 to 2147483647</a:t>
            </a:r>
            <a:r>
              <a:rPr lang="en-US"/>
              <a:t>. </a:t>
            </a:r>
            <a:endParaRPr/>
          </a:p>
          <a:p>
            <a:pPr indent="-342900" lvl="0" marL="342900" rtl="0" algn="l">
              <a:spcBef>
                <a:spcPts val="640"/>
              </a:spcBef>
              <a:spcAft>
                <a:spcPts val="0"/>
              </a:spcAft>
              <a:buClr>
                <a:schemeClr val="dk1"/>
              </a:buClr>
              <a:buSzPts val="3200"/>
              <a:buChar char="•"/>
            </a:pPr>
            <a:r>
              <a:rPr lang="en-US"/>
              <a:t>A signed integer uses one bit for sign out of 16 bits.</a:t>
            </a:r>
            <a:endParaRPr/>
          </a:p>
          <a:p>
            <a:pPr indent="-342900" lvl="0" marL="342900" rtl="0" algn="l">
              <a:spcBef>
                <a:spcPts val="640"/>
              </a:spcBef>
              <a:spcAft>
                <a:spcPts val="0"/>
              </a:spcAft>
              <a:buClr>
                <a:schemeClr val="dk1"/>
              </a:buClr>
              <a:buSzPts val="3200"/>
              <a:buChar char="•"/>
            </a:pPr>
            <a:r>
              <a:rPr lang="en-US"/>
              <a:t>The integers classified into three classes of storage with both signed and unsigned qualifier based on the range of values held by them.</a:t>
            </a:r>
            <a:endParaRPr/>
          </a:p>
          <a:p>
            <a:pPr indent="-139700" lvl="0" marL="342900" rtl="0" algn="l">
              <a:spcBef>
                <a:spcPts val="640"/>
              </a:spcBef>
              <a:spcAft>
                <a:spcPts val="0"/>
              </a:spcAft>
              <a:buClr>
                <a:schemeClr val="dk1"/>
              </a:buClr>
              <a:buSzPts val="3200"/>
              <a:buNone/>
            </a:pPr>
            <a:r>
              <a:t/>
            </a:r>
            <a:endParaRPr/>
          </a:p>
        </p:txBody>
      </p:sp>
      <p:sp>
        <p:nvSpPr>
          <p:cNvPr id="465" name="Google Shape;465;p5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471" name="Google Shape;471;p51"/>
          <p:cNvPicPr preferRelativeResize="0"/>
          <p:nvPr>
            <p:ph idx="1" type="body"/>
          </p:nvPr>
        </p:nvPicPr>
        <p:blipFill rotWithShape="1">
          <a:blip r:embed="rId3">
            <a:alphaModFix/>
          </a:blip>
          <a:srcRect b="0" l="0" r="0" t="0"/>
          <a:stretch/>
        </p:blipFill>
        <p:spPr>
          <a:xfrm>
            <a:off x="609600" y="1796902"/>
            <a:ext cx="10288772" cy="4316819"/>
          </a:xfrm>
          <a:prstGeom prst="rect">
            <a:avLst/>
          </a:prstGeom>
          <a:noFill/>
          <a:ln>
            <a:noFill/>
          </a:ln>
        </p:spPr>
      </p:pic>
      <p:sp>
        <p:nvSpPr>
          <p:cNvPr id="472" name="Google Shape;472;p5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 (1 sign bit + 31 data bits) keyword in C</a:t>
            </a:r>
            <a:endParaRPr/>
          </a:p>
        </p:txBody>
      </p:sp>
      <p:sp>
        <p:nvSpPr>
          <p:cNvPr id="478" name="Google Shape;478;p5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9" name="Google Shape;479;p52"/>
          <p:cNvSpPr txBox="1"/>
          <p:nvPr>
            <p:ph idx="1" type="body"/>
          </p:nvPr>
        </p:nvSpPr>
        <p:spPr>
          <a:xfrm>
            <a:off x="737191" y="1571243"/>
            <a:ext cx="10972800" cy="4631504"/>
          </a:xfrm>
          <a:prstGeom prst="rect">
            <a:avLst/>
          </a:prstGeom>
          <a:solidFill>
            <a:srgbClr val="E0E0E0"/>
          </a:solidFill>
          <a:ln>
            <a:noFill/>
          </a:ln>
        </p:spPr>
        <p:txBody>
          <a:bodyPr anchorCtr="0" anchor="ctr" bIns="63475" lIns="0" spcFirstLastPara="1" rIns="0" wrap="square" tIns="0">
            <a:sp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Example – Consider,</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int num=2147483647;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At this point first 2147483647 will be converted into its binary form which is equal to:</a:t>
            </a:r>
            <a:br>
              <a:rPr b="0" i="0" lang="en-US" sz="2800" u="none" cap="none" strike="noStrike">
                <a:solidFill>
                  <a:schemeClr val="dk1"/>
                </a:solidFill>
                <a:latin typeface="Calibri"/>
                <a:ea typeface="Calibri"/>
                <a:cs typeface="Calibri"/>
                <a:sym typeface="Calibri"/>
              </a:rPr>
            </a:br>
            <a:r>
              <a:rPr b="0" i="0" lang="en-US" sz="2800" u="none" cap="none" strike="noStrike">
                <a:solidFill>
                  <a:schemeClr val="dk1"/>
                </a:solidFill>
                <a:latin typeface="Calibri"/>
                <a:ea typeface="Calibri"/>
                <a:cs typeface="Calibri"/>
                <a:sym typeface="Calibri"/>
              </a:rPr>
              <a:t>1111111111111111111111111111111.</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1111111111111111111111111111111 is a 31 digit binary number which will be assigned to variable num’s right most 31 bits and the 32nd bit will have a zero(0) as the number being assigned to variable num is a positive number. If we try to store any number greater than 2147483647 into an ‘int’ type variable then we will lose information.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Floating Point Types:</a:t>
            </a:r>
            <a:endParaRPr/>
          </a:p>
        </p:txBody>
      </p:sp>
      <p:sp>
        <p:nvSpPr>
          <p:cNvPr id="485" name="Google Shape;485;p53"/>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Data type ‘float’ used to stores real numbers in 32 bits with up to 6 decimal points precision. </a:t>
            </a:r>
            <a:endParaRPr/>
          </a:p>
          <a:p>
            <a:pPr indent="-342900" lvl="0" marL="342900" rtl="0" algn="l">
              <a:spcBef>
                <a:spcPts val="640"/>
              </a:spcBef>
              <a:spcAft>
                <a:spcPts val="0"/>
              </a:spcAft>
              <a:buClr>
                <a:schemeClr val="dk1"/>
              </a:buClr>
              <a:buSzPts val="3200"/>
              <a:buChar char="•"/>
            </a:pPr>
            <a:r>
              <a:rPr lang="en-US"/>
              <a:t>The double type also similar to float stores in 64 bits with more accurate precision up to 14 decimals and Long double further extends the precision using 80 bits and 19 decimal places.</a:t>
            </a:r>
            <a:endParaRPr/>
          </a:p>
        </p:txBody>
      </p:sp>
      <p:sp>
        <p:nvSpPr>
          <p:cNvPr id="486" name="Google Shape;486;p5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87" name="Google Shape;487;p53"/>
          <p:cNvPicPr preferRelativeResize="0"/>
          <p:nvPr/>
        </p:nvPicPr>
        <p:blipFill rotWithShape="1">
          <a:blip r:embed="rId3">
            <a:alphaModFix/>
          </a:blip>
          <a:srcRect b="0" l="0" r="0" t="0"/>
          <a:stretch/>
        </p:blipFill>
        <p:spPr>
          <a:xfrm>
            <a:off x="2127951" y="4401878"/>
            <a:ext cx="8467725" cy="172428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Little and Big Endian</a:t>
            </a:r>
            <a:endParaRPr/>
          </a:p>
        </p:txBody>
      </p:sp>
      <p:sp>
        <p:nvSpPr>
          <p:cNvPr id="493" name="Google Shape;493;p54"/>
          <p:cNvSpPr txBox="1"/>
          <p:nvPr>
            <p:ph idx="1" type="body"/>
          </p:nvPr>
        </p:nvSpPr>
        <p:spPr>
          <a:xfrm>
            <a:off x="609600" y="1417638"/>
            <a:ext cx="10972800" cy="335659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Little and big endian are two ways of storing multibyte data-types ( int, float, etc). </a:t>
            </a:r>
            <a:endParaRPr/>
          </a:p>
          <a:p>
            <a:pPr indent="-342900" lvl="0" marL="342900" rtl="0" algn="l">
              <a:spcBef>
                <a:spcPts val="480"/>
              </a:spcBef>
              <a:spcAft>
                <a:spcPts val="0"/>
              </a:spcAft>
              <a:buClr>
                <a:schemeClr val="dk1"/>
              </a:buClr>
              <a:buSzPts val="2400"/>
              <a:buChar char="•"/>
            </a:pPr>
            <a:r>
              <a:rPr lang="en-US" sz="2400"/>
              <a:t>In little endian machines, last byte of binary representation of the multibyte data-type is stored first. </a:t>
            </a:r>
            <a:endParaRPr/>
          </a:p>
          <a:p>
            <a:pPr indent="-342900" lvl="0" marL="342900" rtl="0" algn="l">
              <a:spcBef>
                <a:spcPts val="480"/>
              </a:spcBef>
              <a:spcAft>
                <a:spcPts val="0"/>
              </a:spcAft>
              <a:buClr>
                <a:schemeClr val="dk1"/>
              </a:buClr>
              <a:buSzPts val="2400"/>
              <a:buChar char="•"/>
            </a:pPr>
            <a:r>
              <a:rPr lang="en-US" sz="2400"/>
              <a:t>On the other hand, in big endian machines, first byte of binary representation of the multibyte data-type is stored first.</a:t>
            </a:r>
            <a:endParaRPr/>
          </a:p>
          <a:p>
            <a:pPr indent="-342900" lvl="0" marL="342900" rtl="0" algn="l">
              <a:spcBef>
                <a:spcPts val="480"/>
              </a:spcBef>
              <a:spcAft>
                <a:spcPts val="0"/>
              </a:spcAft>
              <a:buClr>
                <a:schemeClr val="dk1"/>
              </a:buClr>
              <a:buSzPts val="2400"/>
              <a:buChar char="•"/>
            </a:pPr>
            <a:r>
              <a:rPr lang="en-US" sz="2400"/>
              <a:t>Suppose integer is stored as 4 bytes then a variable x with value 0x01234567 will be stored as following.</a:t>
            </a:r>
            <a:endParaRPr sz="2400"/>
          </a:p>
        </p:txBody>
      </p:sp>
      <p:sp>
        <p:nvSpPr>
          <p:cNvPr id="494" name="Google Shape;494;p5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95" name="Google Shape;495;p54"/>
          <p:cNvPicPr preferRelativeResize="0"/>
          <p:nvPr/>
        </p:nvPicPr>
        <p:blipFill rotWithShape="1">
          <a:blip r:embed="rId3">
            <a:alphaModFix/>
          </a:blip>
          <a:srcRect b="0" l="0" r="0" t="0"/>
          <a:stretch/>
        </p:blipFill>
        <p:spPr>
          <a:xfrm>
            <a:off x="3808229" y="3983445"/>
            <a:ext cx="6048153" cy="265116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5"/>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printf ()</a:t>
            </a:r>
            <a:endParaRPr/>
          </a:p>
        </p:txBody>
      </p:sp>
      <p:sp>
        <p:nvSpPr>
          <p:cNvPr id="502" name="Google Shape;502;p55"/>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2720"/>
              <a:buChar char="•"/>
            </a:pPr>
            <a:r>
              <a:rPr lang="en-US" sz="2720"/>
              <a:t>printf() stands for </a:t>
            </a:r>
            <a:r>
              <a:rPr b="1" lang="en-US" sz="2720"/>
              <a:t>print formatted</a:t>
            </a:r>
            <a:r>
              <a:rPr lang="en-US" sz="2720"/>
              <a:t> string.</a:t>
            </a:r>
            <a:endParaRPr/>
          </a:p>
          <a:p>
            <a:pPr indent="-342900" lvl="0" marL="342900" rtl="0" algn="just">
              <a:lnSpc>
                <a:spcPct val="90000"/>
              </a:lnSpc>
              <a:spcBef>
                <a:spcPts val="544"/>
              </a:spcBef>
              <a:spcAft>
                <a:spcPts val="0"/>
              </a:spcAft>
              <a:buClr>
                <a:schemeClr val="dk1"/>
              </a:buClr>
              <a:buSzPts val="2720"/>
              <a:buChar char="•"/>
            </a:pPr>
            <a:r>
              <a:rPr lang="en-US" sz="2720"/>
              <a:t>printf is a predefined function in "stdio.h" header file, by using this function, we can print the data or user defined message on console or monitor.</a:t>
            </a:r>
            <a:endParaRPr/>
          </a:p>
          <a:p>
            <a:pPr indent="-342900" lvl="0" marL="342900" rtl="0" algn="l">
              <a:lnSpc>
                <a:spcPct val="90000"/>
              </a:lnSpc>
              <a:spcBef>
                <a:spcPts val="544"/>
              </a:spcBef>
              <a:spcAft>
                <a:spcPts val="0"/>
              </a:spcAft>
              <a:buClr>
                <a:schemeClr val="dk1"/>
              </a:buClr>
              <a:buSzPts val="2720"/>
              <a:buChar char="•"/>
            </a:pPr>
            <a:r>
              <a:rPr b="1" lang="en-US" sz="2720"/>
              <a:t>Syntax</a:t>
            </a:r>
            <a:endParaRPr/>
          </a:p>
          <a:p>
            <a:pPr indent="-342900" lvl="0" marL="342900" rtl="0" algn="l">
              <a:lnSpc>
                <a:spcPct val="90000"/>
              </a:lnSpc>
              <a:spcBef>
                <a:spcPts val="544"/>
              </a:spcBef>
              <a:spcAft>
                <a:spcPts val="0"/>
              </a:spcAft>
              <a:buClr>
                <a:schemeClr val="dk1"/>
              </a:buClr>
              <a:buSzPts val="2720"/>
              <a:buChar char="•"/>
            </a:pPr>
            <a:r>
              <a:rPr lang="en-US" sz="2720"/>
              <a:t>printf("user defined message");</a:t>
            </a:r>
            <a:endParaRPr/>
          </a:p>
          <a:p>
            <a:pPr indent="-342900" lvl="0" marL="342900" rtl="0" algn="l">
              <a:lnSpc>
                <a:spcPct val="90000"/>
              </a:lnSpc>
              <a:spcBef>
                <a:spcPts val="544"/>
              </a:spcBef>
              <a:spcAft>
                <a:spcPts val="0"/>
              </a:spcAft>
              <a:buClr>
                <a:schemeClr val="dk1"/>
              </a:buClr>
              <a:buSzPts val="2720"/>
              <a:buChar char="•"/>
            </a:pPr>
            <a:r>
              <a:rPr b="1" lang="en-US" sz="2720"/>
              <a:t>Syntax</a:t>
            </a:r>
            <a:endParaRPr/>
          </a:p>
          <a:p>
            <a:pPr indent="-342900" lvl="0" marL="342900" rtl="0" algn="l">
              <a:lnSpc>
                <a:spcPct val="90000"/>
              </a:lnSpc>
              <a:spcBef>
                <a:spcPts val="544"/>
              </a:spcBef>
              <a:spcAft>
                <a:spcPts val="0"/>
              </a:spcAft>
              <a:buClr>
                <a:schemeClr val="dk1"/>
              </a:buClr>
              <a:buSzPts val="2720"/>
              <a:buChar char="•"/>
            </a:pPr>
            <a:r>
              <a:rPr lang="en-US" sz="2720"/>
              <a:t>printf("Format specifers",value1,value2,..);</a:t>
            </a:r>
            <a:endParaRPr/>
          </a:p>
          <a:p>
            <a:pPr indent="-342900" lvl="0" marL="342900" rtl="0" algn="l">
              <a:lnSpc>
                <a:spcPct val="90000"/>
              </a:lnSpc>
              <a:spcBef>
                <a:spcPts val="544"/>
              </a:spcBef>
              <a:spcAft>
                <a:spcPts val="0"/>
              </a:spcAft>
              <a:buClr>
                <a:schemeClr val="dk1"/>
              </a:buClr>
              <a:buSzPts val="2720"/>
              <a:buChar char="•"/>
            </a:pPr>
            <a:r>
              <a:rPr lang="en-US" sz="2720"/>
              <a:t>Example:</a:t>
            </a:r>
            <a:endParaRPr/>
          </a:p>
          <a:p>
            <a:pPr indent="0" lvl="0" marL="0" rtl="0" algn="l">
              <a:lnSpc>
                <a:spcPct val="90000"/>
              </a:lnSpc>
              <a:spcBef>
                <a:spcPts val="544"/>
              </a:spcBef>
              <a:spcAft>
                <a:spcPts val="0"/>
              </a:spcAft>
              <a:buClr>
                <a:schemeClr val="dk1"/>
              </a:buClr>
              <a:buSzPts val="2720"/>
              <a:buNone/>
            </a:pPr>
            <a:r>
              <a:rPr lang="en-US" sz="2720"/>
              <a:t>	int a=10;</a:t>
            </a:r>
            <a:endParaRPr/>
          </a:p>
          <a:p>
            <a:pPr indent="0" lvl="0" marL="346075" rtl="0" algn="l">
              <a:lnSpc>
                <a:spcPct val="90000"/>
              </a:lnSpc>
              <a:spcBef>
                <a:spcPts val="544"/>
              </a:spcBef>
              <a:spcAft>
                <a:spcPts val="0"/>
              </a:spcAft>
              <a:buClr>
                <a:schemeClr val="dk1"/>
              </a:buClr>
              <a:buSzPts val="2720"/>
              <a:buNone/>
            </a:pPr>
            <a:r>
              <a:rPr lang="en-US" sz="2720"/>
              <a:t>	printf(“%d”, a);</a:t>
            </a:r>
            <a:endParaRPr/>
          </a:p>
          <a:p>
            <a:pPr indent="0" lvl="0" marL="0" rtl="0" algn="l">
              <a:lnSpc>
                <a:spcPct val="90000"/>
              </a:lnSpc>
              <a:spcBef>
                <a:spcPts val="544"/>
              </a:spcBef>
              <a:spcAft>
                <a:spcPts val="0"/>
              </a:spcAft>
              <a:buClr>
                <a:schemeClr val="dk1"/>
              </a:buClr>
              <a:buSzPts val="2720"/>
              <a:buNone/>
            </a:pPr>
            <a:r>
              <a:t/>
            </a:r>
            <a:endParaRPr sz="2720"/>
          </a:p>
          <a:p>
            <a:pPr indent="-342900" lvl="0" marL="342900" rtl="0" algn="l">
              <a:lnSpc>
                <a:spcPct val="90000"/>
              </a:lnSpc>
              <a:spcBef>
                <a:spcPts val="544"/>
              </a:spcBef>
              <a:spcAft>
                <a:spcPts val="0"/>
              </a:spcAft>
              <a:buClr>
                <a:schemeClr val="dk1"/>
              </a:buClr>
              <a:buSzPts val="2720"/>
              <a:buChar char="•"/>
            </a:pPr>
            <a:r>
              <a:rPr b="1" lang="en-US" sz="2720"/>
              <a:t>Note- %%     Outputs a percent sign.</a:t>
            </a:r>
            <a:endParaRPr/>
          </a:p>
          <a:p>
            <a:pPr indent="-170180" lvl="0" marL="342900" rtl="0" algn="just">
              <a:lnSpc>
                <a:spcPct val="90000"/>
              </a:lnSpc>
              <a:spcBef>
                <a:spcPts val="544"/>
              </a:spcBef>
              <a:spcAft>
                <a:spcPts val="0"/>
              </a:spcAft>
              <a:buClr>
                <a:schemeClr val="dk1"/>
              </a:buClr>
              <a:buSzPts val="2720"/>
              <a:buNone/>
            </a:pPr>
            <a:r>
              <a:t/>
            </a:r>
            <a:endParaRPr sz="2720"/>
          </a:p>
        </p:txBody>
      </p:sp>
      <p:sp>
        <p:nvSpPr>
          <p:cNvPr id="503" name="Google Shape;503;p5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6"/>
          <p:cNvSpPr txBox="1"/>
          <p:nvPr>
            <p:ph type="title"/>
          </p:nvPr>
        </p:nvSpPr>
        <p:spPr>
          <a:xfrm>
            <a:off x="609600" y="274638"/>
            <a:ext cx="10972800" cy="67129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alibri"/>
              <a:buNone/>
            </a:pPr>
            <a:r>
              <a:rPr b="1" lang="en-US" sz="3600"/>
              <a:t>Mixing Literal Text and Variables Values </a:t>
            </a:r>
            <a:endParaRPr/>
          </a:p>
        </p:txBody>
      </p:sp>
      <p:sp>
        <p:nvSpPr>
          <p:cNvPr id="509" name="Google Shape;509;p56"/>
          <p:cNvSpPr txBox="1"/>
          <p:nvPr>
            <p:ph idx="1" type="body"/>
          </p:nvPr>
        </p:nvSpPr>
        <p:spPr>
          <a:xfrm>
            <a:off x="0" y="1295400"/>
            <a:ext cx="12149667" cy="5334000"/>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We now know that we can output a string literal:</a:t>
            </a:r>
            <a:endParaRPr/>
          </a:p>
          <a:p>
            <a:pPr indent="-342900" lvl="0" marL="342900" rtl="0" algn="just">
              <a:lnSpc>
                <a:spcPct val="80000"/>
              </a:lnSpc>
              <a:spcBef>
                <a:spcPts val="370"/>
              </a:spcBef>
              <a:spcAft>
                <a:spcPts val="0"/>
              </a:spcAft>
              <a:buClr>
                <a:schemeClr val="dk1"/>
              </a:buClr>
              <a:buSzPts val="1850"/>
              <a:buFont typeface="Noto Sans Symbols"/>
              <a:buNone/>
            </a:pPr>
            <a:r>
              <a:rPr lang="en-US" sz="1850">
                <a:latin typeface="Courier New"/>
                <a:ea typeface="Courier New"/>
                <a:cs typeface="Courier New"/>
                <a:sym typeface="Courier New"/>
              </a:rPr>
              <a:t>    printf("This will be the output \n");</a:t>
            </a:r>
            <a:endParaRPr/>
          </a:p>
          <a:p>
            <a:pPr indent="-342900" lvl="0" marL="342900" rtl="0" algn="just">
              <a:lnSpc>
                <a:spcPct val="80000"/>
              </a:lnSpc>
              <a:spcBef>
                <a:spcPts val="370"/>
              </a:spcBef>
              <a:spcAft>
                <a:spcPts val="0"/>
              </a:spcAft>
              <a:buClr>
                <a:schemeClr val="dk1"/>
              </a:buClr>
              <a:buSzPts val="1850"/>
              <a:buFont typeface="Noto Sans Symbols"/>
              <a:buNone/>
            </a:pPr>
            <a:r>
              <a:t/>
            </a:r>
            <a:endParaRPr sz="1850"/>
          </a:p>
          <a:p>
            <a:pPr indent="-342900" lvl="0" marL="342900" rtl="0" algn="just">
              <a:lnSpc>
                <a:spcPct val="80000"/>
              </a:lnSpc>
              <a:spcBef>
                <a:spcPts val="592"/>
              </a:spcBef>
              <a:spcAft>
                <a:spcPts val="0"/>
              </a:spcAft>
              <a:buClr>
                <a:schemeClr val="dk1"/>
              </a:buClr>
              <a:buSzPts val="2960"/>
              <a:buChar char="•"/>
            </a:pPr>
            <a:r>
              <a:rPr lang="en-US" sz="2960"/>
              <a:t>We also know that we can output the value of a variable:</a:t>
            </a:r>
            <a:endParaRPr/>
          </a:p>
          <a:p>
            <a:pPr indent="-342900" lvl="0" marL="342900" rtl="0" algn="just">
              <a:lnSpc>
                <a:spcPct val="80000"/>
              </a:lnSpc>
              <a:spcBef>
                <a:spcPts val="370"/>
              </a:spcBef>
              <a:spcAft>
                <a:spcPts val="0"/>
              </a:spcAft>
              <a:buClr>
                <a:schemeClr val="dk1"/>
              </a:buClr>
              <a:buSzPts val="1850"/>
              <a:buFont typeface="Noto Sans Symbols"/>
              <a:buNone/>
            </a:pPr>
            <a:r>
              <a:rPr lang="en-US" sz="1850">
                <a:latin typeface="Courier New"/>
                <a:ea typeface="Courier New"/>
                <a:cs typeface="Courier New"/>
                <a:sym typeface="Courier New"/>
              </a:rPr>
              <a:t>    printf("%d", distance);</a:t>
            </a:r>
            <a:endParaRPr/>
          </a:p>
          <a:p>
            <a:pPr indent="-342900" lvl="0" marL="342900" rtl="0" algn="just">
              <a:lnSpc>
                <a:spcPct val="80000"/>
              </a:lnSpc>
              <a:spcBef>
                <a:spcPts val="370"/>
              </a:spcBef>
              <a:spcAft>
                <a:spcPts val="0"/>
              </a:spcAft>
              <a:buClr>
                <a:schemeClr val="dk1"/>
              </a:buClr>
              <a:buSzPts val="1850"/>
              <a:buFont typeface="Noto Sans Symbols"/>
              <a:buNone/>
            </a:pPr>
            <a:r>
              <a:t/>
            </a:r>
            <a:endParaRPr sz="1850">
              <a:latin typeface="Courier New"/>
              <a:ea typeface="Courier New"/>
              <a:cs typeface="Courier New"/>
              <a:sym typeface="Courier New"/>
            </a:endParaRPr>
          </a:p>
          <a:p>
            <a:pPr indent="-342900" lvl="0" marL="342900" rtl="0" algn="just">
              <a:lnSpc>
                <a:spcPct val="80000"/>
              </a:lnSpc>
              <a:spcBef>
                <a:spcPts val="592"/>
              </a:spcBef>
              <a:spcAft>
                <a:spcPts val="0"/>
              </a:spcAft>
              <a:buClr>
                <a:srgbClr val="000000"/>
              </a:buClr>
              <a:buSzPts val="2960"/>
              <a:buChar char="•"/>
            </a:pPr>
            <a:r>
              <a:rPr lang="en-US" sz="2960">
                <a:solidFill>
                  <a:srgbClr val="000000"/>
                </a:solidFill>
              </a:rPr>
              <a:t>We can output the values of multiple variables in a single printf():</a:t>
            </a:r>
            <a:endParaRPr/>
          </a:p>
          <a:p>
            <a:pPr indent="0" lvl="0" marL="568325" rtl="0" algn="just">
              <a:lnSpc>
                <a:spcPct val="80000"/>
              </a:lnSpc>
              <a:spcBef>
                <a:spcPts val="370"/>
              </a:spcBef>
              <a:spcAft>
                <a:spcPts val="0"/>
              </a:spcAft>
              <a:buClr>
                <a:srgbClr val="000000"/>
              </a:buClr>
              <a:buSzPts val="1850"/>
              <a:buNone/>
            </a:pPr>
            <a:r>
              <a:rPr lang="en-US" sz="1850">
                <a:solidFill>
                  <a:srgbClr val="000000"/>
                </a:solidFill>
                <a:latin typeface="Courier New"/>
                <a:ea typeface="Courier New"/>
                <a:cs typeface="Courier New"/>
                <a:sym typeface="Courier New"/>
              </a:rPr>
              <a:t> printf("%d %f", distance, time);</a:t>
            </a:r>
            <a:endParaRPr sz="1850">
              <a:latin typeface="Courier New"/>
              <a:ea typeface="Courier New"/>
              <a:cs typeface="Courier New"/>
              <a:sym typeface="Courier New"/>
            </a:endParaRPr>
          </a:p>
          <a:p>
            <a:pPr indent="-342900" lvl="0" marL="342900" rtl="0" algn="just">
              <a:lnSpc>
                <a:spcPct val="80000"/>
              </a:lnSpc>
              <a:spcBef>
                <a:spcPts val="370"/>
              </a:spcBef>
              <a:spcAft>
                <a:spcPts val="0"/>
              </a:spcAft>
              <a:buClr>
                <a:schemeClr val="dk1"/>
              </a:buClr>
              <a:buSzPts val="1850"/>
              <a:buFont typeface="Noto Sans Symbols"/>
              <a:buNone/>
            </a:pPr>
            <a:r>
              <a:t/>
            </a:r>
            <a:endParaRPr sz="1850"/>
          </a:p>
          <a:p>
            <a:pPr indent="-342900" lvl="0" marL="342900" rtl="0" algn="just">
              <a:lnSpc>
                <a:spcPct val="80000"/>
              </a:lnSpc>
              <a:spcBef>
                <a:spcPts val="592"/>
              </a:spcBef>
              <a:spcAft>
                <a:spcPts val="0"/>
              </a:spcAft>
              <a:buClr>
                <a:schemeClr val="dk1"/>
              </a:buClr>
              <a:buSzPts val="2960"/>
              <a:buChar char="•"/>
            </a:pPr>
            <a:r>
              <a:rPr lang="en-US" sz="2960"/>
              <a:t>Not surprisingly, we can </a:t>
            </a:r>
            <a:r>
              <a:rPr b="1" lang="en-US" sz="2960" u="sng"/>
              <a:t>mix and match</a:t>
            </a:r>
            <a:r>
              <a:rPr lang="en-US" sz="2960"/>
              <a:t> the two:</a:t>
            </a:r>
            <a:endParaRPr/>
          </a:p>
          <a:p>
            <a:pPr indent="-342900" lvl="0" marL="342900" rtl="0" algn="just">
              <a:lnSpc>
                <a:spcPct val="60000"/>
              </a:lnSpc>
              <a:spcBef>
                <a:spcPts val="592"/>
              </a:spcBef>
              <a:spcAft>
                <a:spcPts val="0"/>
              </a:spcAft>
              <a:buClr>
                <a:schemeClr val="dk1"/>
              </a:buClr>
              <a:buSzPts val="2960"/>
              <a:buFont typeface="Noto Sans Symbols"/>
              <a:buNone/>
            </a:pPr>
            <a:r>
              <a:rPr lang="en-US" sz="2960">
                <a:latin typeface="Courier New"/>
                <a:ea typeface="Courier New"/>
                <a:cs typeface="Courier New"/>
                <a:sym typeface="Courier New"/>
              </a:rPr>
              <a:t>   </a:t>
            </a:r>
            <a:r>
              <a:rPr lang="en-US" sz="1850">
                <a:latin typeface="Courier New"/>
                <a:ea typeface="Courier New"/>
                <a:cs typeface="Courier New"/>
                <a:sym typeface="Courier New"/>
              </a:rPr>
              <a:t>printf(“You are %d miles away\n", distance);</a:t>
            </a:r>
            <a:endParaRPr/>
          </a:p>
          <a:p>
            <a:pPr indent="-342900" lvl="0" marL="342900" rtl="0" algn="just">
              <a:lnSpc>
                <a:spcPct val="60000"/>
              </a:lnSpc>
              <a:spcBef>
                <a:spcPts val="370"/>
              </a:spcBef>
              <a:spcAft>
                <a:spcPts val="0"/>
              </a:spcAft>
              <a:buClr>
                <a:schemeClr val="dk1"/>
              </a:buClr>
              <a:buSzPts val="1850"/>
              <a:buFont typeface="Noto Sans Symbols"/>
              <a:buNone/>
            </a:pPr>
            <a:r>
              <a:t/>
            </a:r>
            <a:endParaRPr sz="1850">
              <a:latin typeface="Courier New"/>
              <a:ea typeface="Courier New"/>
              <a:cs typeface="Courier New"/>
              <a:sym typeface="Courier New"/>
            </a:endParaRPr>
          </a:p>
          <a:p>
            <a:pPr indent="-342900" lvl="0" marL="342900" rtl="0" algn="just">
              <a:lnSpc>
                <a:spcPct val="80000"/>
              </a:lnSpc>
              <a:spcBef>
                <a:spcPts val="592"/>
              </a:spcBef>
              <a:spcAft>
                <a:spcPts val="0"/>
              </a:spcAft>
              <a:buClr>
                <a:schemeClr val="dk1"/>
              </a:buClr>
              <a:buSzPts val="2960"/>
              <a:buChar char="•"/>
            </a:pPr>
            <a:r>
              <a:rPr lang="en-US" sz="2960"/>
              <a:t>We can even mix and match while outputting the values of multiple variables of various data types:</a:t>
            </a:r>
            <a:endParaRPr/>
          </a:p>
          <a:p>
            <a:pPr indent="-342900" lvl="0" marL="342900" rtl="0" algn="just">
              <a:lnSpc>
                <a:spcPct val="80000"/>
              </a:lnSpc>
              <a:spcBef>
                <a:spcPts val="370"/>
              </a:spcBef>
              <a:spcAft>
                <a:spcPts val="0"/>
              </a:spcAft>
              <a:buClr>
                <a:schemeClr val="dk1"/>
              </a:buClr>
              <a:buSzPts val="1850"/>
              <a:buFont typeface="Noto Sans Symbols"/>
              <a:buNone/>
            </a:pPr>
            <a:r>
              <a:rPr lang="en-US" sz="1850">
                <a:latin typeface="Courier New"/>
                <a:ea typeface="Courier New"/>
                <a:cs typeface="Courier New"/>
                <a:sym typeface="Courier New"/>
              </a:rPr>
              <a:t>    printf("The %d distance remaining. It will take %f time\n“, distance,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animEffect filter="fade" transition="in">
                                      <p:cBhvr>
                                        <p:cTn dur="2000"/>
                                        <p:tgtEl>
                                          <p:spTgt spid="5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 st="1"/>
                                            </p:txEl>
                                          </p:spTgt>
                                        </p:tgtEl>
                                        <p:attrNameLst>
                                          <p:attrName>style.visibility</p:attrName>
                                        </p:attrNameLst>
                                      </p:cBhvr>
                                      <p:to>
                                        <p:strVal val="visible"/>
                                      </p:to>
                                    </p:set>
                                    <p:animEffect filter="fade" transition="in">
                                      <p:cBhvr>
                                        <p:cTn dur="2000"/>
                                        <p:tgtEl>
                                          <p:spTgt spid="5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2" st="2"/>
                                            </p:txEl>
                                          </p:spTgt>
                                        </p:tgtEl>
                                        <p:attrNameLst>
                                          <p:attrName>style.visibility</p:attrName>
                                        </p:attrNameLst>
                                      </p:cBhvr>
                                      <p:to>
                                        <p:strVal val="visible"/>
                                      </p:to>
                                    </p:set>
                                    <p:animEffect filter="fade" transition="in">
                                      <p:cBhvr>
                                        <p:cTn dur="2000"/>
                                        <p:tgtEl>
                                          <p:spTgt spid="5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3" st="3"/>
                                            </p:txEl>
                                          </p:spTgt>
                                        </p:tgtEl>
                                        <p:attrNameLst>
                                          <p:attrName>style.visibility</p:attrName>
                                        </p:attrNameLst>
                                      </p:cBhvr>
                                      <p:to>
                                        <p:strVal val="visible"/>
                                      </p:to>
                                    </p:set>
                                    <p:animEffect filter="fade" transition="in">
                                      <p:cBhvr>
                                        <p:cTn dur="2000"/>
                                        <p:tgtEl>
                                          <p:spTgt spid="5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4" st="4"/>
                                            </p:txEl>
                                          </p:spTgt>
                                        </p:tgtEl>
                                        <p:attrNameLst>
                                          <p:attrName>style.visibility</p:attrName>
                                        </p:attrNameLst>
                                      </p:cBhvr>
                                      <p:to>
                                        <p:strVal val="visible"/>
                                      </p:to>
                                    </p:set>
                                    <p:animEffect filter="fade" transition="in">
                                      <p:cBhvr>
                                        <p:cTn dur="2000"/>
                                        <p:tgtEl>
                                          <p:spTgt spid="5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5" st="5"/>
                                            </p:txEl>
                                          </p:spTgt>
                                        </p:tgtEl>
                                        <p:attrNameLst>
                                          <p:attrName>style.visibility</p:attrName>
                                        </p:attrNameLst>
                                      </p:cBhvr>
                                      <p:to>
                                        <p:strVal val="visible"/>
                                      </p:to>
                                    </p:set>
                                    <p:animEffect filter="fade" transition="in">
                                      <p:cBhvr>
                                        <p:cTn dur="2000"/>
                                        <p:tgtEl>
                                          <p:spTgt spid="5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6" st="6"/>
                                            </p:txEl>
                                          </p:spTgt>
                                        </p:tgtEl>
                                        <p:attrNameLst>
                                          <p:attrName>style.visibility</p:attrName>
                                        </p:attrNameLst>
                                      </p:cBhvr>
                                      <p:to>
                                        <p:strVal val="visible"/>
                                      </p:to>
                                    </p:set>
                                    <p:animEffect filter="fade" transition="in">
                                      <p:cBhvr>
                                        <p:cTn dur="2000"/>
                                        <p:tgtEl>
                                          <p:spTgt spid="5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7" st="7"/>
                                            </p:txEl>
                                          </p:spTgt>
                                        </p:tgtEl>
                                        <p:attrNameLst>
                                          <p:attrName>style.visibility</p:attrName>
                                        </p:attrNameLst>
                                      </p:cBhvr>
                                      <p:to>
                                        <p:strVal val="visible"/>
                                      </p:to>
                                    </p:set>
                                    <p:animEffect filter="fade" transition="in">
                                      <p:cBhvr>
                                        <p:cTn dur="2000"/>
                                        <p:tgtEl>
                                          <p:spTgt spid="5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8" st="8"/>
                                            </p:txEl>
                                          </p:spTgt>
                                        </p:tgtEl>
                                        <p:attrNameLst>
                                          <p:attrName>style.visibility</p:attrName>
                                        </p:attrNameLst>
                                      </p:cBhvr>
                                      <p:to>
                                        <p:strVal val="visible"/>
                                      </p:to>
                                    </p:set>
                                    <p:animEffect filter="fade" transition="in">
                                      <p:cBhvr>
                                        <p:cTn dur="2000"/>
                                        <p:tgtEl>
                                          <p:spTgt spid="5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9" st="9"/>
                                            </p:txEl>
                                          </p:spTgt>
                                        </p:tgtEl>
                                        <p:attrNameLst>
                                          <p:attrName>style.visibility</p:attrName>
                                        </p:attrNameLst>
                                      </p:cBhvr>
                                      <p:to>
                                        <p:strVal val="visible"/>
                                      </p:to>
                                    </p:set>
                                    <p:animEffect filter="fade" transition="in">
                                      <p:cBhvr>
                                        <p:cTn dur="2000"/>
                                        <p:tgtEl>
                                          <p:spTgt spid="5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0" st="10"/>
                                            </p:txEl>
                                          </p:spTgt>
                                        </p:tgtEl>
                                        <p:attrNameLst>
                                          <p:attrName>style.visibility</p:attrName>
                                        </p:attrNameLst>
                                      </p:cBhvr>
                                      <p:to>
                                        <p:strVal val="visible"/>
                                      </p:to>
                                    </p:set>
                                    <p:animEffect filter="fade" transition="in">
                                      <p:cBhvr>
                                        <p:cTn dur="2000"/>
                                        <p:tgtEl>
                                          <p:spTgt spid="50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1" st="11"/>
                                            </p:txEl>
                                          </p:spTgt>
                                        </p:tgtEl>
                                        <p:attrNameLst>
                                          <p:attrName>style.visibility</p:attrName>
                                        </p:attrNameLst>
                                      </p:cBhvr>
                                      <p:to>
                                        <p:strVal val="visible"/>
                                      </p:to>
                                    </p:set>
                                    <p:animEffect filter="fade" transition="in">
                                      <p:cBhvr>
                                        <p:cTn dur="2000"/>
                                        <p:tgtEl>
                                          <p:spTgt spid="50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2" st="12"/>
                                            </p:txEl>
                                          </p:spTgt>
                                        </p:tgtEl>
                                        <p:attrNameLst>
                                          <p:attrName>style.visibility</p:attrName>
                                        </p:attrNameLst>
                                      </p:cBhvr>
                                      <p:to>
                                        <p:strVal val="visible"/>
                                      </p:to>
                                    </p:set>
                                    <p:animEffect filter="fade" transition="in">
                                      <p:cBhvr>
                                        <p:cTn dur="2000"/>
                                        <p:tgtEl>
                                          <p:spTgt spid="50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3" st="13"/>
                                            </p:txEl>
                                          </p:spTgt>
                                        </p:tgtEl>
                                        <p:attrNameLst>
                                          <p:attrName>style.visibility</p:attrName>
                                        </p:attrNameLst>
                                      </p:cBhvr>
                                      <p:to>
                                        <p:strVal val="visible"/>
                                      </p:to>
                                    </p:set>
                                    <p:animEffect filter="fade" transition="in">
                                      <p:cBhvr>
                                        <p:cTn dur="2000"/>
                                        <p:tgtEl>
                                          <p:spTgt spid="50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printf, sprintf and fprintf</a:t>
            </a:r>
            <a:endParaRPr/>
          </a:p>
        </p:txBody>
      </p:sp>
      <p:sp>
        <p:nvSpPr>
          <p:cNvPr id="515" name="Google Shape;515;p57"/>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720"/>
              <a:buChar char="•"/>
            </a:pPr>
            <a:r>
              <a:rPr lang="en-US" sz="2720">
                <a:latin typeface="Courier New"/>
                <a:ea typeface="Courier New"/>
                <a:cs typeface="Courier New"/>
                <a:sym typeface="Courier New"/>
              </a:rPr>
              <a:t>printf(): </a:t>
            </a:r>
            <a:r>
              <a:rPr lang="en-US" sz="2720"/>
              <a:t>printf function is used to print character stream of data on stdout console.</a:t>
            </a:r>
            <a:endParaRPr/>
          </a:p>
          <a:p>
            <a:pPr indent="-342900" lvl="0" marL="342900" rtl="0" algn="l">
              <a:lnSpc>
                <a:spcPct val="90000"/>
              </a:lnSpc>
              <a:spcBef>
                <a:spcPts val="544"/>
              </a:spcBef>
              <a:spcAft>
                <a:spcPts val="0"/>
              </a:spcAft>
              <a:buClr>
                <a:schemeClr val="dk1"/>
              </a:buClr>
              <a:buSzPts val="2720"/>
              <a:buChar char="•"/>
            </a:pPr>
            <a:r>
              <a:rPr lang="en-US" sz="2720"/>
              <a:t>Syntax:  </a:t>
            </a:r>
            <a:r>
              <a:rPr lang="en-US" sz="2720">
                <a:latin typeface="Courier New"/>
                <a:ea typeface="Courier New"/>
                <a:cs typeface="Courier New"/>
                <a:sym typeface="Courier New"/>
              </a:rPr>
              <a:t>int printf(const char* str, …)</a:t>
            </a:r>
            <a:endParaRPr/>
          </a:p>
          <a:p>
            <a:pPr indent="-342900" lvl="0" marL="342900" rtl="0" algn="l">
              <a:lnSpc>
                <a:spcPct val="90000"/>
              </a:lnSpc>
              <a:spcBef>
                <a:spcPts val="544"/>
              </a:spcBef>
              <a:spcAft>
                <a:spcPts val="0"/>
              </a:spcAft>
              <a:buClr>
                <a:schemeClr val="dk1"/>
              </a:buClr>
              <a:buSzPts val="2720"/>
              <a:buChar char="•"/>
            </a:pPr>
            <a:r>
              <a:rPr lang="en-US" sz="2720">
                <a:latin typeface="Courier New"/>
                <a:ea typeface="Courier New"/>
                <a:cs typeface="Courier New"/>
                <a:sym typeface="Courier New"/>
              </a:rPr>
              <a:t>sprintf(): </a:t>
            </a:r>
            <a:r>
              <a:rPr lang="en-US" sz="2720"/>
              <a:t>String print function instead of printing on console store it on char buffer which are specified in sprintf</a:t>
            </a:r>
            <a:endParaRPr sz="2720"/>
          </a:p>
          <a:p>
            <a:pPr indent="-342900" lvl="0" marL="342900" rtl="0" algn="l">
              <a:lnSpc>
                <a:spcPct val="90000"/>
              </a:lnSpc>
              <a:spcBef>
                <a:spcPts val="544"/>
              </a:spcBef>
              <a:spcAft>
                <a:spcPts val="0"/>
              </a:spcAft>
              <a:buClr>
                <a:schemeClr val="dk1"/>
              </a:buClr>
              <a:buSzPts val="2720"/>
              <a:buChar char="•"/>
            </a:pPr>
            <a:r>
              <a:rPr lang="en-US" sz="2720"/>
              <a:t>Syntax:  </a:t>
            </a:r>
            <a:r>
              <a:rPr lang="en-US" sz="2720">
                <a:latin typeface="Courier New"/>
                <a:ea typeface="Courier New"/>
                <a:cs typeface="Courier New"/>
                <a:sym typeface="Courier New"/>
              </a:rPr>
              <a:t>int sprintf(char* str, const char *string,…)</a:t>
            </a:r>
            <a:endParaRPr/>
          </a:p>
          <a:p>
            <a:pPr indent="-342900" lvl="0" marL="342900" rtl="0" algn="l">
              <a:lnSpc>
                <a:spcPct val="90000"/>
              </a:lnSpc>
              <a:spcBef>
                <a:spcPts val="544"/>
              </a:spcBef>
              <a:spcAft>
                <a:spcPts val="0"/>
              </a:spcAft>
              <a:buClr>
                <a:schemeClr val="dk1"/>
              </a:buClr>
              <a:buSzPts val="2720"/>
              <a:buChar char="•"/>
            </a:pPr>
            <a:r>
              <a:rPr lang="en-US" sz="2720">
                <a:latin typeface="Courier New"/>
                <a:ea typeface="Courier New"/>
                <a:cs typeface="Courier New"/>
                <a:sym typeface="Courier New"/>
              </a:rPr>
              <a:t>fprint():</a:t>
            </a:r>
            <a:r>
              <a:rPr lang="en-US" sz="2720"/>
              <a:t>fprintf is used to print the string content in file but not on stdout console.</a:t>
            </a:r>
            <a:endParaRPr/>
          </a:p>
          <a:p>
            <a:pPr indent="-342900" lvl="0" marL="342900" rtl="0" algn="l">
              <a:lnSpc>
                <a:spcPct val="90000"/>
              </a:lnSpc>
              <a:spcBef>
                <a:spcPts val="544"/>
              </a:spcBef>
              <a:spcAft>
                <a:spcPts val="0"/>
              </a:spcAft>
              <a:buClr>
                <a:schemeClr val="dk1"/>
              </a:buClr>
              <a:buSzPts val="2720"/>
              <a:buChar char="•"/>
            </a:pPr>
            <a:r>
              <a:rPr lang="en-US" sz="2720">
                <a:latin typeface="Courier New"/>
                <a:ea typeface="Courier New"/>
                <a:cs typeface="Courier New"/>
                <a:sym typeface="Courier New"/>
              </a:rPr>
              <a:t>Syntax: int fprintf(FILE* fptr, const char *str,…)</a:t>
            </a:r>
            <a:endParaRPr/>
          </a:p>
        </p:txBody>
      </p:sp>
      <p:sp>
        <p:nvSpPr>
          <p:cNvPr id="516" name="Google Shape;516;p5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scanf()</a:t>
            </a:r>
            <a:endParaRPr/>
          </a:p>
        </p:txBody>
      </p:sp>
      <p:sp>
        <p:nvSpPr>
          <p:cNvPr id="523" name="Google Shape;523;p58"/>
          <p:cNvSpPr txBox="1"/>
          <p:nvPr>
            <p:ph idx="1" type="body"/>
          </p:nvPr>
        </p:nvSpPr>
        <p:spPr>
          <a:xfrm>
            <a:off x="236484" y="1024759"/>
            <a:ext cx="11729544" cy="5659819"/>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720"/>
              <a:buChar char="•"/>
            </a:pPr>
            <a:r>
              <a:rPr lang="en-US" sz="2720"/>
              <a:t>scanf() stands for </a:t>
            </a:r>
            <a:r>
              <a:rPr b="1" lang="en-US" sz="2720"/>
              <a:t>scan formatted</a:t>
            </a:r>
            <a:r>
              <a:rPr lang="en-US" sz="2720"/>
              <a:t> string.</a:t>
            </a:r>
            <a:endParaRPr/>
          </a:p>
          <a:p>
            <a:pPr indent="-342900" lvl="0" marL="342900" rtl="0" algn="just">
              <a:lnSpc>
                <a:spcPct val="80000"/>
              </a:lnSpc>
              <a:spcBef>
                <a:spcPts val="544"/>
              </a:spcBef>
              <a:spcAft>
                <a:spcPts val="0"/>
              </a:spcAft>
              <a:buClr>
                <a:schemeClr val="dk1"/>
              </a:buClr>
              <a:buSzPts val="2720"/>
              <a:buChar char="•"/>
            </a:pPr>
            <a:r>
              <a:rPr lang="en-US" sz="2720"/>
              <a:t>scanf() is a predefined function in "stdio.h" header file. </a:t>
            </a:r>
            <a:endParaRPr/>
          </a:p>
          <a:p>
            <a:pPr indent="-342900" lvl="0" marL="342900" rtl="0" algn="just">
              <a:lnSpc>
                <a:spcPct val="80000"/>
              </a:lnSpc>
              <a:spcBef>
                <a:spcPts val="544"/>
              </a:spcBef>
              <a:spcAft>
                <a:spcPts val="0"/>
              </a:spcAft>
              <a:buClr>
                <a:schemeClr val="dk1"/>
              </a:buClr>
              <a:buSzPts val="2720"/>
              <a:buChar char="•"/>
            </a:pPr>
            <a:r>
              <a:rPr lang="en-US" sz="2720"/>
              <a:t>It is used to read the input value from the keyword.</a:t>
            </a:r>
            <a:endParaRPr/>
          </a:p>
          <a:p>
            <a:pPr indent="-342900" lvl="0" marL="342900" rtl="0" algn="just">
              <a:lnSpc>
                <a:spcPct val="80000"/>
              </a:lnSpc>
              <a:spcBef>
                <a:spcPts val="544"/>
              </a:spcBef>
              <a:spcAft>
                <a:spcPts val="0"/>
              </a:spcAft>
              <a:buClr>
                <a:schemeClr val="dk1"/>
              </a:buClr>
              <a:buSzPts val="2720"/>
              <a:buChar char="•"/>
            </a:pPr>
            <a:r>
              <a:rPr b="1" lang="en-US" sz="2720"/>
              <a:t>Syntax</a:t>
            </a:r>
            <a:endParaRPr/>
          </a:p>
          <a:p>
            <a:pPr indent="-342900" lvl="0" marL="342900" rtl="0" algn="just">
              <a:lnSpc>
                <a:spcPct val="80000"/>
              </a:lnSpc>
              <a:spcBef>
                <a:spcPts val="544"/>
              </a:spcBef>
              <a:spcAft>
                <a:spcPts val="0"/>
              </a:spcAft>
              <a:buClr>
                <a:schemeClr val="dk1"/>
              </a:buClr>
              <a:buSzPts val="2720"/>
              <a:buChar char="•"/>
            </a:pPr>
            <a:r>
              <a:rPr lang="en-US" sz="2720"/>
              <a:t>scanf("format specifiers",&amp;value1,&amp;value2,.....);</a:t>
            </a:r>
            <a:endParaRPr/>
          </a:p>
          <a:p>
            <a:pPr indent="-170180" lvl="0" marL="342900" rtl="0" algn="just">
              <a:lnSpc>
                <a:spcPct val="80000"/>
              </a:lnSpc>
              <a:spcBef>
                <a:spcPts val="544"/>
              </a:spcBef>
              <a:spcAft>
                <a:spcPts val="0"/>
              </a:spcAft>
              <a:buClr>
                <a:schemeClr val="dk1"/>
              </a:buClr>
              <a:buSzPts val="2720"/>
              <a:buNone/>
            </a:pPr>
            <a:r>
              <a:t/>
            </a:r>
            <a:endParaRPr sz="2720"/>
          </a:p>
          <a:p>
            <a:pPr indent="-342900" lvl="0" marL="342900" rtl="0" algn="just">
              <a:lnSpc>
                <a:spcPct val="80000"/>
              </a:lnSpc>
              <a:spcBef>
                <a:spcPts val="544"/>
              </a:spcBef>
              <a:spcAft>
                <a:spcPts val="0"/>
              </a:spcAft>
              <a:buClr>
                <a:schemeClr val="dk1"/>
              </a:buClr>
              <a:buSzPts val="2720"/>
              <a:buChar char="•"/>
            </a:pPr>
            <a:r>
              <a:rPr lang="en-US" sz="2720"/>
              <a:t>E.g.</a:t>
            </a:r>
            <a:endParaRPr/>
          </a:p>
          <a:p>
            <a:pPr indent="0" lvl="0" marL="393700" rtl="0" algn="just">
              <a:lnSpc>
                <a:spcPct val="80000"/>
              </a:lnSpc>
              <a:spcBef>
                <a:spcPts val="544"/>
              </a:spcBef>
              <a:spcAft>
                <a:spcPts val="0"/>
              </a:spcAft>
              <a:buClr>
                <a:schemeClr val="dk1"/>
              </a:buClr>
              <a:buSzPts val="2720"/>
              <a:buNone/>
            </a:pPr>
            <a:r>
              <a:rPr lang="en-US" sz="2720"/>
              <a:t>int var;</a:t>
            </a:r>
            <a:endParaRPr/>
          </a:p>
          <a:p>
            <a:pPr indent="0" lvl="0" marL="393700" rtl="0" algn="just">
              <a:lnSpc>
                <a:spcPct val="80000"/>
              </a:lnSpc>
              <a:spcBef>
                <a:spcPts val="544"/>
              </a:spcBef>
              <a:spcAft>
                <a:spcPts val="0"/>
              </a:spcAft>
              <a:buClr>
                <a:schemeClr val="dk1"/>
              </a:buClr>
              <a:buSzPts val="2720"/>
              <a:buNone/>
            </a:pPr>
            <a:r>
              <a:rPr lang="en-US" sz="2720"/>
              <a:t>scanf("%d",&amp;var);</a:t>
            </a:r>
            <a:endParaRPr/>
          </a:p>
          <a:p>
            <a:pPr indent="-346075" lvl="0" marL="346075" rtl="0" algn="just">
              <a:lnSpc>
                <a:spcPct val="80000"/>
              </a:lnSpc>
              <a:spcBef>
                <a:spcPts val="544"/>
              </a:spcBef>
              <a:spcAft>
                <a:spcPts val="0"/>
              </a:spcAft>
              <a:buClr>
                <a:schemeClr val="dk1"/>
              </a:buClr>
              <a:buSzPts val="2720"/>
              <a:buChar char="•"/>
            </a:pPr>
            <a:r>
              <a:rPr lang="en-US" sz="2720"/>
              <a:t>The address-of operator (&amp;) preceding a variable i.e. &amp;var indicates the memory location of variable 'var'. </a:t>
            </a:r>
            <a:endParaRPr/>
          </a:p>
          <a:p>
            <a:pPr indent="0" lvl="0" marL="0" rtl="0" algn="just">
              <a:lnSpc>
                <a:spcPct val="80000"/>
              </a:lnSpc>
              <a:spcBef>
                <a:spcPts val="544"/>
              </a:spcBef>
              <a:spcAft>
                <a:spcPts val="0"/>
              </a:spcAft>
              <a:buClr>
                <a:schemeClr val="dk1"/>
              </a:buClr>
              <a:buSzPts val="2720"/>
              <a:buNone/>
            </a:pPr>
            <a:r>
              <a:t/>
            </a:r>
            <a:endParaRPr sz="2720"/>
          </a:p>
          <a:p>
            <a:pPr indent="-342900" lvl="0" marL="342900" rtl="0" algn="just">
              <a:lnSpc>
                <a:spcPct val="80000"/>
              </a:lnSpc>
              <a:spcBef>
                <a:spcPts val="476"/>
              </a:spcBef>
              <a:spcAft>
                <a:spcPts val="0"/>
              </a:spcAft>
              <a:buClr>
                <a:schemeClr val="dk1"/>
              </a:buClr>
              <a:buSzPts val="2380"/>
              <a:buChar char="•"/>
            </a:pPr>
            <a:r>
              <a:rPr i="1" lang="en-US" sz="2380"/>
              <a:t>Note- For using I/O functionality, programmers must include stdio header-file within the program.</a:t>
            </a:r>
            <a:endParaRPr/>
          </a:p>
          <a:p>
            <a:pPr indent="-170180" lvl="0" marL="342900" rtl="0" algn="just">
              <a:lnSpc>
                <a:spcPct val="80000"/>
              </a:lnSpc>
              <a:spcBef>
                <a:spcPts val="544"/>
              </a:spcBef>
              <a:spcAft>
                <a:spcPts val="0"/>
              </a:spcAft>
              <a:buClr>
                <a:schemeClr val="dk1"/>
              </a:buClr>
              <a:buSzPts val="2720"/>
              <a:buNone/>
            </a:pPr>
            <a:r>
              <a:t/>
            </a:r>
            <a:endParaRPr sz="2720"/>
          </a:p>
        </p:txBody>
      </p:sp>
      <p:sp>
        <p:nvSpPr>
          <p:cNvPr id="524" name="Google Shape;524;p5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scanf() vs  gets()</a:t>
            </a:r>
            <a:endParaRPr/>
          </a:p>
        </p:txBody>
      </p:sp>
      <p:pic>
        <p:nvPicPr>
          <p:cNvPr id="530" name="Google Shape;530;p59"/>
          <p:cNvPicPr preferRelativeResize="0"/>
          <p:nvPr>
            <p:ph idx="1" type="body"/>
          </p:nvPr>
        </p:nvPicPr>
        <p:blipFill rotWithShape="1">
          <a:blip r:embed="rId3">
            <a:alphaModFix/>
          </a:blip>
          <a:srcRect b="0" l="0" r="0" t="0"/>
          <a:stretch/>
        </p:blipFill>
        <p:spPr>
          <a:xfrm>
            <a:off x="956930" y="1417638"/>
            <a:ext cx="10515600" cy="4938715"/>
          </a:xfrm>
          <a:prstGeom prst="rect">
            <a:avLst/>
          </a:prstGeom>
          <a:noFill/>
          <a:ln>
            <a:noFill/>
          </a:ln>
        </p:spPr>
      </p:pic>
      <p:sp>
        <p:nvSpPr>
          <p:cNvPr id="531" name="Google Shape;531;p5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getc(), getchar(), getch() and getche()</a:t>
            </a:r>
            <a:endParaRPr/>
          </a:p>
        </p:txBody>
      </p:sp>
      <p:sp>
        <p:nvSpPr>
          <p:cNvPr id="537" name="Google Shape;537;p60"/>
          <p:cNvSpPr txBox="1"/>
          <p:nvPr>
            <p:ph idx="1" type="body"/>
          </p:nvPr>
        </p:nvSpPr>
        <p:spPr>
          <a:xfrm>
            <a:off x="609600" y="160020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220"/>
              <a:buChar char="•"/>
            </a:pPr>
            <a:r>
              <a:rPr lang="en-US" sz="2220"/>
              <a:t>All of these functions read a character from input and return an integer value. </a:t>
            </a:r>
            <a:endParaRPr/>
          </a:p>
          <a:p>
            <a:pPr indent="-342900" lvl="0" marL="342900" rtl="0" algn="l">
              <a:lnSpc>
                <a:spcPct val="80000"/>
              </a:lnSpc>
              <a:spcBef>
                <a:spcPts val="444"/>
              </a:spcBef>
              <a:spcAft>
                <a:spcPts val="0"/>
              </a:spcAft>
              <a:buClr>
                <a:schemeClr val="dk1"/>
              </a:buClr>
              <a:buSzPts val="2220"/>
              <a:buChar char="•"/>
            </a:pPr>
            <a:r>
              <a:rPr lang="en-US" sz="2220"/>
              <a:t>The integer is returned to accommodate a special value used to indicate failure. </a:t>
            </a:r>
            <a:endParaRPr/>
          </a:p>
          <a:p>
            <a:pPr indent="-342900" lvl="0" marL="342900" rtl="0" algn="l">
              <a:lnSpc>
                <a:spcPct val="80000"/>
              </a:lnSpc>
              <a:spcBef>
                <a:spcPts val="444"/>
              </a:spcBef>
              <a:spcAft>
                <a:spcPts val="0"/>
              </a:spcAft>
              <a:buClr>
                <a:schemeClr val="dk1"/>
              </a:buClr>
              <a:buSzPts val="2220"/>
              <a:buChar char="•"/>
            </a:pPr>
            <a:r>
              <a:rPr lang="en-US" sz="2220"/>
              <a:t>The value EOF is generally used for this purpose.</a:t>
            </a:r>
            <a:endParaRPr/>
          </a:p>
          <a:p>
            <a:pPr indent="-342900" lvl="0" marL="342900" rtl="0" algn="l">
              <a:lnSpc>
                <a:spcPct val="80000"/>
              </a:lnSpc>
              <a:spcBef>
                <a:spcPts val="444"/>
              </a:spcBef>
              <a:spcAft>
                <a:spcPts val="0"/>
              </a:spcAft>
              <a:buClr>
                <a:schemeClr val="dk1"/>
              </a:buClr>
              <a:buSzPts val="2220"/>
              <a:buChar char="•"/>
            </a:pPr>
            <a:r>
              <a:rPr b="1" lang="en-US" sz="2220" u="sng"/>
              <a:t>getc(): </a:t>
            </a:r>
            <a:r>
              <a:rPr lang="en-US" sz="2220"/>
              <a:t>It reads a single character from a given input stream and returns the corresponding integer value (typically ASCII value of read character) on success. It returns EOF on failure.</a:t>
            </a:r>
            <a:endParaRPr/>
          </a:p>
          <a:p>
            <a:pPr indent="-285750" lvl="1" marL="742950" rtl="0" algn="l">
              <a:lnSpc>
                <a:spcPct val="80000"/>
              </a:lnSpc>
              <a:spcBef>
                <a:spcPts val="444"/>
              </a:spcBef>
              <a:spcAft>
                <a:spcPts val="0"/>
              </a:spcAft>
              <a:buClr>
                <a:schemeClr val="dk1"/>
              </a:buClr>
              <a:buSzPts val="2220"/>
              <a:buChar char="–"/>
            </a:pPr>
            <a:r>
              <a:rPr lang="en-US" sz="2220"/>
              <a:t>Syntax: </a:t>
            </a:r>
            <a:r>
              <a:rPr lang="en-US" sz="2220">
                <a:latin typeface="Courier New"/>
                <a:ea typeface="Courier New"/>
                <a:cs typeface="Courier New"/>
                <a:sym typeface="Courier New"/>
              </a:rPr>
              <a:t>int getc(FILE *stream)</a:t>
            </a:r>
            <a:endParaRPr/>
          </a:p>
          <a:p>
            <a:pPr indent="-342900" lvl="0" marL="342900" rtl="0" algn="l">
              <a:lnSpc>
                <a:spcPct val="80000"/>
              </a:lnSpc>
              <a:spcBef>
                <a:spcPts val="444"/>
              </a:spcBef>
              <a:spcAft>
                <a:spcPts val="0"/>
              </a:spcAft>
              <a:buClr>
                <a:schemeClr val="dk1"/>
              </a:buClr>
              <a:buSzPts val="2220"/>
              <a:buChar char="•"/>
            </a:pPr>
            <a:r>
              <a:rPr b="1" lang="en-US" sz="2220" u="sng"/>
              <a:t>getchar(): </a:t>
            </a:r>
            <a:r>
              <a:rPr lang="en-US" sz="2220"/>
              <a:t>The difference between getc() and getchar() is getc() can read from any input stream, but getchar() reads from standard input. So getchar() is equivalent to getc(stdin).</a:t>
            </a:r>
            <a:endParaRPr/>
          </a:p>
          <a:p>
            <a:pPr indent="-285750" lvl="1" marL="742950" rtl="0" algn="l">
              <a:lnSpc>
                <a:spcPct val="80000"/>
              </a:lnSpc>
              <a:spcBef>
                <a:spcPts val="444"/>
              </a:spcBef>
              <a:spcAft>
                <a:spcPts val="0"/>
              </a:spcAft>
              <a:buClr>
                <a:schemeClr val="dk1"/>
              </a:buClr>
              <a:buSzPts val="2220"/>
              <a:buChar char="–"/>
            </a:pPr>
            <a:r>
              <a:rPr lang="en-US" sz="2220">
                <a:latin typeface="Courier New"/>
                <a:ea typeface="Courier New"/>
                <a:cs typeface="Courier New"/>
                <a:sym typeface="Courier New"/>
              </a:rPr>
              <a:t>int getchar(void) </a:t>
            </a:r>
            <a:endParaRPr/>
          </a:p>
          <a:p>
            <a:pPr indent="-342900" lvl="0" marL="342900" rtl="0" algn="l">
              <a:lnSpc>
                <a:spcPct val="80000"/>
              </a:lnSpc>
              <a:spcBef>
                <a:spcPts val="444"/>
              </a:spcBef>
              <a:spcAft>
                <a:spcPts val="0"/>
              </a:spcAft>
              <a:buClr>
                <a:schemeClr val="dk1"/>
              </a:buClr>
              <a:buSzPts val="2220"/>
              <a:buChar char="•"/>
            </a:pPr>
            <a:r>
              <a:rPr b="1" lang="en-US" sz="2220" u="sng"/>
              <a:t>getche():</a:t>
            </a:r>
            <a:r>
              <a:rPr lang="en-US" sz="2220"/>
              <a:t> Like getch(), this is also a non-standard function present in conio.h. It reads a single character from the keyboard and displays immediately on output screen without waiting for enter key.</a:t>
            </a:r>
            <a:endParaRPr/>
          </a:p>
          <a:p>
            <a:pPr indent="-285750" lvl="1" marL="742950" rtl="0" algn="l">
              <a:lnSpc>
                <a:spcPct val="80000"/>
              </a:lnSpc>
              <a:spcBef>
                <a:spcPts val="444"/>
              </a:spcBef>
              <a:spcAft>
                <a:spcPts val="0"/>
              </a:spcAft>
              <a:buClr>
                <a:schemeClr val="dk1"/>
              </a:buClr>
              <a:buSzPts val="2220"/>
              <a:buChar char="–"/>
            </a:pPr>
            <a:r>
              <a:rPr lang="en-US" sz="2220">
                <a:latin typeface="Courier New"/>
                <a:ea typeface="Courier New"/>
                <a:cs typeface="Courier New"/>
                <a:sym typeface="Courier New"/>
              </a:rPr>
              <a:t>int getche(void) </a:t>
            </a:r>
            <a:endParaRPr/>
          </a:p>
        </p:txBody>
      </p:sp>
      <p:sp>
        <p:nvSpPr>
          <p:cNvPr id="538" name="Google Shape;538;p6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Operators</a:t>
            </a:r>
            <a:endParaRPr/>
          </a:p>
        </p:txBody>
      </p:sp>
      <p:sp>
        <p:nvSpPr>
          <p:cNvPr id="545" name="Google Shape;545;p61"/>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C operators are symbols that are used to perform mathematical or logical manipulations. </a:t>
            </a:r>
            <a:endParaRPr/>
          </a:p>
          <a:p>
            <a:pPr indent="-342900" lvl="0" marL="342900" rtl="0" algn="just">
              <a:spcBef>
                <a:spcPts val="480"/>
              </a:spcBef>
              <a:spcAft>
                <a:spcPts val="0"/>
              </a:spcAft>
              <a:buClr>
                <a:schemeClr val="dk1"/>
              </a:buClr>
              <a:buSzPts val="2400"/>
              <a:buChar char="•"/>
            </a:pPr>
            <a:r>
              <a:rPr lang="en-US" sz="2400"/>
              <a:t>C programming language is rich with built-in operators. Operators take part in a program for manipulating data and variables and form a part of the mathematical or logical expressions.</a:t>
            </a:r>
            <a:endParaRPr/>
          </a:p>
          <a:p>
            <a:pPr indent="-342900" lvl="0" marL="342900" rtl="0" algn="just">
              <a:spcBef>
                <a:spcPts val="480"/>
              </a:spcBef>
              <a:spcAft>
                <a:spcPts val="0"/>
              </a:spcAft>
              <a:buClr>
                <a:schemeClr val="dk1"/>
              </a:buClr>
              <a:buSzPts val="2400"/>
              <a:buChar char="•"/>
            </a:pPr>
            <a:r>
              <a:rPr lang="en-US" sz="2400"/>
              <a:t>The data items that operators act upon are called </a:t>
            </a:r>
            <a:r>
              <a:rPr b="1" i="1" lang="en-US" sz="2400"/>
              <a:t>operands. </a:t>
            </a:r>
            <a:r>
              <a:rPr lang="en-US" sz="2400"/>
              <a:t>Some operators require two operands, while others act upon only one operand.</a:t>
            </a:r>
            <a:endParaRPr/>
          </a:p>
          <a:p>
            <a:pPr indent="-342900" lvl="0" marL="342900" rtl="0" algn="just">
              <a:spcBef>
                <a:spcPts val="480"/>
              </a:spcBef>
              <a:spcAft>
                <a:spcPts val="0"/>
              </a:spcAft>
              <a:buClr>
                <a:schemeClr val="dk1"/>
              </a:buClr>
              <a:buSzPts val="2400"/>
              <a:buChar char="•"/>
            </a:pPr>
            <a:r>
              <a:rPr lang="en-US" sz="2400"/>
              <a:t>Types of Operators in C:</a:t>
            </a:r>
            <a:endParaRPr/>
          </a:p>
          <a:p>
            <a:pPr indent="-3175" lvl="0" marL="568325" rtl="0" algn="just">
              <a:spcBef>
                <a:spcPts val="480"/>
              </a:spcBef>
              <a:spcAft>
                <a:spcPts val="0"/>
              </a:spcAft>
              <a:buClr>
                <a:schemeClr val="dk1"/>
              </a:buClr>
              <a:buSzPts val="2400"/>
              <a:buChar char="•"/>
            </a:pPr>
            <a:r>
              <a:rPr lang="en-US" sz="2400"/>
              <a:t>Arithmetic Operators</a:t>
            </a:r>
            <a:endParaRPr/>
          </a:p>
          <a:p>
            <a:pPr indent="-3175" lvl="0" marL="568325" rtl="0" algn="just">
              <a:spcBef>
                <a:spcPts val="480"/>
              </a:spcBef>
              <a:spcAft>
                <a:spcPts val="0"/>
              </a:spcAft>
              <a:buClr>
                <a:schemeClr val="dk1"/>
              </a:buClr>
              <a:buSzPts val="2400"/>
              <a:buChar char="•"/>
            </a:pPr>
            <a:r>
              <a:rPr lang="en-US" sz="2400"/>
              <a:t>Relational Operators</a:t>
            </a:r>
            <a:endParaRPr/>
          </a:p>
          <a:p>
            <a:pPr indent="-3175" lvl="0" marL="568325" rtl="0" algn="just">
              <a:spcBef>
                <a:spcPts val="480"/>
              </a:spcBef>
              <a:spcAft>
                <a:spcPts val="0"/>
              </a:spcAft>
              <a:buClr>
                <a:schemeClr val="dk1"/>
              </a:buClr>
              <a:buSzPts val="2400"/>
              <a:buChar char="•"/>
            </a:pPr>
            <a:r>
              <a:rPr lang="en-US" sz="2400"/>
              <a:t>Logical Operators</a:t>
            </a:r>
            <a:endParaRPr/>
          </a:p>
          <a:p>
            <a:pPr indent="-3175" lvl="0" marL="568325" rtl="0" algn="just">
              <a:spcBef>
                <a:spcPts val="480"/>
              </a:spcBef>
              <a:spcAft>
                <a:spcPts val="0"/>
              </a:spcAft>
              <a:buClr>
                <a:schemeClr val="dk1"/>
              </a:buClr>
              <a:buSzPts val="2400"/>
              <a:buChar char="•"/>
            </a:pPr>
            <a:r>
              <a:rPr lang="en-US" sz="2400"/>
              <a:t>Assignment Operators</a:t>
            </a:r>
            <a:endParaRPr/>
          </a:p>
          <a:p>
            <a:pPr indent="-3175" lvl="0" marL="568325" rtl="0" algn="just">
              <a:spcBef>
                <a:spcPts val="480"/>
              </a:spcBef>
              <a:spcAft>
                <a:spcPts val="0"/>
              </a:spcAft>
              <a:buClr>
                <a:schemeClr val="dk1"/>
              </a:buClr>
              <a:buSzPts val="2400"/>
              <a:buChar char="•"/>
            </a:pPr>
            <a:r>
              <a:rPr lang="en-US" sz="2400"/>
              <a:t>Increment and Decrement Operators</a:t>
            </a:r>
            <a:endParaRPr/>
          </a:p>
          <a:p>
            <a:pPr indent="-3175" lvl="0" marL="568325" rtl="0" algn="just">
              <a:spcBef>
                <a:spcPts val="480"/>
              </a:spcBef>
              <a:spcAft>
                <a:spcPts val="0"/>
              </a:spcAft>
              <a:buClr>
                <a:schemeClr val="dk1"/>
              </a:buClr>
              <a:buSzPts val="2400"/>
              <a:buChar char="•"/>
            </a:pPr>
            <a:r>
              <a:rPr lang="en-US" sz="2400"/>
              <a:t>Conditional Operator</a:t>
            </a:r>
            <a:endParaRPr/>
          </a:p>
          <a:p>
            <a:pPr indent="-3175" lvl="0" marL="568325" rtl="0" algn="just">
              <a:spcBef>
                <a:spcPts val="480"/>
              </a:spcBef>
              <a:spcAft>
                <a:spcPts val="0"/>
              </a:spcAft>
              <a:buClr>
                <a:schemeClr val="dk1"/>
              </a:buClr>
              <a:buSzPts val="2400"/>
              <a:buChar char="•"/>
            </a:pPr>
            <a:r>
              <a:rPr lang="en-US" sz="2400"/>
              <a:t>Bitwise Operators</a:t>
            </a:r>
            <a:endParaRPr/>
          </a:p>
          <a:p>
            <a:pPr indent="-3175" lvl="0" marL="568325" rtl="0" algn="just">
              <a:spcBef>
                <a:spcPts val="480"/>
              </a:spcBef>
              <a:spcAft>
                <a:spcPts val="0"/>
              </a:spcAft>
              <a:buClr>
                <a:schemeClr val="dk1"/>
              </a:buClr>
              <a:buSzPts val="2400"/>
              <a:buChar char="•"/>
            </a:pPr>
            <a:r>
              <a:rPr lang="en-US" sz="2400"/>
              <a:t>Special Operators</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b="1" sz="2400"/>
          </a:p>
        </p:txBody>
      </p:sp>
      <p:sp>
        <p:nvSpPr>
          <p:cNvPr id="546" name="Google Shape;546;p6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 Operators</a:t>
            </a:r>
            <a:endParaRPr/>
          </a:p>
        </p:txBody>
      </p:sp>
      <p:sp>
        <p:nvSpPr>
          <p:cNvPr id="553" name="Google Shape;553;p62"/>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139700" lvl="0" marL="342900" rtl="0" algn="just">
              <a:spcBef>
                <a:spcPts val="0"/>
              </a:spcBef>
              <a:spcAft>
                <a:spcPts val="0"/>
              </a:spcAft>
              <a:buClr>
                <a:schemeClr val="dk1"/>
              </a:buClr>
              <a:buSzPts val="3200"/>
              <a:buNone/>
            </a:pPr>
            <a:r>
              <a:t/>
            </a:r>
            <a:endParaRPr b="1"/>
          </a:p>
        </p:txBody>
      </p:sp>
      <p:sp>
        <p:nvSpPr>
          <p:cNvPr id="554" name="Google Shape;554;p6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operators" id="555" name="Google Shape;555;p62"/>
          <p:cNvPicPr preferRelativeResize="0"/>
          <p:nvPr/>
        </p:nvPicPr>
        <p:blipFill rotWithShape="1">
          <a:blip r:embed="rId3">
            <a:alphaModFix/>
          </a:blip>
          <a:srcRect b="0" l="0" r="0" t="0"/>
          <a:stretch/>
        </p:blipFill>
        <p:spPr>
          <a:xfrm>
            <a:off x="1511410" y="1823598"/>
            <a:ext cx="8200149" cy="451413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3"/>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Arithmetic Operators</a:t>
            </a:r>
            <a:endParaRPr/>
          </a:p>
        </p:txBody>
      </p:sp>
      <p:sp>
        <p:nvSpPr>
          <p:cNvPr id="562" name="Google Shape;562;p63"/>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There are five </a:t>
            </a:r>
            <a:r>
              <a:rPr b="1" i="1" lang="en-US" sz="2960"/>
              <a:t>arithmetic operators </a:t>
            </a:r>
            <a:r>
              <a:rPr lang="en-US" sz="2960"/>
              <a:t>in C. They are</a:t>
            </a:r>
            <a:endParaRPr/>
          </a:p>
          <a:p>
            <a:pPr indent="-342900" lvl="0" marL="342900" rtl="0" algn="just">
              <a:lnSpc>
                <a:spcPct val="80000"/>
              </a:lnSpc>
              <a:spcBef>
                <a:spcPts val="592"/>
              </a:spcBef>
              <a:spcAft>
                <a:spcPts val="0"/>
              </a:spcAft>
              <a:buClr>
                <a:schemeClr val="dk1"/>
              </a:buClr>
              <a:buSzPts val="2960"/>
              <a:buChar char="•"/>
            </a:pPr>
            <a:r>
              <a:rPr b="1" i="1" lang="en-US" sz="2960"/>
              <a:t>Operator 		</a:t>
            </a:r>
            <a:r>
              <a:rPr b="1" lang="en-US" sz="2960"/>
              <a:t>Description</a:t>
            </a:r>
            <a:endParaRPr/>
          </a:p>
          <a:p>
            <a:pPr indent="0" lvl="0" marL="693738" rtl="0" algn="just">
              <a:lnSpc>
                <a:spcPct val="80000"/>
              </a:lnSpc>
              <a:spcBef>
                <a:spcPts val="592"/>
              </a:spcBef>
              <a:spcAft>
                <a:spcPts val="0"/>
              </a:spcAft>
              <a:buClr>
                <a:schemeClr val="dk1"/>
              </a:buClr>
              <a:buSzPts val="2960"/>
              <a:buNone/>
            </a:pPr>
            <a:r>
              <a:rPr lang="en-US" sz="2960"/>
              <a:t>+			addition</a:t>
            </a:r>
            <a:endParaRPr/>
          </a:p>
          <a:p>
            <a:pPr indent="0" lvl="0" marL="693738" rtl="0" algn="just">
              <a:lnSpc>
                <a:spcPct val="80000"/>
              </a:lnSpc>
              <a:spcBef>
                <a:spcPts val="592"/>
              </a:spcBef>
              <a:spcAft>
                <a:spcPts val="0"/>
              </a:spcAft>
              <a:buClr>
                <a:schemeClr val="dk1"/>
              </a:buClr>
              <a:buSzPts val="2960"/>
              <a:buNone/>
            </a:pPr>
            <a:r>
              <a:rPr lang="en-US" sz="2960"/>
              <a:t>- 			subtraction</a:t>
            </a:r>
            <a:endParaRPr/>
          </a:p>
          <a:p>
            <a:pPr indent="0" lvl="0" marL="693738" rtl="0" algn="just">
              <a:lnSpc>
                <a:spcPct val="80000"/>
              </a:lnSpc>
              <a:spcBef>
                <a:spcPts val="592"/>
              </a:spcBef>
              <a:spcAft>
                <a:spcPts val="0"/>
              </a:spcAft>
              <a:buClr>
                <a:schemeClr val="dk1"/>
              </a:buClr>
              <a:buSzPts val="2960"/>
              <a:buNone/>
            </a:pPr>
            <a:r>
              <a:rPr lang="en-US" sz="2960"/>
              <a:t>* 		multiplication</a:t>
            </a:r>
            <a:endParaRPr/>
          </a:p>
          <a:p>
            <a:pPr indent="0" lvl="0" marL="693738" rtl="0" algn="just">
              <a:lnSpc>
                <a:spcPct val="80000"/>
              </a:lnSpc>
              <a:spcBef>
                <a:spcPts val="592"/>
              </a:spcBef>
              <a:spcAft>
                <a:spcPts val="0"/>
              </a:spcAft>
              <a:buClr>
                <a:schemeClr val="dk1"/>
              </a:buClr>
              <a:buSzPts val="2960"/>
              <a:buNone/>
            </a:pPr>
            <a:r>
              <a:rPr i="1" lang="en-US" sz="2960"/>
              <a:t>I 			</a:t>
            </a:r>
            <a:r>
              <a:rPr lang="en-US" sz="2960"/>
              <a:t>division</a:t>
            </a:r>
            <a:endParaRPr/>
          </a:p>
          <a:p>
            <a:pPr indent="0" lvl="0" marL="693738" rtl="0" algn="just">
              <a:lnSpc>
                <a:spcPct val="80000"/>
              </a:lnSpc>
              <a:spcBef>
                <a:spcPts val="592"/>
              </a:spcBef>
              <a:spcAft>
                <a:spcPts val="0"/>
              </a:spcAft>
              <a:buClr>
                <a:schemeClr val="dk1"/>
              </a:buClr>
              <a:buSzPts val="2960"/>
              <a:buNone/>
            </a:pPr>
            <a:r>
              <a:rPr lang="en-US" sz="2960"/>
              <a:t>% 		remainder after integer division</a:t>
            </a:r>
            <a:endParaRPr/>
          </a:p>
          <a:p>
            <a:pPr indent="-342900" lvl="0" marL="342900" rtl="0" algn="just">
              <a:lnSpc>
                <a:spcPct val="80000"/>
              </a:lnSpc>
              <a:spcBef>
                <a:spcPts val="592"/>
              </a:spcBef>
              <a:spcAft>
                <a:spcPts val="0"/>
              </a:spcAft>
              <a:buClr>
                <a:schemeClr val="dk1"/>
              </a:buClr>
              <a:buSzPts val="2960"/>
              <a:buChar char="•"/>
            </a:pPr>
            <a:r>
              <a:rPr lang="en-US" sz="2960"/>
              <a:t>The % operator is sometimes referred to as the </a:t>
            </a:r>
            <a:r>
              <a:rPr b="1" i="1" lang="en-US" sz="2960"/>
              <a:t>modulus operator.</a:t>
            </a:r>
            <a:endParaRPr/>
          </a:p>
          <a:p>
            <a:pPr indent="-342900" lvl="0" marL="342900" rtl="0" algn="just">
              <a:lnSpc>
                <a:spcPct val="80000"/>
              </a:lnSpc>
              <a:spcBef>
                <a:spcPts val="592"/>
              </a:spcBef>
              <a:spcAft>
                <a:spcPts val="0"/>
              </a:spcAft>
              <a:buClr>
                <a:schemeClr val="dk1"/>
              </a:buClr>
              <a:buSzPts val="2960"/>
              <a:buChar char="•"/>
            </a:pPr>
            <a:r>
              <a:rPr b="1" i="1" lang="en-US" sz="2960"/>
              <a:t>The remainder operator (%) requires that both operands be integers and the second operand be nonzero. Similarly, the division operator (/) requires that the second operand be nonzero.</a:t>
            </a:r>
            <a:endParaRPr/>
          </a:p>
          <a:p>
            <a:pPr indent="-342900" lvl="0" marL="342900" rtl="0" algn="just">
              <a:lnSpc>
                <a:spcPct val="80000"/>
              </a:lnSpc>
              <a:spcBef>
                <a:spcPts val="592"/>
              </a:spcBef>
              <a:spcAft>
                <a:spcPts val="0"/>
              </a:spcAft>
              <a:buClr>
                <a:schemeClr val="dk1"/>
              </a:buClr>
              <a:buSzPts val="2960"/>
              <a:buChar char="•"/>
            </a:pPr>
            <a:r>
              <a:rPr lang="en-US" sz="2960"/>
              <a:t>The %operator cannot be applied to float or double.</a:t>
            </a:r>
            <a:endParaRPr/>
          </a:p>
        </p:txBody>
      </p:sp>
      <p:sp>
        <p:nvSpPr>
          <p:cNvPr id="563" name="Google Shape;563;p6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4"/>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Arithmetic Operators</a:t>
            </a:r>
            <a:endParaRPr/>
          </a:p>
        </p:txBody>
      </p:sp>
      <p:sp>
        <p:nvSpPr>
          <p:cNvPr id="570" name="Google Shape;570;p64"/>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480"/>
              <a:buChar char="•"/>
            </a:pPr>
            <a:r>
              <a:rPr lang="en-US" sz="2480"/>
              <a:t>Division of one integer quantity by another may results in a truncated quotient (i.e., the decimal portion of the quotient will be dropped). </a:t>
            </a:r>
            <a:endParaRPr/>
          </a:p>
          <a:p>
            <a:pPr indent="-342900" lvl="0" marL="342900" rtl="0" algn="just">
              <a:lnSpc>
                <a:spcPct val="80000"/>
              </a:lnSpc>
              <a:spcBef>
                <a:spcPts val="496"/>
              </a:spcBef>
              <a:spcAft>
                <a:spcPts val="0"/>
              </a:spcAft>
              <a:buClr>
                <a:schemeClr val="dk1"/>
              </a:buClr>
              <a:buSzPts val="2480"/>
              <a:buChar char="•"/>
            </a:pPr>
            <a:r>
              <a:rPr lang="en-US" sz="2480"/>
              <a:t>On the other hand, if a division operation is carried out with two floating-point numbers, or with one floating-point number and one integer, the result will be a floating-point quotient.</a:t>
            </a:r>
            <a:endParaRPr b="1" i="1" sz="2480"/>
          </a:p>
          <a:p>
            <a:pPr indent="-342900" lvl="0" marL="342900" rtl="0" algn="just">
              <a:lnSpc>
                <a:spcPct val="80000"/>
              </a:lnSpc>
              <a:spcBef>
                <a:spcPts val="496"/>
              </a:spcBef>
              <a:spcAft>
                <a:spcPts val="0"/>
              </a:spcAft>
              <a:buClr>
                <a:schemeClr val="dk1"/>
              </a:buClr>
              <a:buSzPts val="2480"/>
              <a:buChar char="•"/>
            </a:pPr>
            <a:r>
              <a:rPr lang="en-US" sz="2480"/>
              <a:t>There is no exponentiation operator in C. However, there is a </a:t>
            </a:r>
            <a:r>
              <a:rPr b="1" i="1" lang="en-US" sz="2480"/>
              <a:t>library function </a:t>
            </a:r>
            <a:r>
              <a:rPr b="1" lang="en-US" sz="2480"/>
              <a:t>(POW) </a:t>
            </a:r>
            <a:r>
              <a:rPr lang="en-US" sz="2480"/>
              <a:t>to carry out exponentiation .</a:t>
            </a:r>
            <a:endParaRPr/>
          </a:p>
          <a:p>
            <a:pPr indent="-342900" lvl="0" marL="342900" rtl="0" algn="just">
              <a:lnSpc>
                <a:spcPct val="80000"/>
              </a:lnSpc>
              <a:spcBef>
                <a:spcPts val="496"/>
              </a:spcBef>
              <a:spcAft>
                <a:spcPts val="0"/>
              </a:spcAft>
              <a:buClr>
                <a:schemeClr val="dk1"/>
              </a:buClr>
              <a:buSzPts val="2480"/>
              <a:buChar char="•"/>
            </a:pPr>
            <a:r>
              <a:rPr b="1" lang="en-US" sz="2480"/>
              <a:t>The direction of truncation for </a:t>
            </a:r>
            <a:r>
              <a:rPr b="1" i="1" lang="en-US" sz="2480"/>
              <a:t>I </a:t>
            </a:r>
            <a:r>
              <a:rPr b="1" lang="en-US" sz="2480"/>
              <a:t>and the sign of the result for % are machine-dependent for negative operands.</a:t>
            </a:r>
            <a:endParaRPr/>
          </a:p>
          <a:p>
            <a:pPr indent="-342900" lvl="0" marL="342900" rtl="0" algn="just">
              <a:lnSpc>
                <a:spcPct val="80000"/>
              </a:lnSpc>
              <a:spcBef>
                <a:spcPts val="496"/>
              </a:spcBef>
              <a:spcAft>
                <a:spcPts val="0"/>
              </a:spcAft>
              <a:buClr>
                <a:schemeClr val="dk1"/>
              </a:buClr>
              <a:buSzPts val="2480"/>
              <a:buChar char="•"/>
            </a:pPr>
            <a:r>
              <a:rPr lang="en-US" sz="2480"/>
              <a:t>The interpretation of the remainder operation is unclear when one of the operands is negative. Most versions of C assign the sign of the first operand to the remainder.</a:t>
            </a:r>
            <a:endParaRPr/>
          </a:p>
          <a:p>
            <a:pPr indent="-342900" lvl="0" marL="342900" rtl="0" algn="just">
              <a:lnSpc>
                <a:spcPct val="80000"/>
              </a:lnSpc>
              <a:spcBef>
                <a:spcPts val="496"/>
              </a:spcBef>
              <a:spcAft>
                <a:spcPts val="0"/>
              </a:spcAft>
              <a:buClr>
                <a:schemeClr val="dk1"/>
              </a:buClr>
              <a:buSzPts val="2480"/>
              <a:buChar char="•"/>
            </a:pPr>
            <a:r>
              <a:rPr lang="en-US" sz="2480"/>
              <a:t>If one or both operands represent negative values, then the addition, subtraction, multiplication and division operations will result in values whose signs are determined by the usual rules of algebra.</a:t>
            </a:r>
            <a:endParaRPr b="1" sz="2480"/>
          </a:p>
        </p:txBody>
      </p:sp>
      <p:sp>
        <p:nvSpPr>
          <p:cNvPr id="571" name="Google Shape;571;p6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5"/>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Arithmetic Operators</a:t>
            </a:r>
            <a:endParaRPr/>
          </a:p>
        </p:txBody>
      </p:sp>
      <p:sp>
        <p:nvSpPr>
          <p:cNvPr id="578" name="Google Shape;578;p65"/>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suppose that c1 and c2 are character-type variables that represent the characters P and T, respectively.</a:t>
            </a:r>
            <a:endParaRPr/>
          </a:p>
          <a:p>
            <a:pPr indent="-342900" lvl="0" marL="342900" rtl="0" algn="l">
              <a:spcBef>
                <a:spcPts val="640"/>
              </a:spcBef>
              <a:spcAft>
                <a:spcPts val="0"/>
              </a:spcAft>
              <a:buClr>
                <a:schemeClr val="dk1"/>
              </a:buClr>
              <a:buSzPts val="3200"/>
              <a:buChar char="•"/>
            </a:pPr>
            <a:r>
              <a:rPr lang="en-US"/>
              <a:t>Few arithmetic expressions that make use of these variables are shown below, together with their resulting values (based upon the ASCII character set).</a:t>
            </a:r>
            <a:endParaRPr/>
          </a:p>
          <a:p>
            <a:pPr indent="-342900" lvl="0" marL="342900" rtl="0" algn="l">
              <a:spcBef>
                <a:spcPts val="640"/>
              </a:spcBef>
              <a:spcAft>
                <a:spcPts val="0"/>
              </a:spcAft>
              <a:buClr>
                <a:schemeClr val="dk1"/>
              </a:buClr>
              <a:buSzPts val="3200"/>
              <a:buChar char="•"/>
            </a:pPr>
            <a:r>
              <a:rPr lang="en-US"/>
              <a:t>c1 + c2 				164</a:t>
            </a:r>
            <a:endParaRPr/>
          </a:p>
          <a:p>
            <a:pPr indent="-342900" lvl="0" marL="342900" rtl="0" algn="l">
              <a:spcBef>
                <a:spcPts val="640"/>
              </a:spcBef>
              <a:spcAft>
                <a:spcPts val="0"/>
              </a:spcAft>
              <a:buClr>
                <a:schemeClr val="dk1"/>
              </a:buClr>
              <a:buSzPts val="3200"/>
              <a:buChar char="•"/>
            </a:pPr>
            <a:r>
              <a:rPr lang="en-US"/>
              <a:t>c1 + c2 + 5 			169</a:t>
            </a:r>
            <a:endParaRPr/>
          </a:p>
          <a:p>
            <a:pPr indent="-342900" lvl="0" marL="342900" rtl="0" algn="l">
              <a:spcBef>
                <a:spcPts val="640"/>
              </a:spcBef>
              <a:spcAft>
                <a:spcPts val="0"/>
              </a:spcAft>
              <a:buClr>
                <a:schemeClr val="dk1"/>
              </a:buClr>
              <a:buSzPts val="3200"/>
              <a:buChar char="•"/>
            </a:pPr>
            <a:r>
              <a:rPr lang="en-US"/>
              <a:t>Note that </a:t>
            </a:r>
            <a:r>
              <a:rPr b="1" lang="en-US"/>
              <a:t>P </a:t>
            </a:r>
            <a:r>
              <a:rPr lang="en-US"/>
              <a:t>is encoded as (decimal) </a:t>
            </a:r>
            <a:r>
              <a:rPr b="1" lang="en-US"/>
              <a:t>80, T </a:t>
            </a:r>
            <a:r>
              <a:rPr lang="en-US"/>
              <a:t>is encoded as </a:t>
            </a:r>
            <a:r>
              <a:rPr b="1" lang="en-US"/>
              <a:t>84, </a:t>
            </a:r>
            <a:r>
              <a:rPr lang="en-US"/>
              <a:t>in the ASCII character set, as shown in Table</a:t>
            </a:r>
            <a:r>
              <a:rPr b="1" lang="en-US"/>
              <a:t>.</a:t>
            </a:r>
            <a:endParaRPr/>
          </a:p>
        </p:txBody>
      </p:sp>
      <p:sp>
        <p:nvSpPr>
          <p:cNvPr id="579" name="Google Shape;579;p6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6"/>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Increment and Decrement Operators</a:t>
            </a:r>
            <a:endParaRPr/>
          </a:p>
        </p:txBody>
      </p:sp>
      <p:sp>
        <p:nvSpPr>
          <p:cNvPr id="586" name="Google Shape;586;p66"/>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The increment operator ++ adds 1 to its operand, while the decrement operator -- subtracts 1 i.e. ++x &amp; x++ means x=x+1 or --x &amp; x-- means x=x-1. </a:t>
            </a:r>
            <a:endParaRPr/>
          </a:p>
          <a:p>
            <a:pPr indent="-342900" lvl="0" marL="342900" rtl="0" algn="just">
              <a:spcBef>
                <a:spcPts val="560"/>
              </a:spcBef>
              <a:spcAft>
                <a:spcPts val="0"/>
              </a:spcAft>
              <a:buClr>
                <a:schemeClr val="dk1"/>
              </a:buClr>
              <a:buSzPts val="2800"/>
              <a:buChar char="•"/>
            </a:pPr>
            <a:r>
              <a:rPr lang="en-US" sz="2800"/>
              <a:t>But there is a slight difference between ++ or -- written before or after the operand. </a:t>
            </a:r>
            <a:endParaRPr/>
          </a:p>
          <a:p>
            <a:pPr indent="-342900" lvl="0" marL="342900" rtl="0" algn="just">
              <a:spcBef>
                <a:spcPts val="560"/>
              </a:spcBef>
              <a:spcAft>
                <a:spcPts val="0"/>
              </a:spcAft>
              <a:buClr>
                <a:schemeClr val="dk1"/>
              </a:buClr>
              <a:buSzPts val="2800"/>
              <a:buChar char="•"/>
            </a:pPr>
            <a:r>
              <a:rPr lang="en-US" sz="2800"/>
              <a:t>(Pre)If the operator</a:t>
            </a:r>
            <a:r>
              <a:rPr b="1" lang="en-US" sz="2800"/>
              <a:t> precedes </a:t>
            </a:r>
            <a:r>
              <a:rPr lang="en-US" sz="2800"/>
              <a:t>the operand (e.g., ++i), then the operand will be altered in value </a:t>
            </a:r>
            <a:r>
              <a:rPr b="1" lang="en-US" sz="2800"/>
              <a:t>before</a:t>
            </a:r>
            <a:r>
              <a:rPr lang="en-US" sz="2800"/>
              <a:t> it is utilized for its intended purpose.</a:t>
            </a:r>
            <a:endParaRPr/>
          </a:p>
          <a:p>
            <a:pPr indent="-342900" lvl="0" marL="342900" rtl="0" algn="just">
              <a:spcBef>
                <a:spcPts val="560"/>
              </a:spcBef>
              <a:spcAft>
                <a:spcPts val="0"/>
              </a:spcAft>
              <a:buClr>
                <a:schemeClr val="dk1"/>
              </a:buClr>
              <a:buSzPts val="2800"/>
              <a:buChar char="•"/>
            </a:pPr>
            <a:r>
              <a:rPr lang="en-US" sz="2800"/>
              <a:t>(Post)If, however, the operator </a:t>
            </a:r>
            <a:r>
              <a:rPr b="1" lang="en-US" sz="2800"/>
              <a:t>follows</a:t>
            </a:r>
            <a:r>
              <a:rPr lang="en-US" sz="2800"/>
              <a:t> the operand (e.g., i++), then the value of the operand will be altered </a:t>
            </a:r>
            <a:r>
              <a:rPr b="1" lang="en-US" sz="2800"/>
              <a:t>after </a:t>
            </a:r>
            <a:r>
              <a:rPr lang="en-US" sz="2800"/>
              <a:t>it is utilized.</a:t>
            </a:r>
            <a:endParaRPr/>
          </a:p>
          <a:p>
            <a:pPr indent="-165100" lvl="0" marL="342900" rtl="0" algn="just">
              <a:spcBef>
                <a:spcPts val="560"/>
              </a:spcBef>
              <a:spcAft>
                <a:spcPts val="0"/>
              </a:spcAft>
              <a:buClr>
                <a:schemeClr val="dk1"/>
              </a:buClr>
              <a:buSzPts val="2800"/>
              <a:buNone/>
            </a:pPr>
            <a:r>
              <a:t/>
            </a:r>
            <a:endParaRPr sz="2800"/>
          </a:p>
          <a:p>
            <a:pPr indent="-165100" lvl="0" marL="342900" rtl="0" algn="just">
              <a:spcBef>
                <a:spcPts val="560"/>
              </a:spcBef>
              <a:spcAft>
                <a:spcPts val="0"/>
              </a:spcAft>
              <a:buClr>
                <a:schemeClr val="dk1"/>
              </a:buClr>
              <a:buSzPts val="2800"/>
              <a:buNone/>
            </a:pPr>
            <a:r>
              <a:t/>
            </a:r>
            <a:endParaRPr sz="2800"/>
          </a:p>
        </p:txBody>
      </p:sp>
      <p:sp>
        <p:nvSpPr>
          <p:cNvPr id="587" name="Google Shape;587;p6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588" name="Google Shape;588;p66"/>
          <p:cNvGraphicFramePr/>
          <p:nvPr/>
        </p:nvGraphicFramePr>
        <p:xfrm>
          <a:off x="8798637" y="5092263"/>
          <a:ext cx="3000000" cy="3000000"/>
        </p:xfrm>
        <a:graphic>
          <a:graphicData uri="http://schemas.openxmlformats.org/drawingml/2006/table">
            <a:tbl>
              <a:tblPr>
                <a:noFill/>
                <a:tableStyleId>{77D9BF88-F2FA-47AB-A2AE-C283F5D904F1}</a:tableStyleId>
              </a:tblPr>
              <a:tblGrid>
                <a:gridCol w="1228225"/>
                <a:gridCol w="1545025"/>
              </a:tblGrid>
              <a:tr h="649650">
                <a:tc>
                  <a:txBody>
                    <a:bodyPr/>
                    <a:lstStyle/>
                    <a:p>
                      <a:pPr indent="0" lvl="0" marL="0" marR="0" rtl="0" algn="l">
                        <a:spcBef>
                          <a:spcPts val="0"/>
                        </a:spcBef>
                        <a:spcAft>
                          <a:spcPts val="0"/>
                        </a:spcAft>
                        <a:buNone/>
                      </a:pPr>
                      <a:r>
                        <a:rPr b="1" lang="en-US" sz="1800" u="none" cap="none" strike="noStrike"/>
                        <a:t>Operator</a:t>
                      </a:r>
                      <a:endParaRPr b="1" sz="1800" u="none" cap="none" strike="noStrike">
                        <a:solidFill>
                          <a:srgbClr val="FFFFFF"/>
                        </a:solidFill>
                      </a:endParaRPr>
                    </a:p>
                  </a:txBody>
                  <a:tcPr marT="76200" marB="76200" marR="76200" marL="76200"/>
                </a:tc>
                <a:tc>
                  <a:txBody>
                    <a:bodyPr/>
                    <a:lstStyle/>
                    <a:p>
                      <a:pPr indent="0" lvl="0" marL="0" marR="0" rtl="0" algn="l">
                        <a:spcBef>
                          <a:spcPts val="0"/>
                        </a:spcBef>
                        <a:spcAft>
                          <a:spcPts val="0"/>
                        </a:spcAft>
                        <a:buNone/>
                      </a:pPr>
                      <a:r>
                        <a:rPr b="1" lang="en-US" sz="1800" u="none" cap="none" strike="noStrike"/>
                        <a:t>Description</a:t>
                      </a:r>
                      <a:endParaRPr b="1" sz="1800" u="none" cap="none" strike="noStrike">
                        <a:solidFill>
                          <a:srgbClr val="FFFFFF"/>
                        </a:solidFill>
                      </a:endParaRPr>
                    </a:p>
                  </a:txBody>
                  <a:tcPr marT="76200" marB="76200" marR="76200" marL="76200"/>
                </a:tc>
              </a:tr>
              <a:tr h="228600">
                <a:tc>
                  <a:txBody>
                    <a:bodyPr/>
                    <a:lstStyle/>
                    <a:p>
                      <a:pPr indent="0" lvl="0" marL="0" marR="0" rtl="0" algn="ctr">
                        <a:spcBef>
                          <a:spcPts val="0"/>
                        </a:spcBef>
                        <a:spcAft>
                          <a:spcPts val="0"/>
                        </a:spcAft>
                        <a:buNone/>
                      </a:pPr>
                      <a:r>
                        <a:rPr lang="en-US" sz="1800" u="none" cap="none" strike="noStrike"/>
                        <a:t>++</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Increment</a:t>
                      </a:r>
                      <a:endParaRPr sz="1800" u="none" cap="none" strike="noStrike">
                        <a:solidFill>
                          <a:srgbClr val="111111"/>
                        </a:solidFill>
                      </a:endParaRPr>
                    </a:p>
                  </a:txBody>
                  <a:tcPr marT="76200" marB="76200" marR="76200" marL="76200"/>
                </a:tc>
              </a:tr>
              <a:tr h="228600">
                <a:tc>
                  <a:txBody>
                    <a:bodyPr/>
                    <a:lstStyle/>
                    <a:p>
                      <a:pPr indent="0" lvl="0" marL="0" marR="0" rtl="0" algn="ctr">
                        <a:spcBef>
                          <a:spcPts val="0"/>
                        </a:spcBef>
                        <a:spcAft>
                          <a:spcPts val="0"/>
                        </a:spcAft>
                        <a:buNone/>
                      </a:pPr>
                      <a:r>
                        <a:rPr lang="en-US" sz="1800" u="none" cap="none" strike="noStrike"/>
                        <a:t>−−</a:t>
                      </a:r>
                      <a:endParaRPr sz="1800" u="none" cap="none" strike="noStrike">
                        <a:solidFill>
                          <a:srgbClr val="111111"/>
                        </a:solidFill>
                      </a:endParaRPr>
                    </a:p>
                  </a:txBody>
                  <a:tcPr marT="76200" marB="76200" marR="76200" marL="76200"/>
                </a:tc>
                <a:tc>
                  <a:txBody>
                    <a:bodyPr/>
                    <a:lstStyle/>
                    <a:p>
                      <a:pPr indent="0" lvl="0" marL="0" marR="0" rtl="0" algn="l">
                        <a:spcBef>
                          <a:spcPts val="0"/>
                        </a:spcBef>
                        <a:spcAft>
                          <a:spcPts val="0"/>
                        </a:spcAft>
                        <a:buNone/>
                      </a:pPr>
                      <a:r>
                        <a:rPr lang="en-US" sz="1800" u="none" cap="none" strike="noStrike"/>
                        <a:t>Decrement</a:t>
                      </a:r>
                      <a:endParaRPr sz="1800" u="none" cap="none" strike="noStrike">
                        <a:solidFill>
                          <a:srgbClr val="111111"/>
                        </a:solidFill>
                      </a:endParaRPr>
                    </a:p>
                  </a:txBody>
                  <a:tcPr marT="76200" marB="76200" marR="76200" marL="76200"/>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7"/>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Increment and Decrement Operators</a:t>
            </a:r>
            <a:endParaRPr/>
          </a:p>
        </p:txBody>
      </p:sp>
      <p:sp>
        <p:nvSpPr>
          <p:cNvPr id="595" name="Google Shape;595;p67"/>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2590"/>
              <a:buChar char="•"/>
            </a:pPr>
            <a:r>
              <a:rPr lang="en-US" sz="2590"/>
              <a:t>Applying the pre-increment first add one to the operand and then the result is assigned to the variable on left where as post-increment first assigns the value to the variable on left and then increment the operand.</a:t>
            </a:r>
            <a:endParaRPr/>
          </a:p>
          <a:p>
            <a:pPr indent="-342900" lvl="0" marL="342900" rtl="0" algn="just">
              <a:lnSpc>
                <a:spcPct val="90000"/>
              </a:lnSpc>
              <a:spcBef>
                <a:spcPts val="518"/>
              </a:spcBef>
              <a:spcAft>
                <a:spcPts val="0"/>
              </a:spcAft>
              <a:buClr>
                <a:schemeClr val="dk1"/>
              </a:buClr>
              <a:buSzPts val="2590"/>
              <a:buChar char="•"/>
            </a:pPr>
            <a:r>
              <a:rPr lang="en-US" sz="2590"/>
              <a:t>The expression ++n increments n before its value is used, while n++ increments n after its value has been used.</a:t>
            </a:r>
            <a:endParaRPr/>
          </a:p>
          <a:p>
            <a:pPr indent="-342900" lvl="0" marL="342900" rtl="0" algn="l">
              <a:lnSpc>
                <a:spcPct val="90000"/>
              </a:lnSpc>
              <a:spcBef>
                <a:spcPts val="518"/>
              </a:spcBef>
              <a:spcAft>
                <a:spcPts val="0"/>
              </a:spcAft>
              <a:buClr>
                <a:schemeClr val="dk1"/>
              </a:buClr>
              <a:buSzPts val="2590"/>
              <a:buChar char="•"/>
            </a:pPr>
            <a:r>
              <a:rPr lang="en-US" sz="2590"/>
              <a:t>If n is 5, then</a:t>
            </a:r>
            <a:endParaRPr/>
          </a:p>
          <a:p>
            <a:pPr indent="0" lvl="0" marL="346075" rtl="0" algn="l">
              <a:lnSpc>
                <a:spcPct val="90000"/>
              </a:lnSpc>
              <a:spcBef>
                <a:spcPts val="518"/>
              </a:spcBef>
              <a:spcAft>
                <a:spcPts val="0"/>
              </a:spcAft>
              <a:buClr>
                <a:schemeClr val="dk1"/>
              </a:buClr>
              <a:buSzPts val="2590"/>
              <a:buNone/>
            </a:pPr>
            <a:r>
              <a:rPr lang="en-US" sz="2590"/>
              <a:t>x = n++;</a:t>
            </a:r>
            <a:endParaRPr/>
          </a:p>
          <a:p>
            <a:pPr indent="0" lvl="0" marL="346075" rtl="0" algn="l">
              <a:lnSpc>
                <a:spcPct val="90000"/>
              </a:lnSpc>
              <a:spcBef>
                <a:spcPts val="518"/>
              </a:spcBef>
              <a:spcAft>
                <a:spcPts val="0"/>
              </a:spcAft>
              <a:buClr>
                <a:schemeClr val="dk1"/>
              </a:buClr>
              <a:buSzPts val="2590"/>
              <a:buNone/>
            </a:pPr>
            <a:r>
              <a:rPr lang="en-US" sz="2590"/>
              <a:t>sets x to 5, but</a:t>
            </a:r>
            <a:endParaRPr/>
          </a:p>
          <a:p>
            <a:pPr indent="0" lvl="0" marL="346075" rtl="0" algn="l">
              <a:lnSpc>
                <a:spcPct val="90000"/>
              </a:lnSpc>
              <a:spcBef>
                <a:spcPts val="518"/>
              </a:spcBef>
              <a:spcAft>
                <a:spcPts val="0"/>
              </a:spcAft>
              <a:buClr>
                <a:schemeClr val="dk1"/>
              </a:buClr>
              <a:buSzPts val="2590"/>
              <a:buNone/>
            </a:pPr>
            <a:r>
              <a:rPr lang="en-US" sz="2590"/>
              <a:t>x = ++n;</a:t>
            </a:r>
            <a:endParaRPr/>
          </a:p>
          <a:p>
            <a:pPr indent="0" lvl="0" marL="346075" rtl="0" algn="l">
              <a:lnSpc>
                <a:spcPct val="90000"/>
              </a:lnSpc>
              <a:spcBef>
                <a:spcPts val="518"/>
              </a:spcBef>
              <a:spcAft>
                <a:spcPts val="0"/>
              </a:spcAft>
              <a:buClr>
                <a:schemeClr val="dk1"/>
              </a:buClr>
              <a:buSzPts val="2590"/>
              <a:buNone/>
            </a:pPr>
            <a:r>
              <a:rPr lang="en-US" sz="2590"/>
              <a:t>sets x to 6. </a:t>
            </a:r>
            <a:endParaRPr/>
          </a:p>
          <a:p>
            <a:pPr indent="-342900" lvl="0" marL="342900" rtl="0" algn="l">
              <a:lnSpc>
                <a:spcPct val="90000"/>
              </a:lnSpc>
              <a:spcBef>
                <a:spcPts val="518"/>
              </a:spcBef>
              <a:spcAft>
                <a:spcPts val="0"/>
              </a:spcAft>
              <a:buClr>
                <a:schemeClr val="dk1"/>
              </a:buClr>
              <a:buSzPts val="2590"/>
              <a:buChar char="•"/>
            </a:pPr>
            <a:r>
              <a:rPr b="1" lang="en-US" sz="2590"/>
              <a:t>The increment and decrement operators can only be applied to variables; an expression like ( i + j ) + + is illegal.</a:t>
            </a:r>
            <a:endParaRPr/>
          </a:p>
        </p:txBody>
      </p:sp>
      <p:sp>
        <p:nvSpPr>
          <p:cNvPr id="596" name="Google Shape;596;p6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Increment and Decrement Operators</a:t>
            </a:r>
            <a:endParaRPr/>
          </a:p>
        </p:txBody>
      </p:sp>
      <p:sp>
        <p:nvSpPr>
          <p:cNvPr id="603" name="Google Shape;603;p68"/>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US" sz="2400"/>
              <a:t>Example of increment and decrement operator</a:t>
            </a:r>
            <a:endParaRPr/>
          </a:p>
          <a:p>
            <a:pPr indent="-342900" lvl="0" marL="342900" rtl="0" algn="l">
              <a:spcBef>
                <a:spcPts val="480"/>
              </a:spcBef>
              <a:spcAft>
                <a:spcPts val="0"/>
              </a:spcAft>
              <a:buClr>
                <a:schemeClr val="dk1"/>
              </a:buClr>
              <a:buSzPts val="2400"/>
              <a:buChar char="•"/>
            </a:pPr>
            <a:r>
              <a:rPr lang="en-US" sz="2400"/>
              <a:t>void main() </a:t>
            </a:r>
            <a:endParaRPr/>
          </a:p>
          <a:p>
            <a:pPr indent="0" lvl="0" marL="0" rtl="0" algn="l">
              <a:spcBef>
                <a:spcPts val="480"/>
              </a:spcBef>
              <a:spcAft>
                <a:spcPts val="0"/>
              </a:spcAft>
              <a:buClr>
                <a:schemeClr val="dk1"/>
              </a:buClr>
              <a:buSzPts val="2400"/>
              <a:buNone/>
            </a:pPr>
            <a:r>
              <a:rPr lang="en-US" sz="2400"/>
              <a:t>      { </a:t>
            </a:r>
            <a:endParaRPr/>
          </a:p>
          <a:p>
            <a:pPr indent="0" lvl="0" marL="0" rtl="0" algn="l">
              <a:spcBef>
                <a:spcPts val="480"/>
              </a:spcBef>
              <a:spcAft>
                <a:spcPts val="0"/>
              </a:spcAft>
              <a:buClr>
                <a:schemeClr val="dk1"/>
              </a:buClr>
              <a:buSzPts val="2400"/>
              <a:buNone/>
            </a:pPr>
            <a:r>
              <a:rPr b="1" lang="en-US" sz="2400"/>
              <a:t>	</a:t>
            </a:r>
            <a:r>
              <a:rPr lang="en-US" sz="2400"/>
              <a:t>int  x, a, b, c; </a:t>
            </a:r>
            <a:endParaRPr/>
          </a:p>
          <a:p>
            <a:pPr indent="0" lvl="0" marL="0" rtl="0" algn="l">
              <a:spcBef>
                <a:spcPts val="480"/>
              </a:spcBef>
              <a:spcAft>
                <a:spcPts val="0"/>
              </a:spcAft>
              <a:buClr>
                <a:schemeClr val="dk1"/>
              </a:buClr>
              <a:buSzPts val="2400"/>
              <a:buNone/>
            </a:pPr>
            <a:r>
              <a:rPr lang="en-US" sz="2400"/>
              <a:t>	a = 2; </a:t>
            </a:r>
            <a:endParaRPr/>
          </a:p>
          <a:p>
            <a:pPr indent="0" lvl="0" marL="0" rtl="0" algn="l">
              <a:spcBef>
                <a:spcPts val="480"/>
              </a:spcBef>
              <a:spcAft>
                <a:spcPts val="0"/>
              </a:spcAft>
              <a:buClr>
                <a:schemeClr val="dk1"/>
              </a:buClr>
              <a:buSzPts val="2400"/>
              <a:buNone/>
            </a:pPr>
            <a:r>
              <a:rPr lang="en-US" sz="2400"/>
              <a:t>	b = 4; </a:t>
            </a:r>
            <a:endParaRPr/>
          </a:p>
          <a:p>
            <a:pPr indent="0" lvl="0" marL="0" rtl="0" algn="l">
              <a:spcBef>
                <a:spcPts val="480"/>
              </a:spcBef>
              <a:spcAft>
                <a:spcPts val="0"/>
              </a:spcAft>
              <a:buClr>
                <a:schemeClr val="dk1"/>
              </a:buClr>
              <a:buSzPts val="2400"/>
              <a:buNone/>
            </a:pPr>
            <a:r>
              <a:rPr lang="en-US" sz="2400"/>
              <a:t>	c = 5; </a:t>
            </a:r>
            <a:endParaRPr/>
          </a:p>
          <a:p>
            <a:pPr indent="0" lvl="0" marL="0" rtl="0" algn="l">
              <a:spcBef>
                <a:spcPts val="480"/>
              </a:spcBef>
              <a:spcAft>
                <a:spcPts val="0"/>
              </a:spcAft>
              <a:buClr>
                <a:schemeClr val="dk1"/>
              </a:buClr>
              <a:buSzPts val="2400"/>
              <a:buNone/>
            </a:pPr>
            <a:r>
              <a:rPr lang="en-US" sz="2400"/>
              <a:t>	x = a-- + b++ - ++c; </a:t>
            </a:r>
            <a:endParaRPr/>
          </a:p>
          <a:p>
            <a:pPr indent="0" lvl="0" marL="0" rtl="0" algn="l">
              <a:spcBef>
                <a:spcPts val="480"/>
              </a:spcBef>
              <a:spcAft>
                <a:spcPts val="0"/>
              </a:spcAft>
              <a:buClr>
                <a:schemeClr val="dk1"/>
              </a:buClr>
              <a:buSzPts val="2400"/>
              <a:buNone/>
            </a:pPr>
            <a:r>
              <a:rPr lang="en-US" sz="2400"/>
              <a:t>	printf("x: %d",x); </a:t>
            </a:r>
            <a:endParaRPr/>
          </a:p>
          <a:p>
            <a:pPr indent="0" lvl="0" marL="0" rtl="0" algn="l">
              <a:spcBef>
                <a:spcPts val="480"/>
              </a:spcBef>
              <a:spcAft>
                <a:spcPts val="0"/>
              </a:spcAft>
              <a:buClr>
                <a:schemeClr val="dk1"/>
              </a:buClr>
              <a:buSzPts val="2400"/>
              <a:buNone/>
            </a:pPr>
            <a:r>
              <a:rPr lang="en-US" sz="2400"/>
              <a:t> </a:t>
            </a:r>
            <a:endParaRPr/>
          </a:p>
          <a:p>
            <a:pPr indent="0" lvl="0" marL="0" rtl="0" algn="l">
              <a:spcBef>
                <a:spcPts val="480"/>
              </a:spcBef>
              <a:spcAft>
                <a:spcPts val="0"/>
              </a:spcAft>
              <a:buClr>
                <a:schemeClr val="dk1"/>
              </a:buClr>
              <a:buSzPts val="2400"/>
              <a:buNone/>
            </a:pPr>
            <a:r>
              <a:rPr lang="en-US" sz="2400"/>
              <a:t>       }</a:t>
            </a:r>
            <a:br>
              <a:rPr lang="en-US" sz="2400"/>
            </a:br>
            <a:endParaRPr b="1" sz="2800"/>
          </a:p>
        </p:txBody>
      </p:sp>
      <p:sp>
        <p:nvSpPr>
          <p:cNvPr id="604" name="Google Shape;604;p6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increment and decrement operator" id="605" name="Google Shape;605;p68"/>
          <p:cNvPicPr preferRelativeResize="0"/>
          <p:nvPr/>
        </p:nvPicPr>
        <p:blipFill rotWithShape="1">
          <a:blip r:embed="rId3">
            <a:alphaModFix/>
          </a:blip>
          <a:srcRect b="0" l="0" r="0" t="0"/>
          <a:stretch/>
        </p:blipFill>
        <p:spPr>
          <a:xfrm>
            <a:off x="7596899" y="3090041"/>
            <a:ext cx="4243004" cy="359453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9"/>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Increment and Decrement Operators</a:t>
            </a:r>
            <a:endParaRPr/>
          </a:p>
        </p:txBody>
      </p:sp>
      <p:sp>
        <p:nvSpPr>
          <p:cNvPr id="612" name="Google Shape;612;p69"/>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C program includes an integer variable i whose initial value is 1. Suppose the program includes the following three printf statements.</a:t>
            </a:r>
            <a:endParaRPr/>
          </a:p>
          <a:p>
            <a:pPr indent="-342900" lvl="0" marL="342900" rtl="0" algn="l">
              <a:spcBef>
                <a:spcPts val="560"/>
              </a:spcBef>
              <a:spcAft>
                <a:spcPts val="0"/>
              </a:spcAft>
              <a:buClr>
                <a:schemeClr val="dk1"/>
              </a:buClr>
              <a:buSzPts val="2800"/>
              <a:buChar char="•"/>
            </a:pPr>
            <a:r>
              <a:rPr b="1" lang="en-US" sz="2800"/>
              <a:t>printf ("i </a:t>
            </a:r>
            <a:r>
              <a:rPr lang="en-US" sz="2800"/>
              <a:t>= </a:t>
            </a:r>
            <a:r>
              <a:rPr b="1" lang="en-US" sz="2800"/>
              <a:t>%d\n" , i);</a:t>
            </a:r>
            <a:endParaRPr/>
          </a:p>
          <a:p>
            <a:pPr indent="-342900" lvl="0" marL="342900" rtl="0" algn="l">
              <a:spcBef>
                <a:spcPts val="560"/>
              </a:spcBef>
              <a:spcAft>
                <a:spcPts val="0"/>
              </a:spcAft>
              <a:buClr>
                <a:schemeClr val="dk1"/>
              </a:buClr>
              <a:buSzPts val="2800"/>
              <a:buChar char="•"/>
            </a:pPr>
            <a:r>
              <a:rPr b="1" lang="en-US" sz="2800"/>
              <a:t>printf("i </a:t>
            </a:r>
            <a:r>
              <a:rPr lang="en-US" sz="2800"/>
              <a:t>= </a:t>
            </a:r>
            <a:r>
              <a:rPr b="1" lang="en-US" sz="2800"/>
              <a:t>%d\n", i++);</a:t>
            </a:r>
            <a:endParaRPr/>
          </a:p>
          <a:p>
            <a:pPr indent="-342900" lvl="0" marL="342900" rtl="0" algn="l">
              <a:spcBef>
                <a:spcPts val="560"/>
              </a:spcBef>
              <a:spcAft>
                <a:spcPts val="0"/>
              </a:spcAft>
              <a:buClr>
                <a:schemeClr val="dk1"/>
              </a:buClr>
              <a:buSzPts val="2800"/>
              <a:buChar char="•"/>
            </a:pPr>
            <a:r>
              <a:rPr b="1" lang="en-US" sz="2800"/>
              <a:t>printf("i </a:t>
            </a:r>
            <a:r>
              <a:rPr lang="en-US" sz="2800"/>
              <a:t>= </a:t>
            </a:r>
            <a:r>
              <a:rPr b="1" lang="en-US" sz="2800"/>
              <a:t>%d\n", i);</a:t>
            </a:r>
            <a:endParaRPr/>
          </a:p>
          <a:p>
            <a:pPr indent="-165100" lvl="0" marL="342900" rtl="0" algn="l">
              <a:spcBef>
                <a:spcPts val="560"/>
              </a:spcBef>
              <a:spcAft>
                <a:spcPts val="0"/>
              </a:spcAft>
              <a:buClr>
                <a:schemeClr val="dk1"/>
              </a:buClr>
              <a:buSzPts val="2800"/>
              <a:buNone/>
            </a:pPr>
            <a:r>
              <a:t/>
            </a:r>
            <a:endParaRPr b="1" sz="2800"/>
          </a:p>
          <a:p>
            <a:pPr indent="-342900" lvl="0" marL="342900" rtl="0" algn="l">
              <a:spcBef>
                <a:spcPts val="560"/>
              </a:spcBef>
              <a:spcAft>
                <a:spcPts val="0"/>
              </a:spcAft>
              <a:buClr>
                <a:schemeClr val="dk1"/>
              </a:buClr>
              <a:buSzPts val="2800"/>
              <a:buChar char="•"/>
            </a:pPr>
            <a:r>
              <a:rPr lang="en-US" sz="2800"/>
              <a:t>These statements will generate the following three lines of output.</a:t>
            </a:r>
            <a:endParaRPr/>
          </a:p>
          <a:p>
            <a:pPr indent="0" lvl="0" marL="393700" rtl="0" algn="l">
              <a:spcBef>
                <a:spcPts val="560"/>
              </a:spcBef>
              <a:spcAft>
                <a:spcPts val="0"/>
              </a:spcAft>
              <a:buClr>
                <a:schemeClr val="dk1"/>
              </a:buClr>
              <a:buSzPts val="2800"/>
              <a:buNone/>
            </a:pPr>
            <a:r>
              <a:rPr b="1" lang="en-US" sz="2800"/>
              <a:t>i = 1</a:t>
            </a:r>
            <a:endParaRPr/>
          </a:p>
          <a:p>
            <a:pPr indent="0" lvl="0" marL="393700" rtl="0" algn="l">
              <a:spcBef>
                <a:spcPts val="560"/>
              </a:spcBef>
              <a:spcAft>
                <a:spcPts val="0"/>
              </a:spcAft>
              <a:buClr>
                <a:schemeClr val="dk1"/>
              </a:buClr>
              <a:buSzPts val="2800"/>
              <a:buNone/>
            </a:pPr>
            <a:r>
              <a:rPr b="1" lang="en-US" sz="2800"/>
              <a:t>i = 1</a:t>
            </a:r>
            <a:endParaRPr/>
          </a:p>
          <a:p>
            <a:pPr indent="0" lvl="0" marL="393700" rtl="0" algn="l">
              <a:spcBef>
                <a:spcPts val="560"/>
              </a:spcBef>
              <a:spcAft>
                <a:spcPts val="0"/>
              </a:spcAft>
              <a:buClr>
                <a:schemeClr val="dk1"/>
              </a:buClr>
              <a:buSzPts val="2800"/>
              <a:buNone/>
            </a:pPr>
            <a:r>
              <a:rPr b="1" lang="en-US" sz="2800"/>
              <a:t>i = 2</a:t>
            </a:r>
            <a:endParaRPr/>
          </a:p>
        </p:txBody>
      </p:sp>
      <p:sp>
        <p:nvSpPr>
          <p:cNvPr id="613" name="Google Shape;613;p6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0"/>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Relational Operators</a:t>
            </a:r>
            <a:endParaRPr/>
          </a:p>
        </p:txBody>
      </p:sp>
      <p:sp>
        <p:nvSpPr>
          <p:cNvPr id="620" name="Google Shape;620;p70"/>
          <p:cNvSpPr txBox="1"/>
          <p:nvPr>
            <p:ph idx="1" type="body"/>
          </p:nvPr>
        </p:nvSpPr>
        <p:spPr>
          <a:xfrm>
            <a:off x="204953" y="945931"/>
            <a:ext cx="11729544" cy="5691353"/>
          </a:xfrm>
          <a:prstGeom prst="rect">
            <a:avLst/>
          </a:prstGeom>
          <a:noFill/>
          <a:ln>
            <a:noFill/>
          </a:ln>
        </p:spPr>
        <p:txBody>
          <a:bodyPr anchorCtr="0" anchor="t" bIns="45700" lIns="91425" spcFirstLastPara="1" rIns="91425" wrap="square" tIns="45700">
            <a:normAutofit/>
          </a:bodyPr>
          <a:lstStyle/>
          <a:p>
            <a:pPr indent="-190500" lvl="0" marL="342900" rtl="0" algn="just">
              <a:spcBef>
                <a:spcPts val="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Relational operators are used to compare two quantities or values. </a:t>
            </a:r>
            <a:endParaRPr/>
          </a:p>
          <a:p>
            <a:pPr indent="-342900" lvl="0" marL="342900" rtl="0" algn="just">
              <a:spcBef>
                <a:spcPts val="480"/>
              </a:spcBef>
              <a:spcAft>
                <a:spcPts val="0"/>
              </a:spcAft>
              <a:buClr>
                <a:schemeClr val="dk1"/>
              </a:buClr>
              <a:buSzPts val="2400"/>
              <a:buChar char="•"/>
            </a:pPr>
            <a:r>
              <a:rPr lang="en-US" sz="2400"/>
              <a:t>Relational operators in C are given in table on next slide: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These six operators are used to form logical expressions, which represent conditions that are either true or false. </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 resulting expressions will be of type integer, since </a:t>
            </a:r>
            <a:r>
              <a:rPr b="1" i="1" lang="en-US" sz="2400"/>
              <a:t>true</a:t>
            </a:r>
            <a:r>
              <a:rPr i="1" lang="en-US" sz="2400"/>
              <a:t> </a:t>
            </a:r>
            <a:r>
              <a:rPr lang="en-US" sz="2400"/>
              <a:t>is represented by the integer value </a:t>
            </a:r>
            <a:r>
              <a:rPr b="1" lang="en-US" sz="2400"/>
              <a:t>1</a:t>
            </a:r>
            <a:r>
              <a:rPr lang="en-US" sz="2400"/>
              <a:t> and </a:t>
            </a:r>
            <a:r>
              <a:rPr b="1" i="1" lang="en-US" sz="2400"/>
              <a:t>false</a:t>
            </a:r>
            <a:r>
              <a:rPr i="1" lang="en-US" sz="2400"/>
              <a:t> </a:t>
            </a:r>
            <a:r>
              <a:rPr lang="en-US" sz="2400"/>
              <a:t>is represented by the value</a:t>
            </a:r>
            <a:r>
              <a:rPr b="1" lang="en-US" sz="2400"/>
              <a:t> </a:t>
            </a:r>
            <a:r>
              <a:rPr b="1" i="1" lang="en-US" sz="2400"/>
              <a:t>0</a:t>
            </a:r>
            <a:r>
              <a:rPr i="1" lang="en-US" sz="2400"/>
              <a:t>.</a:t>
            </a:r>
            <a:endParaRPr/>
          </a:p>
          <a:p>
            <a:pPr indent="-190500" lvl="0" marL="342900" rtl="0" algn="just">
              <a:spcBef>
                <a:spcPts val="480"/>
              </a:spcBef>
              <a:spcAft>
                <a:spcPts val="0"/>
              </a:spcAft>
              <a:buClr>
                <a:schemeClr val="dk1"/>
              </a:buClr>
              <a:buSzPts val="2400"/>
              <a:buNone/>
            </a:pPr>
            <a:r>
              <a:t/>
            </a:r>
            <a:endParaRPr i="1" sz="2400"/>
          </a:p>
          <a:p>
            <a:pPr indent="-165100" lvl="0" marL="342900" rtl="0" algn="just">
              <a:spcBef>
                <a:spcPts val="560"/>
              </a:spcBef>
              <a:spcAft>
                <a:spcPts val="0"/>
              </a:spcAft>
              <a:buClr>
                <a:schemeClr val="dk1"/>
              </a:buClr>
              <a:buSzPts val="2800"/>
              <a:buNone/>
            </a:pPr>
            <a:r>
              <a:t/>
            </a:r>
            <a:endParaRPr sz="2800"/>
          </a:p>
        </p:txBody>
      </p:sp>
      <p:sp>
        <p:nvSpPr>
          <p:cNvPr id="621" name="Google Shape;621;p7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2" name="Google Shape;622;p70"/>
          <p:cNvSpPr/>
          <p:nvPr/>
        </p:nvSpPr>
        <p:spPr>
          <a:xfrm>
            <a:off x="3186113" y="2232025"/>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Relational Operators</a:t>
            </a:r>
            <a:endParaRPr/>
          </a:p>
        </p:txBody>
      </p:sp>
      <p:sp>
        <p:nvSpPr>
          <p:cNvPr id="629" name="Google Shape;629;p71"/>
          <p:cNvSpPr txBox="1"/>
          <p:nvPr>
            <p:ph idx="1" type="body"/>
          </p:nvPr>
        </p:nvSpPr>
        <p:spPr>
          <a:xfrm>
            <a:off x="204953" y="945931"/>
            <a:ext cx="11729544" cy="569135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Assume variable</a:t>
            </a:r>
            <a:endParaRPr/>
          </a:p>
          <a:p>
            <a:pPr indent="0" lvl="0" marL="0" rtl="0" algn="just">
              <a:spcBef>
                <a:spcPts val="480"/>
              </a:spcBef>
              <a:spcAft>
                <a:spcPts val="0"/>
              </a:spcAft>
              <a:buClr>
                <a:schemeClr val="dk1"/>
              </a:buClr>
              <a:buSzPts val="2400"/>
              <a:buNone/>
            </a:pPr>
            <a:r>
              <a:rPr lang="en-US" sz="2400"/>
              <a:t> </a:t>
            </a:r>
            <a:r>
              <a:rPr b="1" lang="en-US" sz="2400"/>
              <a:t>A</a:t>
            </a:r>
            <a:r>
              <a:rPr lang="en-US" sz="2400"/>
              <a:t> holds 10 and </a:t>
            </a:r>
            <a:endParaRPr/>
          </a:p>
          <a:p>
            <a:pPr indent="0" lvl="0" marL="0" rtl="0" algn="just">
              <a:spcBef>
                <a:spcPts val="480"/>
              </a:spcBef>
              <a:spcAft>
                <a:spcPts val="0"/>
              </a:spcAft>
              <a:buClr>
                <a:schemeClr val="dk1"/>
              </a:buClr>
              <a:buSzPts val="2400"/>
              <a:buNone/>
            </a:pPr>
            <a:r>
              <a:rPr lang="en-US" sz="2400"/>
              <a:t>variable </a:t>
            </a:r>
            <a:r>
              <a:rPr b="1" lang="en-US" sz="2400"/>
              <a:t>B</a:t>
            </a:r>
            <a:r>
              <a:rPr lang="en-US" sz="2400"/>
              <a:t> holds</a:t>
            </a:r>
            <a:endParaRPr/>
          </a:p>
          <a:p>
            <a:pPr indent="0" lvl="0" marL="0" rtl="0" algn="just">
              <a:spcBef>
                <a:spcPts val="480"/>
              </a:spcBef>
              <a:spcAft>
                <a:spcPts val="0"/>
              </a:spcAft>
              <a:buClr>
                <a:schemeClr val="dk1"/>
              </a:buClr>
              <a:buSzPts val="2400"/>
              <a:buNone/>
            </a:pPr>
            <a:r>
              <a:rPr lang="en-US" sz="2400"/>
              <a:t> 20 then: </a:t>
            </a:r>
            <a:endParaRPr/>
          </a:p>
          <a:p>
            <a:pPr indent="0" lvl="0" marL="0" rtl="0" algn="just">
              <a:spcBef>
                <a:spcPts val="480"/>
              </a:spcBef>
              <a:spcAft>
                <a:spcPts val="0"/>
              </a:spcAft>
              <a:buClr>
                <a:schemeClr val="dk1"/>
              </a:buClr>
              <a:buSzPts val="2400"/>
              <a:buNone/>
            </a:pPr>
            <a:r>
              <a:rPr lang="en-US" sz="2400"/>
              <a:t>int A=10;</a:t>
            </a:r>
            <a:endParaRPr/>
          </a:p>
          <a:p>
            <a:pPr indent="0" lvl="0" marL="0" rtl="0" algn="just">
              <a:spcBef>
                <a:spcPts val="480"/>
              </a:spcBef>
              <a:spcAft>
                <a:spcPts val="0"/>
              </a:spcAft>
              <a:buClr>
                <a:schemeClr val="dk1"/>
              </a:buClr>
              <a:buSzPts val="2400"/>
              <a:buNone/>
            </a:pPr>
            <a:r>
              <a:rPr lang="en-US" sz="2400"/>
              <a:t>int B=20;</a:t>
            </a:r>
            <a:endParaRPr/>
          </a:p>
          <a:p>
            <a:pPr indent="0" lvl="0" marL="0" rtl="0" algn="just">
              <a:spcBef>
                <a:spcPts val="480"/>
              </a:spcBef>
              <a:spcAft>
                <a:spcPts val="0"/>
              </a:spcAft>
              <a:buClr>
                <a:schemeClr val="dk1"/>
              </a:buClr>
              <a:buSzPts val="2400"/>
              <a:buNone/>
            </a:pPr>
            <a:r>
              <a:rPr lang="en-US" sz="2400"/>
              <a:t>int x;</a:t>
            </a:r>
            <a:endParaRPr/>
          </a:p>
          <a:p>
            <a:pPr indent="0" lvl="0" marL="0" rtl="0" algn="just">
              <a:spcBef>
                <a:spcPts val="480"/>
              </a:spcBef>
              <a:spcAft>
                <a:spcPts val="0"/>
              </a:spcAft>
              <a:buClr>
                <a:schemeClr val="dk1"/>
              </a:buClr>
              <a:buSzPts val="2400"/>
              <a:buNone/>
            </a:pPr>
            <a:r>
              <a:rPr lang="en-US" sz="2400"/>
              <a:t>x= (A==B);</a:t>
            </a:r>
            <a:endParaRPr/>
          </a:p>
          <a:p>
            <a:pPr indent="0" lvl="0" marL="0" rtl="0" algn="just">
              <a:spcBef>
                <a:spcPts val="480"/>
              </a:spcBef>
              <a:spcAft>
                <a:spcPts val="0"/>
              </a:spcAft>
              <a:buClr>
                <a:schemeClr val="dk1"/>
              </a:buClr>
              <a:buSzPts val="2400"/>
              <a:buNone/>
            </a:pPr>
            <a:r>
              <a:t/>
            </a:r>
            <a:endParaRPr sz="2400"/>
          </a:p>
          <a:p>
            <a:pPr indent="0" lvl="0" marL="0" rtl="0" algn="just">
              <a:spcBef>
                <a:spcPts val="480"/>
              </a:spcBef>
              <a:spcAft>
                <a:spcPts val="0"/>
              </a:spcAft>
              <a:buClr>
                <a:schemeClr val="dk1"/>
              </a:buClr>
              <a:buSzPts val="2400"/>
              <a:buNone/>
            </a:pPr>
            <a:r>
              <a:t/>
            </a:r>
            <a:endParaRPr sz="2400"/>
          </a:p>
          <a:p>
            <a:pPr indent="-165100" lvl="0" marL="342900" rtl="0" algn="just">
              <a:spcBef>
                <a:spcPts val="560"/>
              </a:spcBef>
              <a:spcAft>
                <a:spcPts val="0"/>
              </a:spcAft>
              <a:buClr>
                <a:schemeClr val="dk1"/>
              </a:buClr>
              <a:buSzPts val="2800"/>
              <a:buNone/>
            </a:pPr>
            <a:r>
              <a:t/>
            </a:r>
            <a:endParaRPr sz="2800"/>
          </a:p>
        </p:txBody>
      </p:sp>
      <p:sp>
        <p:nvSpPr>
          <p:cNvPr id="630" name="Google Shape;630;p7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31" name="Google Shape;631;p71"/>
          <p:cNvSpPr/>
          <p:nvPr/>
        </p:nvSpPr>
        <p:spPr>
          <a:xfrm>
            <a:off x="3186113" y="2232025"/>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graphicFrame>
        <p:nvGraphicFramePr>
          <p:cNvPr id="632" name="Google Shape;632;p71"/>
          <p:cNvGraphicFramePr/>
          <p:nvPr/>
        </p:nvGraphicFramePr>
        <p:xfrm>
          <a:off x="3042745" y="1253351"/>
          <a:ext cx="3000000" cy="3000000"/>
        </p:xfrm>
        <a:graphic>
          <a:graphicData uri="http://schemas.openxmlformats.org/drawingml/2006/table">
            <a:tbl>
              <a:tblPr>
                <a:noFill/>
                <a:tableStyleId>{77D9BF88-F2FA-47AB-A2AE-C283F5D904F1}</a:tableStyleId>
              </a:tblPr>
              <a:tblGrid>
                <a:gridCol w="1009000"/>
                <a:gridCol w="5990900"/>
                <a:gridCol w="1907625"/>
              </a:tblGrid>
              <a:tr h="351675">
                <a:tc>
                  <a:txBody>
                    <a:bodyPr/>
                    <a:lstStyle/>
                    <a:p>
                      <a:pPr indent="0" lvl="0" marL="0" marR="0" rtl="0" algn="l">
                        <a:spcBef>
                          <a:spcPts val="0"/>
                        </a:spcBef>
                        <a:spcAft>
                          <a:spcPts val="0"/>
                        </a:spcAft>
                        <a:buNone/>
                      </a:pPr>
                      <a:r>
                        <a:rPr b="1" lang="en-US" sz="1800" u="none" cap="none" strike="noStrike"/>
                        <a:t>Operator</a:t>
                      </a:r>
                      <a:endParaRPr/>
                    </a:p>
                  </a:txBody>
                  <a:tcPr marT="38225" marB="38225" marR="38225" marL="38225"/>
                </a:tc>
                <a:tc>
                  <a:txBody>
                    <a:bodyPr/>
                    <a:lstStyle/>
                    <a:p>
                      <a:pPr indent="0" lvl="0" marL="0" marR="0" rtl="0" algn="l">
                        <a:spcBef>
                          <a:spcPts val="0"/>
                        </a:spcBef>
                        <a:spcAft>
                          <a:spcPts val="0"/>
                        </a:spcAft>
                        <a:buNone/>
                      </a:pPr>
                      <a:r>
                        <a:rPr b="1" lang="en-US" sz="1800" u="none" cap="none" strike="noStrike"/>
                        <a:t>Description</a:t>
                      </a:r>
                      <a:endParaRPr/>
                    </a:p>
                  </a:txBody>
                  <a:tcPr marT="38225" marB="38225" marR="38225" marL="38225"/>
                </a:tc>
                <a:tc>
                  <a:txBody>
                    <a:bodyPr/>
                    <a:lstStyle/>
                    <a:p>
                      <a:pPr indent="0" lvl="0" marL="0" marR="0" rtl="0" algn="l">
                        <a:spcBef>
                          <a:spcPts val="0"/>
                        </a:spcBef>
                        <a:spcAft>
                          <a:spcPts val="0"/>
                        </a:spcAft>
                        <a:buNone/>
                      </a:pPr>
                      <a:r>
                        <a:rPr b="1" lang="en-US" sz="1800" u="none" cap="none" strike="noStrike"/>
                        <a:t>Example</a:t>
                      </a:r>
                      <a:endParaRPr/>
                    </a:p>
                  </a:txBody>
                  <a:tcPr marT="38225" marB="38225" marR="38225" marL="38225"/>
                </a:tc>
              </a:tr>
              <a:tr h="626900">
                <a:tc>
                  <a:txBody>
                    <a:bodyPr/>
                    <a:lstStyle/>
                    <a:p>
                      <a:pPr indent="0" lvl="0" marL="0" marR="0" rtl="0" algn="l">
                        <a:spcBef>
                          <a:spcPts val="0"/>
                        </a:spcBef>
                        <a:spcAft>
                          <a:spcPts val="0"/>
                        </a:spcAft>
                        <a:buNone/>
                      </a:pPr>
                      <a:r>
                        <a:rPr lang="en-US" sz="1800" u="none" cap="none" strike="noStrike"/>
                        <a:t>==</a:t>
                      </a:r>
                      <a:endParaRPr/>
                    </a:p>
                  </a:txBody>
                  <a:tcPr marT="38225" marB="38225" marR="38225" marL="38225"/>
                </a:tc>
                <a:tc>
                  <a:txBody>
                    <a:bodyPr/>
                    <a:lstStyle/>
                    <a:p>
                      <a:pPr indent="0" lvl="0" marL="0" marR="0" rtl="0" algn="l">
                        <a:spcBef>
                          <a:spcPts val="0"/>
                        </a:spcBef>
                        <a:spcAft>
                          <a:spcPts val="0"/>
                        </a:spcAft>
                        <a:buNone/>
                      </a:pPr>
                      <a:r>
                        <a:rPr lang="en-US" sz="1800" u="none" cap="none" strike="noStrike"/>
                        <a:t>Checks if the values of two operands are equal or not. If yes, then the condition becomes true.</a:t>
                      </a:r>
                      <a:endParaRPr/>
                    </a:p>
                  </a:txBody>
                  <a:tcPr marT="38225" marB="38225" marR="38225" marL="38225"/>
                </a:tc>
                <a:tc>
                  <a:txBody>
                    <a:bodyPr/>
                    <a:lstStyle/>
                    <a:p>
                      <a:pPr indent="0" lvl="0" marL="0" marR="0" rtl="0" algn="l">
                        <a:spcBef>
                          <a:spcPts val="0"/>
                        </a:spcBef>
                        <a:spcAft>
                          <a:spcPts val="0"/>
                        </a:spcAft>
                        <a:buNone/>
                      </a:pPr>
                      <a:r>
                        <a:rPr lang="en-US" sz="1800" u="none" cap="none" strike="noStrike"/>
                        <a:t>(A == B) is not true.</a:t>
                      </a:r>
                      <a:endParaRPr/>
                    </a:p>
                  </a:txBody>
                  <a:tcPr marT="38225" marB="38225" marR="38225" marL="38225"/>
                </a:tc>
              </a:tr>
              <a:tr h="626900">
                <a:tc>
                  <a:txBody>
                    <a:bodyPr/>
                    <a:lstStyle/>
                    <a:p>
                      <a:pPr indent="0" lvl="0" marL="0" marR="0" rtl="0" algn="l">
                        <a:spcBef>
                          <a:spcPts val="0"/>
                        </a:spcBef>
                        <a:spcAft>
                          <a:spcPts val="0"/>
                        </a:spcAft>
                        <a:buNone/>
                      </a:pPr>
                      <a:r>
                        <a:rPr lang="en-US" sz="1800" u="none" cap="none" strike="noStrike"/>
                        <a:t>!=</a:t>
                      </a:r>
                      <a:endParaRPr/>
                    </a:p>
                  </a:txBody>
                  <a:tcPr marT="38225" marB="38225" marR="38225" marL="38225"/>
                </a:tc>
                <a:tc>
                  <a:txBody>
                    <a:bodyPr/>
                    <a:lstStyle/>
                    <a:p>
                      <a:pPr indent="0" lvl="0" marL="0" marR="0" rtl="0" algn="l">
                        <a:spcBef>
                          <a:spcPts val="0"/>
                        </a:spcBef>
                        <a:spcAft>
                          <a:spcPts val="0"/>
                        </a:spcAft>
                        <a:buNone/>
                      </a:pPr>
                      <a:r>
                        <a:rPr lang="en-US" sz="1800" u="none" cap="none" strike="noStrike"/>
                        <a:t>Checks if the values of two operands are equal or not. If the values are not equal, then the condition becomes true.</a:t>
                      </a:r>
                      <a:endParaRPr/>
                    </a:p>
                  </a:txBody>
                  <a:tcPr marT="38225" marB="38225" marR="38225" marL="38225"/>
                </a:tc>
                <a:tc>
                  <a:txBody>
                    <a:bodyPr/>
                    <a:lstStyle/>
                    <a:p>
                      <a:pPr indent="0" lvl="0" marL="0" marR="0" rtl="0" algn="l">
                        <a:spcBef>
                          <a:spcPts val="0"/>
                        </a:spcBef>
                        <a:spcAft>
                          <a:spcPts val="0"/>
                        </a:spcAft>
                        <a:buNone/>
                      </a:pPr>
                      <a:r>
                        <a:rPr lang="en-US" sz="1800" u="none" cap="none" strike="noStrike"/>
                        <a:t>(A != B) is true.</a:t>
                      </a:r>
                      <a:endParaRPr/>
                    </a:p>
                  </a:txBody>
                  <a:tcPr marT="38225" marB="38225" marR="38225" marL="38225"/>
                </a:tc>
              </a:tr>
              <a:tr h="764525">
                <a:tc>
                  <a:txBody>
                    <a:bodyPr/>
                    <a:lstStyle/>
                    <a:p>
                      <a:pPr indent="0" lvl="0" marL="0" marR="0" rtl="0" algn="l">
                        <a:spcBef>
                          <a:spcPts val="0"/>
                        </a:spcBef>
                        <a:spcAft>
                          <a:spcPts val="0"/>
                        </a:spcAft>
                        <a:buNone/>
                      </a:pPr>
                      <a:r>
                        <a:rPr lang="en-US" sz="1800" u="none" cap="none" strike="noStrike"/>
                        <a:t>&gt;</a:t>
                      </a:r>
                      <a:endParaRPr/>
                    </a:p>
                  </a:txBody>
                  <a:tcPr marT="38225" marB="38225" marR="38225" marL="38225"/>
                </a:tc>
                <a:tc>
                  <a:txBody>
                    <a:bodyPr/>
                    <a:lstStyle/>
                    <a:p>
                      <a:pPr indent="0" lvl="0" marL="0" marR="0" rtl="0" algn="l">
                        <a:spcBef>
                          <a:spcPts val="0"/>
                        </a:spcBef>
                        <a:spcAft>
                          <a:spcPts val="0"/>
                        </a:spcAft>
                        <a:buNone/>
                      </a:pPr>
                      <a:r>
                        <a:rPr lang="en-US" sz="1800" u="none" cap="none" strike="noStrike"/>
                        <a:t>Checks if the value of left operand is greater than the value of right operand. If yes, then the condition becomes true.</a:t>
                      </a:r>
                      <a:endParaRPr/>
                    </a:p>
                  </a:txBody>
                  <a:tcPr marT="38225" marB="38225" marR="38225" marL="38225"/>
                </a:tc>
                <a:tc>
                  <a:txBody>
                    <a:bodyPr/>
                    <a:lstStyle/>
                    <a:p>
                      <a:pPr indent="0" lvl="0" marL="0" marR="0" rtl="0" algn="l">
                        <a:spcBef>
                          <a:spcPts val="0"/>
                        </a:spcBef>
                        <a:spcAft>
                          <a:spcPts val="0"/>
                        </a:spcAft>
                        <a:buNone/>
                      </a:pPr>
                      <a:r>
                        <a:rPr lang="en-US" sz="1800" u="none" cap="none" strike="noStrike"/>
                        <a:t>(A &gt; B) is not true.</a:t>
                      </a:r>
                      <a:endParaRPr/>
                    </a:p>
                  </a:txBody>
                  <a:tcPr marT="38225" marB="38225" marR="38225" marL="38225"/>
                </a:tc>
              </a:tr>
              <a:tr h="626900">
                <a:tc>
                  <a:txBody>
                    <a:bodyPr/>
                    <a:lstStyle/>
                    <a:p>
                      <a:pPr indent="0" lvl="0" marL="0" marR="0" rtl="0" algn="l">
                        <a:spcBef>
                          <a:spcPts val="0"/>
                        </a:spcBef>
                        <a:spcAft>
                          <a:spcPts val="0"/>
                        </a:spcAft>
                        <a:buNone/>
                      </a:pPr>
                      <a:r>
                        <a:rPr lang="en-US" sz="1800" u="none" cap="none" strike="noStrike"/>
                        <a:t>&lt;</a:t>
                      </a:r>
                      <a:endParaRPr/>
                    </a:p>
                  </a:txBody>
                  <a:tcPr marT="38225" marB="38225" marR="38225" marL="38225"/>
                </a:tc>
                <a:tc>
                  <a:txBody>
                    <a:bodyPr/>
                    <a:lstStyle/>
                    <a:p>
                      <a:pPr indent="0" lvl="0" marL="0" marR="0" rtl="0" algn="l">
                        <a:spcBef>
                          <a:spcPts val="0"/>
                        </a:spcBef>
                        <a:spcAft>
                          <a:spcPts val="0"/>
                        </a:spcAft>
                        <a:buNone/>
                      </a:pPr>
                      <a:r>
                        <a:rPr lang="en-US" sz="1800" u="none" cap="none" strike="noStrike"/>
                        <a:t>Checks if the value of left operand is less than the value of right operand. If yes, then the condition becomes true.</a:t>
                      </a:r>
                      <a:endParaRPr/>
                    </a:p>
                  </a:txBody>
                  <a:tcPr marT="38225" marB="38225" marR="38225" marL="38225"/>
                </a:tc>
                <a:tc>
                  <a:txBody>
                    <a:bodyPr/>
                    <a:lstStyle/>
                    <a:p>
                      <a:pPr indent="0" lvl="0" marL="0" marR="0" rtl="0" algn="l">
                        <a:spcBef>
                          <a:spcPts val="0"/>
                        </a:spcBef>
                        <a:spcAft>
                          <a:spcPts val="0"/>
                        </a:spcAft>
                        <a:buNone/>
                      </a:pPr>
                      <a:r>
                        <a:rPr lang="en-US" sz="1800" u="none" cap="none" strike="noStrike"/>
                        <a:t>(A &lt; B) is true.</a:t>
                      </a:r>
                      <a:endParaRPr/>
                    </a:p>
                  </a:txBody>
                  <a:tcPr marT="38225" marB="38225" marR="38225" marL="38225"/>
                </a:tc>
              </a:tr>
              <a:tr h="764525">
                <a:tc>
                  <a:txBody>
                    <a:bodyPr/>
                    <a:lstStyle/>
                    <a:p>
                      <a:pPr indent="0" lvl="0" marL="0" marR="0" rtl="0" algn="l">
                        <a:spcBef>
                          <a:spcPts val="0"/>
                        </a:spcBef>
                        <a:spcAft>
                          <a:spcPts val="0"/>
                        </a:spcAft>
                        <a:buNone/>
                      </a:pPr>
                      <a:r>
                        <a:rPr lang="en-US" sz="1800" u="none" cap="none" strike="noStrike"/>
                        <a:t>&gt;=</a:t>
                      </a:r>
                      <a:endParaRPr/>
                    </a:p>
                  </a:txBody>
                  <a:tcPr marT="38225" marB="38225" marR="38225" marL="38225"/>
                </a:tc>
                <a:tc>
                  <a:txBody>
                    <a:bodyPr/>
                    <a:lstStyle/>
                    <a:p>
                      <a:pPr indent="0" lvl="0" marL="0" marR="0" rtl="0" algn="l">
                        <a:spcBef>
                          <a:spcPts val="0"/>
                        </a:spcBef>
                        <a:spcAft>
                          <a:spcPts val="0"/>
                        </a:spcAft>
                        <a:buNone/>
                      </a:pPr>
                      <a:r>
                        <a:rPr lang="en-US" sz="1800" u="none" cap="none" strike="noStrike"/>
                        <a:t>Checks if the value of left operand is greater than or equal to the value of right operand. If yes, then the condition becomes true.</a:t>
                      </a:r>
                      <a:endParaRPr/>
                    </a:p>
                  </a:txBody>
                  <a:tcPr marT="38225" marB="38225" marR="38225" marL="38225"/>
                </a:tc>
                <a:tc>
                  <a:txBody>
                    <a:bodyPr/>
                    <a:lstStyle/>
                    <a:p>
                      <a:pPr indent="0" lvl="0" marL="0" marR="0" rtl="0" algn="l">
                        <a:spcBef>
                          <a:spcPts val="0"/>
                        </a:spcBef>
                        <a:spcAft>
                          <a:spcPts val="0"/>
                        </a:spcAft>
                        <a:buNone/>
                      </a:pPr>
                      <a:r>
                        <a:rPr lang="en-US" sz="1800" u="none" cap="none" strike="noStrike"/>
                        <a:t>(A &gt;= B) is not true.</a:t>
                      </a:r>
                      <a:endParaRPr/>
                    </a:p>
                  </a:txBody>
                  <a:tcPr marT="38225" marB="38225" marR="38225" marL="38225"/>
                </a:tc>
              </a:tr>
              <a:tr h="764525">
                <a:tc>
                  <a:txBody>
                    <a:bodyPr/>
                    <a:lstStyle/>
                    <a:p>
                      <a:pPr indent="0" lvl="0" marL="0" marR="0" rtl="0" algn="l">
                        <a:spcBef>
                          <a:spcPts val="0"/>
                        </a:spcBef>
                        <a:spcAft>
                          <a:spcPts val="0"/>
                        </a:spcAft>
                        <a:buNone/>
                      </a:pPr>
                      <a:r>
                        <a:rPr lang="en-US" sz="1800" u="none" cap="none" strike="noStrike"/>
                        <a:t>&lt;=</a:t>
                      </a:r>
                      <a:endParaRPr/>
                    </a:p>
                  </a:txBody>
                  <a:tcPr marT="38225" marB="38225" marR="38225" marL="38225"/>
                </a:tc>
                <a:tc>
                  <a:txBody>
                    <a:bodyPr/>
                    <a:lstStyle/>
                    <a:p>
                      <a:pPr indent="0" lvl="0" marL="0" marR="0" rtl="0" algn="l">
                        <a:spcBef>
                          <a:spcPts val="0"/>
                        </a:spcBef>
                        <a:spcAft>
                          <a:spcPts val="0"/>
                        </a:spcAft>
                        <a:buNone/>
                      </a:pPr>
                      <a:r>
                        <a:rPr lang="en-US" sz="1800" u="none" cap="none" strike="noStrike"/>
                        <a:t>Checks if the value of left operand is less than or equal to the value of right operand. If yes, then the condition becomes true.</a:t>
                      </a:r>
                      <a:endParaRPr/>
                    </a:p>
                  </a:txBody>
                  <a:tcPr marT="38225" marB="38225" marR="38225" marL="38225"/>
                </a:tc>
                <a:tc>
                  <a:txBody>
                    <a:bodyPr/>
                    <a:lstStyle/>
                    <a:p>
                      <a:pPr indent="0" lvl="0" marL="0" marR="0" rtl="0" algn="l">
                        <a:spcBef>
                          <a:spcPts val="0"/>
                        </a:spcBef>
                        <a:spcAft>
                          <a:spcPts val="0"/>
                        </a:spcAft>
                        <a:buNone/>
                      </a:pPr>
                      <a:r>
                        <a:rPr lang="en-US" sz="1800" u="none" cap="none" strike="noStrike"/>
                        <a:t>(A &lt;= B) is true.</a:t>
                      </a:r>
                      <a:endParaRPr/>
                    </a:p>
                  </a:txBody>
                  <a:tcPr marT="38225" marB="38225" marR="38225" marL="38225"/>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7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Relational Operators</a:t>
            </a:r>
            <a:endParaRPr/>
          </a:p>
        </p:txBody>
      </p:sp>
      <p:sp>
        <p:nvSpPr>
          <p:cNvPr id="639" name="Google Shape;639;p72"/>
          <p:cNvSpPr txBox="1"/>
          <p:nvPr>
            <p:ph idx="1" type="body"/>
          </p:nvPr>
        </p:nvSpPr>
        <p:spPr>
          <a:xfrm>
            <a:off x="204953" y="945931"/>
            <a:ext cx="11729544" cy="569135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b="1" sz="2400"/>
          </a:p>
          <a:p>
            <a:pPr indent="-342900" lvl="0" marL="342900" rtl="0" algn="l">
              <a:spcBef>
                <a:spcPts val="480"/>
              </a:spcBef>
              <a:spcAft>
                <a:spcPts val="0"/>
              </a:spcAft>
              <a:buClr>
                <a:schemeClr val="dk1"/>
              </a:buClr>
              <a:buSzPts val="2400"/>
              <a:buChar char="•"/>
            </a:pPr>
            <a:r>
              <a:rPr b="1" lang="en-US" sz="2400"/>
              <a:t>EXAMPLE- </a:t>
            </a:r>
            <a:r>
              <a:rPr lang="en-US" sz="2400"/>
              <a:t>Suppose that </a:t>
            </a:r>
            <a:r>
              <a:rPr b="1" lang="en-US" sz="2400"/>
              <a:t>i,j </a:t>
            </a:r>
            <a:r>
              <a:rPr lang="en-US" sz="2400"/>
              <a:t>and </a:t>
            </a:r>
            <a:r>
              <a:rPr b="1" lang="en-US" sz="2400"/>
              <a:t>k </a:t>
            </a:r>
            <a:r>
              <a:rPr lang="en-US" sz="2400"/>
              <a:t>are integer variables whose values are </a:t>
            </a:r>
            <a:r>
              <a:rPr b="1" lang="en-US" sz="2400"/>
              <a:t>1, 2</a:t>
            </a:r>
            <a:r>
              <a:rPr lang="en-US" sz="2400"/>
              <a:t> and </a:t>
            </a:r>
            <a:r>
              <a:rPr b="1" lang="en-US" sz="2400"/>
              <a:t>3, </a:t>
            </a:r>
            <a:r>
              <a:rPr lang="en-US" sz="2400"/>
              <a:t>respectively.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b="1" i="1" lang="en-US" sz="2400"/>
              <a:t>Expression 			Interpretation			Value</a:t>
            </a:r>
            <a:endParaRPr/>
          </a:p>
          <a:p>
            <a:pPr indent="-342900" lvl="0" marL="342900" rtl="0" algn="l">
              <a:spcBef>
                <a:spcPts val="480"/>
              </a:spcBef>
              <a:spcAft>
                <a:spcPts val="0"/>
              </a:spcAft>
              <a:buClr>
                <a:schemeClr val="dk1"/>
              </a:buClr>
              <a:buSzPts val="2400"/>
              <a:buChar char="•"/>
            </a:pPr>
            <a:r>
              <a:rPr lang="en-US" sz="2400"/>
              <a:t>i &lt; j 				true 				1</a:t>
            </a:r>
            <a:endParaRPr/>
          </a:p>
          <a:p>
            <a:pPr indent="-342900" lvl="0" marL="342900" rtl="0" algn="l">
              <a:spcBef>
                <a:spcPts val="480"/>
              </a:spcBef>
              <a:spcAft>
                <a:spcPts val="0"/>
              </a:spcAft>
              <a:buClr>
                <a:schemeClr val="dk1"/>
              </a:buClr>
              <a:buSzPts val="2400"/>
              <a:buChar char="•"/>
            </a:pPr>
            <a:r>
              <a:rPr lang="en-US" sz="2400"/>
              <a:t>(1 + j) &gt;= k 			true 				1</a:t>
            </a:r>
            <a:endParaRPr/>
          </a:p>
          <a:p>
            <a:pPr indent="-342900" lvl="0" marL="342900" rtl="0" algn="l">
              <a:spcBef>
                <a:spcPts val="480"/>
              </a:spcBef>
              <a:spcAft>
                <a:spcPts val="0"/>
              </a:spcAft>
              <a:buClr>
                <a:schemeClr val="dk1"/>
              </a:buClr>
              <a:buSzPts val="2400"/>
              <a:buChar char="•"/>
            </a:pPr>
            <a:r>
              <a:rPr lang="en-US" sz="2400"/>
              <a:t>(j + k) &gt; (i + 5) 		false 				0</a:t>
            </a:r>
            <a:endParaRPr/>
          </a:p>
          <a:p>
            <a:pPr indent="-342900" lvl="0" marL="342900" rtl="0" algn="l">
              <a:spcBef>
                <a:spcPts val="480"/>
              </a:spcBef>
              <a:spcAft>
                <a:spcPts val="0"/>
              </a:spcAft>
              <a:buClr>
                <a:schemeClr val="dk1"/>
              </a:buClr>
              <a:buSzPts val="2400"/>
              <a:buChar char="•"/>
            </a:pPr>
            <a:r>
              <a:rPr lang="en-US" sz="2400"/>
              <a:t>k ! = 3 			false 				0</a:t>
            </a:r>
            <a:endParaRPr/>
          </a:p>
          <a:p>
            <a:pPr indent="-342900" lvl="0" marL="342900" rtl="0" algn="l">
              <a:spcBef>
                <a:spcPts val="480"/>
              </a:spcBef>
              <a:spcAft>
                <a:spcPts val="0"/>
              </a:spcAft>
              <a:buClr>
                <a:schemeClr val="dk1"/>
              </a:buClr>
              <a:buSzPts val="2400"/>
              <a:buChar char="•"/>
            </a:pPr>
            <a:r>
              <a:rPr lang="en-US" sz="2400"/>
              <a:t>j == 2		 	true 				1</a:t>
            </a:r>
            <a:endParaRPr/>
          </a:p>
        </p:txBody>
      </p:sp>
      <p:sp>
        <p:nvSpPr>
          <p:cNvPr id="640" name="Google Shape;640;p7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1" name="Google Shape;641;p72"/>
          <p:cNvSpPr/>
          <p:nvPr/>
        </p:nvSpPr>
        <p:spPr>
          <a:xfrm>
            <a:off x="3186113" y="2232025"/>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3"/>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Logical Operators</a:t>
            </a:r>
            <a:endParaRPr b="1"/>
          </a:p>
        </p:txBody>
      </p:sp>
      <p:sp>
        <p:nvSpPr>
          <p:cNvPr id="648" name="Google Shape;648;p73"/>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 provides three logical operators when we test more than one condition to make decisions. </a:t>
            </a:r>
            <a:endParaRPr/>
          </a:p>
          <a:p>
            <a:pPr indent="-342900" lvl="0" marL="342900" rtl="0" algn="just">
              <a:spcBef>
                <a:spcPts val="640"/>
              </a:spcBef>
              <a:spcAft>
                <a:spcPts val="0"/>
              </a:spcAft>
              <a:buClr>
                <a:schemeClr val="dk1"/>
              </a:buClr>
              <a:buSzPts val="3200"/>
              <a:buChar char="•"/>
            </a:pPr>
            <a:r>
              <a:rPr lang="en-US"/>
              <a:t>These are: &amp;&amp; (meaning logical AND), || (meaning logical OR) and ! (meaning logical NOT).</a:t>
            </a:r>
            <a:endParaRPr/>
          </a:p>
          <a:p>
            <a:pPr indent="-342900" lvl="0" marL="342900" rtl="0" algn="just">
              <a:spcBef>
                <a:spcPts val="640"/>
              </a:spcBef>
              <a:spcAft>
                <a:spcPts val="0"/>
              </a:spcAft>
              <a:buClr>
                <a:schemeClr val="dk1"/>
              </a:buClr>
              <a:buSzPts val="3200"/>
              <a:buChar char="•"/>
            </a:pPr>
            <a:r>
              <a:rPr lang="en-US"/>
              <a:t>The logical operators act upon operands that are themselves logical expressions. </a:t>
            </a:r>
            <a:endParaRPr/>
          </a:p>
          <a:p>
            <a:pPr indent="-342900" lvl="0" marL="342900" rtl="0" algn="just">
              <a:spcBef>
                <a:spcPts val="640"/>
              </a:spcBef>
              <a:spcAft>
                <a:spcPts val="0"/>
              </a:spcAft>
              <a:buClr>
                <a:schemeClr val="dk1"/>
              </a:buClr>
              <a:buSzPts val="3200"/>
              <a:buChar char="•"/>
            </a:pPr>
            <a:r>
              <a:rPr lang="en-US"/>
              <a:t>The net effect is to combine the individual logical expressions into more complex conditions that are either true or false. </a:t>
            </a:r>
            <a:endParaRPr/>
          </a:p>
          <a:p>
            <a:pPr indent="-342900" lvl="0" marL="342900" rtl="0" algn="just">
              <a:spcBef>
                <a:spcPts val="640"/>
              </a:spcBef>
              <a:spcAft>
                <a:spcPts val="0"/>
              </a:spcAft>
              <a:buClr>
                <a:schemeClr val="dk1"/>
              </a:buClr>
              <a:buSzPts val="3200"/>
              <a:buChar char="•"/>
            </a:pPr>
            <a:r>
              <a:rPr b="1" lang="en-US"/>
              <a:t>In this context it should be pointed out that </a:t>
            </a:r>
            <a:r>
              <a:rPr b="1" i="1" lang="en-US"/>
              <a:t>any </a:t>
            </a:r>
            <a:r>
              <a:rPr b="1" lang="en-US"/>
              <a:t>nonzero value, not just 1, is interpreted as true.</a:t>
            </a:r>
            <a:endParaRPr/>
          </a:p>
        </p:txBody>
      </p:sp>
      <p:sp>
        <p:nvSpPr>
          <p:cNvPr id="649" name="Google Shape;649;p7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74"/>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Logical Operators</a:t>
            </a:r>
            <a:endParaRPr b="1"/>
          </a:p>
        </p:txBody>
      </p:sp>
      <p:sp>
        <p:nvSpPr>
          <p:cNvPr id="656" name="Google Shape;656;p74"/>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t>Assume variable </a:t>
            </a:r>
            <a:r>
              <a:rPr b="1" lang="en-US" sz="2400"/>
              <a:t>A</a:t>
            </a:r>
            <a:r>
              <a:rPr lang="en-US" sz="2400"/>
              <a:t> holds 1 and variable </a:t>
            </a:r>
            <a:r>
              <a:rPr b="1" lang="en-US" sz="2400"/>
              <a:t>B</a:t>
            </a:r>
            <a:r>
              <a:rPr lang="en-US" sz="2400"/>
              <a:t> holds 0, then −</a:t>
            </a:r>
            <a:endParaRPr b="1" sz="2400"/>
          </a:p>
        </p:txBody>
      </p:sp>
      <p:sp>
        <p:nvSpPr>
          <p:cNvPr id="657" name="Google Shape;657;p7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658" name="Google Shape;658;p74"/>
          <p:cNvGraphicFramePr/>
          <p:nvPr/>
        </p:nvGraphicFramePr>
        <p:xfrm>
          <a:off x="1639614" y="1710556"/>
          <a:ext cx="3000000" cy="3000000"/>
        </p:xfrm>
        <a:graphic>
          <a:graphicData uri="http://schemas.openxmlformats.org/drawingml/2006/table">
            <a:tbl>
              <a:tblPr>
                <a:noFill/>
                <a:tableStyleId>{77D9BF88-F2FA-47AB-A2AE-C283F5D904F1}</a:tableStyleId>
              </a:tblPr>
              <a:tblGrid>
                <a:gridCol w="1166650"/>
                <a:gridCol w="5644050"/>
                <a:gridCol w="2459425"/>
              </a:tblGrid>
              <a:tr h="726375">
                <a:tc>
                  <a:txBody>
                    <a:bodyPr/>
                    <a:lstStyle/>
                    <a:p>
                      <a:pPr indent="0" lvl="0" marL="0" marR="0" rtl="0" algn="l">
                        <a:spcBef>
                          <a:spcPts val="0"/>
                        </a:spcBef>
                        <a:spcAft>
                          <a:spcPts val="0"/>
                        </a:spcAft>
                        <a:buNone/>
                      </a:pPr>
                      <a:r>
                        <a:rPr b="1" lang="en-US" sz="1700" u="none" cap="none" strike="noStrike"/>
                        <a:t>Operator</a:t>
                      </a:r>
                      <a:endParaRPr/>
                    </a:p>
                  </a:txBody>
                  <a:tcPr marT="73000" marB="73000" marR="73000" marL="73000"/>
                </a:tc>
                <a:tc>
                  <a:txBody>
                    <a:bodyPr/>
                    <a:lstStyle/>
                    <a:p>
                      <a:pPr indent="0" lvl="0" marL="0" marR="0" rtl="0" algn="l">
                        <a:spcBef>
                          <a:spcPts val="0"/>
                        </a:spcBef>
                        <a:spcAft>
                          <a:spcPts val="0"/>
                        </a:spcAft>
                        <a:buNone/>
                      </a:pPr>
                      <a:r>
                        <a:rPr b="1" lang="en-US" sz="1700" u="none" cap="none" strike="noStrike"/>
                        <a:t>Description</a:t>
                      </a:r>
                      <a:endParaRPr/>
                    </a:p>
                  </a:txBody>
                  <a:tcPr marT="73000" marB="73000" marR="73000" marL="73000"/>
                </a:tc>
                <a:tc>
                  <a:txBody>
                    <a:bodyPr/>
                    <a:lstStyle/>
                    <a:p>
                      <a:pPr indent="0" lvl="0" marL="0" marR="0" rtl="0" algn="l">
                        <a:spcBef>
                          <a:spcPts val="0"/>
                        </a:spcBef>
                        <a:spcAft>
                          <a:spcPts val="0"/>
                        </a:spcAft>
                        <a:buNone/>
                      </a:pPr>
                      <a:r>
                        <a:rPr b="1" lang="en-US" sz="1700" u="none" cap="none" strike="noStrike"/>
                        <a:t>Example</a:t>
                      </a:r>
                      <a:endParaRPr/>
                    </a:p>
                  </a:txBody>
                  <a:tcPr marT="73000" marB="73000" marR="73000" marL="73000"/>
                </a:tc>
              </a:tr>
              <a:tr h="1294850">
                <a:tc>
                  <a:txBody>
                    <a:bodyPr/>
                    <a:lstStyle/>
                    <a:p>
                      <a:pPr indent="0" lvl="0" marL="0" marR="0" rtl="0" algn="l">
                        <a:spcBef>
                          <a:spcPts val="0"/>
                        </a:spcBef>
                        <a:spcAft>
                          <a:spcPts val="0"/>
                        </a:spcAft>
                        <a:buNone/>
                      </a:pPr>
                      <a:r>
                        <a:rPr lang="en-US" sz="2000" u="none" cap="none" strike="noStrike"/>
                        <a:t>&amp;&amp;</a:t>
                      </a:r>
                      <a:endParaRPr/>
                    </a:p>
                  </a:txBody>
                  <a:tcPr marT="73000" marB="73000" marR="73000" marL="73000"/>
                </a:tc>
                <a:tc>
                  <a:txBody>
                    <a:bodyPr/>
                    <a:lstStyle/>
                    <a:p>
                      <a:pPr indent="0" lvl="0" marL="0" marR="0" rtl="0" algn="l">
                        <a:spcBef>
                          <a:spcPts val="0"/>
                        </a:spcBef>
                        <a:spcAft>
                          <a:spcPts val="0"/>
                        </a:spcAft>
                        <a:buNone/>
                      </a:pPr>
                      <a:r>
                        <a:rPr lang="en-US" sz="2000" u="none" cap="none" strike="noStrike"/>
                        <a:t>Called Logical AND operator. If both the operands are non-zero, then the condition becomes true.</a:t>
                      </a:r>
                      <a:endParaRPr/>
                    </a:p>
                  </a:txBody>
                  <a:tcPr marT="73000" marB="73000" marR="73000" marL="73000"/>
                </a:tc>
                <a:tc>
                  <a:txBody>
                    <a:bodyPr/>
                    <a:lstStyle/>
                    <a:p>
                      <a:pPr indent="0" lvl="0" marL="0" marR="0" rtl="0" algn="l">
                        <a:spcBef>
                          <a:spcPts val="0"/>
                        </a:spcBef>
                        <a:spcAft>
                          <a:spcPts val="0"/>
                        </a:spcAft>
                        <a:buNone/>
                      </a:pPr>
                      <a:r>
                        <a:rPr lang="en-US" sz="2000" u="none" cap="none" strike="noStrike"/>
                        <a:t>(A &amp;&amp; B) is false.</a:t>
                      </a:r>
                      <a:endParaRPr/>
                    </a:p>
                  </a:txBody>
                  <a:tcPr marT="73000" marB="73000" marR="73000" marL="73000"/>
                </a:tc>
              </a:tr>
              <a:tr h="1294850">
                <a:tc>
                  <a:txBody>
                    <a:bodyPr/>
                    <a:lstStyle/>
                    <a:p>
                      <a:pPr indent="0" lvl="0" marL="0" marR="0" rtl="0" algn="l">
                        <a:spcBef>
                          <a:spcPts val="0"/>
                        </a:spcBef>
                        <a:spcAft>
                          <a:spcPts val="0"/>
                        </a:spcAft>
                        <a:buNone/>
                      </a:pPr>
                      <a:r>
                        <a:rPr lang="en-US" sz="2000" u="none" cap="none" strike="noStrike"/>
                        <a:t>||</a:t>
                      </a:r>
                      <a:endParaRPr/>
                    </a:p>
                  </a:txBody>
                  <a:tcPr marT="73000" marB="73000" marR="73000" marL="73000"/>
                </a:tc>
                <a:tc>
                  <a:txBody>
                    <a:bodyPr/>
                    <a:lstStyle/>
                    <a:p>
                      <a:pPr indent="0" lvl="0" marL="0" marR="0" rtl="0" algn="l">
                        <a:spcBef>
                          <a:spcPts val="0"/>
                        </a:spcBef>
                        <a:spcAft>
                          <a:spcPts val="0"/>
                        </a:spcAft>
                        <a:buNone/>
                      </a:pPr>
                      <a:r>
                        <a:rPr lang="en-US" sz="2000" u="none" cap="none" strike="noStrike"/>
                        <a:t>Called Logical OR Operator. If any of the two operands is non-zero, then the condition becomes true.</a:t>
                      </a:r>
                      <a:endParaRPr/>
                    </a:p>
                  </a:txBody>
                  <a:tcPr marT="73000" marB="73000" marR="73000" marL="73000"/>
                </a:tc>
                <a:tc>
                  <a:txBody>
                    <a:bodyPr/>
                    <a:lstStyle/>
                    <a:p>
                      <a:pPr indent="0" lvl="0" marL="0" marR="0" rtl="0" algn="l">
                        <a:spcBef>
                          <a:spcPts val="0"/>
                        </a:spcBef>
                        <a:spcAft>
                          <a:spcPts val="0"/>
                        </a:spcAft>
                        <a:buNone/>
                      </a:pPr>
                      <a:r>
                        <a:rPr lang="en-US" sz="2000" u="none" cap="none" strike="noStrike"/>
                        <a:t>(A || B) is true.</a:t>
                      </a:r>
                      <a:endParaRPr/>
                    </a:p>
                  </a:txBody>
                  <a:tcPr marT="73000" marB="73000" marR="73000" marL="73000"/>
                </a:tc>
              </a:tr>
              <a:tr h="1579100">
                <a:tc>
                  <a:txBody>
                    <a:bodyPr/>
                    <a:lstStyle/>
                    <a:p>
                      <a:pPr indent="0" lvl="0" marL="0" marR="0" rtl="0" algn="l">
                        <a:spcBef>
                          <a:spcPts val="0"/>
                        </a:spcBef>
                        <a:spcAft>
                          <a:spcPts val="0"/>
                        </a:spcAft>
                        <a:buNone/>
                      </a:pPr>
                      <a:r>
                        <a:rPr lang="en-US" sz="2000" u="none" cap="none" strike="noStrike"/>
                        <a:t>!</a:t>
                      </a:r>
                      <a:endParaRPr/>
                    </a:p>
                  </a:txBody>
                  <a:tcPr marT="73000" marB="73000" marR="73000" marL="73000"/>
                </a:tc>
                <a:tc>
                  <a:txBody>
                    <a:bodyPr/>
                    <a:lstStyle/>
                    <a:p>
                      <a:pPr indent="0" lvl="0" marL="0" marR="0" rtl="0" algn="l">
                        <a:spcBef>
                          <a:spcPts val="0"/>
                        </a:spcBef>
                        <a:spcAft>
                          <a:spcPts val="0"/>
                        </a:spcAft>
                        <a:buNone/>
                      </a:pPr>
                      <a:r>
                        <a:rPr lang="en-US" sz="2000" u="none" cap="none" strike="noStrike"/>
                        <a:t>Called Logical NOT Operator. It is used to reverse the logical state of its operand. If a condition is true, then Logical NOT operator will make it false.</a:t>
                      </a:r>
                      <a:endParaRPr/>
                    </a:p>
                  </a:txBody>
                  <a:tcPr marT="73000" marB="73000" marR="73000" marL="73000"/>
                </a:tc>
                <a:tc>
                  <a:txBody>
                    <a:bodyPr/>
                    <a:lstStyle/>
                    <a:p>
                      <a:pPr indent="0" lvl="0" marL="0" marR="0" rtl="0" algn="l">
                        <a:spcBef>
                          <a:spcPts val="0"/>
                        </a:spcBef>
                        <a:spcAft>
                          <a:spcPts val="0"/>
                        </a:spcAft>
                        <a:buNone/>
                      </a:pPr>
                      <a:r>
                        <a:rPr lang="en-US" sz="2000" u="none" cap="none" strike="noStrike"/>
                        <a:t>!(A &amp;&amp; B) is true.</a:t>
                      </a:r>
                      <a:endParaRPr/>
                    </a:p>
                  </a:txBody>
                  <a:tcPr marT="73000" marB="73000" marR="73000" marL="73000"/>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5"/>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Logical Operators</a:t>
            </a:r>
            <a:endParaRPr b="1"/>
          </a:p>
        </p:txBody>
      </p:sp>
      <p:sp>
        <p:nvSpPr>
          <p:cNvPr id="665" name="Google Shape;665;p75"/>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190500" lvl="0" marL="342900" rtl="0" algn="just">
              <a:spcBef>
                <a:spcPts val="0"/>
              </a:spcBef>
              <a:spcAft>
                <a:spcPts val="0"/>
              </a:spcAft>
              <a:buClr>
                <a:schemeClr val="dk1"/>
              </a:buClr>
              <a:buSzPts val="2400"/>
              <a:buNone/>
            </a:pPr>
            <a:r>
              <a:t/>
            </a:r>
            <a:endParaRPr b="1" sz="2400"/>
          </a:p>
        </p:txBody>
      </p:sp>
      <p:sp>
        <p:nvSpPr>
          <p:cNvPr id="666" name="Google Shape;666;p7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667" name="Google Shape;667;p75"/>
          <p:cNvGraphicFramePr/>
          <p:nvPr/>
        </p:nvGraphicFramePr>
        <p:xfrm>
          <a:off x="1615362" y="1797268"/>
          <a:ext cx="3000000" cy="3000000"/>
        </p:xfrm>
        <a:graphic>
          <a:graphicData uri="http://schemas.openxmlformats.org/drawingml/2006/table">
            <a:tbl>
              <a:tblPr>
                <a:noFill/>
                <a:tableStyleId>{77D9BF88-F2FA-47AB-A2AE-C283F5D904F1}</a:tableStyleId>
              </a:tblPr>
              <a:tblGrid>
                <a:gridCol w="2024050"/>
                <a:gridCol w="2024050"/>
                <a:gridCol w="2024050"/>
                <a:gridCol w="2024050"/>
              </a:tblGrid>
              <a:tr h="585175">
                <a:tc gridSpan="2">
                  <a:txBody>
                    <a:bodyPr/>
                    <a:lstStyle/>
                    <a:p>
                      <a:pPr indent="0" lvl="0" marL="0" marR="0" rtl="0" algn="ctr">
                        <a:spcBef>
                          <a:spcPts val="0"/>
                        </a:spcBef>
                        <a:spcAft>
                          <a:spcPts val="0"/>
                        </a:spcAft>
                        <a:buNone/>
                      </a:pPr>
                      <a:r>
                        <a:rPr b="1" lang="en-US" sz="2400" u="none" cap="none" strike="noStrike"/>
                        <a:t>Operands </a:t>
                      </a:r>
                      <a:endParaRPr b="1" i="0" sz="2400" u="none" cap="none" strike="noStrike">
                        <a:solidFill>
                          <a:srgbClr val="000000"/>
                        </a:solidFill>
                        <a:latin typeface="Calibri"/>
                        <a:ea typeface="Calibri"/>
                        <a:cs typeface="Calibri"/>
                        <a:sym typeface="Calibri"/>
                      </a:endParaRPr>
                    </a:p>
                  </a:txBody>
                  <a:tcPr marT="6350" marB="0" marR="6350" marL="6350" anchor="ctr"/>
                </a:tc>
                <a:tc hMerge="1"/>
                <a:tc gridSpan="2">
                  <a:txBody>
                    <a:bodyPr/>
                    <a:lstStyle/>
                    <a:p>
                      <a:pPr indent="0" lvl="0" marL="0" marR="0" rtl="0" algn="ctr">
                        <a:spcBef>
                          <a:spcPts val="0"/>
                        </a:spcBef>
                        <a:spcAft>
                          <a:spcPts val="0"/>
                        </a:spcAft>
                        <a:buNone/>
                      </a:pPr>
                      <a:r>
                        <a:rPr b="1" lang="en-US" sz="2400" u="none" cap="none" strike="noStrike"/>
                        <a:t>Results</a:t>
                      </a:r>
                      <a:endParaRPr b="1" i="0" sz="2400" u="none" cap="none" strike="noStrike">
                        <a:solidFill>
                          <a:srgbClr val="000000"/>
                        </a:solidFill>
                        <a:latin typeface="Calibri"/>
                        <a:ea typeface="Calibri"/>
                        <a:cs typeface="Calibri"/>
                        <a:sym typeface="Calibri"/>
                      </a:endParaRPr>
                    </a:p>
                  </a:txBody>
                  <a:tcPr marT="6350" marB="0" marR="6350" marL="6350" anchor="ctr"/>
                </a:tc>
                <a:tc hMerge="1"/>
              </a:tr>
              <a:tr h="565675">
                <a:tc>
                  <a:txBody>
                    <a:bodyPr/>
                    <a:lstStyle/>
                    <a:p>
                      <a:pPr indent="0" lvl="0" marL="0" marR="0" rtl="0" algn="ctr">
                        <a:spcBef>
                          <a:spcPts val="0"/>
                        </a:spcBef>
                        <a:spcAft>
                          <a:spcPts val="0"/>
                        </a:spcAft>
                        <a:buNone/>
                      </a:pPr>
                      <a:r>
                        <a:rPr b="1" lang="en-US" sz="2400" u="none" cap="none" strike="noStrike"/>
                        <a:t>x </a:t>
                      </a:r>
                      <a:endParaRPr b="1"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b="1" lang="en-US" sz="2400" u="none" cap="none" strike="noStrike"/>
                        <a:t>y </a:t>
                      </a:r>
                      <a:endParaRPr b="1"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b="1" lang="en-US" sz="2400" u="none" cap="none" strike="noStrike"/>
                        <a:t>x &amp;&amp; y </a:t>
                      </a:r>
                      <a:endParaRPr b="1"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b="1" lang="en-US" sz="2400" u="none" cap="none" strike="noStrike"/>
                        <a:t>x || y</a:t>
                      </a:r>
                      <a:endParaRPr b="1" i="0" sz="2400" u="none" cap="none" strike="noStrike">
                        <a:solidFill>
                          <a:srgbClr val="000000"/>
                        </a:solidFill>
                        <a:latin typeface="Calibri"/>
                        <a:ea typeface="Calibri"/>
                        <a:cs typeface="Calibri"/>
                        <a:sym typeface="Calibri"/>
                      </a:endParaRPr>
                    </a:p>
                  </a:txBody>
                  <a:tcPr marT="6350" marB="0" marR="6350" marL="6350" anchor="ctr"/>
                </a:tc>
              </a:tr>
              <a:tr h="565675">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r>
              <a:tr h="565675">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non-zero </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1</a:t>
                      </a:r>
                      <a:endParaRPr b="0" i="0" sz="2400" u="none" cap="none" strike="noStrike">
                        <a:solidFill>
                          <a:srgbClr val="000000"/>
                        </a:solidFill>
                        <a:latin typeface="Calibri"/>
                        <a:ea typeface="Calibri"/>
                        <a:cs typeface="Calibri"/>
                        <a:sym typeface="Calibri"/>
                      </a:endParaRPr>
                    </a:p>
                  </a:txBody>
                  <a:tcPr marT="6350" marB="0" marR="6350" marL="6350" anchor="ctr"/>
                </a:tc>
              </a:tr>
              <a:tr h="565675">
                <a:tc>
                  <a:txBody>
                    <a:bodyPr/>
                    <a:lstStyle/>
                    <a:p>
                      <a:pPr indent="0" lvl="0" marL="0" marR="0" rtl="0" algn="ctr">
                        <a:spcBef>
                          <a:spcPts val="0"/>
                        </a:spcBef>
                        <a:spcAft>
                          <a:spcPts val="0"/>
                        </a:spcAft>
                        <a:buNone/>
                      </a:pPr>
                      <a:r>
                        <a:rPr lang="en-US" sz="2400" u="none" cap="none" strike="noStrike"/>
                        <a:t>non-zero </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0</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1</a:t>
                      </a:r>
                      <a:endParaRPr b="0" i="0" sz="2400" u="none" cap="none" strike="noStrike">
                        <a:solidFill>
                          <a:srgbClr val="000000"/>
                        </a:solidFill>
                        <a:latin typeface="Calibri"/>
                        <a:ea typeface="Calibri"/>
                        <a:cs typeface="Calibri"/>
                        <a:sym typeface="Calibri"/>
                      </a:endParaRPr>
                    </a:p>
                  </a:txBody>
                  <a:tcPr marT="6350" marB="0" marR="6350" marL="6350" anchor="ctr"/>
                </a:tc>
              </a:tr>
              <a:tr h="585175">
                <a:tc>
                  <a:txBody>
                    <a:bodyPr/>
                    <a:lstStyle/>
                    <a:p>
                      <a:pPr indent="0" lvl="0" marL="0" marR="0" rtl="0" algn="ctr">
                        <a:spcBef>
                          <a:spcPts val="0"/>
                        </a:spcBef>
                        <a:spcAft>
                          <a:spcPts val="0"/>
                        </a:spcAft>
                        <a:buNone/>
                      </a:pPr>
                      <a:r>
                        <a:rPr lang="en-US" sz="2400" u="none" cap="none" strike="noStrike"/>
                        <a:t>non-zero</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non-zero </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1</a:t>
                      </a:r>
                      <a:endParaRPr b="0" i="0" sz="2400" u="none" cap="none" strike="noStrike">
                        <a:solidFill>
                          <a:srgbClr val="000000"/>
                        </a:solidFill>
                        <a:latin typeface="Calibri"/>
                        <a:ea typeface="Calibri"/>
                        <a:cs typeface="Calibri"/>
                        <a:sym typeface="Calibri"/>
                      </a:endParaRPr>
                    </a:p>
                  </a:txBody>
                  <a:tcPr marT="6350" marB="0" marR="6350" marL="6350" anchor="ctr"/>
                </a:tc>
                <a:tc>
                  <a:txBody>
                    <a:bodyPr/>
                    <a:lstStyle/>
                    <a:p>
                      <a:pPr indent="0" lvl="0" marL="0" marR="0" rtl="0" algn="ctr">
                        <a:spcBef>
                          <a:spcPts val="0"/>
                        </a:spcBef>
                        <a:spcAft>
                          <a:spcPts val="0"/>
                        </a:spcAft>
                        <a:buNone/>
                      </a:pPr>
                      <a:r>
                        <a:rPr lang="en-US" sz="2400" u="none" cap="none" strike="noStrike"/>
                        <a:t>1</a:t>
                      </a:r>
                      <a:endParaRPr b="0" i="0" sz="2400" u="none" cap="none" strike="noStrike">
                        <a:solidFill>
                          <a:srgbClr val="000000"/>
                        </a:solidFill>
                        <a:latin typeface="Calibri"/>
                        <a:ea typeface="Calibri"/>
                        <a:cs typeface="Calibri"/>
                        <a:sym typeface="Calibri"/>
                      </a:endParaRPr>
                    </a:p>
                  </a:txBody>
                  <a:tcPr marT="6350" marB="0" marR="6350" marL="6350" anchor="ct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6"/>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Logical Operators</a:t>
            </a:r>
            <a:endParaRPr b="1"/>
          </a:p>
        </p:txBody>
      </p:sp>
      <p:sp>
        <p:nvSpPr>
          <p:cNvPr id="674" name="Google Shape;674;p76"/>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b="1" lang="en-US" sz="2400"/>
              <a:t>Example-</a:t>
            </a:r>
            <a:r>
              <a:rPr lang="en-US" sz="2400"/>
              <a:t> Suppose that i is an integer variable whose value is 7, f is a floating-point variable whose value is </a:t>
            </a:r>
            <a:r>
              <a:rPr i="1" lang="en-US" sz="2400"/>
              <a:t>5.5 </a:t>
            </a:r>
            <a:r>
              <a:rPr lang="en-US" sz="2400"/>
              <a:t>and c is a character variable that represents the character ‘ w’ . </a:t>
            </a:r>
            <a:endParaRPr/>
          </a:p>
          <a:p>
            <a:pPr indent="0" lvl="0" marL="0" rtl="0" algn="l">
              <a:lnSpc>
                <a:spcPct val="90000"/>
              </a:lnSpc>
              <a:spcBef>
                <a:spcPts val="480"/>
              </a:spcBef>
              <a:spcAft>
                <a:spcPts val="0"/>
              </a:spcAft>
              <a:buClr>
                <a:schemeClr val="dk1"/>
              </a:buClr>
              <a:buSzPts val="2400"/>
              <a:buNone/>
            </a:pPr>
            <a:r>
              <a:t/>
            </a:r>
            <a:endParaRPr sz="2400"/>
          </a:p>
          <a:p>
            <a:pPr indent="-342900" lvl="0" marL="342900" rtl="0" algn="l">
              <a:lnSpc>
                <a:spcPct val="90000"/>
              </a:lnSpc>
              <a:spcBef>
                <a:spcPts val="480"/>
              </a:spcBef>
              <a:spcAft>
                <a:spcPts val="0"/>
              </a:spcAft>
              <a:buClr>
                <a:schemeClr val="dk1"/>
              </a:buClr>
              <a:buSzPts val="2400"/>
              <a:buChar char="•"/>
            </a:pPr>
            <a:r>
              <a:rPr b="1" i="1" lang="en-US" sz="2400"/>
              <a:t>Expression 				Interpretation 		Value</a:t>
            </a:r>
            <a:endParaRPr/>
          </a:p>
          <a:p>
            <a:pPr indent="-342900" lvl="0" marL="342900" rtl="0" algn="l">
              <a:lnSpc>
                <a:spcPct val="90000"/>
              </a:lnSpc>
              <a:spcBef>
                <a:spcPts val="480"/>
              </a:spcBef>
              <a:spcAft>
                <a:spcPts val="0"/>
              </a:spcAft>
              <a:buClr>
                <a:schemeClr val="dk1"/>
              </a:buClr>
              <a:buSzPts val="2400"/>
              <a:buChar char="•"/>
            </a:pPr>
            <a:r>
              <a:rPr lang="en-US" sz="2400"/>
              <a:t>(i &gt;= 6) &amp;&amp; (c == ' w ' ) 		true 				1</a:t>
            </a:r>
            <a:endParaRPr/>
          </a:p>
          <a:p>
            <a:pPr indent="-342900" lvl="0" marL="342900" rtl="0" algn="l">
              <a:lnSpc>
                <a:spcPct val="90000"/>
              </a:lnSpc>
              <a:spcBef>
                <a:spcPts val="480"/>
              </a:spcBef>
              <a:spcAft>
                <a:spcPts val="0"/>
              </a:spcAft>
              <a:buClr>
                <a:schemeClr val="dk1"/>
              </a:buClr>
              <a:buSzPts val="2400"/>
              <a:buChar char="•"/>
            </a:pPr>
            <a:r>
              <a:rPr lang="en-US" sz="2400"/>
              <a:t>(i &gt;= 6) || (c == 119) 		true 				1</a:t>
            </a:r>
            <a:endParaRPr/>
          </a:p>
          <a:p>
            <a:pPr indent="-342900" lvl="0" marL="342900" rtl="0" algn="l">
              <a:lnSpc>
                <a:spcPct val="90000"/>
              </a:lnSpc>
              <a:spcBef>
                <a:spcPts val="480"/>
              </a:spcBef>
              <a:spcAft>
                <a:spcPts val="0"/>
              </a:spcAft>
              <a:buClr>
                <a:schemeClr val="dk1"/>
              </a:buClr>
              <a:buSzPts val="2400"/>
              <a:buChar char="•"/>
            </a:pPr>
            <a:r>
              <a:rPr lang="en-US" sz="2400"/>
              <a:t>(f &lt; 11) &amp;&amp; (i &gt; 100) 		false 				0</a:t>
            </a:r>
            <a:endParaRPr/>
          </a:p>
          <a:p>
            <a:pPr indent="-342900" lvl="0" marL="342900" rtl="0" algn="l">
              <a:lnSpc>
                <a:spcPct val="90000"/>
              </a:lnSpc>
              <a:spcBef>
                <a:spcPts val="480"/>
              </a:spcBef>
              <a:spcAft>
                <a:spcPts val="0"/>
              </a:spcAft>
              <a:buClr>
                <a:schemeClr val="dk1"/>
              </a:buClr>
              <a:buSzPts val="2400"/>
              <a:buChar char="•"/>
            </a:pPr>
            <a:r>
              <a:rPr lang="en-US" sz="2400"/>
              <a:t>(c != ' p ' ) || ((i + f ) &lt;= 10) 	true 				1</a:t>
            </a:r>
            <a:endParaRPr/>
          </a:p>
          <a:p>
            <a:pPr indent="-342900" lvl="0" marL="342900" rtl="0" algn="l">
              <a:lnSpc>
                <a:spcPct val="90000"/>
              </a:lnSpc>
              <a:spcBef>
                <a:spcPts val="480"/>
              </a:spcBef>
              <a:spcAft>
                <a:spcPts val="0"/>
              </a:spcAft>
              <a:buClr>
                <a:schemeClr val="dk1"/>
              </a:buClr>
              <a:buSzPts val="2400"/>
              <a:buChar char="•"/>
            </a:pPr>
            <a:r>
              <a:rPr b="1" lang="en-US" sz="2400"/>
              <a:t>E.g.    </a:t>
            </a:r>
            <a:r>
              <a:rPr b="1" lang="en-US" sz="2400">
                <a:solidFill>
                  <a:srgbClr val="000000"/>
                </a:solidFill>
              </a:rPr>
              <a:t>5 &amp;&amp; i != 8</a:t>
            </a:r>
            <a:endParaRPr b="1" sz="2400"/>
          </a:p>
          <a:p>
            <a:pPr indent="-342900" lvl="0" marL="342900" rtl="0" algn="just">
              <a:lnSpc>
                <a:spcPct val="90000"/>
              </a:lnSpc>
              <a:spcBef>
                <a:spcPts val="480"/>
              </a:spcBef>
              <a:spcAft>
                <a:spcPts val="0"/>
              </a:spcAft>
              <a:buClr>
                <a:schemeClr val="dk1"/>
              </a:buClr>
              <a:buSzPts val="2400"/>
              <a:buChar char="•"/>
            </a:pPr>
            <a:r>
              <a:rPr lang="en-US" sz="2400"/>
              <a:t>The result of a </a:t>
            </a:r>
            <a:r>
              <a:rPr i="1" lang="en-US" sz="2400"/>
              <a:t>logical </a:t>
            </a:r>
            <a:r>
              <a:rPr b="1" i="1" lang="en-US" sz="2400"/>
              <a:t>and </a:t>
            </a:r>
            <a:r>
              <a:rPr lang="en-US" sz="2400"/>
              <a:t>operation will be true only if both operands are true, whereas the result of a </a:t>
            </a:r>
            <a:r>
              <a:rPr i="1" lang="en-US" sz="2400"/>
              <a:t>logical </a:t>
            </a:r>
            <a:r>
              <a:rPr b="1" i="1" lang="en-US" sz="2400"/>
              <a:t>or </a:t>
            </a:r>
            <a:r>
              <a:rPr lang="en-US" sz="2400"/>
              <a:t>operation will be true if either operand is true or if both operands are true. In other words, the result of a </a:t>
            </a:r>
            <a:r>
              <a:rPr i="1" lang="en-US" sz="2400"/>
              <a:t>logical or </a:t>
            </a:r>
            <a:r>
              <a:rPr lang="en-US" sz="2400"/>
              <a:t>operation will be false only if both operands are false.</a:t>
            </a:r>
            <a:endParaRPr/>
          </a:p>
          <a:p>
            <a:pPr indent="-190500" lvl="0" marL="342900" rtl="0" algn="l">
              <a:lnSpc>
                <a:spcPct val="90000"/>
              </a:lnSpc>
              <a:spcBef>
                <a:spcPts val="480"/>
              </a:spcBef>
              <a:spcAft>
                <a:spcPts val="0"/>
              </a:spcAft>
              <a:buClr>
                <a:schemeClr val="dk1"/>
              </a:buClr>
              <a:buSzPts val="2400"/>
              <a:buNone/>
            </a:pPr>
            <a:r>
              <a:t/>
            </a:r>
            <a:endParaRPr sz="2400"/>
          </a:p>
          <a:p>
            <a:pPr indent="-190500" lvl="0" marL="342900" rtl="0" algn="l">
              <a:lnSpc>
                <a:spcPct val="90000"/>
              </a:lnSpc>
              <a:spcBef>
                <a:spcPts val="480"/>
              </a:spcBef>
              <a:spcAft>
                <a:spcPts val="0"/>
              </a:spcAft>
              <a:buClr>
                <a:schemeClr val="dk1"/>
              </a:buClr>
              <a:buSzPts val="2400"/>
              <a:buNone/>
            </a:pPr>
            <a:r>
              <a:t/>
            </a:r>
            <a:endParaRPr sz="2400"/>
          </a:p>
        </p:txBody>
      </p:sp>
      <p:sp>
        <p:nvSpPr>
          <p:cNvPr id="675" name="Google Shape;675;p7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77"/>
          <p:cNvSpPr txBox="1"/>
          <p:nvPr>
            <p:ph type="title"/>
          </p:nvPr>
        </p:nvSpPr>
        <p:spPr>
          <a:xfrm>
            <a:off x="609600" y="189187"/>
            <a:ext cx="10972800" cy="4256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40"/>
              <a:buFont typeface="Calibri"/>
              <a:buNone/>
            </a:pPr>
            <a:r>
              <a:rPr b="1" lang="en-US" sz="3240"/>
              <a:t>Bitwise Operators</a:t>
            </a:r>
            <a:endParaRPr/>
          </a:p>
        </p:txBody>
      </p:sp>
      <p:sp>
        <p:nvSpPr>
          <p:cNvPr id="682" name="Google Shape;682;p77"/>
          <p:cNvSpPr txBox="1"/>
          <p:nvPr>
            <p:ph idx="1" type="body"/>
          </p:nvPr>
        </p:nvSpPr>
        <p:spPr>
          <a:xfrm>
            <a:off x="204953" y="756745"/>
            <a:ext cx="11729544" cy="588053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Bitwise operator works on bits and perform bit-by-bit operation. C provides six operators for bit manipulation. </a:t>
            </a:r>
            <a:endParaRPr/>
          </a:p>
          <a:p>
            <a:pPr indent="-342900" lvl="0" marL="342900" rtl="0" algn="l">
              <a:spcBef>
                <a:spcPts val="480"/>
              </a:spcBef>
              <a:spcAft>
                <a:spcPts val="0"/>
              </a:spcAft>
              <a:buClr>
                <a:schemeClr val="dk1"/>
              </a:buClr>
              <a:buSzPts val="2400"/>
              <a:buChar char="•"/>
            </a:pPr>
            <a:r>
              <a:rPr lang="en-US" sz="2400"/>
              <a:t>Assume variable </a:t>
            </a:r>
            <a:endParaRPr/>
          </a:p>
          <a:p>
            <a:pPr indent="0" lvl="0" marL="0" rtl="0" algn="l">
              <a:spcBef>
                <a:spcPts val="480"/>
              </a:spcBef>
              <a:spcAft>
                <a:spcPts val="0"/>
              </a:spcAft>
              <a:buClr>
                <a:schemeClr val="dk1"/>
              </a:buClr>
              <a:buSzPts val="2400"/>
              <a:buNone/>
            </a:pPr>
            <a:r>
              <a:rPr lang="en-US" sz="2400"/>
              <a:t>'A' holds 60 and </a:t>
            </a:r>
            <a:endParaRPr/>
          </a:p>
          <a:p>
            <a:pPr indent="0" lvl="0" marL="0" rtl="0" algn="l">
              <a:spcBef>
                <a:spcPts val="480"/>
              </a:spcBef>
              <a:spcAft>
                <a:spcPts val="0"/>
              </a:spcAft>
              <a:buClr>
                <a:schemeClr val="dk1"/>
              </a:buClr>
              <a:buSzPts val="2400"/>
              <a:buNone/>
            </a:pPr>
            <a:r>
              <a:rPr lang="en-US" sz="2400"/>
              <a:t>variable 'B' holds 13, </a:t>
            </a:r>
            <a:endParaRPr/>
          </a:p>
          <a:p>
            <a:pPr indent="0" lvl="0" marL="0" rtl="0" algn="l">
              <a:spcBef>
                <a:spcPts val="480"/>
              </a:spcBef>
              <a:spcAft>
                <a:spcPts val="0"/>
              </a:spcAft>
              <a:buClr>
                <a:schemeClr val="dk1"/>
              </a:buClr>
              <a:buSzPts val="2400"/>
              <a:buNone/>
            </a:pPr>
            <a:r>
              <a:rPr lang="en-US" sz="2400"/>
              <a:t>then −</a:t>
            </a:r>
            <a:endParaRPr/>
          </a:p>
          <a:p>
            <a:pPr indent="0" lvl="0" marL="0" rtl="0" algn="l">
              <a:spcBef>
                <a:spcPts val="480"/>
              </a:spcBef>
              <a:spcAft>
                <a:spcPts val="0"/>
              </a:spcAft>
              <a:buClr>
                <a:schemeClr val="dk1"/>
              </a:buClr>
              <a:buSzPts val="2400"/>
              <a:buNone/>
            </a:pPr>
            <a:r>
              <a:rPr lang="en-US" sz="2400"/>
              <a:t>60 - 00111100</a:t>
            </a:r>
            <a:endParaRPr/>
          </a:p>
          <a:p>
            <a:pPr indent="0" lvl="0" marL="0" rtl="0" algn="l">
              <a:spcBef>
                <a:spcPts val="480"/>
              </a:spcBef>
              <a:spcAft>
                <a:spcPts val="0"/>
              </a:spcAft>
              <a:buClr>
                <a:schemeClr val="dk1"/>
              </a:buClr>
              <a:buSzPts val="2400"/>
              <a:buNone/>
            </a:pPr>
            <a:r>
              <a:rPr lang="en-US" sz="2400"/>
              <a:t>13-  00001101</a:t>
            </a:r>
            <a:endParaRPr/>
          </a:p>
        </p:txBody>
      </p:sp>
      <p:sp>
        <p:nvSpPr>
          <p:cNvPr id="683" name="Google Shape;683;p7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684" name="Google Shape;684;p77"/>
          <p:cNvGraphicFramePr/>
          <p:nvPr/>
        </p:nvGraphicFramePr>
        <p:xfrm>
          <a:off x="3137377" y="1545020"/>
          <a:ext cx="3000000" cy="3000000"/>
        </p:xfrm>
        <a:graphic>
          <a:graphicData uri="http://schemas.openxmlformats.org/drawingml/2006/table">
            <a:tbl>
              <a:tblPr>
                <a:noFill/>
                <a:tableStyleId>{77D9BF88-F2FA-47AB-A2AE-C283F5D904F1}</a:tableStyleId>
              </a:tblPr>
              <a:tblGrid>
                <a:gridCol w="1277000"/>
                <a:gridCol w="4803225"/>
                <a:gridCol w="2684575"/>
              </a:tblGrid>
              <a:tr h="469325">
                <a:tc>
                  <a:txBody>
                    <a:bodyPr/>
                    <a:lstStyle/>
                    <a:p>
                      <a:pPr indent="0" lvl="0" marL="0" marR="0" rtl="0" algn="l">
                        <a:spcBef>
                          <a:spcPts val="0"/>
                        </a:spcBef>
                        <a:spcAft>
                          <a:spcPts val="0"/>
                        </a:spcAft>
                        <a:buNone/>
                      </a:pPr>
                      <a:r>
                        <a:rPr b="1" lang="en-US" sz="1800" u="none" cap="none" strike="noStrike"/>
                        <a:t>Operator</a:t>
                      </a:r>
                      <a:endParaRPr/>
                    </a:p>
                  </a:txBody>
                  <a:tcPr marT="48550" marB="48550" marR="48550" marL="48550"/>
                </a:tc>
                <a:tc>
                  <a:txBody>
                    <a:bodyPr/>
                    <a:lstStyle/>
                    <a:p>
                      <a:pPr indent="0" lvl="0" marL="0" marR="0" rtl="0" algn="l">
                        <a:spcBef>
                          <a:spcPts val="0"/>
                        </a:spcBef>
                        <a:spcAft>
                          <a:spcPts val="0"/>
                        </a:spcAft>
                        <a:buNone/>
                      </a:pPr>
                      <a:r>
                        <a:rPr b="1" lang="en-US" sz="1800" u="none" cap="none" strike="noStrike"/>
                        <a:t>Description</a:t>
                      </a:r>
                      <a:endParaRPr/>
                    </a:p>
                  </a:txBody>
                  <a:tcPr marT="48550" marB="48550" marR="48550" marL="48550"/>
                </a:tc>
                <a:tc>
                  <a:txBody>
                    <a:bodyPr/>
                    <a:lstStyle/>
                    <a:p>
                      <a:pPr indent="0" lvl="0" marL="0" marR="0" rtl="0" algn="l">
                        <a:spcBef>
                          <a:spcPts val="0"/>
                        </a:spcBef>
                        <a:spcAft>
                          <a:spcPts val="0"/>
                        </a:spcAft>
                        <a:buNone/>
                      </a:pPr>
                      <a:r>
                        <a:rPr b="1" lang="en-US" sz="1800" u="none" cap="none" strike="noStrike"/>
                        <a:t>Example</a:t>
                      </a:r>
                      <a:endParaRPr/>
                    </a:p>
                  </a:txBody>
                  <a:tcPr marT="48550" marB="48550" marR="48550" marL="48550"/>
                </a:tc>
              </a:tr>
              <a:tr h="652975">
                <a:tc>
                  <a:txBody>
                    <a:bodyPr/>
                    <a:lstStyle/>
                    <a:p>
                      <a:pPr indent="0" lvl="0" marL="0" marR="0" rtl="0" algn="l">
                        <a:spcBef>
                          <a:spcPts val="0"/>
                        </a:spcBef>
                        <a:spcAft>
                          <a:spcPts val="0"/>
                        </a:spcAft>
                        <a:buNone/>
                      </a:pPr>
                      <a:r>
                        <a:rPr lang="en-US" sz="1800" u="none" cap="none" strike="noStrike"/>
                        <a:t>&amp;</a:t>
                      </a:r>
                      <a:endParaRPr/>
                    </a:p>
                  </a:txBody>
                  <a:tcPr marT="48550" marB="48550" marR="48550" marL="48550"/>
                </a:tc>
                <a:tc>
                  <a:txBody>
                    <a:bodyPr/>
                    <a:lstStyle/>
                    <a:p>
                      <a:pPr indent="0" lvl="0" marL="0" marR="0" rtl="0" algn="l">
                        <a:spcBef>
                          <a:spcPts val="0"/>
                        </a:spcBef>
                        <a:spcAft>
                          <a:spcPts val="0"/>
                        </a:spcAft>
                        <a:buNone/>
                      </a:pPr>
                      <a:r>
                        <a:rPr lang="en-US" sz="1800" u="none" cap="none" strike="noStrike"/>
                        <a:t>Binary AND Operator copies a bit to the result if it exists in both operands.</a:t>
                      </a:r>
                      <a:endParaRPr/>
                    </a:p>
                  </a:txBody>
                  <a:tcPr marT="48550" marB="48550" marR="48550" marL="48550"/>
                </a:tc>
                <a:tc>
                  <a:txBody>
                    <a:bodyPr/>
                    <a:lstStyle/>
                    <a:p>
                      <a:pPr indent="0" lvl="0" marL="0" marR="0" rtl="0" algn="l">
                        <a:spcBef>
                          <a:spcPts val="0"/>
                        </a:spcBef>
                        <a:spcAft>
                          <a:spcPts val="0"/>
                        </a:spcAft>
                        <a:buNone/>
                      </a:pPr>
                      <a:r>
                        <a:rPr lang="en-US" sz="1800" u="none" cap="none" strike="noStrike"/>
                        <a:t>(A &amp; B) = 12, i.e., 0000 1100</a:t>
                      </a:r>
                      <a:endParaRPr/>
                    </a:p>
                  </a:txBody>
                  <a:tcPr marT="48550" marB="48550" marR="48550" marL="48550"/>
                </a:tc>
              </a:tr>
              <a:tr h="469325">
                <a:tc>
                  <a:txBody>
                    <a:bodyPr/>
                    <a:lstStyle/>
                    <a:p>
                      <a:pPr indent="0" lvl="0" marL="0" marR="0" rtl="0" algn="l">
                        <a:spcBef>
                          <a:spcPts val="0"/>
                        </a:spcBef>
                        <a:spcAft>
                          <a:spcPts val="0"/>
                        </a:spcAft>
                        <a:buNone/>
                      </a:pPr>
                      <a:r>
                        <a:rPr lang="en-US" sz="1800" u="none" cap="none" strike="noStrike"/>
                        <a:t>|</a:t>
                      </a:r>
                      <a:endParaRPr/>
                    </a:p>
                  </a:txBody>
                  <a:tcPr marT="48550" marB="48550" marR="48550" marL="48550"/>
                </a:tc>
                <a:tc>
                  <a:txBody>
                    <a:bodyPr/>
                    <a:lstStyle/>
                    <a:p>
                      <a:pPr indent="0" lvl="0" marL="0" marR="0" rtl="0" algn="l">
                        <a:spcBef>
                          <a:spcPts val="0"/>
                        </a:spcBef>
                        <a:spcAft>
                          <a:spcPts val="0"/>
                        </a:spcAft>
                        <a:buNone/>
                      </a:pPr>
                      <a:r>
                        <a:rPr lang="en-US" sz="1800" u="none" cap="none" strike="noStrike"/>
                        <a:t>Binary OR Operator copies a bit if it exists in either operand.</a:t>
                      </a:r>
                      <a:endParaRPr/>
                    </a:p>
                  </a:txBody>
                  <a:tcPr marT="48550" marB="48550" marR="48550" marL="48550"/>
                </a:tc>
                <a:tc>
                  <a:txBody>
                    <a:bodyPr/>
                    <a:lstStyle/>
                    <a:p>
                      <a:pPr indent="0" lvl="0" marL="0" marR="0" rtl="0" algn="l">
                        <a:spcBef>
                          <a:spcPts val="0"/>
                        </a:spcBef>
                        <a:spcAft>
                          <a:spcPts val="0"/>
                        </a:spcAft>
                        <a:buNone/>
                      </a:pPr>
                      <a:r>
                        <a:rPr lang="en-US" sz="1800" u="none" cap="none" strike="noStrike"/>
                        <a:t>(A | B) = 61, i.e., 0011 1101</a:t>
                      </a:r>
                      <a:endParaRPr/>
                    </a:p>
                  </a:txBody>
                  <a:tcPr marT="48550" marB="48550" marR="48550" marL="48550"/>
                </a:tc>
              </a:tr>
              <a:tr h="652975">
                <a:tc>
                  <a:txBody>
                    <a:bodyPr/>
                    <a:lstStyle/>
                    <a:p>
                      <a:pPr indent="0" lvl="0" marL="0" marR="0" rtl="0" algn="l">
                        <a:spcBef>
                          <a:spcPts val="0"/>
                        </a:spcBef>
                        <a:spcAft>
                          <a:spcPts val="0"/>
                        </a:spcAft>
                        <a:buNone/>
                      </a:pPr>
                      <a:r>
                        <a:rPr lang="en-US" sz="1800" u="none" cap="none" strike="noStrike"/>
                        <a:t>^</a:t>
                      </a:r>
                      <a:endParaRPr/>
                    </a:p>
                  </a:txBody>
                  <a:tcPr marT="48550" marB="48550" marR="48550" marL="48550"/>
                </a:tc>
                <a:tc>
                  <a:txBody>
                    <a:bodyPr/>
                    <a:lstStyle/>
                    <a:p>
                      <a:pPr indent="0" lvl="0" marL="0" marR="0" rtl="0" algn="l">
                        <a:spcBef>
                          <a:spcPts val="0"/>
                        </a:spcBef>
                        <a:spcAft>
                          <a:spcPts val="0"/>
                        </a:spcAft>
                        <a:buNone/>
                      </a:pPr>
                      <a:r>
                        <a:rPr lang="en-US" sz="1800" u="none" cap="none" strike="noStrike"/>
                        <a:t>Binary XOR Operator copies the bit if it is set in one operand but not both.</a:t>
                      </a:r>
                      <a:endParaRPr/>
                    </a:p>
                  </a:txBody>
                  <a:tcPr marT="48550" marB="48550" marR="48550" marL="48550"/>
                </a:tc>
                <a:tc>
                  <a:txBody>
                    <a:bodyPr/>
                    <a:lstStyle/>
                    <a:p>
                      <a:pPr indent="0" lvl="0" marL="0" marR="0" rtl="0" algn="l">
                        <a:spcBef>
                          <a:spcPts val="0"/>
                        </a:spcBef>
                        <a:spcAft>
                          <a:spcPts val="0"/>
                        </a:spcAft>
                        <a:buNone/>
                      </a:pPr>
                      <a:r>
                        <a:rPr lang="en-US" sz="1800" u="none" cap="none" strike="noStrike"/>
                        <a:t>(A ^ B) = 49, i.e., 0011 0001</a:t>
                      </a:r>
                      <a:endParaRPr/>
                    </a:p>
                  </a:txBody>
                  <a:tcPr marT="48550" marB="48550" marR="48550" marL="48550"/>
                </a:tc>
              </a:tr>
              <a:tr h="836650">
                <a:tc>
                  <a:txBody>
                    <a:bodyPr/>
                    <a:lstStyle/>
                    <a:p>
                      <a:pPr indent="0" lvl="0" marL="0" marR="0" rtl="0" algn="l">
                        <a:spcBef>
                          <a:spcPts val="0"/>
                        </a:spcBef>
                        <a:spcAft>
                          <a:spcPts val="0"/>
                        </a:spcAft>
                        <a:buNone/>
                      </a:pPr>
                      <a:r>
                        <a:rPr lang="en-US" sz="1800" u="none" cap="none" strike="noStrike"/>
                        <a:t>~</a:t>
                      </a:r>
                      <a:endParaRPr/>
                    </a:p>
                  </a:txBody>
                  <a:tcPr marT="48550" marB="48550" marR="48550" marL="48550"/>
                </a:tc>
                <a:tc>
                  <a:txBody>
                    <a:bodyPr/>
                    <a:lstStyle/>
                    <a:p>
                      <a:pPr indent="0" lvl="0" marL="0" marR="0" rtl="0" algn="l">
                        <a:spcBef>
                          <a:spcPts val="0"/>
                        </a:spcBef>
                        <a:spcAft>
                          <a:spcPts val="0"/>
                        </a:spcAft>
                        <a:buNone/>
                      </a:pPr>
                      <a:r>
                        <a:rPr lang="en-US" sz="1800" u="none" cap="none" strike="noStrike"/>
                        <a:t>Binary Ones Complement Operator is unary and has the effect of 'flipping' bits.</a:t>
                      </a:r>
                      <a:endParaRPr/>
                    </a:p>
                  </a:txBody>
                  <a:tcPr marT="48550" marB="48550" marR="48550" marL="48550"/>
                </a:tc>
                <a:tc>
                  <a:txBody>
                    <a:bodyPr/>
                    <a:lstStyle/>
                    <a:p>
                      <a:pPr indent="0" lvl="0" marL="0" marR="0" rtl="0" algn="l">
                        <a:spcBef>
                          <a:spcPts val="0"/>
                        </a:spcBef>
                        <a:spcAft>
                          <a:spcPts val="0"/>
                        </a:spcAft>
                        <a:buNone/>
                      </a:pPr>
                      <a:r>
                        <a:rPr lang="en-US" sz="1800" u="none" cap="none" strike="noStrike"/>
                        <a:t>(~A ) = -61, i.e,. 1100 0011 in 2's complement form.</a:t>
                      </a:r>
                      <a:endParaRPr/>
                    </a:p>
                  </a:txBody>
                  <a:tcPr marT="48550" marB="48550" marR="48550" marL="48550"/>
                </a:tc>
              </a:tr>
              <a:tr h="836650">
                <a:tc>
                  <a:txBody>
                    <a:bodyPr/>
                    <a:lstStyle/>
                    <a:p>
                      <a:pPr indent="0" lvl="0" marL="0" marR="0" rtl="0" algn="l">
                        <a:spcBef>
                          <a:spcPts val="0"/>
                        </a:spcBef>
                        <a:spcAft>
                          <a:spcPts val="0"/>
                        </a:spcAft>
                        <a:buNone/>
                      </a:pPr>
                      <a:r>
                        <a:rPr lang="en-US" sz="1800" u="none" cap="none" strike="noStrike"/>
                        <a:t>&lt;&lt;</a:t>
                      </a:r>
                      <a:endParaRPr/>
                    </a:p>
                  </a:txBody>
                  <a:tcPr marT="48550" marB="48550" marR="48550" marL="48550"/>
                </a:tc>
                <a:tc>
                  <a:txBody>
                    <a:bodyPr/>
                    <a:lstStyle/>
                    <a:p>
                      <a:pPr indent="0" lvl="0" marL="0" marR="0" rtl="0" algn="l">
                        <a:spcBef>
                          <a:spcPts val="0"/>
                        </a:spcBef>
                        <a:spcAft>
                          <a:spcPts val="0"/>
                        </a:spcAft>
                        <a:buNone/>
                      </a:pPr>
                      <a:r>
                        <a:rPr lang="en-US" sz="1800" u="none" cap="none" strike="noStrike"/>
                        <a:t>Binary Left Shift Operator. The left operands value is moved left by the number of bits specified by the right operand.</a:t>
                      </a:r>
                      <a:endParaRPr/>
                    </a:p>
                  </a:txBody>
                  <a:tcPr marT="48550" marB="48550" marR="48550" marL="48550"/>
                </a:tc>
                <a:tc>
                  <a:txBody>
                    <a:bodyPr/>
                    <a:lstStyle/>
                    <a:p>
                      <a:pPr indent="0" lvl="0" marL="0" marR="0" rtl="0" algn="l">
                        <a:spcBef>
                          <a:spcPts val="0"/>
                        </a:spcBef>
                        <a:spcAft>
                          <a:spcPts val="0"/>
                        </a:spcAft>
                        <a:buNone/>
                      </a:pPr>
                      <a:r>
                        <a:rPr lang="en-US" sz="1800" u="none" cap="none" strike="noStrike"/>
                        <a:t>A &lt;&lt; 2 = 240 i.e., 1111 0000</a:t>
                      </a:r>
                      <a:endParaRPr/>
                    </a:p>
                  </a:txBody>
                  <a:tcPr marT="48550" marB="48550" marR="48550" marL="48550"/>
                </a:tc>
              </a:tr>
              <a:tr h="836650">
                <a:tc>
                  <a:txBody>
                    <a:bodyPr/>
                    <a:lstStyle/>
                    <a:p>
                      <a:pPr indent="0" lvl="0" marL="0" marR="0" rtl="0" algn="l">
                        <a:spcBef>
                          <a:spcPts val="0"/>
                        </a:spcBef>
                        <a:spcAft>
                          <a:spcPts val="0"/>
                        </a:spcAft>
                        <a:buNone/>
                      </a:pPr>
                      <a:r>
                        <a:rPr lang="en-US" sz="1800" u="none" cap="none" strike="noStrike"/>
                        <a:t>&gt;&gt;</a:t>
                      </a:r>
                      <a:endParaRPr/>
                    </a:p>
                  </a:txBody>
                  <a:tcPr marT="48550" marB="48550" marR="48550" marL="48550"/>
                </a:tc>
                <a:tc>
                  <a:txBody>
                    <a:bodyPr/>
                    <a:lstStyle/>
                    <a:p>
                      <a:pPr indent="0" lvl="0" marL="0" marR="0" rtl="0" algn="l">
                        <a:spcBef>
                          <a:spcPts val="0"/>
                        </a:spcBef>
                        <a:spcAft>
                          <a:spcPts val="0"/>
                        </a:spcAft>
                        <a:buNone/>
                      </a:pPr>
                      <a:r>
                        <a:rPr lang="en-US" sz="1800" u="none" cap="none" strike="noStrike"/>
                        <a:t>Binary Right Shift Operator. The left operands value is moved right by the number of bits specified by the right operand.</a:t>
                      </a:r>
                      <a:endParaRPr/>
                    </a:p>
                  </a:txBody>
                  <a:tcPr marT="48550" marB="48550" marR="48550" marL="48550"/>
                </a:tc>
                <a:tc>
                  <a:txBody>
                    <a:bodyPr/>
                    <a:lstStyle/>
                    <a:p>
                      <a:pPr indent="0" lvl="0" marL="0" marR="0" rtl="0" algn="l">
                        <a:spcBef>
                          <a:spcPts val="0"/>
                        </a:spcBef>
                        <a:spcAft>
                          <a:spcPts val="0"/>
                        </a:spcAft>
                        <a:buNone/>
                      </a:pPr>
                      <a:r>
                        <a:rPr lang="en-US" sz="1800" u="none" cap="none" strike="noStrike"/>
                        <a:t>A &gt;&gt; 2 = 15 i.e., 0000 1111</a:t>
                      </a:r>
                      <a:endParaRPr/>
                    </a:p>
                  </a:txBody>
                  <a:tcPr marT="48550" marB="48550" marR="48550" marL="48550"/>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7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Assignment Operators</a:t>
            </a:r>
            <a:endParaRPr b="1"/>
          </a:p>
        </p:txBody>
      </p:sp>
      <p:sp>
        <p:nvSpPr>
          <p:cNvPr id="691" name="Google Shape;691;p78"/>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There are several different assignment operators in C. </a:t>
            </a:r>
            <a:endParaRPr/>
          </a:p>
          <a:p>
            <a:pPr indent="-342900" lvl="0" marL="342900" rtl="0" algn="just">
              <a:spcBef>
                <a:spcPts val="640"/>
              </a:spcBef>
              <a:spcAft>
                <a:spcPts val="0"/>
              </a:spcAft>
              <a:buClr>
                <a:schemeClr val="dk1"/>
              </a:buClr>
              <a:buSzPts val="3200"/>
              <a:buChar char="•"/>
            </a:pPr>
            <a:r>
              <a:rPr lang="en-US"/>
              <a:t>All of them are used to form </a:t>
            </a:r>
            <a:r>
              <a:rPr b="1" i="1" lang="en-US"/>
              <a:t>assignment expressions, </a:t>
            </a:r>
            <a:r>
              <a:rPr lang="en-US"/>
              <a:t>which assign the value of an expression to an identifier.</a:t>
            </a:r>
            <a:endParaRPr/>
          </a:p>
          <a:p>
            <a:pPr indent="-342900" lvl="0" marL="342900" rtl="0" algn="just">
              <a:spcBef>
                <a:spcPts val="640"/>
              </a:spcBef>
              <a:spcAft>
                <a:spcPts val="0"/>
              </a:spcAft>
              <a:buClr>
                <a:schemeClr val="dk1"/>
              </a:buClr>
              <a:buSzPts val="3200"/>
              <a:buChar char="•"/>
            </a:pPr>
            <a:r>
              <a:rPr lang="en-US"/>
              <a:t>Assignment operators applied to assign the result of an expression to a variable.</a:t>
            </a:r>
            <a:endParaRPr b="1"/>
          </a:p>
        </p:txBody>
      </p:sp>
      <p:sp>
        <p:nvSpPr>
          <p:cNvPr id="692" name="Google Shape;692;p7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79"/>
          <p:cNvSpPr txBox="1"/>
          <p:nvPr>
            <p:ph type="title"/>
          </p:nvPr>
        </p:nvSpPr>
        <p:spPr>
          <a:xfrm>
            <a:off x="609600" y="1"/>
            <a:ext cx="10972800" cy="55179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n-US" sz="3200"/>
              <a:t>Assignment Operators</a:t>
            </a:r>
            <a:endParaRPr b="1" sz="3200"/>
          </a:p>
        </p:txBody>
      </p:sp>
      <p:graphicFrame>
        <p:nvGraphicFramePr>
          <p:cNvPr id="699" name="Google Shape;699;p79"/>
          <p:cNvGraphicFramePr/>
          <p:nvPr/>
        </p:nvGraphicFramePr>
        <p:xfrm>
          <a:off x="1592317" y="504512"/>
          <a:ext cx="3000000" cy="3000000"/>
        </p:xfrm>
        <a:graphic>
          <a:graphicData uri="http://schemas.openxmlformats.org/drawingml/2006/table">
            <a:tbl>
              <a:tblPr>
                <a:noFill/>
                <a:tableStyleId>{77D9BF88-F2FA-47AB-A2AE-C283F5D904F1}</a:tableStyleId>
              </a:tblPr>
              <a:tblGrid>
                <a:gridCol w="1182425"/>
                <a:gridCol w="5391800"/>
                <a:gridCol w="2364825"/>
              </a:tblGrid>
              <a:tr h="146050">
                <a:tc>
                  <a:txBody>
                    <a:bodyPr/>
                    <a:lstStyle/>
                    <a:p>
                      <a:pPr indent="0" lvl="0" marL="0" marR="0" rtl="0" algn="l">
                        <a:spcBef>
                          <a:spcPts val="0"/>
                        </a:spcBef>
                        <a:spcAft>
                          <a:spcPts val="0"/>
                        </a:spcAft>
                        <a:buNone/>
                      </a:pPr>
                      <a:r>
                        <a:rPr b="1" lang="en-US" sz="1600" u="none" cap="none" strike="noStrike"/>
                        <a:t>Operator</a:t>
                      </a:r>
                      <a:endParaRPr/>
                    </a:p>
                  </a:txBody>
                  <a:tcPr marT="33350" marB="33350" marR="33350" marL="33350"/>
                </a:tc>
                <a:tc>
                  <a:txBody>
                    <a:bodyPr/>
                    <a:lstStyle/>
                    <a:p>
                      <a:pPr indent="0" lvl="0" marL="0" marR="0" rtl="0" algn="l">
                        <a:spcBef>
                          <a:spcPts val="0"/>
                        </a:spcBef>
                        <a:spcAft>
                          <a:spcPts val="0"/>
                        </a:spcAft>
                        <a:buNone/>
                      </a:pPr>
                      <a:r>
                        <a:rPr b="1" lang="en-US" sz="1600" u="none" cap="none" strike="noStrike"/>
                        <a:t>Description</a:t>
                      </a:r>
                      <a:endParaRPr/>
                    </a:p>
                  </a:txBody>
                  <a:tcPr marT="33350" marB="33350" marR="33350" marL="33350"/>
                </a:tc>
                <a:tc>
                  <a:txBody>
                    <a:bodyPr/>
                    <a:lstStyle/>
                    <a:p>
                      <a:pPr indent="0" lvl="0" marL="0" marR="0" rtl="0" algn="l">
                        <a:spcBef>
                          <a:spcPts val="0"/>
                        </a:spcBef>
                        <a:spcAft>
                          <a:spcPts val="0"/>
                        </a:spcAft>
                        <a:buNone/>
                      </a:pPr>
                      <a:r>
                        <a:rPr b="1" lang="en-US" sz="1600" u="none" cap="none" strike="noStrike"/>
                        <a:t>Example</a:t>
                      </a:r>
                      <a:endParaRPr/>
                    </a:p>
                  </a:txBody>
                  <a:tcPr marT="33350" marB="33350" marR="33350" marL="33350"/>
                </a:tc>
              </a:tr>
              <a:tr h="265025">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Simple assignment operator. Assigns values from right side operands to left side operand</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A + B will assign the value of A + B to C</a:t>
                      </a:r>
                      <a:endParaRPr/>
                    </a:p>
                  </a:txBody>
                  <a:tcPr marT="33350" marB="33350" marR="33350" marL="33350"/>
                </a:tc>
              </a:tr>
              <a:tr h="384475">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Add AND assignment operator. It adds the right operand to the left operand and assign the result to the left operand.</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A is equivalent to C = C + A</a:t>
                      </a:r>
                      <a:endParaRPr/>
                    </a:p>
                  </a:txBody>
                  <a:tcPr marT="33350" marB="33350" marR="33350" marL="33350"/>
                </a:tc>
              </a:tr>
              <a:tr h="444200">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Subtract AND assignment operator. It subtracts the right operand from the left operand and assigns the result to the left operand.</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A is equivalent to C = C - A</a:t>
                      </a:r>
                      <a:endParaRPr/>
                    </a:p>
                  </a:txBody>
                  <a:tcPr marT="33350" marB="33350" marR="33350" marL="33350"/>
                </a:tc>
              </a:tr>
              <a:tr h="384475">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Multiply AND assignment operator. It multiplies the right operand with the left operand and assigns the result to the left operand.</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A is equivalent to C = C * A</a:t>
                      </a:r>
                      <a:endParaRPr/>
                    </a:p>
                  </a:txBody>
                  <a:tcPr marT="33350" marB="33350" marR="33350" marL="33350"/>
                </a:tc>
              </a:tr>
              <a:tr h="384475">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Divide AND assignment operator. It divides the left operand with the right operand and assigns the result to the left operand.</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A is equivalent to C = C / A</a:t>
                      </a:r>
                      <a:endParaRPr/>
                    </a:p>
                  </a:txBody>
                  <a:tcPr marT="33350" marB="33350" marR="33350" marL="33350"/>
                </a:tc>
              </a:tr>
              <a:tr h="384475">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Modulus AND assignment operator. It takes modulus using two operands and assigns the result to the left operand.</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A is equivalent to C = C % A</a:t>
                      </a:r>
                      <a:endParaRPr/>
                    </a:p>
                  </a:txBody>
                  <a:tcPr marT="33350" marB="33350" marR="33350" marL="33350"/>
                </a:tc>
              </a:tr>
              <a:tr h="205300">
                <a:tc>
                  <a:txBody>
                    <a:bodyPr/>
                    <a:lstStyle/>
                    <a:p>
                      <a:pPr indent="0" lvl="0" marL="0" marR="0" rtl="0" algn="l">
                        <a:spcBef>
                          <a:spcPts val="0"/>
                        </a:spcBef>
                        <a:spcAft>
                          <a:spcPts val="0"/>
                        </a:spcAft>
                        <a:buNone/>
                      </a:pPr>
                      <a:r>
                        <a:rPr lang="en-US" sz="1600" u="none" cap="none" strike="noStrike"/>
                        <a:t>&lt;&lt;=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Left shift AND assignment operator.</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&lt;&lt;= 2 is same as C = C &lt;&lt; 2</a:t>
                      </a:r>
                      <a:endParaRPr/>
                    </a:p>
                  </a:txBody>
                  <a:tcPr marT="33350" marB="33350" marR="33350" marL="33350"/>
                </a:tc>
              </a:tr>
              <a:tr h="205300">
                <a:tc>
                  <a:txBody>
                    <a:bodyPr/>
                    <a:lstStyle/>
                    <a:p>
                      <a:pPr indent="0" lvl="0" marL="0" marR="0" rtl="0" algn="l">
                        <a:spcBef>
                          <a:spcPts val="0"/>
                        </a:spcBef>
                        <a:spcAft>
                          <a:spcPts val="0"/>
                        </a:spcAft>
                        <a:buNone/>
                      </a:pPr>
                      <a:r>
                        <a:rPr lang="en-US" sz="1600" u="none" cap="none" strike="noStrike"/>
                        <a:t>&gt;&gt;=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Right shift AND assignment operator.</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&gt;&gt;= 2 is same as C = C &gt;&gt; 2</a:t>
                      </a:r>
                      <a:endParaRPr/>
                    </a:p>
                  </a:txBody>
                  <a:tcPr marT="33350" marB="33350" marR="33350" marL="33350"/>
                </a:tc>
              </a:tr>
              <a:tr h="205300">
                <a:tc>
                  <a:txBody>
                    <a:bodyPr/>
                    <a:lstStyle/>
                    <a:p>
                      <a:pPr indent="0" lvl="0" marL="0" marR="0" rtl="0" algn="l">
                        <a:spcBef>
                          <a:spcPts val="0"/>
                        </a:spcBef>
                        <a:spcAft>
                          <a:spcPts val="0"/>
                        </a:spcAft>
                        <a:buNone/>
                      </a:pPr>
                      <a:r>
                        <a:rPr lang="en-US" sz="1600" u="none" cap="none" strike="noStrike"/>
                        <a:t>&amp;=</a:t>
                      </a:r>
                      <a:endParaRPr/>
                    </a:p>
                  </a:txBody>
                  <a:tcPr marT="33350" marB="33350" marR="33350" marL="33350"/>
                </a:tc>
                <a:tc>
                  <a:txBody>
                    <a:bodyPr/>
                    <a:lstStyle/>
                    <a:p>
                      <a:pPr indent="0" lvl="0" marL="0" marR="0" rtl="0" algn="l">
                        <a:spcBef>
                          <a:spcPts val="0"/>
                        </a:spcBef>
                        <a:spcAft>
                          <a:spcPts val="0"/>
                        </a:spcAft>
                        <a:buNone/>
                      </a:pPr>
                      <a:r>
                        <a:rPr lang="en-US" sz="1600" u="none" cap="none" strike="noStrike"/>
                        <a:t>Bitwise AND assignment operator.</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&amp;= 2 is same as C = C &amp; 2</a:t>
                      </a:r>
                      <a:endParaRPr/>
                    </a:p>
                  </a:txBody>
                  <a:tcPr marT="33350" marB="33350" marR="33350" marL="33350"/>
                </a:tc>
              </a:tr>
              <a:tr h="205300">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Bitwise exclusive OR and assignment operator.</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2 is same as C = C ^ 2</a:t>
                      </a:r>
                      <a:endParaRPr/>
                    </a:p>
                  </a:txBody>
                  <a:tcPr marT="33350" marB="33350" marR="33350" marL="33350"/>
                </a:tc>
              </a:tr>
              <a:tr h="205300">
                <a:tc>
                  <a:txBody>
                    <a:bodyPr/>
                    <a:lstStyle/>
                    <a:p>
                      <a:pPr indent="0" lvl="0" marL="0" marR="0" rtl="0" algn="l">
                        <a:spcBef>
                          <a:spcPts val="0"/>
                        </a:spcBef>
                        <a:spcAft>
                          <a:spcPts val="0"/>
                        </a:spcAft>
                        <a:buNone/>
                      </a:pPr>
                      <a:r>
                        <a:rPr lang="en-US" sz="1600" u="none" cap="none" strike="noStrike"/>
                        <a:t>|=</a:t>
                      </a:r>
                      <a:endParaRPr/>
                    </a:p>
                  </a:txBody>
                  <a:tcPr marT="33350" marB="33350" marR="33350" marL="33350"/>
                </a:tc>
                <a:tc>
                  <a:txBody>
                    <a:bodyPr/>
                    <a:lstStyle/>
                    <a:p>
                      <a:pPr indent="0" lvl="0" marL="0" marR="0" rtl="0" algn="l">
                        <a:spcBef>
                          <a:spcPts val="0"/>
                        </a:spcBef>
                        <a:spcAft>
                          <a:spcPts val="0"/>
                        </a:spcAft>
                        <a:buNone/>
                      </a:pPr>
                      <a:r>
                        <a:rPr lang="en-US" sz="1600" u="none" cap="none" strike="noStrike"/>
                        <a:t>Bitwise inclusive OR and assignment operator.</a:t>
                      </a:r>
                      <a:endParaRPr/>
                    </a:p>
                  </a:txBody>
                  <a:tcPr marT="33350" marB="33350" marR="33350" marL="33350"/>
                </a:tc>
                <a:tc>
                  <a:txBody>
                    <a:bodyPr/>
                    <a:lstStyle/>
                    <a:p>
                      <a:pPr indent="0" lvl="0" marL="0" marR="0" rtl="0" algn="l">
                        <a:spcBef>
                          <a:spcPts val="0"/>
                        </a:spcBef>
                        <a:spcAft>
                          <a:spcPts val="0"/>
                        </a:spcAft>
                        <a:buNone/>
                      </a:pPr>
                      <a:r>
                        <a:rPr lang="en-US" sz="1600" u="none" cap="none" strike="noStrike"/>
                        <a:t>C |= 2 is same as C = C | 2</a:t>
                      </a:r>
                      <a:endParaRPr/>
                    </a:p>
                  </a:txBody>
                  <a:tcPr marT="33350" marB="33350" marR="33350" marL="33350"/>
                </a:tc>
              </a:tr>
            </a:tbl>
          </a:graphicData>
        </a:graphic>
      </p:graphicFrame>
      <p:sp>
        <p:nvSpPr>
          <p:cNvPr id="700" name="Google Shape;700;p79"/>
          <p:cNvSpPr txBox="1"/>
          <p:nvPr>
            <p:ph idx="12" type="sldNum"/>
          </p:nvPr>
        </p:nvSpPr>
        <p:spPr>
          <a:xfrm>
            <a:off x="8737600" y="6356354"/>
            <a:ext cx="2844800" cy="24341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80"/>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Assignment Operators</a:t>
            </a:r>
            <a:endParaRPr b="1"/>
          </a:p>
        </p:txBody>
      </p:sp>
      <p:sp>
        <p:nvSpPr>
          <p:cNvPr id="707" name="Google Shape;707;p80"/>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If </a:t>
            </a:r>
            <a:r>
              <a:rPr i="1" lang="en-US" sz="2960"/>
              <a:t>expr </a:t>
            </a:r>
            <a:r>
              <a:rPr lang="en-US" sz="2960"/>
              <a:t>1 and </a:t>
            </a:r>
            <a:r>
              <a:rPr i="1" lang="en-US" sz="2960"/>
              <a:t>expr </a:t>
            </a:r>
            <a:r>
              <a:rPr lang="en-US" sz="2960"/>
              <a:t>2 are expressions, then</a:t>
            </a:r>
            <a:endParaRPr/>
          </a:p>
          <a:p>
            <a:pPr indent="0" lvl="0" marL="457200" rtl="0" algn="l">
              <a:lnSpc>
                <a:spcPct val="80000"/>
              </a:lnSpc>
              <a:spcBef>
                <a:spcPts val="592"/>
              </a:spcBef>
              <a:spcAft>
                <a:spcPts val="0"/>
              </a:spcAft>
              <a:buClr>
                <a:schemeClr val="dk1"/>
              </a:buClr>
              <a:buSzPts val="2960"/>
              <a:buNone/>
            </a:pPr>
            <a:r>
              <a:rPr i="1" lang="en-US" sz="2960"/>
              <a:t>expr1  op = expr 2 </a:t>
            </a:r>
            <a:endParaRPr/>
          </a:p>
          <a:p>
            <a:pPr indent="0" lvl="0" marL="457200" rtl="0" algn="l">
              <a:lnSpc>
                <a:spcPct val="80000"/>
              </a:lnSpc>
              <a:spcBef>
                <a:spcPts val="592"/>
              </a:spcBef>
              <a:spcAft>
                <a:spcPts val="0"/>
              </a:spcAft>
              <a:buClr>
                <a:schemeClr val="dk1"/>
              </a:buClr>
              <a:buSzPts val="2960"/>
              <a:buNone/>
            </a:pPr>
            <a:r>
              <a:rPr lang="en-US" sz="2960"/>
              <a:t>is equivalent to</a:t>
            </a:r>
            <a:endParaRPr/>
          </a:p>
          <a:p>
            <a:pPr indent="0" lvl="0" marL="457200" rtl="0" algn="l">
              <a:lnSpc>
                <a:spcPct val="80000"/>
              </a:lnSpc>
              <a:spcBef>
                <a:spcPts val="592"/>
              </a:spcBef>
              <a:spcAft>
                <a:spcPts val="0"/>
              </a:spcAft>
              <a:buClr>
                <a:schemeClr val="dk1"/>
              </a:buClr>
              <a:buSzPts val="2960"/>
              <a:buNone/>
            </a:pPr>
            <a:r>
              <a:rPr i="1" lang="en-US" sz="2960"/>
              <a:t>expr1 </a:t>
            </a:r>
            <a:r>
              <a:rPr lang="en-US" sz="2960"/>
              <a:t>= </a:t>
            </a:r>
            <a:r>
              <a:rPr i="1" lang="en-US" sz="2960"/>
              <a:t>(expr 1 ) op (expr 2 )</a:t>
            </a:r>
            <a:endParaRPr/>
          </a:p>
          <a:p>
            <a:pPr indent="-342900" lvl="0" marL="342900" rtl="0" algn="l">
              <a:lnSpc>
                <a:spcPct val="80000"/>
              </a:lnSpc>
              <a:spcBef>
                <a:spcPts val="592"/>
              </a:spcBef>
              <a:spcAft>
                <a:spcPts val="0"/>
              </a:spcAft>
              <a:buClr>
                <a:schemeClr val="dk1"/>
              </a:buClr>
              <a:buSzPts val="2960"/>
              <a:buChar char="•"/>
            </a:pPr>
            <a:r>
              <a:rPr lang="en-US" sz="2960"/>
              <a:t>operator </a:t>
            </a:r>
            <a:r>
              <a:rPr i="1" lang="en-US" sz="2960"/>
              <a:t>op </a:t>
            </a:r>
            <a:r>
              <a:rPr lang="en-US" sz="2960"/>
              <a:t>=, where </a:t>
            </a:r>
            <a:r>
              <a:rPr i="1" lang="en-US" sz="2960"/>
              <a:t>op </a:t>
            </a:r>
            <a:r>
              <a:rPr lang="en-US" sz="2960"/>
              <a:t>is one of +  - * </a:t>
            </a:r>
            <a:r>
              <a:rPr i="1" lang="en-US" sz="2960"/>
              <a:t>I </a:t>
            </a:r>
            <a:r>
              <a:rPr lang="en-US" sz="2960"/>
              <a:t>&amp; %  &lt;&lt;  &gt;&gt;</a:t>
            </a:r>
            <a:endParaRPr/>
          </a:p>
          <a:p>
            <a:pPr indent="-342900" lvl="0" marL="342900" rtl="0" algn="l">
              <a:lnSpc>
                <a:spcPct val="80000"/>
              </a:lnSpc>
              <a:spcBef>
                <a:spcPts val="592"/>
              </a:spcBef>
              <a:spcAft>
                <a:spcPts val="0"/>
              </a:spcAft>
              <a:buClr>
                <a:schemeClr val="dk1"/>
              </a:buClr>
              <a:buSzPts val="2960"/>
              <a:buChar char="•"/>
            </a:pPr>
            <a:r>
              <a:rPr lang="en-US" sz="2960"/>
              <a:t>Notice the parentheses around </a:t>
            </a:r>
            <a:r>
              <a:rPr i="1" lang="en-US" sz="2960"/>
              <a:t>expr2</a:t>
            </a:r>
            <a:endParaRPr/>
          </a:p>
          <a:p>
            <a:pPr indent="0" lvl="0" marL="741363" rtl="0" algn="l">
              <a:lnSpc>
                <a:spcPct val="80000"/>
              </a:lnSpc>
              <a:spcBef>
                <a:spcPts val="592"/>
              </a:spcBef>
              <a:spcAft>
                <a:spcPts val="0"/>
              </a:spcAft>
              <a:buClr>
                <a:schemeClr val="dk1"/>
              </a:buClr>
              <a:buSzPts val="2960"/>
              <a:buNone/>
            </a:pPr>
            <a:r>
              <a:rPr lang="en-US" sz="2960"/>
              <a:t>E.g.:	x *= y + 1</a:t>
            </a:r>
            <a:endParaRPr/>
          </a:p>
          <a:p>
            <a:pPr indent="0" lvl="0" marL="1765300" rtl="0" algn="l">
              <a:lnSpc>
                <a:spcPct val="80000"/>
              </a:lnSpc>
              <a:spcBef>
                <a:spcPts val="592"/>
              </a:spcBef>
              <a:spcAft>
                <a:spcPts val="0"/>
              </a:spcAft>
              <a:buClr>
                <a:schemeClr val="dk1"/>
              </a:buClr>
              <a:buSzPts val="2960"/>
              <a:buNone/>
            </a:pPr>
            <a:r>
              <a:rPr lang="en-US" sz="2960"/>
              <a:t>means</a:t>
            </a:r>
            <a:endParaRPr/>
          </a:p>
          <a:p>
            <a:pPr indent="0" lvl="0" marL="1765300" rtl="0" algn="l">
              <a:lnSpc>
                <a:spcPct val="80000"/>
              </a:lnSpc>
              <a:spcBef>
                <a:spcPts val="592"/>
              </a:spcBef>
              <a:spcAft>
                <a:spcPts val="0"/>
              </a:spcAft>
              <a:buClr>
                <a:schemeClr val="dk1"/>
              </a:buClr>
              <a:buSzPts val="2960"/>
              <a:buNone/>
            </a:pPr>
            <a:r>
              <a:rPr lang="en-US" sz="2960"/>
              <a:t>x= x* (y + 1)</a:t>
            </a:r>
            <a:endParaRPr/>
          </a:p>
          <a:p>
            <a:pPr indent="0" lvl="0" marL="1765300" rtl="0" algn="l">
              <a:lnSpc>
                <a:spcPct val="80000"/>
              </a:lnSpc>
              <a:spcBef>
                <a:spcPts val="592"/>
              </a:spcBef>
              <a:spcAft>
                <a:spcPts val="0"/>
              </a:spcAft>
              <a:buClr>
                <a:schemeClr val="dk1"/>
              </a:buClr>
              <a:buSzPts val="2960"/>
              <a:buNone/>
            </a:pPr>
            <a:r>
              <a:rPr lang="en-US" sz="2960"/>
              <a:t>rather than</a:t>
            </a:r>
            <a:endParaRPr/>
          </a:p>
          <a:p>
            <a:pPr indent="0" lvl="0" marL="1765300" rtl="0" algn="l">
              <a:lnSpc>
                <a:spcPct val="80000"/>
              </a:lnSpc>
              <a:spcBef>
                <a:spcPts val="592"/>
              </a:spcBef>
              <a:spcAft>
                <a:spcPts val="0"/>
              </a:spcAft>
              <a:buClr>
                <a:schemeClr val="dk1"/>
              </a:buClr>
              <a:buSzPts val="2960"/>
              <a:buNone/>
            </a:pPr>
            <a:r>
              <a:rPr b="1" lang="en-US" sz="2960"/>
              <a:t>x = x * y + 1</a:t>
            </a:r>
            <a:endParaRPr/>
          </a:p>
        </p:txBody>
      </p:sp>
      <p:sp>
        <p:nvSpPr>
          <p:cNvPr id="708" name="Google Shape;708;p8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8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Conditional Operator</a:t>
            </a:r>
            <a:endParaRPr/>
          </a:p>
        </p:txBody>
      </p:sp>
      <p:sp>
        <p:nvSpPr>
          <p:cNvPr id="715" name="Google Shape;715;p81"/>
          <p:cNvSpPr txBox="1"/>
          <p:nvPr>
            <p:ph idx="1" type="body"/>
          </p:nvPr>
        </p:nvSpPr>
        <p:spPr>
          <a:xfrm>
            <a:off x="204953" y="1103586"/>
            <a:ext cx="11729544" cy="5533698"/>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It is a ternary operator (</a:t>
            </a:r>
            <a:r>
              <a:rPr b="1" lang="en-US" sz="2960"/>
              <a:t>?:</a:t>
            </a:r>
            <a:r>
              <a:rPr lang="en-US" sz="2960"/>
              <a:t>) to construct </a:t>
            </a:r>
            <a:r>
              <a:rPr b="1" lang="en-US" sz="2960"/>
              <a:t>conditional expressions</a:t>
            </a:r>
            <a:r>
              <a:rPr lang="en-US" sz="2960"/>
              <a:t>.</a:t>
            </a:r>
            <a:endParaRPr/>
          </a:p>
          <a:p>
            <a:pPr indent="-342900" lvl="0" marL="342900" rtl="0" algn="just">
              <a:lnSpc>
                <a:spcPct val="80000"/>
              </a:lnSpc>
              <a:spcBef>
                <a:spcPts val="592"/>
              </a:spcBef>
              <a:spcAft>
                <a:spcPts val="0"/>
              </a:spcAft>
              <a:buClr>
                <a:schemeClr val="dk1"/>
              </a:buClr>
              <a:buSzPts val="2960"/>
              <a:buChar char="•"/>
            </a:pPr>
            <a:r>
              <a:rPr lang="en-US" sz="2960"/>
              <a:t>Such an expression can</a:t>
            </a:r>
            <a:r>
              <a:rPr b="1" lang="en-US" sz="2960"/>
              <a:t> </a:t>
            </a:r>
            <a:r>
              <a:rPr lang="en-US" sz="2960"/>
              <a:t>be written in place of the more traditional </a:t>
            </a:r>
            <a:r>
              <a:rPr b="1" lang="en-US" sz="2960"/>
              <a:t>if -else </a:t>
            </a:r>
            <a:r>
              <a:rPr lang="en-US" sz="2960"/>
              <a:t>statement</a:t>
            </a:r>
            <a:endParaRPr/>
          </a:p>
          <a:p>
            <a:pPr indent="-342900" lvl="0" marL="342900" rtl="0" algn="just">
              <a:lnSpc>
                <a:spcPct val="80000"/>
              </a:lnSpc>
              <a:spcBef>
                <a:spcPts val="592"/>
              </a:spcBef>
              <a:spcAft>
                <a:spcPts val="0"/>
              </a:spcAft>
              <a:buClr>
                <a:schemeClr val="dk1"/>
              </a:buClr>
              <a:buSzPts val="2960"/>
              <a:buChar char="•"/>
            </a:pPr>
            <a:r>
              <a:rPr lang="en-US" sz="2960"/>
              <a:t>A conditional expression is written in the form</a:t>
            </a:r>
            <a:endParaRPr/>
          </a:p>
          <a:p>
            <a:pPr indent="-342900" lvl="0" marL="342900" rtl="0" algn="just">
              <a:lnSpc>
                <a:spcPct val="80000"/>
              </a:lnSpc>
              <a:spcBef>
                <a:spcPts val="592"/>
              </a:spcBef>
              <a:spcAft>
                <a:spcPts val="0"/>
              </a:spcAft>
              <a:buClr>
                <a:schemeClr val="dk1"/>
              </a:buClr>
              <a:buSzPts val="2960"/>
              <a:buChar char="•"/>
            </a:pPr>
            <a:r>
              <a:rPr b="1" i="1" lang="en-US" sz="2960"/>
              <a:t>expression 1 ?</a:t>
            </a:r>
            <a:r>
              <a:rPr lang="en-US" sz="2960"/>
              <a:t> </a:t>
            </a:r>
            <a:r>
              <a:rPr b="1" i="1" lang="en-US" sz="2960"/>
              <a:t>expression 2 </a:t>
            </a:r>
            <a:r>
              <a:rPr lang="en-US" sz="2960"/>
              <a:t>: </a:t>
            </a:r>
            <a:r>
              <a:rPr b="1" i="1" lang="en-US" sz="2960"/>
              <a:t>expression 3</a:t>
            </a:r>
            <a:endParaRPr/>
          </a:p>
          <a:p>
            <a:pPr indent="-342900" lvl="0" marL="342900" rtl="0" algn="just">
              <a:lnSpc>
                <a:spcPct val="80000"/>
              </a:lnSpc>
              <a:spcBef>
                <a:spcPts val="592"/>
              </a:spcBef>
              <a:spcAft>
                <a:spcPts val="0"/>
              </a:spcAft>
              <a:buClr>
                <a:schemeClr val="dk1"/>
              </a:buClr>
              <a:buSzPts val="2960"/>
              <a:buChar char="•"/>
            </a:pPr>
            <a:r>
              <a:rPr lang="en-US" sz="2960"/>
              <a:t>When evaluating a conditional expression, </a:t>
            </a:r>
            <a:r>
              <a:rPr b="1" i="1" lang="en-US" sz="2960"/>
              <a:t>expression 1 </a:t>
            </a:r>
            <a:r>
              <a:rPr lang="en-US" sz="2960"/>
              <a:t>is evaluated first. If </a:t>
            </a:r>
            <a:r>
              <a:rPr b="1" i="1" lang="en-US" sz="2960"/>
              <a:t>expression 1 </a:t>
            </a:r>
            <a:r>
              <a:rPr lang="en-US" sz="2960"/>
              <a:t>is true (i.e., if its value is nonzero), then </a:t>
            </a:r>
            <a:r>
              <a:rPr b="1" i="1" lang="en-US" sz="2960"/>
              <a:t>expression </a:t>
            </a:r>
            <a:r>
              <a:rPr lang="en-US" sz="2960"/>
              <a:t>2 is evaluated and this becomes the value of the conditional expression. However, if </a:t>
            </a:r>
            <a:r>
              <a:rPr b="1" i="1" lang="en-US" sz="2960"/>
              <a:t>expression 1 </a:t>
            </a:r>
            <a:r>
              <a:rPr lang="en-US" sz="2960"/>
              <a:t>is false (i.e., if its value is zero), then </a:t>
            </a:r>
            <a:r>
              <a:rPr b="1" i="1" lang="en-US" sz="2960"/>
              <a:t>expression </a:t>
            </a:r>
            <a:r>
              <a:rPr lang="en-US" sz="2960"/>
              <a:t>3 is evaluated and this becomes the value of the conditional expression. </a:t>
            </a:r>
            <a:endParaRPr/>
          </a:p>
          <a:p>
            <a:pPr indent="-342900" lvl="0" marL="342900" rtl="0" algn="just">
              <a:lnSpc>
                <a:spcPct val="80000"/>
              </a:lnSpc>
              <a:spcBef>
                <a:spcPts val="592"/>
              </a:spcBef>
              <a:spcAft>
                <a:spcPts val="0"/>
              </a:spcAft>
              <a:buClr>
                <a:schemeClr val="dk1"/>
              </a:buClr>
              <a:buSzPts val="2960"/>
              <a:buChar char="•"/>
            </a:pPr>
            <a:r>
              <a:rPr lang="en-US" sz="2960"/>
              <a:t>Note that only one of the embedded expressions (either </a:t>
            </a:r>
            <a:r>
              <a:rPr b="1" i="1" lang="en-US" sz="2960"/>
              <a:t>expression 2 </a:t>
            </a:r>
            <a:r>
              <a:rPr lang="en-US" sz="2960"/>
              <a:t>or </a:t>
            </a:r>
            <a:r>
              <a:rPr b="1" i="1" lang="en-US" sz="2960"/>
              <a:t>expression 3) </a:t>
            </a:r>
            <a:r>
              <a:rPr lang="en-US" sz="2960"/>
              <a:t>is evaluated when determining the value of a conditional expression.</a:t>
            </a:r>
            <a:endParaRPr/>
          </a:p>
        </p:txBody>
      </p:sp>
      <p:sp>
        <p:nvSpPr>
          <p:cNvPr id="716" name="Google Shape;716;p8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8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Conditional Operator</a:t>
            </a:r>
            <a:endParaRPr/>
          </a:p>
        </p:txBody>
      </p:sp>
      <p:sp>
        <p:nvSpPr>
          <p:cNvPr id="723" name="Google Shape;723;p82"/>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Example- </a:t>
            </a:r>
            <a:r>
              <a:rPr lang="en-US"/>
              <a:t>In the conditional expression shown below, assume that i is an integer variable.</a:t>
            </a:r>
            <a:endParaRPr/>
          </a:p>
          <a:p>
            <a:pPr indent="-342900" lvl="0" marL="342900" rtl="0" algn="just">
              <a:spcBef>
                <a:spcPts val="640"/>
              </a:spcBef>
              <a:spcAft>
                <a:spcPts val="0"/>
              </a:spcAft>
              <a:buClr>
                <a:schemeClr val="dk1"/>
              </a:buClr>
              <a:buSzPts val="3200"/>
              <a:buChar char="•"/>
            </a:pPr>
            <a:r>
              <a:rPr b="1" lang="en-US"/>
              <a:t>(i </a:t>
            </a:r>
            <a:r>
              <a:rPr lang="en-US"/>
              <a:t>&lt; </a:t>
            </a:r>
            <a:r>
              <a:rPr b="1" lang="en-US"/>
              <a:t>0) </a:t>
            </a:r>
            <a:r>
              <a:rPr lang="en-US"/>
              <a:t>? </a:t>
            </a:r>
            <a:r>
              <a:rPr b="1" lang="en-US"/>
              <a:t>0 </a:t>
            </a:r>
            <a:r>
              <a:rPr lang="en-US"/>
              <a:t>: </a:t>
            </a:r>
            <a:r>
              <a:rPr b="1" lang="en-US"/>
              <a:t>100</a:t>
            </a:r>
            <a:endParaRPr/>
          </a:p>
          <a:p>
            <a:pPr indent="-342900" lvl="0" marL="342900" rtl="0" algn="just">
              <a:spcBef>
                <a:spcPts val="640"/>
              </a:spcBef>
              <a:spcAft>
                <a:spcPts val="0"/>
              </a:spcAft>
              <a:buClr>
                <a:schemeClr val="dk1"/>
              </a:buClr>
              <a:buSzPts val="3200"/>
              <a:buChar char="•"/>
            </a:pPr>
            <a:r>
              <a:rPr lang="en-US"/>
              <a:t>The expression (i &lt; 0) is evaluated first. If it is true (i.e., if the value of i is less than 0), the entire conditional expression takes on the value 0. Otherwise (if the value of i is not less than 0),the entire conditional expression takes on the value 100.</a:t>
            </a:r>
            <a:endParaRPr/>
          </a:p>
        </p:txBody>
      </p:sp>
      <p:sp>
        <p:nvSpPr>
          <p:cNvPr id="724" name="Google Shape;724;p8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83"/>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Conditional Operator</a:t>
            </a:r>
            <a:endParaRPr/>
          </a:p>
        </p:txBody>
      </p:sp>
      <p:sp>
        <p:nvSpPr>
          <p:cNvPr id="731" name="Google Shape;731;p83"/>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0" lvl="0" marL="0" rtl="0" algn="just">
              <a:lnSpc>
                <a:spcPct val="80000"/>
              </a:lnSpc>
              <a:spcBef>
                <a:spcPts val="0"/>
              </a:spcBef>
              <a:spcAft>
                <a:spcPts val="0"/>
              </a:spcAft>
              <a:buClr>
                <a:schemeClr val="dk1"/>
              </a:buClr>
              <a:buSzPts val="2480"/>
              <a:buNone/>
            </a:pPr>
            <a:r>
              <a:rPr lang="en-US" sz="2480"/>
              <a:t>#include &lt;stdio.h&gt;</a:t>
            </a:r>
            <a:endParaRPr/>
          </a:p>
          <a:p>
            <a:pPr indent="0" lvl="0" marL="0" rtl="0" algn="just">
              <a:lnSpc>
                <a:spcPct val="80000"/>
              </a:lnSpc>
              <a:spcBef>
                <a:spcPts val="496"/>
              </a:spcBef>
              <a:spcAft>
                <a:spcPts val="0"/>
              </a:spcAft>
              <a:buClr>
                <a:schemeClr val="dk1"/>
              </a:buClr>
              <a:buSzPts val="2480"/>
              <a:buNone/>
            </a:pPr>
            <a:r>
              <a:t/>
            </a:r>
            <a:endParaRPr sz="2480"/>
          </a:p>
          <a:p>
            <a:pPr indent="0" lvl="0" marL="0" rtl="0" algn="just">
              <a:lnSpc>
                <a:spcPct val="80000"/>
              </a:lnSpc>
              <a:spcBef>
                <a:spcPts val="496"/>
              </a:spcBef>
              <a:spcAft>
                <a:spcPts val="0"/>
              </a:spcAft>
              <a:buClr>
                <a:schemeClr val="dk1"/>
              </a:buClr>
              <a:buSzPts val="2480"/>
              <a:buNone/>
            </a:pPr>
            <a:r>
              <a:rPr lang="en-US" sz="2480"/>
              <a:t>int main() </a:t>
            </a:r>
            <a:endParaRPr/>
          </a:p>
          <a:p>
            <a:pPr indent="0" lvl="0" marL="0" rtl="0" algn="just">
              <a:lnSpc>
                <a:spcPct val="80000"/>
              </a:lnSpc>
              <a:spcBef>
                <a:spcPts val="496"/>
              </a:spcBef>
              <a:spcAft>
                <a:spcPts val="0"/>
              </a:spcAft>
              <a:buClr>
                <a:schemeClr val="dk1"/>
              </a:buClr>
              <a:buSzPts val="2480"/>
              <a:buNone/>
            </a:pPr>
            <a:r>
              <a:rPr lang="en-US" sz="2480"/>
              <a:t>{</a:t>
            </a:r>
            <a:endParaRPr/>
          </a:p>
          <a:p>
            <a:pPr indent="0" lvl="0" marL="0" rtl="0" algn="just">
              <a:lnSpc>
                <a:spcPct val="80000"/>
              </a:lnSpc>
              <a:spcBef>
                <a:spcPts val="496"/>
              </a:spcBef>
              <a:spcAft>
                <a:spcPts val="0"/>
              </a:spcAft>
              <a:buClr>
                <a:schemeClr val="dk1"/>
              </a:buClr>
              <a:buSzPts val="2480"/>
              <a:buNone/>
            </a:pPr>
            <a:r>
              <a:rPr lang="en-US" sz="2480"/>
              <a:t>   int a = 4;</a:t>
            </a:r>
            <a:endParaRPr/>
          </a:p>
          <a:p>
            <a:pPr indent="0" lvl="0" marL="0" rtl="0" algn="just">
              <a:lnSpc>
                <a:spcPct val="80000"/>
              </a:lnSpc>
              <a:spcBef>
                <a:spcPts val="496"/>
              </a:spcBef>
              <a:spcAft>
                <a:spcPts val="0"/>
              </a:spcAft>
              <a:buClr>
                <a:schemeClr val="dk1"/>
              </a:buClr>
              <a:buSzPts val="2480"/>
              <a:buNone/>
            </a:pPr>
            <a:r>
              <a:rPr lang="en-US" sz="2480"/>
              <a:t>   int b;</a:t>
            </a:r>
            <a:endParaRPr/>
          </a:p>
          <a:p>
            <a:pPr indent="0" lvl="0" marL="0" rtl="0" algn="just">
              <a:lnSpc>
                <a:spcPct val="80000"/>
              </a:lnSpc>
              <a:spcBef>
                <a:spcPts val="496"/>
              </a:spcBef>
              <a:spcAft>
                <a:spcPts val="0"/>
              </a:spcAft>
              <a:buClr>
                <a:schemeClr val="dk1"/>
              </a:buClr>
              <a:buSzPts val="2480"/>
              <a:buNone/>
            </a:pPr>
            <a:r>
              <a:rPr lang="en-US" sz="2480"/>
              <a:t>   /* example of ternary operator */</a:t>
            </a:r>
            <a:endParaRPr/>
          </a:p>
          <a:p>
            <a:pPr indent="0" lvl="0" marL="0" rtl="0" algn="just">
              <a:lnSpc>
                <a:spcPct val="80000"/>
              </a:lnSpc>
              <a:spcBef>
                <a:spcPts val="496"/>
              </a:spcBef>
              <a:spcAft>
                <a:spcPts val="0"/>
              </a:spcAft>
              <a:buClr>
                <a:schemeClr val="dk1"/>
              </a:buClr>
              <a:buSzPts val="2480"/>
              <a:buNone/>
            </a:pPr>
            <a:r>
              <a:rPr lang="en-US" sz="2480"/>
              <a:t>   a = 10;</a:t>
            </a:r>
            <a:endParaRPr/>
          </a:p>
          <a:p>
            <a:pPr indent="0" lvl="0" marL="0" rtl="0" algn="just">
              <a:lnSpc>
                <a:spcPct val="80000"/>
              </a:lnSpc>
              <a:spcBef>
                <a:spcPts val="496"/>
              </a:spcBef>
              <a:spcAft>
                <a:spcPts val="0"/>
              </a:spcAft>
              <a:buClr>
                <a:schemeClr val="dk1"/>
              </a:buClr>
              <a:buSzPts val="2480"/>
              <a:buNone/>
            </a:pPr>
            <a:r>
              <a:rPr lang="en-US" sz="2480"/>
              <a:t>   b = (a == 1) ? 20: 30;</a:t>
            </a:r>
            <a:endParaRPr/>
          </a:p>
          <a:p>
            <a:pPr indent="0" lvl="0" marL="0" rtl="0" algn="just">
              <a:lnSpc>
                <a:spcPct val="80000"/>
              </a:lnSpc>
              <a:spcBef>
                <a:spcPts val="496"/>
              </a:spcBef>
              <a:spcAft>
                <a:spcPts val="0"/>
              </a:spcAft>
              <a:buClr>
                <a:schemeClr val="dk1"/>
              </a:buClr>
              <a:buSzPts val="2480"/>
              <a:buNone/>
            </a:pPr>
            <a:r>
              <a:rPr lang="en-US" sz="2480"/>
              <a:t>   printf( "Value of b is %d\n", b );</a:t>
            </a:r>
            <a:endParaRPr/>
          </a:p>
          <a:p>
            <a:pPr indent="0" lvl="0" marL="0" rtl="0" algn="just">
              <a:lnSpc>
                <a:spcPct val="80000"/>
              </a:lnSpc>
              <a:spcBef>
                <a:spcPts val="496"/>
              </a:spcBef>
              <a:spcAft>
                <a:spcPts val="0"/>
              </a:spcAft>
              <a:buClr>
                <a:schemeClr val="dk1"/>
              </a:buClr>
              <a:buSzPts val="2480"/>
              <a:buNone/>
            </a:pPr>
            <a:r>
              <a:rPr lang="en-US" sz="2480"/>
              <a:t>   return 0;</a:t>
            </a:r>
            <a:endParaRPr/>
          </a:p>
          <a:p>
            <a:pPr indent="0" lvl="0" marL="0" rtl="0" algn="just">
              <a:lnSpc>
                <a:spcPct val="80000"/>
              </a:lnSpc>
              <a:spcBef>
                <a:spcPts val="496"/>
              </a:spcBef>
              <a:spcAft>
                <a:spcPts val="0"/>
              </a:spcAft>
              <a:buClr>
                <a:schemeClr val="dk1"/>
              </a:buClr>
              <a:buSzPts val="2480"/>
              <a:buNone/>
            </a:pPr>
            <a:r>
              <a:rPr lang="en-US" sz="2480"/>
              <a:t>}</a:t>
            </a:r>
            <a:endParaRPr/>
          </a:p>
          <a:p>
            <a:pPr indent="0" lvl="0" marL="0" rtl="0" algn="just">
              <a:lnSpc>
                <a:spcPct val="80000"/>
              </a:lnSpc>
              <a:spcBef>
                <a:spcPts val="496"/>
              </a:spcBef>
              <a:spcAft>
                <a:spcPts val="0"/>
              </a:spcAft>
              <a:buClr>
                <a:schemeClr val="dk1"/>
              </a:buClr>
              <a:buSzPts val="2480"/>
              <a:buNone/>
            </a:pPr>
            <a:r>
              <a:t/>
            </a:r>
            <a:endParaRPr sz="2480"/>
          </a:p>
          <a:p>
            <a:pPr indent="0" lvl="0" marL="0" rtl="0" algn="just">
              <a:lnSpc>
                <a:spcPct val="80000"/>
              </a:lnSpc>
              <a:spcBef>
                <a:spcPts val="496"/>
              </a:spcBef>
              <a:spcAft>
                <a:spcPts val="0"/>
              </a:spcAft>
              <a:buClr>
                <a:schemeClr val="dk1"/>
              </a:buClr>
              <a:buSzPts val="2480"/>
              <a:buNone/>
            </a:pPr>
            <a:r>
              <a:rPr b="1" lang="en-US" sz="2480"/>
              <a:t>Value of b is 30</a:t>
            </a:r>
            <a:endParaRPr/>
          </a:p>
          <a:p>
            <a:pPr indent="0" lvl="0" marL="0" rtl="0" algn="just">
              <a:lnSpc>
                <a:spcPct val="80000"/>
              </a:lnSpc>
              <a:spcBef>
                <a:spcPts val="496"/>
              </a:spcBef>
              <a:spcAft>
                <a:spcPts val="0"/>
              </a:spcAft>
              <a:buClr>
                <a:schemeClr val="dk1"/>
              </a:buClr>
              <a:buSzPts val="2480"/>
              <a:buNone/>
            </a:pPr>
            <a:r>
              <a:t/>
            </a:r>
            <a:endParaRPr sz="2480"/>
          </a:p>
        </p:txBody>
      </p:sp>
      <p:sp>
        <p:nvSpPr>
          <p:cNvPr id="732" name="Google Shape;732;p8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84"/>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Special Operators</a:t>
            </a:r>
            <a:endParaRPr/>
          </a:p>
        </p:txBody>
      </p:sp>
      <p:sp>
        <p:nvSpPr>
          <p:cNvPr id="739" name="Google Shape;739;p84"/>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sizeof(): </a:t>
            </a:r>
            <a:r>
              <a:rPr lang="en-US"/>
              <a:t>This operator returns the size of its operand, in bytes. </a:t>
            </a:r>
            <a:endParaRPr/>
          </a:p>
          <a:p>
            <a:pPr indent="-342900" lvl="0" marL="342900" rtl="0" algn="just">
              <a:spcBef>
                <a:spcPts val="640"/>
              </a:spcBef>
              <a:spcAft>
                <a:spcPts val="0"/>
              </a:spcAft>
              <a:buClr>
                <a:schemeClr val="dk1"/>
              </a:buClr>
              <a:buSzPts val="3200"/>
              <a:buChar char="•"/>
            </a:pPr>
            <a:r>
              <a:rPr lang="en-US"/>
              <a:t>The sizeof operator always precedes its operand. </a:t>
            </a:r>
            <a:endParaRPr/>
          </a:p>
          <a:p>
            <a:pPr indent="-342900" lvl="0" marL="342900" rtl="0" algn="just">
              <a:spcBef>
                <a:spcPts val="640"/>
              </a:spcBef>
              <a:spcAft>
                <a:spcPts val="0"/>
              </a:spcAft>
              <a:buClr>
                <a:schemeClr val="dk1"/>
              </a:buClr>
              <a:buSzPts val="3200"/>
              <a:buChar char="•"/>
            </a:pPr>
            <a:r>
              <a:rPr lang="en-US"/>
              <a:t>The </a:t>
            </a:r>
            <a:r>
              <a:rPr b="1" lang="en-US"/>
              <a:t>sizeof</a:t>
            </a:r>
            <a:r>
              <a:rPr lang="en-US"/>
              <a:t> operator is used to calculate the size of data type or variables.</a:t>
            </a:r>
            <a:endParaRPr/>
          </a:p>
          <a:p>
            <a:pPr indent="-342900" lvl="0" marL="342900" rtl="0" algn="just">
              <a:spcBef>
                <a:spcPts val="640"/>
              </a:spcBef>
              <a:spcAft>
                <a:spcPts val="0"/>
              </a:spcAft>
              <a:buClr>
                <a:schemeClr val="dk1"/>
              </a:buClr>
              <a:buSzPts val="3200"/>
              <a:buChar char="•"/>
            </a:pPr>
            <a:r>
              <a:rPr b="1" lang="en-US"/>
              <a:t>Syntax</a:t>
            </a:r>
            <a:endParaRPr/>
          </a:p>
          <a:p>
            <a:pPr indent="0" lvl="0" marL="0" rtl="0" algn="just">
              <a:spcBef>
                <a:spcPts val="640"/>
              </a:spcBef>
              <a:spcAft>
                <a:spcPts val="0"/>
              </a:spcAft>
              <a:buClr>
                <a:schemeClr val="dk1"/>
              </a:buClr>
              <a:buSzPts val="3200"/>
              <a:buNone/>
            </a:pPr>
            <a:r>
              <a:rPr lang="en-US"/>
              <a:t>	sizeof(variable)</a:t>
            </a:r>
            <a:endParaRPr/>
          </a:p>
          <a:p>
            <a:pPr indent="-342900" lvl="0" marL="342900" rtl="0" algn="just">
              <a:spcBef>
                <a:spcPts val="640"/>
              </a:spcBef>
              <a:spcAft>
                <a:spcPts val="0"/>
              </a:spcAft>
              <a:buClr>
                <a:schemeClr val="dk1"/>
              </a:buClr>
              <a:buSzPts val="3200"/>
              <a:buChar char="•"/>
            </a:pPr>
            <a:r>
              <a:rPr b="1" lang="en-US"/>
              <a:t>For example: </a:t>
            </a:r>
            <a:r>
              <a:rPr lang="en-US"/>
              <a:t>sizeof(a), where a is a character, will return 1.</a:t>
            </a:r>
            <a:endParaRPr b="1"/>
          </a:p>
        </p:txBody>
      </p:sp>
      <p:sp>
        <p:nvSpPr>
          <p:cNvPr id="740" name="Google Shape;740;p8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5"/>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sizeof() operator</a:t>
            </a:r>
            <a:endParaRPr/>
          </a:p>
        </p:txBody>
      </p:sp>
      <p:sp>
        <p:nvSpPr>
          <p:cNvPr id="747" name="Google Shape;747;p85"/>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720"/>
              <a:buNone/>
            </a:pPr>
            <a:r>
              <a:rPr lang="en-US" sz="2720"/>
              <a:t>#include &lt;stdio.h&gt;</a:t>
            </a:r>
            <a:endParaRPr/>
          </a:p>
          <a:p>
            <a:pPr indent="0" lvl="0" marL="0" rtl="0" algn="l">
              <a:lnSpc>
                <a:spcPct val="80000"/>
              </a:lnSpc>
              <a:spcBef>
                <a:spcPts val="544"/>
              </a:spcBef>
              <a:spcAft>
                <a:spcPts val="0"/>
              </a:spcAft>
              <a:buClr>
                <a:schemeClr val="dk1"/>
              </a:buClr>
              <a:buSzPts val="2720"/>
              <a:buNone/>
            </a:pPr>
            <a:r>
              <a:rPr lang="en-US" sz="2720"/>
              <a:t>void main() </a:t>
            </a:r>
            <a:endParaRPr/>
          </a:p>
          <a:p>
            <a:pPr indent="0" lvl="0" marL="0" rtl="0" algn="l">
              <a:lnSpc>
                <a:spcPct val="80000"/>
              </a:lnSpc>
              <a:spcBef>
                <a:spcPts val="544"/>
              </a:spcBef>
              <a:spcAft>
                <a:spcPts val="0"/>
              </a:spcAft>
              <a:buClr>
                <a:schemeClr val="dk1"/>
              </a:buClr>
              <a:buSzPts val="2720"/>
              <a:buNone/>
            </a:pPr>
            <a:r>
              <a:rPr lang="en-US" sz="2720"/>
              <a:t>{</a:t>
            </a:r>
            <a:endParaRPr/>
          </a:p>
          <a:p>
            <a:pPr indent="0" lvl="0" marL="0" rtl="0" algn="l">
              <a:lnSpc>
                <a:spcPct val="80000"/>
              </a:lnSpc>
              <a:spcBef>
                <a:spcPts val="544"/>
              </a:spcBef>
              <a:spcAft>
                <a:spcPts val="0"/>
              </a:spcAft>
              <a:buClr>
                <a:schemeClr val="dk1"/>
              </a:buClr>
              <a:buSzPts val="2720"/>
              <a:buNone/>
            </a:pPr>
            <a:r>
              <a:rPr lang="en-US" sz="2720"/>
              <a:t>   int a = 4;</a:t>
            </a:r>
            <a:endParaRPr/>
          </a:p>
          <a:p>
            <a:pPr indent="0" lvl="0" marL="0" rtl="0" algn="l">
              <a:lnSpc>
                <a:spcPct val="80000"/>
              </a:lnSpc>
              <a:spcBef>
                <a:spcPts val="544"/>
              </a:spcBef>
              <a:spcAft>
                <a:spcPts val="0"/>
              </a:spcAft>
              <a:buClr>
                <a:schemeClr val="dk1"/>
              </a:buClr>
              <a:buSzPts val="2720"/>
              <a:buNone/>
            </a:pPr>
            <a:r>
              <a:rPr lang="en-US" sz="2720"/>
              <a:t>   short  b;</a:t>
            </a:r>
            <a:endParaRPr/>
          </a:p>
          <a:p>
            <a:pPr indent="0" lvl="0" marL="0" rtl="0" algn="l">
              <a:lnSpc>
                <a:spcPct val="80000"/>
              </a:lnSpc>
              <a:spcBef>
                <a:spcPts val="544"/>
              </a:spcBef>
              <a:spcAft>
                <a:spcPts val="0"/>
              </a:spcAft>
              <a:buClr>
                <a:schemeClr val="dk1"/>
              </a:buClr>
              <a:buSzPts val="2720"/>
              <a:buNone/>
            </a:pPr>
            <a:r>
              <a:rPr lang="en-US" sz="2720"/>
              <a:t>   double c;</a:t>
            </a:r>
            <a:endParaRPr/>
          </a:p>
          <a:p>
            <a:pPr indent="0" lvl="0" marL="0" rtl="0" algn="l">
              <a:lnSpc>
                <a:spcPct val="80000"/>
              </a:lnSpc>
              <a:spcBef>
                <a:spcPts val="544"/>
              </a:spcBef>
              <a:spcAft>
                <a:spcPts val="0"/>
              </a:spcAft>
              <a:buClr>
                <a:schemeClr val="dk1"/>
              </a:buClr>
              <a:buSzPts val="2720"/>
              <a:buNone/>
            </a:pPr>
            <a:r>
              <a:t/>
            </a:r>
            <a:endParaRPr sz="2720"/>
          </a:p>
          <a:p>
            <a:pPr indent="0" lvl="0" marL="0" rtl="0" algn="l">
              <a:lnSpc>
                <a:spcPct val="80000"/>
              </a:lnSpc>
              <a:spcBef>
                <a:spcPts val="544"/>
              </a:spcBef>
              <a:spcAft>
                <a:spcPts val="0"/>
              </a:spcAft>
              <a:buClr>
                <a:schemeClr val="dk1"/>
              </a:buClr>
              <a:buSzPts val="2720"/>
              <a:buNone/>
            </a:pPr>
            <a:r>
              <a:rPr lang="en-US" sz="2720"/>
              <a:t>   /* example of sizeof operator */</a:t>
            </a:r>
            <a:endParaRPr/>
          </a:p>
          <a:p>
            <a:pPr indent="0" lvl="0" marL="0" rtl="0" algn="l">
              <a:lnSpc>
                <a:spcPct val="80000"/>
              </a:lnSpc>
              <a:spcBef>
                <a:spcPts val="544"/>
              </a:spcBef>
              <a:spcAft>
                <a:spcPts val="0"/>
              </a:spcAft>
              <a:buClr>
                <a:schemeClr val="dk1"/>
              </a:buClr>
              <a:buSzPts val="2720"/>
              <a:buNone/>
            </a:pPr>
            <a:r>
              <a:rPr lang="en-US" sz="2720"/>
              <a:t>   printf("Line 1 - Size of variable a = %d\n", sizeof(a) );</a:t>
            </a:r>
            <a:endParaRPr/>
          </a:p>
          <a:p>
            <a:pPr indent="0" lvl="0" marL="0" rtl="0" algn="l">
              <a:lnSpc>
                <a:spcPct val="80000"/>
              </a:lnSpc>
              <a:spcBef>
                <a:spcPts val="544"/>
              </a:spcBef>
              <a:spcAft>
                <a:spcPts val="0"/>
              </a:spcAft>
              <a:buClr>
                <a:schemeClr val="dk1"/>
              </a:buClr>
              <a:buSzPts val="2720"/>
              <a:buNone/>
            </a:pPr>
            <a:r>
              <a:rPr lang="en-US" sz="2720"/>
              <a:t>   printf("Line 2 - Size of variable b = %d\n", sizeof(b) );</a:t>
            </a:r>
            <a:endParaRPr/>
          </a:p>
          <a:p>
            <a:pPr indent="0" lvl="0" marL="0" rtl="0" algn="l">
              <a:lnSpc>
                <a:spcPct val="80000"/>
              </a:lnSpc>
              <a:spcBef>
                <a:spcPts val="544"/>
              </a:spcBef>
              <a:spcAft>
                <a:spcPts val="0"/>
              </a:spcAft>
              <a:buClr>
                <a:schemeClr val="dk1"/>
              </a:buClr>
              <a:buSzPts val="2720"/>
              <a:buNone/>
            </a:pPr>
            <a:r>
              <a:rPr lang="en-US" sz="2720"/>
              <a:t>   printf("Line 3 - Size of variable c= %d\n", sizeof(c) );</a:t>
            </a:r>
            <a:endParaRPr/>
          </a:p>
          <a:p>
            <a:pPr indent="0" lvl="0" marL="0" rtl="0" algn="l">
              <a:lnSpc>
                <a:spcPct val="80000"/>
              </a:lnSpc>
              <a:spcBef>
                <a:spcPts val="544"/>
              </a:spcBef>
              <a:spcAft>
                <a:spcPts val="0"/>
              </a:spcAft>
              <a:buClr>
                <a:schemeClr val="dk1"/>
              </a:buClr>
              <a:buSzPts val="2720"/>
              <a:buNone/>
            </a:pPr>
            <a:r>
              <a:rPr lang="en-US" sz="2720"/>
              <a:t>}</a:t>
            </a:r>
            <a:endParaRPr/>
          </a:p>
          <a:p>
            <a:pPr indent="0" lvl="0" marL="0" rtl="0" algn="l">
              <a:lnSpc>
                <a:spcPct val="80000"/>
              </a:lnSpc>
              <a:spcBef>
                <a:spcPts val="544"/>
              </a:spcBef>
              <a:spcAft>
                <a:spcPts val="0"/>
              </a:spcAft>
              <a:buClr>
                <a:schemeClr val="dk1"/>
              </a:buClr>
              <a:buSzPts val="2720"/>
              <a:buNone/>
            </a:pPr>
            <a:r>
              <a:t/>
            </a:r>
            <a:endParaRPr sz="2720"/>
          </a:p>
        </p:txBody>
      </p:sp>
      <p:sp>
        <p:nvSpPr>
          <p:cNvPr id="748" name="Google Shape;748;p8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86"/>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Precedence and Associativity of Operators</a:t>
            </a:r>
            <a:endParaRPr b="1"/>
          </a:p>
        </p:txBody>
      </p:sp>
      <p:sp>
        <p:nvSpPr>
          <p:cNvPr id="755" name="Google Shape;755;p86"/>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Operator precedence determines which operator is performed first in an expression with more than one operators with different precedence. </a:t>
            </a:r>
            <a:endParaRPr/>
          </a:p>
          <a:p>
            <a:pPr indent="-342900" lvl="0" marL="342900" rtl="0" algn="just">
              <a:spcBef>
                <a:spcPts val="560"/>
              </a:spcBef>
              <a:spcAft>
                <a:spcPts val="0"/>
              </a:spcAft>
              <a:buClr>
                <a:schemeClr val="dk1"/>
              </a:buClr>
              <a:buSzPts val="2800"/>
              <a:buChar char="•"/>
            </a:pPr>
            <a:r>
              <a:rPr lang="en-US" sz="2800"/>
              <a:t>For example 10 + 20 * 30 is calculated as 10 + (20 * 30) and not as (10 + 20) * 30.</a:t>
            </a:r>
            <a:endParaRPr/>
          </a:p>
          <a:p>
            <a:pPr indent="-342900" lvl="0" marL="342900" rtl="0" algn="just">
              <a:spcBef>
                <a:spcPts val="560"/>
              </a:spcBef>
              <a:spcAft>
                <a:spcPts val="0"/>
              </a:spcAft>
              <a:buClr>
                <a:schemeClr val="dk1"/>
              </a:buClr>
              <a:buSzPts val="2800"/>
              <a:buChar char="•"/>
            </a:pPr>
            <a:r>
              <a:rPr lang="en-US" sz="2800"/>
              <a:t>Associativity is used when two operators of same precedence appear in an expression. Associativity can be either </a:t>
            </a:r>
            <a:r>
              <a:rPr b="1" lang="en-US" sz="2800"/>
              <a:t>L</a:t>
            </a:r>
            <a:r>
              <a:rPr lang="en-US" sz="2800"/>
              <a:t>eft</a:t>
            </a:r>
            <a:r>
              <a:rPr b="1" lang="en-US" sz="2800"/>
              <a:t> t</a:t>
            </a:r>
            <a:r>
              <a:rPr lang="en-US" sz="2800"/>
              <a:t>o </a:t>
            </a:r>
            <a:r>
              <a:rPr b="1" lang="en-US" sz="2800"/>
              <a:t>R</a:t>
            </a:r>
            <a:r>
              <a:rPr lang="en-US" sz="2800"/>
              <a:t>ight or</a:t>
            </a:r>
            <a:r>
              <a:rPr b="1" lang="en-US" sz="2800"/>
              <a:t> R</a:t>
            </a:r>
            <a:r>
              <a:rPr lang="en-US" sz="2800"/>
              <a:t>ight</a:t>
            </a:r>
            <a:r>
              <a:rPr b="1" lang="en-US" sz="2800"/>
              <a:t> t</a:t>
            </a:r>
            <a:r>
              <a:rPr lang="en-US" sz="2800"/>
              <a:t>o </a:t>
            </a:r>
            <a:r>
              <a:rPr b="1" lang="en-US" sz="2800"/>
              <a:t>L</a:t>
            </a:r>
            <a:r>
              <a:rPr lang="en-US" sz="2800"/>
              <a:t>eft. </a:t>
            </a:r>
            <a:endParaRPr/>
          </a:p>
          <a:p>
            <a:pPr indent="-342900" lvl="0" marL="342900" rtl="0" algn="just">
              <a:spcBef>
                <a:spcPts val="560"/>
              </a:spcBef>
              <a:spcAft>
                <a:spcPts val="0"/>
              </a:spcAft>
              <a:buClr>
                <a:schemeClr val="dk1"/>
              </a:buClr>
              <a:buSzPts val="2800"/>
              <a:buChar char="•"/>
            </a:pPr>
            <a:r>
              <a:rPr lang="en-US" sz="2800"/>
              <a:t>For example ‘*’ and ‘/’ have same precedence and their associativity is </a:t>
            </a:r>
            <a:r>
              <a:rPr b="1" lang="en-US" sz="2800"/>
              <a:t>L</a:t>
            </a:r>
            <a:r>
              <a:rPr lang="en-US" sz="2800"/>
              <a:t>eft</a:t>
            </a:r>
            <a:r>
              <a:rPr b="1" lang="en-US" sz="2800"/>
              <a:t> t</a:t>
            </a:r>
            <a:r>
              <a:rPr lang="en-US" sz="2800"/>
              <a:t>o </a:t>
            </a:r>
            <a:r>
              <a:rPr b="1" lang="en-US" sz="2800"/>
              <a:t>R</a:t>
            </a:r>
            <a:r>
              <a:rPr lang="en-US" sz="2800"/>
              <a:t>ight, so the expression “100 / 10 * 10” is treated as “(100 / 10) * 10”.</a:t>
            </a:r>
            <a:endParaRPr/>
          </a:p>
          <a:p>
            <a:pPr indent="-342900" lvl="0" marL="342900" rtl="0" algn="just">
              <a:spcBef>
                <a:spcPts val="560"/>
              </a:spcBef>
              <a:spcAft>
                <a:spcPts val="0"/>
              </a:spcAft>
              <a:buClr>
                <a:schemeClr val="dk1"/>
              </a:buClr>
              <a:buSzPts val="2800"/>
              <a:buChar char="•"/>
            </a:pPr>
            <a:r>
              <a:rPr i="1" lang="en-US" sz="2800"/>
              <a:t>Precedence and Associativity are two characteristics of operators that determine the evaluation order of sub-expressions in absence of brackets</a:t>
            </a:r>
            <a:r>
              <a:rPr lang="en-US" sz="2800"/>
              <a:t>.</a:t>
            </a:r>
            <a:endParaRPr/>
          </a:p>
          <a:p>
            <a:pPr indent="-165100" lvl="0" marL="342900" rtl="0" algn="just">
              <a:spcBef>
                <a:spcPts val="560"/>
              </a:spcBef>
              <a:spcAft>
                <a:spcPts val="0"/>
              </a:spcAft>
              <a:buClr>
                <a:schemeClr val="dk1"/>
              </a:buClr>
              <a:buSzPts val="2800"/>
              <a:buNone/>
            </a:pPr>
            <a:r>
              <a:t/>
            </a:r>
            <a:endParaRPr b="1" sz="2800"/>
          </a:p>
        </p:txBody>
      </p:sp>
      <p:sp>
        <p:nvSpPr>
          <p:cNvPr id="756" name="Google Shape;756;p8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87"/>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b="1"/>
          </a:p>
        </p:txBody>
      </p:sp>
      <p:sp>
        <p:nvSpPr>
          <p:cNvPr id="763" name="Google Shape;763;p87"/>
          <p:cNvSpPr txBox="1"/>
          <p:nvPr>
            <p:ph idx="1" type="body"/>
          </p:nvPr>
        </p:nvSpPr>
        <p:spPr>
          <a:xfrm>
            <a:off x="204953" y="1024760"/>
            <a:ext cx="11729544" cy="5612524"/>
          </a:xfrm>
          <a:prstGeom prst="rect">
            <a:avLst/>
          </a:prstGeom>
          <a:noFill/>
          <a:ln>
            <a:noFill/>
          </a:ln>
        </p:spPr>
        <p:txBody>
          <a:bodyPr anchorCtr="0" anchor="t" bIns="45700" lIns="91425" spcFirstLastPara="1" rIns="91425" wrap="square" tIns="45700">
            <a:normAutofit/>
          </a:bodyPr>
          <a:lstStyle/>
          <a:p>
            <a:pPr indent="-139700" lvl="0" marL="342900" rtl="0" algn="just">
              <a:spcBef>
                <a:spcPts val="0"/>
              </a:spcBef>
              <a:spcAft>
                <a:spcPts val="0"/>
              </a:spcAft>
              <a:buClr>
                <a:schemeClr val="dk1"/>
              </a:buClr>
              <a:buSzPts val="3200"/>
              <a:buNone/>
            </a:pPr>
            <a:r>
              <a:t/>
            </a:r>
            <a:endParaRPr b="1"/>
          </a:p>
        </p:txBody>
      </p:sp>
      <p:sp>
        <p:nvSpPr>
          <p:cNvPr id="764" name="Google Shape;764;p8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priority.jpg" id="765" name="Google Shape;765;p87"/>
          <p:cNvPicPr preferRelativeResize="0"/>
          <p:nvPr/>
        </p:nvPicPr>
        <p:blipFill rotWithShape="1">
          <a:blip r:embed="rId3">
            <a:alphaModFix/>
          </a:blip>
          <a:srcRect b="0" l="0" r="0" t="0"/>
          <a:stretch/>
        </p:blipFill>
        <p:spPr>
          <a:xfrm>
            <a:off x="1277007" y="0"/>
            <a:ext cx="10247586" cy="68580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a:t>
            </a:r>
            <a:endParaRPr/>
          </a:p>
        </p:txBody>
      </p:sp>
      <p:sp>
        <p:nvSpPr>
          <p:cNvPr id="771" name="Google Shape;771;p88"/>
          <p:cNvSpPr txBox="1"/>
          <p:nvPr>
            <p:ph idx="1" type="body"/>
          </p:nvPr>
        </p:nvSpPr>
        <p:spPr>
          <a:xfrm>
            <a:off x="812800" y="1295400"/>
            <a:ext cx="10871200" cy="128428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Font typeface="Arial"/>
              <a:buNone/>
            </a:pPr>
            <a:r>
              <a:rPr lang="en-US" sz="2800"/>
              <a:t>Algebra:</a:t>
            </a:r>
            <a:endParaRPr/>
          </a:p>
          <a:p>
            <a:pPr indent="-342900" lvl="0" marL="342900" rtl="0" algn="l">
              <a:lnSpc>
                <a:spcPct val="90000"/>
              </a:lnSpc>
              <a:spcBef>
                <a:spcPts val="560"/>
              </a:spcBef>
              <a:spcAft>
                <a:spcPts val="0"/>
              </a:spcAft>
              <a:buClr>
                <a:schemeClr val="dk1"/>
              </a:buClr>
              <a:buSzPts val="2800"/>
              <a:buFont typeface="Arial"/>
              <a:buNone/>
            </a:pPr>
            <a:r>
              <a:rPr lang="en-US" sz="2800"/>
              <a:t>			a(b+c)+ c(d+e)		</a:t>
            </a:r>
            <a:endParaRPr/>
          </a:p>
        </p:txBody>
      </p:sp>
      <p:sp>
        <p:nvSpPr>
          <p:cNvPr id="772" name="Google Shape;772;p88"/>
          <p:cNvSpPr/>
          <p:nvPr/>
        </p:nvSpPr>
        <p:spPr>
          <a:xfrm>
            <a:off x="914400" y="3352800"/>
            <a:ext cx="10363200" cy="9906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accent2"/>
              </a:buClr>
              <a:buSzPts val="2240"/>
              <a:buFont typeface="Noto Sans Symbols"/>
              <a:buNone/>
            </a:pPr>
            <a:r>
              <a:rPr lang="en-US" sz="2800">
                <a:solidFill>
                  <a:schemeClr val="dk1"/>
                </a:solidFill>
                <a:latin typeface="Arial"/>
                <a:ea typeface="Arial"/>
                <a:cs typeface="Arial"/>
                <a:sym typeface="Arial"/>
              </a:rPr>
              <a:t>C:</a:t>
            </a:r>
            <a:endParaRPr/>
          </a:p>
          <a:p>
            <a:pPr indent="-342900" lvl="0" marL="342900" marR="0" rtl="0" algn="l">
              <a:lnSpc>
                <a:spcPct val="90000"/>
              </a:lnSpc>
              <a:spcBef>
                <a:spcPts val="560"/>
              </a:spcBef>
              <a:spcAft>
                <a:spcPts val="0"/>
              </a:spcAft>
              <a:buClr>
                <a:schemeClr val="accent2"/>
              </a:buClr>
              <a:buSzPts val="2240"/>
              <a:buFont typeface="Noto Sans Symbols"/>
              <a:buNone/>
            </a:pPr>
            <a:r>
              <a:rPr lang="en-US" sz="2800">
                <a:solidFill>
                  <a:schemeClr val="dk1"/>
                </a:solidFill>
                <a:latin typeface="Arial"/>
                <a:ea typeface="Arial"/>
                <a:cs typeface="Arial"/>
                <a:sym typeface="Arial"/>
              </a:rPr>
              <a:t>						a  *  (  b  +  c  )  +  c  *  (  d  +  e  )  ;</a:t>
            </a:r>
            <a:endParaRPr/>
          </a:p>
        </p:txBody>
      </p:sp>
      <p:sp>
        <p:nvSpPr>
          <p:cNvPr id="773" name="Google Shape;773;p88"/>
          <p:cNvSpPr/>
          <p:nvPr/>
        </p:nvSpPr>
        <p:spPr>
          <a:xfrm>
            <a:off x="914400" y="4876800"/>
            <a:ext cx="10363200" cy="9906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accent2"/>
              </a:buClr>
              <a:buSzPts val="2240"/>
              <a:buFont typeface="Noto Sans Symbols"/>
              <a:buNone/>
            </a:pPr>
            <a:r>
              <a:rPr lang="en-US" sz="2800">
                <a:solidFill>
                  <a:schemeClr val="dk1"/>
                </a:solidFill>
                <a:latin typeface="Arial"/>
                <a:ea typeface="Arial"/>
                <a:cs typeface="Arial"/>
                <a:sym typeface="Arial"/>
              </a:rPr>
              <a:t>Precedence:</a:t>
            </a:r>
            <a:endParaRPr/>
          </a:p>
          <a:p>
            <a:pPr indent="-342900" lvl="0" marL="342900" marR="0" rtl="0" algn="l">
              <a:lnSpc>
                <a:spcPct val="90000"/>
              </a:lnSpc>
              <a:spcBef>
                <a:spcPts val="560"/>
              </a:spcBef>
              <a:spcAft>
                <a:spcPts val="0"/>
              </a:spcAft>
              <a:buClr>
                <a:schemeClr val="accent2"/>
              </a:buClr>
              <a:buSzPts val="2240"/>
              <a:buFont typeface="Noto Sans Symbols"/>
              <a:buNone/>
            </a:pPr>
            <a:r>
              <a:rPr lang="en-US" sz="2800">
                <a:solidFill>
                  <a:schemeClr val="dk1"/>
                </a:solidFill>
                <a:latin typeface="Arial"/>
                <a:ea typeface="Arial"/>
                <a:cs typeface="Arial"/>
                <a:sym typeface="Arial"/>
              </a:rPr>
              <a:t>			   				 3	     1	       5	      4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1">
                                            <p:txEl>
                                              <p:pRg end="0" st="0"/>
                                            </p:txEl>
                                          </p:spTgt>
                                        </p:tgtEl>
                                        <p:attrNameLst>
                                          <p:attrName>style.visibility</p:attrName>
                                        </p:attrNameLst>
                                      </p:cBhvr>
                                      <p:to>
                                        <p:strVal val="visible"/>
                                      </p:to>
                                    </p:set>
                                    <p:animEffect filter="fade" transition="in">
                                      <p:cBhvr>
                                        <p:cTn dur="500"/>
                                        <p:tgtEl>
                                          <p:spTgt spid="77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71">
                                            <p:txEl>
                                              <p:pRg end="1" st="1"/>
                                            </p:txEl>
                                          </p:spTgt>
                                        </p:tgtEl>
                                        <p:attrNameLst>
                                          <p:attrName>style.visibility</p:attrName>
                                        </p:attrNameLst>
                                      </p:cBhvr>
                                      <p:to>
                                        <p:strVal val="visible"/>
                                      </p:to>
                                    </p:set>
                                    <p:animEffect filter="fade" transition="in">
                                      <p:cBhvr>
                                        <p:cTn dur="500"/>
                                        <p:tgtEl>
                                          <p:spTgt spid="7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5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8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Examples</a:t>
            </a:r>
            <a:endParaRPr/>
          </a:p>
        </p:txBody>
      </p:sp>
      <p:sp>
        <p:nvSpPr>
          <p:cNvPr id="779" name="Google Shape;779;p89"/>
          <p:cNvSpPr txBox="1"/>
          <p:nvPr>
            <p:ph idx="1" type="body"/>
          </p:nvPr>
        </p:nvSpPr>
        <p:spPr>
          <a:xfrm>
            <a:off x="173421" y="1295400"/>
            <a:ext cx="11761076" cy="1284288"/>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b="1" lang="en-US"/>
              <a:t>Example 1: Determine the hierarchy of operations and evaluate </a:t>
            </a:r>
            <a:r>
              <a:rPr lang="en-US"/>
              <a:t>the following expression, assume i is of type int:</a:t>
            </a:r>
            <a:endParaRPr/>
          </a:p>
          <a:p>
            <a:pPr indent="-342900" lvl="0" marL="342900" rtl="0" algn="just">
              <a:spcBef>
                <a:spcPts val="640"/>
              </a:spcBef>
              <a:spcAft>
                <a:spcPts val="0"/>
              </a:spcAft>
              <a:buClr>
                <a:schemeClr val="dk1"/>
              </a:buClr>
              <a:buSzPts val="3200"/>
              <a:buFont typeface="Arial"/>
              <a:buNone/>
            </a:pPr>
            <a:r>
              <a:rPr lang="en-US"/>
              <a:t>			i = 2 * 3 / 4 + 4 / 4 + 8 - 2 + 5 / 8</a:t>
            </a:r>
            <a:endParaRPr/>
          </a:p>
          <a:p>
            <a:pPr indent="-342900" lvl="0" marL="342900" rtl="0" algn="just">
              <a:spcBef>
                <a:spcPts val="640"/>
              </a:spcBef>
              <a:spcAft>
                <a:spcPts val="0"/>
              </a:spcAft>
              <a:buClr>
                <a:schemeClr val="dk1"/>
              </a:buClr>
              <a:buSzPts val="3200"/>
              <a:buChar char="•"/>
            </a:pPr>
            <a:r>
              <a:rPr b="1" lang="en-US"/>
              <a:t>Example 2: Determine the hierarchy of operations and evaluate </a:t>
            </a:r>
            <a:r>
              <a:rPr lang="en-US"/>
              <a:t>the following expression, assume kk is a float:</a:t>
            </a:r>
            <a:endParaRPr/>
          </a:p>
          <a:p>
            <a:pPr indent="-342900" lvl="0" marL="342900" rtl="0" algn="just">
              <a:spcBef>
                <a:spcPts val="640"/>
              </a:spcBef>
              <a:spcAft>
                <a:spcPts val="0"/>
              </a:spcAft>
              <a:buClr>
                <a:schemeClr val="dk1"/>
              </a:buClr>
              <a:buSzPts val="3200"/>
              <a:buFont typeface="Arial"/>
              <a:buNone/>
            </a:pPr>
            <a:r>
              <a:rPr lang="en-US"/>
              <a:t>			kk = 3 / 2 * 4 + 3 / 8 + 3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9">
                                            <p:txEl>
                                              <p:pRg end="0" st="0"/>
                                            </p:txEl>
                                          </p:spTgt>
                                        </p:tgtEl>
                                        <p:attrNameLst>
                                          <p:attrName>style.visibility</p:attrName>
                                        </p:attrNameLst>
                                      </p:cBhvr>
                                      <p:to>
                                        <p:strVal val="visible"/>
                                      </p:to>
                                    </p:set>
                                    <p:animEffect filter="fade" transition="in">
                                      <p:cBhvr>
                                        <p:cTn dur="500"/>
                                        <p:tgtEl>
                                          <p:spTgt spid="77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79">
                                            <p:txEl>
                                              <p:pRg end="1" st="1"/>
                                            </p:txEl>
                                          </p:spTgt>
                                        </p:tgtEl>
                                        <p:attrNameLst>
                                          <p:attrName>style.visibility</p:attrName>
                                        </p:attrNameLst>
                                      </p:cBhvr>
                                      <p:to>
                                        <p:strVal val="visible"/>
                                      </p:to>
                                    </p:set>
                                    <p:animEffect filter="fade" transition="in">
                                      <p:cBhvr>
                                        <p:cTn dur="500"/>
                                        <p:tgtEl>
                                          <p:spTgt spid="77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779">
                                            <p:txEl>
                                              <p:pRg end="2" st="2"/>
                                            </p:txEl>
                                          </p:spTgt>
                                        </p:tgtEl>
                                        <p:attrNameLst>
                                          <p:attrName>style.visibility</p:attrName>
                                        </p:attrNameLst>
                                      </p:cBhvr>
                                      <p:to>
                                        <p:strVal val="visible"/>
                                      </p:to>
                                    </p:set>
                                    <p:animEffect filter="fade" transition="in">
                                      <p:cBhvr>
                                        <p:cTn dur="500"/>
                                        <p:tgtEl>
                                          <p:spTgt spid="77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779">
                                            <p:txEl>
                                              <p:pRg end="3" st="3"/>
                                            </p:txEl>
                                          </p:spTgt>
                                        </p:tgtEl>
                                        <p:attrNameLst>
                                          <p:attrName>style.visibility</p:attrName>
                                        </p:attrNameLst>
                                      </p:cBhvr>
                                      <p:to>
                                        <p:strVal val="visible"/>
                                      </p:to>
                                    </p:set>
                                    <p:animEffect filter="fade" transition="in">
                                      <p:cBhvr>
                                        <p:cTn dur="500"/>
                                        <p:tgtEl>
                                          <p:spTgt spid="77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90"/>
          <p:cNvSpPr txBox="1"/>
          <p:nvPr>
            <p:ph type="title"/>
          </p:nvPr>
        </p:nvSpPr>
        <p:spPr>
          <a:xfrm>
            <a:off x="646387" y="-204951"/>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C Library Functions</a:t>
            </a:r>
            <a:endParaRPr b="1" sz="3200"/>
          </a:p>
        </p:txBody>
      </p:sp>
      <p:sp>
        <p:nvSpPr>
          <p:cNvPr id="786" name="Google Shape;786;p90"/>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139700" lvl="0" marL="342900" rtl="0" algn="just">
              <a:spcBef>
                <a:spcPts val="0"/>
              </a:spcBef>
              <a:spcAft>
                <a:spcPts val="0"/>
              </a:spcAft>
              <a:buClr>
                <a:schemeClr val="dk1"/>
              </a:buClr>
              <a:buSzPts val="3200"/>
              <a:buNone/>
            </a:pPr>
            <a:r>
              <a:t/>
            </a:r>
            <a:endParaRPr b="1"/>
          </a:p>
        </p:txBody>
      </p:sp>
      <p:sp>
        <p:nvSpPr>
          <p:cNvPr id="787" name="Google Shape;787;p9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88" name="Google Shape;788;p90"/>
          <p:cNvPicPr preferRelativeResize="0"/>
          <p:nvPr/>
        </p:nvPicPr>
        <p:blipFill rotWithShape="1">
          <a:blip r:embed="rId3">
            <a:alphaModFix/>
          </a:blip>
          <a:srcRect b="0" l="0" r="0" t="0"/>
          <a:stretch/>
        </p:blipFill>
        <p:spPr>
          <a:xfrm>
            <a:off x="1387367" y="520262"/>
            <a:ext cx="9490840" cy="6337738"/>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9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 Casting</a:t>
            </a:r>
            <a:endParaRPr/>
          </a:p>
        </p:txBody>
      </p:sp>
      <p:sp>
        <p:nvSpPr>
          <p:cNvPr id="795" name="Google Shape;795;p91"/>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Type casting is a way to convert a variable from one data type to another data type. </a:t>
            </a:r>
            <a:endParaRPr/>
          </a:p>
          <a:p>
            <a:pPr indent="-342900" lvl="0" marL="342900" rtl="0" algn="just">
              <a:spcBef>
                <a:spcPts val="640"/>
              </a:spcBef>
              <a:spcAft>
                <a:spcPts val="0"/>
              </a:spcAft>
              <a:buClr>
                <a:schemeClr val="dk1"/>
              </a:buClr>
              <a:buSzPts val="3200"/>
              <a:buChar char="•"/>
            </a:pPr>
            <a:r>
              <a:rPr lang="en-US"/>
              <a:t>For example, if you want to store a 'long' value into a simple integer then you can type cast 'long' to 'int'. </a:t>
            </a:r>
            <a:endParaRPr/>
          </a:p>
          <a:p>
            <a:pPr indent="-342900" lvl="0" marL="342900" rtl="0" algn="just">
              <a:spcBef>
                <a:spcPts val="640"/>
              </a:spcBef>
              <a:spcAft>
                <a:spcPts val="0"/>
              </a:spcAft>
              <a:buClr>
                <a:schemeClr val="dk1"/>
              </a:buClr>
              <a:buSzPts val="3200"/>
              <a:buChar char="•"/>
            </a:pPr>
            <a:r>
              <a:rPr lang="en-US"/>
              <a:t>You can convert the values from one type to another explicitly using the </a:t>
            </a:r>
            <a:r>
              <a:rPr b="1" lang="en-US"/>
              <a:t>cast operator</a:t>
            </a:r>
            <a:r>
              <a:rPr lang="en-US"/>
              <a:t> as follows −</a:t>
            </a:r>
            <a:endParaRPr/>
          </a:p>
          <a:p>
            <a:pPr indent="-342900" lvl="0" marL="342900" rtl="0" algn="just">
              <a:spcBef>
                <a:spcPts val="640"/>
              </a:spcBef>
              <a:spcAft>
                <a:spcPts val="0"/>
              </a:spcAft>
              <a:buClr>
                <a:schemeClr val="dk1"/>
              </a:buClr>
              <a:buSzPts val="3200"/>
              <a:buChar char="•"/>
            </a:pPr>
            <a:r>
              <a:rPr b="1" lang="en-US"/>
              <a:t>(type_name) expression</a:t>
            </a:r>
            <a:endParaRPr/>
          </a:p>
          <a:p>
            <a:pPr indent="-139700" lvl="0" marL="342900" rtl="0" algn="just">
              <a:spcBef>
                <a:spcPts val="640"/>
              </a:spcBef>
              <a:spcAft>
                <a:spcPts val="0"/>
              </a:spcAft>
              <a:buClr>
                <a:schemeClr val="dk1"/>
              </a:buClr>
              <a:buSzPts val="3200"/>
              <a:buNone/>
            </a:pPr>
            <a:r>
              <a:t/>
            </a:r>
            <a:endParaRPr b="1"/>
          </a:p>
          <a:p>
            <a:pPr indent="-342900" lvl="0" marL="342900" rtl="0" algn="just">
              <a:spcBef>
                <a:spcPts val="560"/>
              </a:spcBef>
              <a:spcAft>
                <a:spcPts val="0"/>
              </a:spcAft>
              <a:buClr>
                <a:schemeClr val="dk1"/>
              </a:buClr>
              <a:buSzPts val="2800"/>
              <a:buChar char="•"/>
            </a:pPr>
            <a:r>
              <a:rPr i="1" lang="en-US" sz="2800"/>
              <a:t>It’s best practice to convert lower data type to higher data type to avoid data loss.</a:t>
            </a:r>
            <a:endParaRPr/>
          </a:p>
          <a:p>
            <a:pPr indent="-139700" lvl="0" marL="342900" rtl="0" algn="just">
              <a:spcBef>
                <a:spcPts val="640"/>
              </a:spcBef>
              <a:spcAft>
                <a:spcPts val="0"/>
              </a:spcAft>
              <a:buClr>
                <a:schemeClr val="dk1"/>
              </a:buClr>
              <a:buSzPts val="3200"/>
              <a:buNone/>
            </a:pPr>
            <a:r>
              <a:t/>
            </a:r>
            <a:endParaRPr b="1"/>
          </a:p>
        </p:txBody>
      </p:sp>
      <p:sp>
        <p:nvSpPr>
          <p:cNvPr id="796" name="Google Shape;796;p9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92"/>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Type Casting</a:t>
            </a:r>
            <a:endParaRPr/>
          </a:p>
        </p:txBody>
      </p:sp>
      <p:sp>
        <p:nvSpPr>
          <p:cNvPr id="803" name="Google Shape;803;p92"/>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lang="en-US" sz="2800"/>
              <a:t>#include &lt;stdio.h&gt;</a:t>
            </a:r>
            <a:endParaRPr/>
          </a:p>
          <a:p>
            <a:pPr indent="0" lvl="0" marL="0" rtl="0" algn="l">
              <a:spcBef>
                <a:spcPts val="560"/>
              </a:spcBef>
              <a:spcAft>
                <a:spcPts val="0"/>
              </a:spcAft>
              <a:buClr>
                <a:schemeClr val="dk1"/>
              </a:buClr>
              <a:buSzPts val="2800"/>
              <a:buNone/>
            </a:pPr>
            <a:r>
              <a:rPr lang="en-US" sz="2800"/>
              <a:t>void main() </a:t>
            </a:r>
            <a:endParaRPr/>
          </a:p>
          <a:p>
            <a:pPr indent="0" lvl="0" marL="0" rtl="0" algn="l">
              <a:spcBef>
                <a:spcPts val="560"/>
              </a:spcBef>
              <a:spcAft>
                <a:spcPts val="0"/>
              </a:spcAft>
              <a:buClr>
                <a:schemeClr val="dk1"/>
              </a:buClr>
              <a:buSzPts val="2800"/>
              <a:buNone/>
            </a:pPr>
            <a:r>
              <a:rPr lang="en-US" sz="2800"/>
              <a:t>{</a:t>
            </a:r>
            <a:endParaRPr/>
          </a:p>
          <a:p>
            <a:pPr indent="0" lvl="0" marL="0" rtl="0" algn="l">
              <a:spcBef>
                <a:spcPts val="560"/>
              </a:spcBef>
              <a:spcAft>
                <a:spcPts val="0"/>
              </a:spcAft>
              <a:buClr>
                <a:schemeClr val="dk1"/>
              </a:buClr>
              <a:buSzPts val="2800"/>
              <a:buNone/>
            </a:pPr>
            <a:r>
              <a:rPr lang="en-US" sz="2800"/>
              <a:t>   int sum = 17, count = 5;</a:t>
            </a:r>
            <a:endParaRPr/>
          </a:p>
          <a:p>
            <a:pPr indent="0" lvl="0" marL="0" rtl="0" algn="l">
              <a:spcBef>
                <a:spcPts val="560"/>
              </a:spcBef>
              <a:spcAft>
                <a:spcPts val="0"/>
              </a:spcAft>
              <a:buClr>
                <a:schemeClr val="dk1"/>
              </a:buClr>
              <a:buSzPts val="2800"/>
              <a:buNone/>
            </a:pPr>
            <a:r>
              <a:rPr lang="en-US" sz="2800"/>
              <a:t>   double mean;</a:t>
            </a:r>
            <a:endParaRPr/>
          </a:p>
          <a:p>
            <a:pPr indent="0" lvl="0" marL="0" rtl="0" algn="l">
              <a:spcBef>
                <a:spcPts val="560"/>
              </a:spcBef>
              <a:spcAft>
                <a:spcPts val="0"/>
              </a:spcAft>
              <a:buClr>
                <a:schemeClr val="dk1"/>
              </a:buClr>
              <a:buSzPts val="2800"/>
              <a:buNone/>
            </a:pPr>
            <a:r>
              <a:rPr lang="en-US" sz="2800"/>
              <a:t>   mean = (double) sum / count;</a:t>
            </a:r>
            <a:endParaRPr/>
          </a:p>
          <a:p>
            <a:pPr indent="0" lvl="0" marL="0" rtl="0" algn="l">
              <a:spcBef>
                <a:spcPts val="560"/>
              </a:spcBef>
              <a:spcAft>
                <a:spcPts val="0"/>
              </a:spcAft>
              <a:buClr>
                <a:schemeClr val="dk1"/>
              </a:buClr>
              <a:buSzPts val="2800"/>
              <a:buNone/>
            </a:pPr>
            <a:r>
              <a:rPr lang="en-US" sz="2800"/>
              <a:t>   printf("Value of mean : %f\n",  mean);</a:t>
            </a:r>
            <a:endParaRPr/>
          </a:p>
          <a:p>
            <a:pPr indent="0" lvl="0" marL="0" rtl="0" algn="l">
              <a:spcBef>
                <a:spcPts val="560"/>
              </a:spcBef>
              <a:spcAft>
                <a:spcPts val="0"/>
              </a:spcAft>
              <a:buClr>
                <a:schemeClr val="dk1"/>
              </a:buClr>
              <a:buSzPts val="2800"/>
              <a:buNone/>
            </a:pPr>
            <a:r>
              <a:rPr lang="en-US" sz="2800"/>
              <a:t>}</a:t>
            </a:r>
            <a:endParaRPr/>
          </a:p>
          <a:p>
            <a:pPr indent="0" lvl="0" marL="0" rtl="0" algn="l">
              <a:spcBef>
                <a:spcPts val="560"/>
              </a:spcBef>
              <a:spcAft>
                <a:spcPts val="0"/>
              </a:spcAft>
              <a:buClr>
                <a:schemeClr val="dk1"/>
              </a:buClr>
              <a:buSzPts val="2800"/>
              <a:buNone/>
            </a:pPr>
            <a:r>
              <a:t/>
            </a:r>
            <a:endParaRPr sz="2800"/>
          </a:p>
          <a:p>
            <a:pPr indent="0" lvl="0" marL="0" rtl="0" algn="l">
              <a:spcBef>
                <a:spcPts val="560"/>
              </a:spcBef>
              <a:spcAft>
                <a:spcPts val="0"/>
              </a:spcAft>
              <a:buClr>
                <a:schemeClr val="dk1"/>
              </a:buClr>
              <a:buSzPts val="2800"/>
              <a:buNone/>
            </a:pPr>
            <a:r>
              <a:t/>
            </a:r>
            <a:endParaRPr sz="2800"/>
          </a:p>
          <a:p>
            <a:pPr indent="0" lvl="0" marL="0" rtl="0" algn="l">
              <a:spcBef>
                <a:spcPts val="560"/>
              </a:spcBef>
              <a:spcAft>
                <a:spcPts val="0"/>
              </a:spcAft>
              <a:buClr>
                <a:schemeClr val="dk1"/>
              </a:buClr>
              <a:buSzPts val="2800"/>
              <a:buNone/>
            </a:pPr>
            <a:r>
              <a:rPr lang="en-US" sz="2800"/>
              <a:t>Output- Value of mean : 3.400000</a:t>
            </a:r>
            <a:endParaRPr/>
          </a:p>
          <a:p>
            <a:pPr indent="0" lvl="0" marL="457200" rtl="0" algn="l">
              <a:spcBef>
                <a:spcPts val="560"/>
              </a:spcBef>
              <a:spcAft>
                <a:spcPts val="0"/>
              </a:spcAft>
              <a:buClr>
                <a:schemeClr val="dk1"/>
              </a:buClr>
              <a:buSzPts val="2800"/>
              <a:buNone/>
            </a:pPr>
            <a:r>
              <a:t/>
            </a:r>
            <a:endParaRPr sz="2800"/>
          </a:p>
          <a:p>
            <a:pPr indent="0" lvl="0" marL="457200" rtl="0" algn="l">
              <a:spcBef>
                <a:spcPts val="560"/>
              </a:spcBef>
              <a:spcAft>
                <a:spcPts val="0"/>
              </a:spcAft>
              <a:buClr>
                <a:schemeClr val="dk1"/>
              </a:buClr>
              <a:buSzPts val="2800"/>
              <a:buNone/>
            </a:pPr>
            <a:r>
              <a:t/>
            </a:r>
            <a:endParaRPr sz="2800"/>
          </a:p>
        </p:txBody>
      </p:sp>
      <p:sp>
        <p:nvSpPr>
          <p:cNvPr id="804" name="Google Shape;804;p9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93"/>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Type Conversion</a:t>
            </a:r>
            <a:endParaRPr/>
          </a:p>
        </p:txBody>
      </p:sp>
      <p:sp>
        <p:nvSpPr>
          <p:cNvPr id="811" name="Google Shape;811;p93"/>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Type conversions can be implicit which is performed by the compiler automatically, or it can be specified explicitly through the use of the </a:t>
            </a:r>
            <a:r>
              <a:rPr b="1" lang="en-US"/>
              <a:t>cast operator</a:t>
            </a:r>
            <a:r>
              <a:rPr lang="en-US"/>
              <a:t>. </a:t>
            </a:r>
            <a:endParaRPr/>
          </a:p>
          <a:p>
            <a:pPr indent="-342900" lvl="0" marL="342900" rtl="0" algn="just">
              <a:spcBef>
                <a:spcPts val="640"/>
              </a:spcBef>
              <a:spcAft>
                <a:spcPts val="0"/>
              </a:spcAft>
              <a:buClr>
                <a:schemeClr val="dk1"/>
              </a:buClr>
              <a:buSzPts val="3200"/>
              <a:buChar char="•"/>
            </a:pPr>
            <a:r>
              <a:rPr lang="en-US"/>
              <a:t>It is considered good programming practice to use the cast operator whenever type conversions are necessary.</a:t>
            </a:r>
            <a:endParaRPr/>
          </a:p>
          <a:p>
            <a:pPr indent="-342900" lvl="0" marL="342900" rtl="0" algn="just">
              <a:spcBef>
                <a:spcPts val="640"/>
              </a:spcBef>
              <a:spcAft>
                <a:spcPts val="0"/>
              </a:spcAft>
              <a:buClr>
                <a:schemeClr val="dk1"/>
              </a:buClr>
              <a:buSzPts val="3200"/>
              <a:buChar char="•"/>
            </a:pPr>
            <a:r>
              <a:rPr b="1" lang="en-US"/>
              <a:t>type</a:t>
            </a:r>
            <a:r>
              <a:rPr lang="en-US"/>
              <a:t> of the </a:t>
            </a:r>
            <a:r>
              <a:rPr b="1" lang="en-US"/>
              <a:t>expression</a:t>
            </a:r>
            <a:r>
              <a:rPr lang="en-US"/>
              <a:t> and the </a:t>
            </a:r>
            <a:r>
              <a:rPr b="1" lang="en-US"/>
              <a:t>type</a:t>
            </a:r>
            <a:r>
              <a:rPr lang="en-US"/>
              <a:t> of the </a:t>
            </a:r>
            <a:r>
              <a:rPr b="1" lang="en-US"/>
              <a:t>variable</a:t>
            </a:r>
            <a:r>
              <a:rPr lang="en-US"/>
              <a:t> on the left-hand side of the </a:t>
            </a:r>
            <a:r>
              <a:rPr b="1" lang="en-US"/>
              <a:t>assignment operator (=) </a:t>
            </a:r>
            <a:r>
              <a:rPr lang="en-US"/>
              <a:t>may </a:t>
            </a:r>
            <a:r>
              <a:rPr b="1" lang="en-US"/>
              <a:t>not</a:t>
            </a:r>
            <a:r>
              <a:rPr lang="en-US"/>
              <a:t> be </a:t>
            </a:r>
            <a:r>
              <a:rPr b="1" lang="en-US"/>
              <a:t>same</a:t>
            </a:r>
            <a:r>
              <a:rPr lang="en-US"/>
              <a:t>.</a:t>
            </a:r>
            <a:endParaRPr/>
          </a:p>
          <a:p>
            <a:pPr indent="-342900" lvl="0" marL="342900" rtl="0" algn="just">
              <a:spcBef>
                <a:spcPts val="640"/>
              </a:spcBef>
              <a:spcAft>
                <a:spcPts val="0"/>
              </a:spcAft>
              <a:buClr>
                <a:schemeClr val="dk1"/>
              </a:buClr>
              <a:buSzPts val="3200"/>
              <a:buChar char="•"/>
            </a:pPr>
            <a:r>
              <a:rPr lang="en-US"/>
              <a:t>value of the expression is </a:t>
            </a:r>
            <a:r>
              <a:rPr b="1" lang="en-US"/>
              <a:t>promoted</a:t>
            </a:r>
            <a:r>
              <a:rPr lang="en-US"/>
              <a:t> or </a:t>
            </a:r>
            <a:r>
              <a:rPr b="1" lang="en-US"/>
              <a:t>demoted</a:t>
            </a:r>
            <a:r>
              <a:rPr lang="en-US"/>
              <a:t> </a:t>
            </a:r>
            <a:r>
              <a:rPr b="1" lang="en-US"/>
              <a:t>depending</a:t>
            </a:r>
            <a:r>
              <a:rPr lang="en-US"/>
              <a:t> on the </a:t>
            </a:r>
            <a:r>
              <a:rPr b="1" lang="en-US"/>
              <a:t>type</a:t>
            </a:r>
            <a:r>
              <a:rPr lang="en-US"/>
              <a:t> of the </a:t>
            </a:r>
            <a:r>
              <a:rPr b="1" lang="en-US"/>
              <a:t>variable</a:t>
            </a:r>
            <a:r>
              <a:rPr lang="en-US"/>
              <a:t> on left-hand side of </a:t>
            </a:r>
            <a:r>
              <a:rPr b="1" lang="en-US"/>
              <a:t>=.</a:t>
            </a:r>
            <a:endParaRPr/>
          </a:p>
          <a:p>
            <a:pPr indent="-139700" lvl="0" marL="342900" rtl="0" algn="just">
              <a:spcBef>
                <a:spcPts val="640"/>
              </a:spcBef>
              <a:spcAft>
                <a:spcPts val="0"/>
              </a:spcAft>
              <a:buClr>
                <a:schemeClr val="dk1"/>
              </a:buClr>
              <a:buSzPts val="3200"/>
              <a:buNone/>
            </a:pPr>
            <a:r>
              <a:t/>
            </a:r>
            <a:endParaRPr b="1"/>
          </a:p>
        </p:txBody>
      </p:sp>
      <p:sp>
        <p:nvSpPr>
          <p:cNvPr id="812" name="Google Shape;812;p9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94"/>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Type Conversion</a:t>
            </a:r>
            <a:endParaRPr/>
          </a:p>
        </p:txBody>
      </p:sp>
      <p:sp>
        <p:nvSpPr>
          <p:cNvPr id="819" name="Google Shape;819;p94"/>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Examples:				</a:t>
            </a:r>
            <a:endParaRPr/>
          </a:p>
          <a:p>
            <a:pPr indent="0" lvl="0" marL="457200" rtl="0" algn="l">
              <a:spcBef>
                <a:spcPts val="640"/>
              </a:spcBef>
              <a:spcAft>
                <a:spcPts val="0"/>
              </a:spcAft>
              <a:buClr>
                <a:schemeClr val="dk1"/>
              </a:buClr>
              <a:buSzPts val="3200"/>
              <a:buNone/>
            </a:pPr>
            <a:r>
              <a:rPr lang="en-US"/>
              <a:t>int i;</a:t>
            </a:r>
            <a:endParaRPr/>
          </a:p>
          <a:p>
            <a:pPr indent="0" lvl="0" marL="457200" rtl="0" algn="l">
              <a:spcBef>
                <a:spcPts val="640"/>
              </a:spcBef>
              <a:spcAft>
                <a:spcPts val="0"/>
              </a:spcAft>
              <a:buClr>
                <a:schemeClr val="dk1"/>
              </a:buClr>
              <a:buSzPts val="3200"/>
              <a:buNone/>
            </a:pPr>
            <a:r>
              <a:rPr lang="en-US"/>
              <a:t>float b;</a:t>
            </a:r>
            <a:endParaRPr/>
          </a:p>
          <a:p>
            <a:pPr indent="0" lvl="0" marL="457200" rtl="0" algn="l">
              <a:spcBef>
                <a:spcPts val="640"/>
              </a:spcBef>
              <a:spcAft>
                <a:spcPts val="0"/>
              </a:spcAft>
              <a:buClr>
                <a:schemeClr val="dk1"/>
              </a:buClr>
              <a:buSzPts val="3200"/>
              <a:buNone/>
            </a:pPr>
            <a:r>
              <a:rPr lang="en-US"/>
              <a:t>i=3.5;</a:t>
            </a:r>
            <a:endParaRPr/>
          </a:p>
          <a:p>
            <a:pPr indent="0" lvl="0" marL="457200" rtl="0" algn="l">
              <a:spcBef>
                <a:spcPts val="640"/>
              </a:spcBef>
              <a:spcAft>
                <a:spcPts val="0"/>
              </a:spcAft>
              <a:buClr>
                <a:schemeClr val="dk1"/>
              </a:buClr>
              <a:buSzPts val="3200"/>
              <a:buNone/>
            </a:pPr>
            <a:r>
              <a:rPr lang="en-US"/>
              <a:t>b=30;</a:t>
            </a:r>
            <a:endParaRPr/>
          </a:p>
          <a:p>
            <a:pPr indent="0" lvl="0" marL="457200" rtl="0" algn="l">
              <a:spcBef>
                <a:spcPts val="640"/>
              </a:spcBef>
              <a:spcAft>
                <a:spcPts val="0"/>
              </a:spcAft>
              <a:buClr>
                <a:schemeClr val="dk1"/>
              </a:buClr>
              <a:buSzPts val="3200"/>
              <a:buNone/>
            </a:pPr>
            <a:r>
              <a:t/>
            </a:r>
            <a:endParaRPr/>
          </a:p>
          <a:p>
            <a:pPr indent="0" lvl="0" marL="457200" rtl="0" algn="l">
              <a:spcBef>
                <a:spcPts val="640"/>
              </a:spcBef>
              <a:spcAft>
                <a:spcPts val="0"/>
              </a:spcAft>
              <a:buClr>
                <a:schemeClr val="dk1"/>
              </a:buClr>
              <a:buSzPts val="3200"/>
              <a:buNone/>
            </a:pPr>
            <a:r>
              <a:t/>
            </a:r>
            <a:endParaRPr/>
          </a:p>
          <a:p>
            <a:pPr indent="0" lvl="0" marL="457200" rtl="0" algn="l">
              <a:spcBef>
                <a:spcPts val="640"/>
              </a:spcBef>
              <a:spcAft>
                <a:spcPts val="0"/>
              </a:spcAft>
              <a:buClr>
                <a:schemeClr val="dk1"/>
              </a:buClr>
              <a:buSzPts val="3200"/>
              <a:buNone/>
            </a:pPr>
            <a:r>
              <a:t/>
            </a:r>
            <a:endParaRPr/>
          </a:p>
          <a:p>
            <a:pPr indent="0" lvl="0" marL="457200" rtl="0" algn="l">
              <a:spcBef>
                <a:spcPts val="640"/>
              </a:spcBef>
              <a:spcAft>
                <a:spcPts val="0"/>
              </a:spcAft>
              <a:buClr>
                <a:schemeClr val="dk1"/>
              </a:buClr>
              <a:buSzPts val="3200"/>
              <a:buNone/>
            </a:pPr>
            <a:r>
              <a:t/>
            </a:r>
            <a:endParaRPr/>
          </a:p>
          <a:p>
            <a:pPr indent="0" lvl="0" marL="4572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US"/>
              <a:t>float a, b, c ;</a:t>
            </a:r>
            <a:endParaRPr/>
          </a:p>
          <a:p>
            <a:pPr indent="0" lvl="0" marL="0" rtl="0" algn="l">
              <a:spcBef>
                <a:spcPts val="640"/>
              </a:spcBef>
              <a:spcAft>
                <a:spcPts val="0"/>
              </a:spcAft>
              <a:buClr>
                <a:schemeClr val="dk1"/>
              </a:buClr>
              <a:buSzPts val="3200"/>
              <a:buNone/>
            </a:pPr>
            <a:r>
              <a:rPr lang="en-US"/>
              <a:t>int s ;</a:t>
            </a:r>
            <a:endParaRPr/>
          </a:p>
          <a:p>
            <a:pPr indent="0" lvl="0" marL="0" rtl="0" algn="l">
              <a:spcBef>
                <a:spcPts val="640"/>
              </a:spcBef>
              <a:spcAft>
                <a:spcPts val="0"/>
              </a:spcAft>
              <a:buClr>
                <a:schemeClr val="dk1"/>
              </a:buClr>
              <a:buSzPts val="3200"/>
              <a:buNone/>
            </a:pPr>
            <a:r>
              <a:rPr lang="en-US"/>
              <a:t>s = a * b * c / 100 + 32 / 4 - 3 * 1.1;</a:t>
            </a:r>
            <a:endParaRPr/>
          </a:p>
          <a:p>
            <a:pPr indent="0" lvl="0" marL="457200" rtl="0" algn="l">
              <a:spcBef>
                <a:spcPts val="640"/>
              </a:spcBef>
              <a:spcAft>
                <a:spcPts val="0"/>
              </a:spcAft>
              <a:buClr>
                <a:schemeClr val="dk1"/>
              </a:buClr>
              <a:buSzPts val="3200"/>
              <a:buNone/>
            </a:pPr>
            <a:r>
              <a:t/>
            </a:r>
            <a:endParaRPr b="1"/>
          </a:p>
        </p:txBody>
      </p:sp>
      <p:sp>
        <p:nvSpPr>
          <p:cNvPr id="820" name="Google Shape;820;p9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95"/>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Integer Promotions in C</a:t>
            </a:r>
            <a:endParaRPr/>
          </a:p>
        </p:txBody>
      </p:sp>
      <p:sp>
        <p:nvSpPr>
          <p:cNvPr id="827" name="Google Shape;827;p95"/>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960"/>
              <a:buChar char="•"/>
            </a:pPr>
            <a:r>
              <a:rPr lang="en-US" sz="2960"/>
              <a:t>Integer promotion is the process by which values of integer type "smaller" than </a:t>
            </a:r>
            <a:r>
              <a:rPr b="1" lang="en-US" sz="2960"/>
              <a:t>int</a:t>
            </a:r>
            <a:r>
              <a:rPr lang="en-US" sz="2960"/>
              <a:t> or </a:t>
            </a:r>
            <a:r>
              <a:rPr b="1" lang="en-US" sz="2960"/>
              <a:t>unsigned int</a:t>
            </a:r>
            <a:r>
              <a:rPr lang="en-US" sz="2960"/>
              <a:t> are converted either to </a:t>
            </a:r>
            <a:r>
              <a:rPr b="1" lang="en-US" sz="2960"/>
              <a:t>int</a:t>
            </a:r>
            <a:r>
              <a:rPr lang="en-US" sz="2960"/>
              <a:t> or </a:t>
            </a:r>
            <a:r>
              <a:rPr b="1" lang="en-US" sz="2960"/>
              <a:t>unsigned int</a:t>
            </a:r>
            <a:r>
              <a:rPr lang="en-US" sz="2960"/>
              <a:t>. </a:t>
            </a:r>
            <a:endParaRPr/>
          </a:p>
          <a:p>
            <a:pPr indent="-342900" lvl="0" marL="342900" rtl="0" algn="just">
              <a:lnSpc>
                <a:spcPct val="80000"/>
              </a:lnSpc>
              <a:spcBef>
                <a:spcPts val="592"/>
              </a:spcBef>
              <a:spcAft>
                <a:spcPts val="0"/>
              </a:spcAft>
              <a:buClr>
                <a:schemeClr val="dk1"/>
              </a:buClr>
              <a:buSzPts val="2960"/>
              <a:buChar char="•"/>
            </a:pPr>
            <a:r>
              <a:rPr lang="en-US" sz="2960"/>
              <a:t>Some data types like </a:t>
            </a:r>
            <a:r>
              <a:rPr i="1" lang="en-US" sz="2960"/>
              <a:t>char</a:t>
            </a:r>
            <a:r>
              <a:rPr lang="en-US" sz="2960"/>
              <a:t>, </a:t>
            </a:r>
            <a:r>
              <a:rPr i="1" lang="en-US" sz="2960"/>
              <a:t>short int </a:t>
            </a:r>
            <a:r>
              <a:rPr lang="en-US" sz="2960"/>
              <a:t>take less number of bytes than </a:t>
            </a:r>
            <a:r>
              <a:rPr i="1" lang="en-US" sz="2960"/>
              <a:t>int</a:t>
            </a:r>
            <a:r>
              <a:rPr lang="en-US" sz="2960"/>
              <a:t>, these data types are automatically promoted to </a:t>
            </a:r>
            <a:r>
              <a:rPr i="1" lang="en-US" sz="2960"/>
              <a:t>int </a:t>
            </a:r>
            <a:r>
              <a:rPr lang="en-US" sz="2960"/>
              <a:t>or </a:t>
            </a:r>
            <a:r>
              <a:rPr i="1" lang="en-US" sz="2960"/>
              <a:t>unsigned int</a:t>
            </a:r>
            <a:r>
              <a:rPr lang="en-US" sz="2960"/>
              <a:t> when an operation is performed on them. This is called </a:t>
            </a:r>
            <a:r>
              <a:rPr b="1" lang="en-US" sz="2960"/>
              <a:t>integer promotion. </a:t>
            </a:r>
            <a:endParaRPr/>
          </a:p>
          <a:p>
            <a:pPr indent="-342900" lvl="0" marL="342900" rtl="0" algn="just">
              <a:lnSpc>
                <a:spcPct val="80000"/>
              </a:lnSpc>
              <a:spcBef>
                <a:spcPts val="592"/>
              </a:spcBef>
              <a:spcAft>
                <a:spcPts val="0"/>
              </a:spcAft>
              <a:buClr>
                <a:schemeClr val="dk1"/>
              </a:buClr>
              <a:buSzPts val="2960"/>
              <a:buChar char="•"/>
            </a:pPr>
            <a:r>
              <a:rPr lang="en-US" sz="2960"/>
              <a:t>For example no arithmetic calculation happens on smaller types like </a:t>
            </a:r>
            <a:r>
              <a:rPr i="1" lang="en-US" sz="2960"/>
              <a:t>char</a:t>
            </a:r>
            <a:r>
              <a:rPr lang="en-US" sz="2960"/>
              <a:t>, </a:t>
            </a:r>
            <a:r>
              <a:rPr i="1" lang="en-US" sz="2960"/>
              <a:t>short</a:t>
            </a:r>
            <a:r>
              <a:rPr lang="en-US" sz="2960"/>
              <a:t>. They are first converted to </a:t>
            </a:r>
            <a:r>
              <a:rPr i="1" lang="en-US" sz="2960"/>
              <a:t>int </a:t>
            </a:r>
            <a:r>
              <a:rPr lang="en-US" sz="2960"/>
              <a:t>or </a:t>
            </a:r>
            <a:r>
              <a:rPr i="1" lang="en-US" sz="2960"/>
              <a:t>unsigned int</a:t>
            </a:r>
            <a:r>
              <a:rPr lang="en-US" sz="2960"/>
              <a:t>, and then arithmetic is done on them. </a:t>
            </a:r>
            <a:endParaRPr/>
          </a:p>
          <a:p>
            <a:pPr indent="-342900" lvl="0" marL="342900" rtl="0" algn="just">
              <a:lnSpc>
                <a:spcPct val="80000"/>
              </a:lnSpc>
              <a:spcBef>
                <a:spcPts val="592"/>
              </a:spcBef>
              <a:spcAft>
                <a:spcPts val="0"/>
              </a:spcAft>
              <a:buClr>
                <a:schemeClr val="dk1"/>
              </a:buClr>
              <a:buSzPts val="2960"/>
              <a:buChar char="•"/>
            </a:pPr>
            <a:r>
              <a:rPr lang="en-US" sz="2960"/>
              <a:t>If an </a:t>
            </a:r>
            <a:r>
              <a:rPr i="1" lang="en-US" sz="2960"/>
              <a:t>int </a:t>
            </a:r>
            <a:r>
              <a:rPr lang="en-US" sz="2960"/>
              <a:t>can represent all values of the original type, the value is converted to an </a:t>
            </a:r>
            <a:r>
              <a:rPr i="1" lang="en-US" sz="2960"/>
              <a:t>int </a:t>
            </a:r>
            <a:r>
              <a:rPr lang="en-US" sz="2960"/>
              <a:t>. </a:t>
            </a:r>
            <a:endParaRPr/>
          </a:p>
          <a:p>
            <a:pPr indent="-342900" lvl="0" marL="342900" rtl="0" algn="just">
              <a:lnSpc>
                <a:spcPct val="80000"/>
              </a:lnSpc>
              <a:spcBef>
                <a:spcPts val="592"/>
              </a:spcBef>
              <a:spcAft>
                <a:spcPts val="0"/>
              </a:spcAft>
              <a:buClr>
                <a:schemeClr val="dk1"/>
              </a:buClr>
              <a:buSzPts val="2960"/>
              <a:buChar char="•"/>
            </a:pPr>
            <a:r>
              <a:rPr lang="en-US" sz="2960"/>
              <a:t>Otherwise, it is converted to an </a:t>
            </a:r>
            <a:r>
              <a:rPr i="1" lang="en-US" sz="2960"/>
              <a:t>unsigned int.</a:t>
            </a:r>
            <a:endParaRPr b="1" sz="2960"/>
          </a:p>
        </p:txBody>
      </p:sp>
      <p:sp>
        <p:nvSpPr>
          <p:cNvPr id="828" name="Google Shape;828;p9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96"/>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Integer Promotions in C</a:t>
            </a:r>
            <a:endParaRPr/>
          </a:p>
        </p:txBody>
      </p:sp>
      <p:sp>
        <p:nvSpPr>
          <p:cNvPr id="835" name="Google Shape;835;p96"/>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800"/>
              <a:buNone/>
            </a:pPr>
            <a:r>
              <a:rPr lang="en-US" sz="2800"/>
              <a:t>#include &lt;stdio.h&gt;</a:t>
            </a:r>
            <a:endParaRPr/>
          </a:p>
          <a:p>
            <a:pPr indent="0" lvl="0" marL="0" rtl="0" algn="just">
              <a:spcBef>
                <a:spcPts val="560"/>
              </a:spcBef>
              <a:spcAft>
                <a:spcPts val="0"/>
              </a:spcAft>
              <a:buClr>
                <a:schemeClr val="dk1"/>
              </a:buClr>
              <a:buSzPts val="2800"/>
              <a:buNone/>
            </a:pPr>
            <a:r>
              <a:rPr lang="en-US" sz="2800"/>
              <a:t>int main() </a:t>
            </a:r>
            <a:endParaRPr/>
          </a:p>
          <a:p>
            <a:pPr indent="0" lvl="0" marL="0" rtl="0" algn="just">
              <a:spcBef>
                <a:spcPts val="560"/>
              </a:spcBef>
              <a:spcAft>
                <a:spcPts val="0"/>
              </a:spcAft>
              <a:buClr>
                <a:schemeClr val="dk1"/>
              </a:buClr>
              <a:buSzPts val="2800"/>
              <a:buNone/>
            </a:pPr>
            <a:r>
              <a:rPr lang="en-US" sz="2800"/>
              <a:t>{</a:t>
            </a:r>
            <a:endParaRPr/>
          </a:p>
          <a:p>
            <a:pPr indent="0" lvl="0" marL="0" rtl="0" algn="just">
              <a:spcBef>
                <a:spcPts val="560"/>
              </a:spcBef>
              <a:spcAft>
                <a:spcPts val="0"/>
              </a:spcAft>
              <a:buClr>
                <a:schemeClr val="dk1"/>
              </a:buClr>
              <a:buSzPts val="2800"/>
              <a:buNone/>
            </a:pPr>
            <a:r>
              <a:rPr lang="en-US" sz="2800"/>
              <a:t>   int  i = 17;</a:t>
            </a:r>
            <a:endParaRPr/>
          </a:p>
          <a:p>
            <a:pPr indent="0" lvl="0" marL="0" rtl="0" algn="just">
              <a:spcBef>
                <a:spcPts val="560"/>
              </a:spcBef>
              <a:spcAft>
                <a:spcPts val="0"/>
              </a:spcAft>
              <a:buClr>
                <a:schemeClr val="dk1"/>
              </a:buClr>
              <a:buSzPts val="2800"/>
              <a:buNone/>
            </a:pPr>
            <a:r>
              <a:rPr lang="en-US" sz="2800"/>
              <a:t>   char c = 'c'; /* ascii value is 99 */</a:t>
            </a:r>
            <a:endParaRPr/>
          </a:p>
          <a:p>
            <a:pPr indent="0" lvl="0" marL="0" rtl="0" algn="just">
              <a:spcBef>
                <a:spcPts val="560"/>
              </a:spcBef>
              <a:spcAft>
                <a:spcPts val="0"/>
              </a:spcAft>
              <a:buClr>
                <a:schemeClr val="dk1"/>
              </a:buClr>
              <a:buSzPts val="2800"/>
              <a:buNone/>
            </a:pPr>
            <a:r>
              <a:rPr lang="en-US" sz="2800"/>
              <a:t>   int sum;</a:t>
            </a:r>
            <a:endParaRPr/>
          </a:p>
          <a:p>
            <a:pPr indent="0" lvl="0" marL="0" rtl="0" algn="just">
              <a:spcBef>
                <a:spcPts val="560"/>
              </a:spcBef>
              <a:spcAft>
                <a:spcPts val="0"/>
              </a:spcAft>
              <a:buClr>
                <a:schemeClr val="dk1"/>
              </a:buClr>
              <a:buSzPts val="2800"/>
              <a:buNone/>
            </a:pPr>
            <a:r>
              <a:rPr lang="en-US" sz="2800"/>
              <a:t>   sum = i + c;</a:t>
            </a:r>
            <a:endParaRPr/>
          </a:p>
          <a:p>
            <a:pPr indent="0" lvl="0" marL="0" rtl="0" algn="just">
              <a:spcBef>
                <a:spcPts val="560"/>
              </a:spcBef>
              <a:spcAft>
                <a:spcPts val="0"/>
              </a:spcAft>
              <a:buClr>
                <a:schemeClr val="dk1"/>
              </a:buClr>
              <a:buSzPts val="2800"/>
              <a:buNone/>
            </a:pPr>
            <a:r>
              <a:rPr lang="en-US" sz="2800"/>
              <a:t>   printf("Value of sum : %d\n", sum );</a:t>
            </a:r>
            <a:endParaRPr/>
          </a:p>
          <a:p>
            <a:pPr indent="0" lvl="0" marL="0" rtl="0" algn="just">
              <a:spcBef>
                <a:spcPts val="560"/>
              </a:spcBef>
              <a:spcAft>
                <a:spcPts val="0"/>
              </a:spcAft>
              <a:buClr>
                <a:schemeClr val="dk1"/>
              </a:buClr>
              <a:buSzPts val="2800"/>
              <a:buNone/>
            </a:pPr>
            <a:r>
              <a:rPr lang="en-US" sz="2800"/>
              <a:t>   return 0;</a:t>
            </a:r>
            <a:endParaRPr/>
          </a:p>
          <a:p>
            <a:pPr indent="0" lvl="0" marL="0" rtl="0" algn="just">
              <a:spcBef>
                <a:spcPts val="560"/>
              </a:spcBef>
              <a:spcAft>
                <a:spcPts val="0"/>
              </a:spcAft>
              <a:buClr>
                <a:schemeClr val="dk1"/>
              </a:buClr>
              <a:buSzPts val="2800"/>
              <a:buNone/>
            </a:pPr>
            <a:r>
              <a:rPr lang="en-US" sz="2800"/>
              <a:t>}</a:t>
            </a:r>
            <a:endParaRPr/>
          </a:p>
          <a:p>
            <a:pPr indent="0" lvl="0" marL="0" rtl="0" algn="just">
              <a:spcBef>
                <a:spcPts val="560"/>
              </a:spcBef>
              <a:spcAft>
                <a:spcPts val="0"/>
              </a:spcAft>
              <a:buClr>
                <a:schemeClr val="dk1"/>
              </a:buClr>
              <a:buSzPts val="2800"/>
              <a:buNone/>
            </a:pPr>
            <a:r>
              <a:rPr lang="en-US" sz="2800"/>
              <a:t>Value of sum : 116</a:t>
            </a:r>
            <a:endParaRPr/>
          </a:p>
          <a:p>
            <a:pPr indent="0" lvl="0" marL="0" rtl="0" algn="just">
              <a:spcBef>
                <a:spcPts val="560"/>
              </a:spcBef>
              <a:spcAft>
                <a:spcPts val="0"/>
              </a:spcAft>
              <a:buClr>
                <a:schemeClr val="dk1"/>
              </a:buClr>
              <a:buSzPts val="2800"/>
              <a:buNone/>
            </a:pPr>
            <a:r>
              <a:rPr lang="en-US" sz="2800"/>
              <a:t>because the compiler is doing integer promotion and converting the value of 'c' to ASCII before performing the actual addition operation.</a:t>
            </a:r>
            <a:endParaRPr b="1" sz="2800"/>
          </a:p>
        </p:txBody>
      </p:sp>
      <p:sp>
        <p:nvSpPr>
          <p:cNvPr id="836" name="Google Shape;836;p9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97"/>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Integer Promotions in C</a:t>
            </a:r>
            <a:endParaRPr/>
          </a:p>
        </p:txBody>
      </p:sp>
      <p:sp>
        <p:nvSpPr>
          <p:cNvPr id="843" name="Google Shape;843;p97"/>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0" lvl="0" marL="236538" rtl="0" algn="l">
              <a:spcBef>
                <a:spcPts val="0"/>
              </a:spcBef>
              <a:spcAft>
                <a:spcPts val="0"/>
              </a:spcAft>
              <a:buClr>
                <a:schemeClr val="dk1"/>
              </a:buClr>
              <a:buSzPts val="2800"/>
              <a:buNone/>
            </a:pPr>
            <a:r>
              <a:rPr lang="en-US" sz="2800"/>
              <a:t>#include &lt;stdio.h&gt; </a:t>
            </a:r>
            <a:endParaRPr/>
          </a:p>
          <a:p>
            <a:pPr indent="0" lvl="0" marL="236538" rtl="0" algn="l">
              <a:spcBef>
                <a:spcPts val="560"/>
              </a:spcBef>
              <a:spcAft>
                <a:spcPts val="0"/>
              </a:spcAft>
              <a:buClr>
                <a:schemeClr val="dk1"/>
              </a:buClr>
              <a:buSzPts val="2800"/>
              <a:buNone/>
            </a:pPr>
            <a:r>
              <a:rPr lang="en-US" sz="2800"/>
              <a:t>int main()</a:t>
            </a:r>
            <a:endParaRPr/>
          </a:p>
          <a:p>
            <a:pPr indent="0" lvl="0" marL="236538" rtl="0" algn="l">
              <a:spcBef>
                <a:spcPts val="560"/>
              </a:spcBef>
              <a:spcAft>
                <a:spcPts val="0"/>
              </a:spcAft>
              <a:buClr>
                <a:schemeClr val="dk1"/>
              </a:buClr>
              <a:buSzPts val="2800"/>
              <a:buNone/>
            </a:pPr>
            <a:r>
              <a:rPr lang="en-US" sz="2800"/>
              <a:t>{</a:t>
            </a:r>
            <a:endParaRPr/>
          </a:p>
          <a:p>
            <a:pPr indent="0" lvl="0" marL="236538" rtl="0" algn="l">
              <a:spcBef>
                <a:spcPts val="560"/>
              </a:spcBef>
              <a:spcAft>
                <a:spcPts val="0"/>
              </a:spcAft>
              <a:buClr>
                <a:schemeClr val="dk1"/>
              </a:buClr>
              <a:buSzPts val="2800"/>
              <a:buNone/>
            </a:pPr>
            <a:r>
              <a:rPr lang="en-US" sz="2800"/>
              <a:t>    char a = 30, b = 40, c = 10;</a:t>
            </a:r>
            <a:endParaRPr/>
          </a:p>
          <a:p>
            <a:pPr indent="0" lvl="0" marL="236538" rtl="0" algn="l">
              <a:spcBef>
                <a:spcPts val="560"/>
              </a:spcBef>
              <a:spcAft>
                <a:spcPts val="0"/>
              </a:spcAft>
              <a:buClr>
                <a:schemeClr val="dk1"/>
              </a:buClr>
              <a:buSzPts val="2800"/>
              <a:buNone/>
            </a:pPr>
            <a:r>
              <a:rPr lang="en-US" sz="2800"/>
              <a:t>    char d = (a * b) / c;</a:t>
            </a:r>
            <a:endParaRPr/>
          </a:p>
          <a:p>
            <a:pPr indent="0" lvl="0" marL="236538" rtl="0" algn="l">
              <a:spcBef>
                <a:spcPts val="560"/>
              </a:spcBef>
              <a:spcAft>
                <a:spcPts val="0"/>
              </a:spcAft>
              <a:buClr>
                <a:schemeClr val="dk1"/>
              </a:buClr>
              <a:buSzPts val="2800"/>
              <a:buNone/>
            </a:pPr>
            <a:r>
              <a:rPr lang="en-US" sz="2800"/>
              <a:t>    printf ("%d ", d); </a:t>
            </a:r>
            <a:endParaRPr/>
          </a:p>
          <a:p>
            <a:pPr indent="0" lvl="0" marL="236538" rtl="0" algn="l">
              <a:spcBef>
                <a:spcPts val="560"/>
              </a:spcBef>
              <a:spcAft>
                <a:spcPts val="0"/>
              </a:spcAft>
              <a:buClr>
                <a:schemeClr val="dk1"/>
              </a:buClr>
              <a:buSzPts val="2800"/>
              <a:buNone/>
            </a:pPr>
            <a:r>
              <a:rPr lang="en-US" sz="2800"/>
              <a:t>    return 0;</a:t>
            </a:r>
            <a:endParaRPr/>
          </a:p>
          <a:p>
            <a:pPr indent="0" lvl="0" marL="236538" rtl="0" algn="l">
              <a:spcBef>
                <a:spcPts val="560"/>
              </a:spcBef>
              <a:spcAft>
                <a:spcPts val="0"/>
              </a:spcAft>
              <a:buClr>
                <a:schemeClr val="dk1"/>
              </a:buClr>
              <a:buSzPts val="2800"/>
              <a:buNone/>
            </a:pPr>
            <a:r>
              <a:rPr lang="en-US" sz="2800"/>
              <a:t>}</a:t>
            </a:r>
            <a:endParaRPr/>
          </a:p>
          <a:p>
            <a:pPr indent="-342900" lvl="0" marL="342900" rtl="0" algn="l">
              <a:spcBef>
                <a:spcPts val="560"/>
              </a:spcBef>
              <a:spcAft>
                <a:spcPts val="0"/>
              </a:spcAft>
              <a:buClr>
                <a:schemeClr val="dk1"/>
              </a:buClr>
              <a:buSzPts val="2800"/>
              <a:buChar char="•"/>
            </a:pPr>
            <a:r>
              <a:rPr lang="en-US" sz="2800"/>
              <a:t>Output: 120 </a:t>
            </a:r>
            <a:endParaRPr/>
          </a:p>
          <a:p>
            <a:pPr indent="-165100" lvl="0" marL="342900" rtl="0" algn="l">
              <a:spcBef>
                <a:spcPts val="560"/>
              </a:spcBef>
              <a:spcAft>
                <a:spcPts val="0"/>
              </a:spcAft>
              <a:buClr>
                <a:schemeClr val="dk1"/>
              </a:buClr>
              <a:buSzPts val="2800"/>
              <a:buNone/>
            </a:pPr>
            <a:r>
              <a:t/>
            </a:r>
            <a:endParaRPr sz="2800"/>
          </a:p>
          <a:p>
            <a:pPr indent="-342900" lvl="0" marL="342900" rtl="0" algn="just">
              <a:spcBef>
                <a:spcPts val="560"/>
              </a:spcBef>
              <a:spcAft>
                <a:spcPts val="0"/>
              </a:spcAft>
              <a:buClr>
                <a:schemeClr val="dk1"/>
              </a:buClr>
              <a:buSzPts val="2800"/>
              <a:buChar char="•"/>
            </a:pPr>
            <a:r>
              <a:rPr lang="en-US" sz="2800"/>
              <a:t>At first look, the expression (a*b)/c seems to cause arithmetic overflow because signed characters can have values only from -128 to 127 (in most of the C compilers), and the value of sub-expression ‘(a*b)’ is 1200 which is greater than 128. But integer promotion happens here in arithmetic done on char types and we get the appropriate result without any overflow.</a:t>
            </a:r>
            <a:endParaRPr b="1" sz="2800"/>
          </a:p>
        </p:txBody>
      </p:sp>
      <p:sp>
        <p:nvSpPr>
          <p:cNvPr id="844" name="Google Shape;844;p9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98"/>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Type Conversion</a:t>
            </a:r>
            <a:endParaRPr/>
          </a:p>
        </p:txBody>
      </p:sp>
      <p:sp>
        <p:nvSpPr>
          <p:cNvPr id="851" name="Google Shape;851;p98"/>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In general, if an operator like + or * that takes two operands (a binary operator) has operands of different types, the "lower" type is </a:t>
            </a:r>
            <a:r>
              <a:rPr i="1" lang="en-US"/>
              <a:t>promoted </a:t>
            </a:r>
            <a:r>
              <a:rPr lang="en-US"/>
              <a:t>to the "higher" type before the operation proceeds.</a:t>
            </a:r>
            <a:endParaRPr/>
          </a:p>
          <a:p>
            <a:pPr indent="-342900" lvl="0" marL="342900" rtl="0" algn="just">
              <a:spcBef>
                <a:spcPts val="640"/>
              </a:spcBef>
              <a:spcAft>
                <a:spcPts val="0"/>
              </a:spcAft>
              <a:buClr>
                <a:schemeClr val="dk1"/>
              </a:buClr>
              <a:buSzPts val="3200"/>
              <a:buChar char="•"/>
            </a:pPr>
            <a:r>
              <a:rPr lang="en-US"/>
              <a:t>The result is of the higher type.</a:t>
            </a:r>
            <a:endParaRPr b="1"/>
          </a:p>
          <a:p>
            <a:pPr indent="-139700" lvl="0" marL="342900" rtl="0" algn="just">
              <a:spcBef>
                <a:spcPts val="640"/>
              </a:spcBef>
              <a:spcAft>
                <a:spcPts val="0"/>
              </a:spcAft>
              <a:buClr>
                <a:schemeClr val="dk1"/>
              </a:buClr>
              <a:buSzPts val="3200"/>
              <a:buNone/>
            </a:pPr>
            <a:r>
              <a:t/>
            </a:r>
            <a:endParaRPr b="1"/>
          </a:p>
        </p:txBody>
      </p:sp>
      <p:sp>
        <p:nvSpPr>
          <p:cNvPr id="852" name="Google Shape;852;p9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99"/>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Usual Arithmetic Conversion</a:t>
            </a:r>
            <a:endParaRPr/>
          </a:p>
        </p:txBody>
      </p:sp>
      <p:sp>
        <p:nvSpPr>
          <p:cNvPr id="859" name="Google Shape;859;p99"/>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The </a:t>
            </a:r>
            <a:r>
              <a:rPr b="1" lang="en-US" sz="2800"/>
              <a:t>usual arithmetic conversions</a:t>
            </a:r>
            <a:r>
              <a:rPr lang="en-US" sz="2800"/>
              <a:t> are implicitly performed to cast their values to a common type. </a:t>
            </a:r>
            <a:endParaRPr/>
          </a:p>
          <a:p>
            <a:pPr indent="-342900" lvl="0" marL="342900" rtl="0" algn="just">
              <a:spcBef>
                <a:spcPts val="560"/>
              </a:spcBef>
              <a:spcAft>
                <a:spcPts val="0"/>
              </a:spcAft>
              <a:buClr>
                <a:schemeClr val="dk1"/>
              </a:buClr>
              <a:buSzPts val="2800"/>
              <a:buChar char="•"/>
            </a:pPr>
            <a:r>
              <a:rPr lang="en-US" sz="2800"/>
              <a:t>The compiler first performs </a:t>
            </a:r>
            <a:r>
              <a:rPr i="1" lang="en-US" sz="2800"/>
              <a:t>integer promotion</a:t>
            </a:r>
            <a:r>
              <a:rPr lang="en-US" sz="2800"/>
              <a:t>; if the operands still have different types, then they are converted to the type that appears highest in the following hierarchy −</a:t>
            </a:r>
            <a:endParaRPr/>
          </a:p>
          <a:p>
            <a:pPr indent="-165100" lvl="0" marL="342900" rtl="0" algn="just">
              <a:spcBef>
                <a:spcPts val="560"/>
              </a:spcBef>
              <a:spcAft>
                <a:spcPts val="0"/>
              </a:spcAft>
              <a:buClr>
                <a:schemeClr val="dk1"/>
              </a:buClr>
              <a:buSzPts val="2800"/>
              <a:buNone/>
            </a:pPr>
            <a:r>
              <a:t/>
            </a:r>
            <a:endParaRPr b="1" sz="2800"/>
          </a:p>
          <a:p>
            <a:pPr indent="-342900" lvl="0" marL="342900" rtl="0" algn="just">
              <a:spcBef>
                <a:spcPts val="400"/>
              </a:spcBef>
              <a:spcAft>
                <a:spcPts val="0"/>
              </a:spcAft>
              <a:buClr>
                <a:schemeClr val="dk1"/>
              </a:buClr>
              <a:buSzPts val="2000"/>
              <a:buChar char="•"/>
            </a:pPr>
            <a:r>
              <a:rPr lang="en-US" sz="2000"/>
              <a:t>Note- The usual arithmetic conversions are not performed for the assignment operators, nor for the logical operators &amp;&amp; and ||.</a:t>
            </a:r>
            <a:endParaRPr b="1" sz="2000"/>
          </a:p>
        </p:txBody>
      </p:sp>
      <p:sp>
        <p:nvSpPr>
          <p:cNvPr id="860" name="Google Shape;860;p9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Usual Arithmetic Conversion" id="861" name="Google Shape;861;p99"/>
          <p:cNvPicPr preferRelativeResize="0"/>
          <p:nvPr/>
        </p:nvPicPr>
        <p:blipFill rotWithShape="1">
          <a:blip r:embed="rId3">
            <a:alphaModFix/>
          </a:blip>
          <a:srcRect b="0" l="0" r="0" t="0"/>
          <a:stretch/>
        </p:blipFill>
        <p:spPr>
          <a:xfrm>
            <a:off x="7849148" y="1259981"/>
            <a:ext cx="2871404" cy="521964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00"/>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Example</a:t>
            </a:r>
            <a:endParaRPr/>
          </a:p>
        </p:txBody>
      </p:sp>
      <p:sp>
        <p:nvSpPr>
          <p:cNvPr id="868" name="Google Shape;868;p100"/>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Suppose that i is an integer variable whose value is 7, f is a floating-point variable whose value is 5.5, and c is a character-type variable that represents the character w</a:t>
            </a:r>
            <a:endParaRPr/>
          </a:p>
          <a:p>
            <a:pPr indent="-342900" lvl="0" marL="342900" rtl="0" algn="l">
              <a:lnSpc>
                <a:spcPct val="80000"/>
              </a:lnSpc>
              <a:spcBef>
                <a:spcPts val="592"/>
              </a:spcBef>
              <a:spcAft>
                <a:spcPts val="0"/>
              </a:spcAft>
              <a:buClr>
                <a:schemeClr val="dk1"/>
              </a:buClr>
              <a:buSzPts val="2960"/>
              <a:buChar char="•"/>
            </a:pPr>
            <a:r>
              <a:rPr lang="en-US" sz="2960"/>
              <a:t>Each expression involves operands of two different types. Assume that the ASCII character set is being used.</a:t>
            </a:r>
            <a:endParaRPr/>
          </a:p>
          <a:p>
            <a:pPr indent="-342900" lvl="0" marL="342900" rtl="0" algn="l">
              <a:lnSpc>
                <a:spcPct val="80000"/>
              </a:lnSpc>
              <a:spcBef>
                <a:spcPts val="592"/>
              </a:spcBef>
              <a:spcAft>
                <a:spcPts val="0"/>
              </a:spcAft>
              <a:buClr>
                <a:schemeClr val="dk1"/>
              </a:buClr>
              <a:buSzPts val="2960"/>
              <a:buChar char="•"/>
            </a:pPr>
            <a:r>
              <a:rPr lang="en-US" sz="2960"/>
              <a:t>Expression 			Value 			Type</a:t>
            </a:r>
            <a:endParaRPr/>
          </a:p>
          <a:p>
            <a:pPr indent="-342900" lvl="0" marL="342900" rtl="0" algn="l">
              <a:lnSpc>
                <a:spcPct val="80000"/>
              </a:lnSpc>
              <a:spcBef>
                <a:spcPts val="592"/>
              </a:spcBef>
              <a:spcAft>
                <a:spcPts val="0"/>
              </a:spcAft>
              <a:buClr>
                <a:schemeClr val="dk1"/>
              </a:buClr>
              <a:buSzPts val="2960"/>
              <a:buChar char="•"/>
            </a:pPr>
            <a:r>
              <a:rPr lang="en-US" sz="2960"/>
              <a:t>i + f 				12.5                          	float</a:t>
            </a:r>
            <a:endParaRPr/>
          </a:p>
          <a:p>
            <a:pPr indent="-342900" lvl="0" marL="342900" rtl="0" algn="l">
              <a:lnSpc>
                <a:spcPct val="80000"/>
              </a:lnSpc>
              <a:spcBef>
                <a:spcPts val="592"/>
              </a:spcBef>
              <a:spcAft>
                <a:spcPts val="0"/>
              </a:spcAft>
              <a:buClr>
                <a:schemeClr val="dk1"/>
              </a:buClr>
              <a:buSzPts val="2960"/>
              <a:buChar char="•"/>
            </a:pPr>
            <a:r>
              <a:rPr lang="en-US" sz="2960"/>
              <a:t>i + c 				126 				integer</a:t>
            </a:r>
            <a:endParaRPr/>
          </a:p>
          <a:p>
            <a:pPr indent="-342900" lvl="0" marL="342900" rtl="0" algn="l">
              <a:lnSpc>
                <a:spcPct val="80000"/>
              </a:lnSpc>
              <a:spcBef>
                <a:spcPts val="592"/>
              </a:spcBef>
              <a:spcAft>
                <a:spcPts val="0"/>
              </a:spcAft>
              <a:buClr>
                <a:schemeClr val="dk1"/>
              </a:buClr>
              <a:buSzPts val="2960"/>
              <a:buChar char="•"/>
            </a:pPr>
            <a:r>
              <a:rPr lang="en-US" sz="2960"/>
              <a:t>i + c - ’0' 				78 				integer</a:t>
            </a:r>
            <a:endParaRPr/>
          </a:p>
          <a:p>
            <a:pPr indent="-342900" lvl="0" marL="342900" rtl="0" algn="l">
              <a:lnSpc>
                <a:spcPct val="80000"/>
              </a:lnSpc>
              <a:spcBef>
                <a:spcPts val="592"/>
              </a:spcBef>
              <a:spcAft>
                <a:spcPts val="0"/>
              </a:spcAft>
              <a:buClr>
                <a:schemeClr val="dk1"/>
              </a:buClr>
              <a:buSzPts val="2960"/>
              <a:buChar char="•"/>
            </a:pPr>
            <a:r>
              <a:rPr lang="en-US" sz="2960"/>
              <a:t>(i + c) - (2 * f / 15 ) 		123.8 			float</a:t>
            </a:r>
            <a:endParaRPr/>
          </a:p>
          <a:p>
            <a:pPr indent="0" lvl="0" marL="0" rtl="0" algn="l">
              <a:lnSpc>
                <a:spcPct val="80000"/>
              </a:lnSpc>
              <a:spcBef>
                <a:spcPts val="481"/>
              </a:spcBef>
              <a:spcAft>
                <a:spcPts val="0"/>
              </a:spcAft>
              <a:buClr>
                <a:schemeClr val="dk1"/>
              </a:buClr>
              <a:buSzPts val="2405"/>
              <a:buNone/>
            </a:pPr>
            <a:r>
              <a:t/>
            </a:r>
            <a:endParaRPr sz="2405"/>
          </a:p>
          <a:p>
            <a:pPr indent="0" lvl="0" marL="0" rtl="0" algn="l">
              <a:lnSpc>
                <a:spcPct val="80000"/>
              </a:lnSpc>
              <a:spcBef>
                <a:spcPts val="481"/>
              </a:spcBef>
              <a:spcAft>
                <a:spcPts val="0"/>
              </a:spcAft>
              <a:buClr>
                <a:schemeClr val="dk1"/>
              </a:buClr>
              <a:buSzPts val="2405"/>
              <a:buNone/>
            </a:pPr>
            <a:r>
              <a:rPr lang="en-US" sz="2405"/>
              <a:t>Note that w is encoded as (decimal) 119 and 0 is encoded as 48 in the ASCII character set.</a:t>
            </a:r>
            <a:endParaRPr/>
          </a:p>
        </p:txBody>
      </p:sp>
      <p:sp>
        <p:nvSpPr>
          <p:cNvPr id="869" name="Google Shape;869;p10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01"/>
          <p:cNvSpPr txBox="1"/>
          <p:nvPr>
            <p:ph type="title"/>
          </p:nvPr>
        </p:nvSpPr>
        <p:spPr>
          <a:xfrm>
            <a:off x="609600" y="189187"/>
            <a:ext cx="10972800" cy="8040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FEW CONVERSION RULES</a:t>
            </a:r>
            <a:endParaRPr/>
          </a:p>
        </p:txBody>
      </p:sp>
      <p:sp>
        <p:nvSpPr>
          <p:cNvPr id="876" name="Google Shape;876;p101"/>
          <p:cNvSpPr txBox="1"/>
          <p:nvPr>
            <p:ph idx="1" type="body"/>
          </p:nvPr>
        </p:nvSpPr>
        <p:spPr>
          <a:xfrm>
            <a:off x="204953" y="1277008"/>
            <a:ext cx="11729544" cy="5360276"/>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Clr>
                <a:schemeClr val="dk1"/>
              </a:buClr>
              <a:buSzPts val="2240"/>
              <a:buChar char="•"/>
            </a:pPr>
            <a:r>
              <a:rPr lang="en-US" sz="2240"/>
              <a:t>1. If both operands are floating-point types whose precisions differ (e.g., a float and a double), the lower precision operand will be converted to the precision of the other operand, and the result will be expressed in this higher precision. Thus, an operation between a f l o a t and a double will result in a double; a f l o a t and a long double will result in a long double; and a double and a long double will result in a long double. (Note: In some versions of C, all operands of type float are automatically converted to double.)</a:t>
            </a:r>
            <a:endParaRPr/>
          </a:p>
          <a:p>
            <a:pPr indent="-342900" lvl="0" marL="342900" rtl="0" algn="just">
              <a:lnSpc>
                <a:spcPct val="80000"/>
              </a:lnSpc>
              <a:spcBef>
                <a:spcPts val="448"/>
              </a:spcBef>
              <a:spcAft>
                <a:spcPts val="0"/>
              </a:spcAft>
              <a:buClr>
                <a:schemeClr val="dk1"/>
              </a:buClr>
              <a:buSzPts val="2240"/>
              <a:buChar char="•"/>
            </a:pPr>
            <a:r>
              <a:rPr lang="en-US" sz="2240"/>
              <a:t>2. If one operand is a floating-point type (e.g., float , double or long double) and the other is a char or an i n t (including short i n t or long int), the char or i n t will be converted to the floating-point type and the result will be expressed as such. Hence, an operation between an i n t and a double will result in a double.</a:t>
            </a:r>
            <a:endParaRPr/>
          </a:p>
          <a:p>
            <a:pPr indent="-342900" lvl="0" marL="342900" rtl="0" algn="just">
              <a:lnSpc>
                <a:spcPct val="80000"/>
              </a:lnSpc>
              <a:spcBef>
                <a:spcPts val="448"/>
              </a:spcBef>
              <a:spcAft>
                <a:spcPts val="0"/>
              </a:spcAft>
              <a:buClr>
                <a:schemeClr val="dk1"/>
              </a:buClr>
              <a:buSzPts val="2240"/>
              <a:buChar char="•"/>
            </a:pPr>
            <a:r>
              <a:rPr lang="en-US" sz="2240"/>
              <a:t>3. If neither operand is a floating-point type but one is a long int , the other will be converted to long i n t and the result will be long int . Thus, an operation between a long i n t and an i n t will result in along i n t .</a:t>
            </a:r>
            <a:endParaRPr/>
          </a:p>
          <a:p>
            <a:pPr indent="-342900" lvl="0" marL="342900" rtl="0" algn="just">
              <a:lnSpc>
                <a:spcPct val="80000"/>
              </a:lnSpc>
              <a:spcBef>
                <a:spcPts val="448"/>
              </a:spcBef>
              <a:spcAft>
                <a:spcPts val="0"/>
              </a:spcAft>
              <a:buClr>
                <a:schemeClr val="dk1"/>
              </a:buClr>
              <a:buSzPts val="2240"/>
              <a:buChar char="•"/>
            </a:pPr>
            <a:r>
              <a:rPr lang="en-US" sz="2240"/>
              <a:t>4. If neither operand is a floating-point type or a long int , then both operands will be converted to int (if necessary) and the result will be int . Thus, an operation between a short int and an int will result in an int.</a:t>
            </a:r>
            <a:endParaRPr/>
          </a:p>
          <a:p>
            <a:pPr indent="0" lvl="0" marL="0" rtl="0" algn="just">
              <a:lnSpc>
                <a:spcPct val="80000"/>
              </a:lnSpc>
              <a:spcBef>
                <a:spcPts val="448"/>
              </a:spcBef>
              <a:spcAft>
                <a:spcPts val="0"/>
              </a:spcAft>
              <a:buClr>
                <a:schemeClr val="dk1"/>
              </a:buClr>
              <a:buSzPts val="2240"/>
              <a:buNone/>
            </a:pPr>
            <a:r>
              <a:rPr b="1" lang="en-US" sz="2240"/>
              <a:t>Note- There may be some variation from one version of C to another.</a:t>
            </a:r>
            <a:endParaRPr/>
          </a:p>
          <a:p>
            <a:pPr indent="-200660" lvl="0" marL="342900" rtl="0" algn="just">
              <a:lnSpc>
                <a:spcPct val="80000"/>
              </a:lnSpc>
              <a:spcBef>
                <a:spcPts val="448"/>
              </a:spcBef>
              <a:spcAft>
                <a:spcPts val="0"/>
              </a:spcAft>
              <a:buClr>
                <a:schemeClr val="dk1"/>
              </a:buClr>
              <a:buSzPts val="2240"/>
              <a:buNone/>
            </a:pPr>
            <a:r>
              <a:t/>
            </a:r>
            <a:endParaRPr sz="2240"/>
          </a:p>
        </p:txBody>
      </p:sp>
      <p:sp>
        <p:nvSpPr>
          <p:cNvPr id="877" name="Google Shape;877;p10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02"/>
          <p:cNvSpPr txBox="1"/>
          <p:nvPr>
            <p:ph type="title"/>
          </p:nvPr>
        </p:nvSpPr>
        <p:spPr>
          <a:xfrm>
            <a:off x="609600" y="189187"/>
            <a:ext cx="10972800" cy="23648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b="1" lang="en-US" sz="2400"/>
              <a:t>CONVERSION RULES</a:t>
            </a:r>
            <a:endParaRPr/>
          </a:p>
        </p:txBody>
      </p:sp>
      <p:sp>
        <p:nvSpPr>
          <p:cNvPr id="884" name="Google Shape;884;p102"/>
          <p:cNvSpPr txBox="1"/>
          <p:nvPr>
            <p:ph idx="1" type="body"/>
          </p:nvPr>
        </p:nvSpPr>
        <p:spPr>
          <a:xfrm>
            <a:off x="204953" y="409903"/>
            <a:ext cx="11729544" cy="6227381"/>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800"/>
              <a:buNone/>
            </a:pPr>
            <a:r>
              <a:rPr lang="en-US" sz="1800"/>
              <a:t>These rules apply to arithmetic operations between two operators with dissimilar data types. </a:t>
            </a:r>
            <a:r>
              <a:rPr b="1" lang="en-US" sz="1800"/>
              <a:t>There may be some variation</a:t>
            </a:r>
            <a:endParaRPr/>
          </a:p>
          <a:p>
            <a:pPr indent="0" lvl="0" marL="0" rtl="0" algn="just">
              <a:spcBef>
                <a:spcPts val="360"/>
              </a:spcBef>
              <a:spcAft>
                <a:spcPts val="0"/>
              </a:spcAft>
              <a:buClr>
                <a:schemeClr val="dk1"/>
              </a:buClr>
              <a:buSzPts val="1800"/>
              <a:buNone/>
            </a:pPr>
            <a:r>
              <a:rPr b="1" lang="en-US" sz="1800"/>
              <a:t>from one version of C to another.</a:t>
            </a:r>
            <a:endParaRPr/>
          </a:p>
          <a:p>
            <a:pPr indent="0" lvl="0" marL="0" rtl="0" algn="just">
              <a:spcBef>
                <a:spcPts val="360"/>
              </a:spcBef>
              <a:spcAft>
                <a:spcPts val="0"/>
              </a:spcAft>
              <a:buClr>
                <a:schemeClr val="dk1"/>
              </a:buClr>
              <a:buSzPts val="1800"/>
              <a:buNone/>
            </a:pPr>
            <a:r>
              <a:rPr b="1" lang="en-US" sz="1800"/>
              <a:t>1. </a:t>
            </a:r>
            <a:r>
              <a:rPr lang="en-US" sz="1800"/>
              <a:t>If one of the operands is long double, the other will be converted to long double and the result will be long</a:t>
            </a:r>
            <a:endParaRPr/>
          </a:p>
          <a:p>
            <a:pPr indent="0" lvl="0" marL="0" rtl="0" algn="just">
              <a:spcBef>
                <a:spcPts val="360"/>
              </a:spcBef>
              <a:spcAft>
                <a:spcPts val="0"/>
              </a:spcAft>
              <a:buClr>
                <a:schemeClr val="dk1"/>
              </a:buClr>
              <a:buSzPts val="1800"/>
              <a:buNone/>
            </a:pPr>
            <a:r>
              <a:rPr lang="en-US" sz="1800"/>
              <a:t>double.</a:t>
            </a:r>
            <a:endParaRPr/>
          </a:p>
          <a:p>
            <a:pPr indent="0" lvl="0" marL="0" rtl="0" algn="just">
              <a:spcBef>
                <a:spcPts val="360"/>
              </a:spcBef>
              <a:spcAft>
                <a:spcPts val="0"/>
              </a:spcAft>
              <a:buClr>
                <a:schemeClr val="dk1"/>
              </a:buClr>
              <a:buSzPts val="1800"/>
              <a:buNone/>
            </a:pPr>
            <a:r>
              <a:rPr b="1" lang="en-US" sz="1800"/>
              <a:t>2. </a:t>
            </a:r>
            <a:r>
              <a:rPr lang="en-US" sz="1800"/>
              <a:t>Otherwise, if one of the operands is double, the other will be converted to double and the result will be double.</a:t>
            </a:r>
            <a:endParaRPr/>
          </a:p>
          <a:p>
            <a:pPr indent="0" lvl="0" marL="0" rtl="0" algn="just">
              <a:spcBef>
                <a:spcPts val="360"/>
              </a:spcBef>
              <a:spcAft>
                <a:spcPts val="0"/>
              </a:spcAft>
              <a:buClr>
                <a:schemeClr val="dk1"/>
              </a:buClr>
              <a:buSzPts val="1800"/>
              <a:buNone/>
            </a:pPr>
            <a:r>
              <a:rPr b="1" lang="en-US" sz="1800"/>
              <a:t>3. </a:t>
            </a:r>
            <a:r>
              <a:rPr lang="en-US" sz="1800"/>
              <a:t>Otherwise, if one of the operands is f l o a t , the other will be converted to f l o a t and the result will be f l o a t</a:t>
            </a:r>
            <a:endParaRPr/>
          </a:p>
          <a:p>
            <a:pPr indent="0" lvl="0" marL="0" rtl="0" algn="just">
              <a:spcBef>
                <a:spcPts val="360"/>
              </a:spcBef>
              <a:spcAft>
                <a:spcPts val="0"/>
              </a:spcAft>
              <a:buClr>
                <a:schemeClr val="dk1"/>
              </a:buClr>
              <a:buSzPts val="1800"/>
              <a:buNone/>
            </a:pPr>
            <a:r>
              <a:rPr b="1" lang="en-US" sz="1800"/>
              <a:t>4. </a:t>
            </a:r>
            <a:r>
              <a:rPr lang="en-US" sz="1800"/>
              <a:t>Otherwise, if one of the operands is unsigned long i n t , the other will be converted to unsigned long i n t and</a:t>
            </a:r>
            <a:endParaRPr/>
          </a:p>
          <a:p>
            <a:pPr indent="0" lvl="0" marL="0" rtl="0" algn="just">
              <a:spcBef>
                <a:spcPts val="360"/>
              </a:spcBef>
              <a:spcAft>
                <a:spcPts val="0"/>
              </a:spcAft>
              <a:buClr>
                <a:schemeClr val="dk1"/>
              </a:buClr>
              <a:buSzPts val="1800"/>
              <a:buNone/>
            </a:pPr>
            <a:r>
              <a:rPr lang="en-US" sz="1800"/>
              <a:t>the result will be unsigned long i n t .</a:t>
            </a:r>
            <a:endParaRPr/>
          </a:p>
          <a:p>
            <a:pPr indent="0" lvl="0" marL="0" rtl="0" algn="just">
              <a:spcBef>
                <a:spcPts val="360"/>
              </a:spcBef>
              <a:spcAft>
                <a:spcPts val="0"/>
              </a:spcAft>
              <a:buClr>
                <a:schemeClr val="dk1"/>
              </a:buClr>
              <a:buSzPts val="1800"/>
              <a:buNone/>
            </a:pPr>
            <a:r>
              <a:rPr b="1" i="1" lang="en-US" sz="1800"/>
              <a:t>5. </a:t>
            </a:r>
            <a:r>
              <a:rPr lang="en-US" sz="1800"/>
              <a:t>Otherwise, if one of the operands is long i n t and the other is unsigned i n t , then:</a:t>
            </a:r>
            <a:endParaRPr/>
          </a:p>
          <a:p>
            <a:pPr indent="0" lvl="0" marL="0" rtl="0" algn="just">
              <a:spcBef>
                <a:spcPts val="360"/>
              </a:spcBef>
              <a:spcAft>
                <a:spcPts val="0"/>
              </a:spcAft>
              <a:buClr>
                <a:schemeClr val="dk1"/>
              </a:buClr>
              <a:buSzPts val="1800"/>
              <a:buNone/>
            </a:pPr>
            <a:r>
              <a:rPr i="1" lang="en-US" sz="1800"/>
              <a:t>(a) </a:t>
            </a:r>
            <a:r>
              <a:rPr lang="en-US" sz="1800"/>
              <a:t>If unsigned i n t can be converted to long i n t , the unsigned i n t operand will be converted </a:t>
            </a:r>
            <a:r>
              <a:rPr b="1" lang="en-US" sz="1800"/>
              <a:t>as </a:t>
            </a:r>
            <a:r>
              <a:rPr lang="en-US" sz="1800"/>
              <a:t>such and</a:t>
            </a:r>
            <a:endParaRPr/>
          </a:p>
          <a:p>
            <a:pPr indent="0" lvl="0" marL="0" rtl="0" algn="just">
              <a:spcBef>
                <a:spcPts val="360"/>
              </a:spcBef>
              <a:spcAft>
                <a:spcPts val="0"/>
              </a:spcAft>
              <a:buClr>
                <a:schemeClr val="dk1"/>
              </a:buClr>
              <a:buSzPts val="1800"/>
              <a:buNone/>
            </a:pPr>
            <a:r>
              <a:rPr lang="en-US" sz="1800"/>
              <a:t>the result will be long i n t .</a:t>
            </a:r>
            <a:endParaRPr/>
          </a:p>
          <a:p>
            <a:pPr indent="0" lvl="0" marL="0" rtl="0" algn="just">
              <a:spcBef>
                <a:spcPts val="360"/>
              </a:spcBef>
              <a:spcAft>
                <a:spcPts val="0"/>
              </a:spcAft>
              <a:buClr>
                <a:schemeClr val="dk1"/>
              </a:buClr>
              <a:buSzPts val="1800"/>
              <a:buNone/>
            </a:pPr>
            <a:r>
              <a:rPr i="1" lang="en-US" sz="1800"/>
              <a:t>(b) </a:t>
            </a:r>
            <a:r>
              <a:rPr lang="en-US" sz="1800"/>
              <a:t>Otherwise, both operands will be converted to unsigned long i n t and the result will be unsigned long</a:t>
            </a:r>
            <a:endParaRPr/>
          </a:p>
          <a:p>
            <a:pPr indent="0" lvl="0" marL="0" rtl="0" algn="just">
              <a:spcBef>
                <a:spcPts val="360"/>
              </a:spcBef>
              <a:spcAft>
                <a:spcPts val="0"/>
              </a:spcAft>
              <a:buClr>
                <a:schemeClr val="dk1"/>
              </a:buClr>
              <a:buSzPts val="1800"/>
              <a:buNone/>
            </a:pPr>
            <a:r>
              <a:rPr lang="en-US" sz="1800"/>
              <a:t>i n t .</a:t>
            </a:r>
            <a:endParaRPr/>
          </a:p>
          <a:p>
            <a:pPr indent="0" lvl="0" marL="0" rtl="0" algn="just">
              <a:spcBef>
                <a:spcPts val="360"/>
              </a:spcBef>
              <a:spcAft>
                <a:spcPts val="0"/>
              </a:spcAft>
              <a:buClr>
                <a:schemeClr val="dk1"/>
              </a:buClr>
              <a:buSzPts val="1800"/>
              <a:buNone/>
            </a:pPr>
            <a:r>
              <a:rPr b="1" i="1" lang="en-US" sz="1800"/>
              <a:t>6. </a:t>
            </a:r>
            <a:r>
              <a:rPr lang="en-US" sz="1800"/>
              <a:t>Otherwise, if one of the operands is long i n t , the other will be converted to long i n t and the result will be long</a:t>
            </a:r>
            <a:endParaRPr/>
          </a:p>
          <a:p>
            <a:pPr indent="0" lvl="0" marL="0" rtl="0" algn="just">
              <a:spcBef>
                <a:spcPts val="360"/>
              </a:spcBef>
              <a:spcAft>
                <a:spcPts val="0"/>
              </a:spcAft>
              <a:buClr>
                <a:schemeClr val="dk1"/>
              </a:buClr>
              <a:buSzPts val="1800"/>
              <a:buNone/>
            </a:pPr>
            <a:r>
              <a:rPr lang="en-US" sz="1800"/>
              <a:t>i n t .</a:t>
            </a:r>
            <a:endParaRPr/>
          </a:p>
          <a:p>
            <a:pPr indent="0" lvl="0" marL="0" rtl="0" algn="just">
              <a:spcBef>
                <a:spcPts val="360"/>
              </a:spcBef>
              <a:spcAft>
                <a:spcPts val="0"/>
              </a:spcAft>
              <a:buClr>
                <a:schemeClr val="dk1"/>
              </a:buClr>
              <a:buSzPts val="1800"/>
              <a:buNone/>
            </a:pPr>
            <a:r>
              <a:rPr b="1" lang="en-US" sz="1800"/>
              <a:t>7. </a:t>
            </a:r>
            <a:r>
              <a:rPr lang="en-US" sz="1800"/>
              <a:t>Otherwise, if one of the operands is unsigned i n t , the other will be converted to unsigned i n t and the result</a:t>
            </a:r>
            <a:endParaRPr/>
          </a:p>
          <a:p>
            <a:pPr indent="0" lvl="0" marL="0" rtl="0" algn="just">
              <a:spcBef>
                <a:spcPts val="360"/>
              </a:spcBef>
              <a:spcAft>
                <a:spcPts val="0"/>
              </a:spcAft>
              <a:buClr>
                <a:schemeClr val="dk1"/>
              </a:buClr>
              <a:buSzPts val="1800"/>
              <a:buNone/>
            </a:pPr>
            <a:r>
              <a:rPr lang="en-US" sz="1800"/>
              <a:t>will be unsigned i n t .</a:t>
            </a:r>
            <a:endParaRPr/>
          </a:p>
          <a:p>
            <a:pPr indent="0" lvl="0" marL="0" rtl="0" algn="just">
              <a:spcBef>
                <a:spcPts val="360"/>
              </a:spcBef>
              <a:spcAft>
                <a:spcPts val="0"/>
              </a:spcAft>
              <a:buClr>
                <a:schemeClr val="dk1"/>
              </a:buClr>
              <a:buSzPts val="1800"/>
              <a:buNone/>
            </a:pPr>
            <a:r>
              <a:rPr b="1" lang="en-US" sz="1800"/>
              <a:t>8. </a:t>
            </a:r>
            <a:r>
              <a:rPr lang="en-US" sz="1800"/>
              <a:t>If none of the above conditions applies, then both operands will be converted to i n t (if necessary), and the result</a:t>
            </a:r>
            <a:endParaRPr/>
          </a:p>
          <a:p>
            <a:pPr indent="0" lvl="0" marL="0" rtl="0" algn="just">
              <a:spcBef>
                <a:spcPts val="360"/>
              </a:spcBef>
              <a:spcAft>
                <a:spcPts val="0"/>
              </a:spcAft>
              <a:buClr>
                <a:schemeClr val="dk1"/>
              </a:buClr>
              <a:buSzPts val="1800"/>
              <a:buNone/>
            </a:pPr>
            <a:r>
              <a:rPr lang="en-US" sz="1800"/>
              <a:t>will be i n t .</a:t>
            </a:r>
            <a:endParaRPr/>
          </a:p>
        </p:txBody>
      </p:sp>
      <p:sp>
        <p:nvSpPr>
          <p:cNvPr id="885" name="Google Shape;885;p10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2017-08-31T05:13:48Z</dcterms:created>
</cp:coreProperties>
</file>
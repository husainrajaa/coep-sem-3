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3"/>
    <p:sldMasterId id="2147483709" r:id="rId4"/>
    <p:sldMasterId id="2147483710" r:id="rId5"/>
    <p:sldMasterId id="2147483711" r:id="rId6"/>
    <p:sldMasterId id="214748371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Lst>
  <p:sldSz cy="7559675" cx="10080625"/>
  <p:notesSz cx="7559675" cy="10691800"/>
  <p:embeddedFontLst>
    <p:embeddedFont>
      <p:font typeface="Roboto"/>
      <p:regular r:id="rId103"/>
      <p:bold r:id="rId104"/>
      <p:italic r:id="rId105"/>
      <p:boldItalic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6" Type="http://schemas.openxmlformats.org/officeDocument/2006/relationships/font" Target="fonts/Roboto-boldItalic.fntdata"/><Relationship Id="rId105" Type="http://schemas.openxmlformats.org/officeDocument/2006/relationships/font" Target="fonts/Roboto-italic.fntdata"/><Relationship Id="rId104" Type="http://schemas.openxmlformats.org/officeDocument/2006/relationships/font" Target="fonts/Roboto-bold.fntdata"/><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font" Target="fonts/Roboto-regular.fntdata"/><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6.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800" u="none" cap="none" strike="noStrike">
                <a:solidFill>
                  <a:srgbClr val="000000"/>
                </a:solidFill>
                <a:latin typeface="Calibri"/>
                <a:ea typeface="Calibri"/>
                <a:cs typeface="Calibri"/>
                <a:sym typeface="Calibri"/>
              </a:rPr>
              <a:t>‹#›</a:t>
            </a:fld>
            <a:endParaRPr b="0" i="0" sz="1800" u="none" cap="none" strike="noStrike">
              <a:latin typeface="Arial"/>
              <a:ea typeface="Arial"/>
              <a:cs typeface="Arial"/>
              <a:sym typeface="Arial"/>
            </a:endParaRPr>
          </a:p>
        </p:txBody>
      </p:sp>
      <p:sp>
        <p:nvSpPr>
          <p:cNvPr id="281" name="Google Shape;281;p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287" name="Google Shape;287;p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p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294" name="Google Shape;294;p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03" name="Google Shape;303;p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09" name="Google Shape;309;p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p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16" name="Google Shape;316;p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25" name="Google Shape;325;p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32" name="Google Shape;332;p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 name="Google Shape;333;p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39" name="Google Shape;339;p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7" name="Google Shape;347;p10: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52" name="Google Shape;352;p1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1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60" name="Google Shape;360;p1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1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67" name="Google Shape;367;p1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1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74" name="Google Shape;374;p1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1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80" name="Google Shape;380;p1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1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87" name="Google Shape;387;p1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1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95" name="Google Shape;395;p1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1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02" name="Google Shape;402;p1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1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09" name="Google Shape;409;p1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1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17" name="Google Shape;417;p2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2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24" name="Google Shape;424;p2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2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32" name="Google Shape;432;p2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2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40" name="Google Shape;440;p2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2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48" name="Google Shape;448;p2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2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56" name="Google Shape;456;p2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2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64" name="Google Shape;464;p2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2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85" name="Google Shape;485;p2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2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93" name="Google Shape;493;p2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2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01" name="Google Shape;501;p2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2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09" name="Google Shape;509;p3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3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15" name="Google Shape;515;p3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3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23" name="Google Shape;523;p3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3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30" name="Google Shape;530;p3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3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37" name="Google Shape;537;p3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3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45" name="Google Shape;545;p3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3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53" name="Google Shape;553;p3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3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61" name="Google Shape;561;p3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p3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3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69" name="Google Shape;569;p3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p3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78" name="Google Shape;578;p3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3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4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86" name="Google Shape;586;p4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94" name="Google Shape;594;p4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5" name="Google Shape;595;p4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1" name="Google Shape;601;p4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11" name="Google Shape;611;p4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4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18" name="Google Shape;618;p4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4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27" name="Google Shape;627;p4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p4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5" name="Google Shape;635;p46: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41" name="Google Shape;641;p4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4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4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48" name="Google Shape;648;p4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9" name="Google Shape;649;p4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55" name="Google Shape;655;p4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6" name="Google Shape;656;p4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5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62" name="Google Shape;662;p5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 name="Google Shape;663;p5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69" name="Google Shape;669;p5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0" name="Google Shape;670;p5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5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6" name="Google Shape;676;p5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5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715" name="Google Shape;715;p5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6" name="Google Shape;716;p5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5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7" name="Google Shape;727;p54: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5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3" name="Google Shape;733;p55: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5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0" name="Google Shape;740;p56: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5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746" name="Google Shape;746;p5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7" name="Google Shape;747;p5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5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3" name="Google Shape;753;p58: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5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9" name="Google Shape;759;p59: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6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765" name="Google Shape;765;p6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6" name="Google Shape;766;p6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6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2" name="Google Shape;772;p61: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6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8" name="Google Shape;778;p6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6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4" name="Google Shape;784;p63: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6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0" name="Google Shape;790;p64: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6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0" name="Google Shape;800;p65: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6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06" name="Google Shape;806;p6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7" name="Google Shape;807;p6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6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13" name="Google Shape;813;p6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6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6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0" name="Google Shape;820;p68: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6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6" name="Google Shape;826;p69: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7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2" name="Google Shape;832;p70: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7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8" name="Google Shape;838;p71: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7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45" name="Google Shape;845;p7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7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1" name="Google Shape;851;p73: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7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7" name="Google Shape;857;p74: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7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63" name="Google Shape;863;p75: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7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69" name="Google Shape;869;p7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0" name="Google Shape;870;p7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7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76" name="Google Shape;876;p7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7" name="Google Shape;877;p7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7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85" name="Google Shape;885;p7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6" name="Google Shape;886;p7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7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91" name="Google Shape;891;p7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2" name="Google Shape;892;p7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8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99" name="Google Shape;899;p8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0" name="Google Shape;900;p8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8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08" name="Google Shape;908;p8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9" name="Google Shape;909;p8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8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16" name="Google Shape;916;p8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7" name="Google Shape;917;p8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8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24" name="Google Shape;924;p8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5" name="Google Shape;925;p8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8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32" name="Google Shape;932;p8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3" name="Google Shape;933;p8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8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40" name="Google Shape;940;p8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1" name="Google Shape;941;p8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8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48" name="Google Shape;948;p8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p8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8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56" name="Google Shape;956;p8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7" name="Google Shape;957;p8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8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64" name="Google Shape;964;p8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5" name="Google Shape;965;p8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8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71" name="Google Shape;971;p8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2" name="Google Shape;972;p8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9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78" name="Google Shape;978;p9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9" name="Google Shape;979;p9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9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84" name="Google Shape;984;p9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5" name="Google Shape;985;p9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9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91" name="Google Shape;991;p9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2" name="Google Shape;992;p9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9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99" name="Google Shape;999;p9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0" name="Google Shape;1000;p9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9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1007" name="Google Shape;1007;p9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8" name="Google Shape;1008;p9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 name="Shape 16"/>
        <p:cNvGrpSpPr/>
        <p:nvPr/>
      </p:nvGrpSpPr>
      <p:grpSpPr>
        <a:xfrm>
          <a:off x="0" y="0"/>
          <a:ext cx="0" cy="0"/>
          <a:chOff x="0" y="0"/>
          <a:chExt cx="0" cy="0"/>
        </a:xfrm>
      </p:grpSpPr>
      <p:sp>
        <p:nvSpPr>
          <p:cNvPr id="17" name="Google Shape;17;p3"/>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9" name="Shape 19"/>
        <p:cNvGrpSpPr/>
        <p:nvPr/>
      </p:nvGrpSpPr>
      <p:grpSpPr>
        <a:xfrm>
          <a:off x="0" y="0"/>
          <a:ext cx="0" cy="0"/>
          <a:chOff x="0" y="0"/>
          <a:chExt cx="0" cy="0"/>
        </a:xfrm>
      </p:grpSpPr>
      <p:sp>
        <p:nvSpPr>
          <p:cNvPr id="20" name="Google Shape;20;p4"/>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 name="Shape 22"/>
        <p:cNvGrpSpPr/>
        <p:nvPr/>
      </p:nvGrpSpPr>
      <p:grpSpPr>
        <a:xfrm>
          <a:off x="0" y="0"/>
          <a:ext cx="0" cy="0"/>
          <a:chOff x="0" y="0"/>
          <a:chExt cx="0" cy="0"/>
        </a:xfrm>
      </p:grpSpPr>
      <p:sp>
        <p:nvSpPr>
          <p:cNvPr id="23" name="Google Shape;23;p5"/>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5"/>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8" name="Shape 28"/>
        <p:cNvGrpSpPr/>
        <p:nvPr/>
      </p:nvGrpSpPr>
      <p:grpSpPr>
        <a:xfrm>
          <a:off x="0" y="0"/>
          <a:ext cx="0" cy="0"/>
          <a:chOff x="0" y="0"/>
          <a:chExt cx="0" cy="0"/>
        </a:xfrm>
      </p:grpSpPr>
      <p:sp>
        <p:nvSpPr>
          <p:cNvPr id="29" name="Google Shape;29;p7"/>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0" name="Shape 30"/>
        <p:cNvGrpSpPr/>
        <p:nvPr/>
      </p:nvGrpSpPr>
      <p:grpSpPr>
        <a:xfrm>
          <a:off x="0" y="0"/>
          <a:ext cx="0" cy="0"/>
          <a:chOff x="0" y="0"/>
          <a:chExt cx="0" cy="0"/>
        </a:xfrm>
      </p:grpSpPr>
      <p:sp>
        <p:nvSpPr>
          <p:cNvPr id="31" name="Google Shape;31;p8"/>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8"/>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8"/>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 name="Shape 35"/>
        <p:cNvGrpSpPr/>
        <p:nvPr/>
      </p:nvGrpSpPr>
      <p:grpSpPr>
        <a:xfrm>
          <a:off x="0" y="0"/>
          <a:ext cx="0" cy="0"/>
          <a:chOff x="0" y="0"/>
          <a:chExt cx="0" cy="0"/>
        </a:xfrm>
      </p:grpSpPr>
      <p:sp>
        <p:nvSpPr>
          <p:cNvPr id="36" name="Google Shape;36;p9"/>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9"/>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9"/>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9"/>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0" name="Shape 40"/>
        <p:cNvGrpSpPr/>
        <p:nvPr/>
      </p:nvGrpSpPr>
      <p:grpSpPr>
        <a:xfrm>
          <a:off x="0" y="0"/>
          <a:ext cx="0" cy="0"/>
          <a:chOff x="0" y="0"/>
          <a:chExt cx="0" cy="0"/>
        </a:xfrm>
      </p:grpSpPr>
      <p:sp>
        <p:nvSpPr>
          <p:cNvPr id="41" name="Google Shape;41;p10"/>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10"/>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10"/>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5" name="Shape 45"/>
        <p:cNvGrpSpPr/>
        <p:nvPr/>
      </p:nvGrpSpPr>
      <p:grpSpPr>
        <a:xfrm>
          <a:off x="0" y="0"/>
          <a:ext cx="0" cy="0"/>
          <a:chOff x="0" y="0"/>
          <a:chExt cx="0" cy="0"/>
        </a:xfrm>
      </p:grpSpPr>
      <p:sp>
        <p:nvSpPr>
          <p:cNvPr id="46" name="Google Shape;46;p11"/>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1"/>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9" name="Shape 49"/>
        <p:cNvGrpSpPr/>
        <p:nvPr/>
      </p:nvGrpSpPr>
      <p:grpSpPr>
        <a:xfrm>
          <a:off x="0" y="0"/>
          <a:ext cx="0" cy="0"/>
          <a:chOff x="0" y="0"/>
          <a:chExt cx="0" cy="0"/>
        </a:xfrm>
      </p:grpSpPr>
      <p:sp>
        <p:nvSpPr>
          <p:cNvPr id="50" name="Google Shape;50;p12"/>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2"/>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12"/>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2"/>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2"/>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5" name="Shape 55"/>
        <p:cNvGrpSpPr/>
        <p:nvPr/>
      </p:nvGrpSpPr>
      <p:grpSpPr>
        <a:xfrm>
          <a:off x="0" y="0"/>
          <a:ext cx="0" cy="0"/>
          <a:chOff x="0" y="0"/>
          <a:chExt cx="0" cy="0"/>
        </a:xfrm>
      </p:grpSpPr>
      <p:sp>
        <p:nvSpPr>
          <p:cNvPr id="56" name="Google Shape;56;p13"/>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9" name="Shape 6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3" name="Shape 73"/>
        <p:cNvGrpSpPr/>
        <p:nvPr/>
      </p:nvGrpSpPr>
      <p:grpSpPr>
        <a:xfrm>
          <a:off x="0" y="0"/>
          <a:ext cx="0" cy="0"/>
          <a:chOff x="0" y="0"/>
          <a:chExt cx="0" cy="0"/>
        </a:xfrm>
      </p:grpSpPr>
      <p:sp>
        <p:nvSpPr>
          <p:cNvPr id="74" name="Google Shape;74;p17"/>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7"/>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6" name="Shape 76"/>
        <p:cNvGrpSpPr/>
        <p:nvPr/>
      </p:nvGrpSpPr>
      <p:grpSpPr>
        <a:xfrm>
          <a:off x="0" y="0"/>
          <a:ext cx="0" cy="0"/>
          <a:chOff x="0" y="0"/>
          <a:chExt cx="0" cy="0"/>
        </a:xfrm>
      </p:grpSpPr>
      <p:sp>
        <p:nvSpPr>
          <p:cNvPr id="77" name="Google Shape;77;p18"/>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9" name="Google Shape;79;p18"/>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9"/>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2" name="Shape 82"/>
        <p:cNvGrpSpPr/>
        <p:nvPr/>
      </p:nvGrpSpPr>
      <p:grpSpPr>
        <a:xfrm>
          <a:off x="0" y="0"/>
          <a:ext cx="0" cy="0"/>
          <a:chOff x="0" y="0"/>
          <a:chExt cx="0" cy="0"/>
        </a:xfrm>
      </p:grpSpPr>
      <p:sp>
        <p:nvSpPr>
          <p:cNvPr id="83" name="Google Shape;83;p20"/>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4" name="Shape 84"/>
        <p:cNvGrpSpPr/>
        <p:nvPr/>
      </p:nvGrpSpPr>
      <p:grpSpPr>
        <a:xfrm>
          <a:off x="0" y="0"/>
          <a:ext cx="0" cy="0"/>
          <a:chOff x="0" y="0"/>
          <a:chExt cx="0" cy="0"/>
        </a:xfrm>
      </p:grpSpPr>
      <p:sp>
        <p:nvSpPr>
          <p:cNvPr id="85" name="Google Shape;85;p21"/>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1"/>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7" name="Google Shape;87;p21"/>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8" name="Google Shape;88;p21"/>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9" name="Shape 89"/>
        <p:cNvGrpSpPr/>
        <p:nvPr/>
      </p:nvGrpSpPr>
      <p:grpSpPr>
        <a:xfrm>
          <a:off x="0" y="0"/>
          <a:ext cx="0" cy="0"/>
          <a:chOff x="0" y="0"/>
          <a:chExt cx="0" cy="0"/>
        </a:xfrm>
      </p:grpSpPr>
      <p:sp>
        <p:nvSpPr>
          <p:cNvPr id="90" name="Google Shape;90;p22"/>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2"/>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p22"/>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3" name="Google Shape;93;p22"/>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4" name="Shape 94"/>
        <p:cNvGrpSpPr/>
        <p:nvPr/>
      </p:nvGrpSpPr>
      <p:grpSpPr>
        <a:xfrm>
          <a:off x="0" y="0"/>
          <a:ext cx="0" cy="0"/>
          <a:chOff x="0" y="0"/>
          <a:chExt cx="0" cy="0"/>
        </a:xfrm>
      </p:grpSpPr>
      <p:sp>
        <p:nvSpPr>
          <p:cNvPr id="95" name="Google Shape;95;p23"/>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3"/>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7" name="Google Shape;97;p23"/>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8" name="Google Shape;98;p23"/>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9" name="Shape 99"/>
        <p:cNvGrpSpPr/>
        <p:nvPr/>
      </p:nvGrpSpPr>
      <p:grpSpPr>
        <a:xfrm>
          <a:off x="0" y="0"/>
          <a:ext cx="0" cy="0"/>
          <a:chOff x="0" y="0"/>
          <a:chExt cx="0" cy="0"/>
        </a:xfrm>
      </p:grpSpPr>
      <p:sp>
        <p:nvSpPr>
          <p:cNvPr id="100" name="Google Shape;100;p24"/>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4"/>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24"/>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3" name="Shape 103"/>
        <p:cNvGrpSpPr/>
        <p:nvPr/>
      </p:nvGrpSpPr>
      <p:grpSpPr>
        <a:xfrm>
          <a:off x="0" y="0"/>
          <a:ext cx="0" cy="0"/>
          <a:chOff x="0" y="0"/>
          <a:chExt cx="0" cy="0"/>
        </a:xfrm>
      </p:grpSpPr>
      <p:sp>
        <p:nvSpPr>
          <p:cNvPr id="104" name="Google Shape;104;p25"/>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5"/>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6" name="Google Shape;106;p25"/>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7" name="Google Shape;107;p25"/>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25"/>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9" name="Shape 109"/>
        <p:cNvGrpSpPr/>
        <p:nvPr/>
      </p:nvGrpSpPr>
      <p:grpSpPr>
        <a:xfrm>
          <a:off x="0" y="0"/>
          <a:ext cx="0" cy="0"/>
          <a:chOff x="0" y="0"/>
          <a:chExt cx="0" cy="0"/>
        </a:xfrm>
      </p:grpSpPr>
      <p:sp>
        <p:nvSpPr>
          <p:cNvPr id="110" name="Google Shape;110;p26"/>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6"/>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26"/>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26"/>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6"/>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5" name="Google Shape;115;p26"/>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6" name="Google Shape;116;p26"/>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24" name="Shape 124"/>
        <p:cNvGrpSpPr/>
        <p:nvPr/>
      </p:nvGrpSpPr>
      <p:grpSpPr>
        <a:xfrm>
          <a:off x="0" y="0"/>
          <a:ext cx="0" cy="0"/>
          <a:chOff x="0" y="0"/>
          <a:chExt cx="0" cy="0"/>
        </a:xfrm>
      </p:grpSpPr>
      <p:sp>
        <p:nvSpPr>
          <p:cNvPr id="125" name="Google Shape;125;p2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8"/>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7" name="Google Shape;127;p28"/>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8" name="Google Shape;128;p28"/>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9" name="Google Shape;129;p28"/>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30" name="Shape 13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1" name="Shape 131"/>
        <p:cNvGrpSpPr/>
        <p:nvPr/>
      </p:nvGrpSpPr>
      <p:grpSpPr>
        <a:xfrm>
          <a:off x="0" y="0"/>
          <a:ext cx="0" cy="0"/>
          <a:chOff x="0" y="0"/>
          <a:chExt cx="0" cy="0"/>
        </a:xfrm>
      </p:grpSpPr>
      <p:sp>
        <p:nvSpPr>
          <p:cNvPr id="132" name="Google Shape;132;p30"/>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0"/>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4" name="Shape 134"/>
        <p:cNvGrpSpPr/>
        <p:nvPr/>
      </p:nvGrpSpPr>
      <p:grpSpPr>
        <a:xfrm>
          <a:off x="0" y="0"/>
          <a:ext cx="0" cy="0"/>
          <a:chOff x="0" y="0"/>
          <a:chExt cx="0" cy="0"/>
        </a:xfrm>
      </p:grpSpPr>
      <p:sp>
        <p:nvSpPr>
          <p:cNvPr id="135" name="Google Shape;135;p31"/>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1"/>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37" name="Shape 137"/>
        <p:cNvGrpSpPr/>
        <p:nvPr/>
      </p:nvGrpSpPr>
      <p:grpSpPr>
        <a:xfrm>
          <a:off x="0" y="0"/>
          <a:ext cx="0" cy="0"/>
          <a:chOff x="0" y="0"/>
          <a:chExt cx="0" cy="0"/>
        </a:xfrm>
      </p:grpSpPr>
      <p:sp>
        <p:nvSpPr>
          <p:cNvPr id="138" name="Google Shape;138;p3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2"/>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0" name="Google Shape;140;p32"/>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1" name="Shape 141"/>
        <p:cNvGrpSpPr/>
        <p:nvPr/>
      </p:nvGrpSpPr>
      <p:grpSpPr>
        <a:xfrm>
          <a:off x="0" y="0"/>
          <a:ext cx="0" cy="0"/>
          <a:chOff x="0" y="0"/>
          <a:chExt cx="0" cy="0"/>
        </a:xfrm>
      </p:grpSpPr>
      <p:sp>
        <p:nvSpPr>
          <p:cNvPr id="142" name="Google Shape;142;p33"/>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43" name="Shape 143"/>
        <p:cNvGrpSpPr/>
        <p:nvPr/>
      </p:nvGrpSpPr>
      <p:grpSpPr>
        <a:xfrm>
          <a:off x="0" y="0"/>
          <a:ext cx="0" cy="0"/>
          <a:chOff x="0" y="0"/>
          <a:chExt cx="0" cy="0"/>
        </a:xfrm>
      </p:grpSpPr>
      <p:sp>
        <p:nvSpPr>
          <p:cNvPr id="144" name="Google Shape;144;p34"/>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45" name="Shape 145"/>
        <p:cNvGrpSpPr/>
        <p:nvPr/>
      </p:nvGrpSpPr>
      <p:grpSpPr>
        <a:xfrm>
          <a:off x="0" y="0"/>
          <a:ext cx="0" cy="0"/>
          <a:chOff x="0" y="0"/>
          <a:chExt cx="0" cy="0"/>
        </a:xfrm>
      </p:grpSpPr>
      <p:sp>
        <p:nvSpPr>
          <p:cNvPr id="146" name="Google Shape;146;p3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5"/>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8" name="Google Shape;148;p35"/>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9" name="Google Shape;149;p35"/>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50" name="Shape 150"/>
        <p:cNvGrpSpPr/>
        <p:nvPr/>
      </p:nvGrpSpPr>
      <p:grpSpPr>
        <a:xfrm>
          <a:off x="0" y="0"/>
          <a:ext cx="0" cy="0"/>
          <a:chOff x="0" y="0"/>
          <a:chExt cx="0" cy="0"/>
        </a:xfrm>
      </p:grpSpPr>
      <p:sp>
        <p:nvSpPr>
          <p:cNvPr id="151" name="Google Shape;151;p36"/>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6"/>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3" name="Google Shape;153;p36"/>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4" name="Google Shape;154;p36"/>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55" name="Shape 155"/>
        <p:cNvGrpSpPr/>
        <p:nvPr/>
      </p:nvGrpSpPr>
      <p:grpSpPr>
        <a:xfrm>
          <a:off x="0" y="0"/>
          <a:ext cx="0" cy="0"/>
          <a:chOff x="0" y="0"/>
          <a:chExt cx="0" cy="0"/>
        </a:xfrm>
      </p:grpSpPr>
      <p:sp>
        <p:nvSpPr>
          <p:cNvPr id="156" name="Google Shape;156;p37"/>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7"/>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8" name="Google Shape;158;p37"/>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37"/>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60" name="Shape 160"/>
        <p:cNvGrpSpPr/>
        <p:nvPr/>
      </p:nvGrpSpPr>
      <p:grpSpPr>
        <a:xfrm>
          <a:off x="0" y="0"/>
          <a:ext cx="0" cy="0"/>
          <a:chOff x="0" y="0"/>
          <a:chExt cx="0" cy="0"/>
        </a:xfrm>
      </p:grpSpPr>
      <p:sp>
        <p:nvSpPr>
          <p:cNvPr id="161" name="Google Shape;161;p3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8"/>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3" name="Google Shape;163;p38"/>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4" name="Shape 164"/>
        <p:cNvGrpSpPr/>
        <p:nvPr/>
      </p:nvGrpSpPr>
      <p:grpSpPr>
        <a:xfrm>
          <a:off x="0" y="0"/>
          <a:ext cx="0" cy="0"/>
          <a:chOff x="0" y="0"/>
          <a:chExt cx="0" cy="0"/>
        </a:xfrm>
      </p:grpSpPr>
      <p:sp>
        <p:nvSpPr>
          <p:cNvPr id="165" name="Google Shape;165;p39"/>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9"/>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9"/>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8" name="Google Shape;168;p39"/>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9" name="Google Shape;169;p39"/>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0" name="Google Shape;170;p39"/>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1" name="Google Shape;171;p39"/>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8" name="Shape 178"/>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9" name="Shape 179"/>
        <p:cNvGrpSpPr/>
        <p:nvPr/>
      </p:nvGrpSpPr>
      <p:grpSpPr>
        <a:xfrm>
          <a:off x="0" y="0"/>
          <a:ext cx="0" cy="0"/>
          <a:chOff x="0" y="0"/>
          <a:chExt cx="0" cy="0"/>
        </a:xfrm>
      </p:grpSpPr>
      <p:sp>
        <p:nvSpPr>
          <p:cNvPr id="180" name="Google Shape;180;p4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42"/>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2" name="Shape 182"/>
        <p:cNvGrpSpPr/>
        <p:nvPr/>
      </p:nvGrpSpPr>
      <p:grpSpPr>
        <a:xfrm>
          <a:off x="0" y="0"/>
          <a:ext cx="0" cy="0"/>
          <a:chOff x="0" y="0"/>
          <a:chExt cx="0" cy="0"/>
        </a:xfrm>
      </p:grpSpPr>
      <p:sp>
        <p:nvSpPr>
          <p:cNvPr id="183" name="Google Shape;183;p43"/>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3"/>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5" name="Shape 185"/>
        <p:cNvGrpSpPr/>
        <p:nvPr/>
      </p:nvGrpSpPr>
      <p:grpSpPr>
        <a:xfrm>
          <a:off x="0" y="0"/>
          <a:ext cx="0" cy="0"/>
          <a:chOff x="0" y="0"/>
          <a:chExt cx="0" cy="0"/>
        </a:xfrm>
      </p:grpSpPr>
      <p:sp>
        <p:nvSpPr>
          <p:cNvPr id="186" name="Google Shape;186;p44"/>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44"/>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8" name="Google Shape;188;p44"/>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9" name="Shape 189"/>
        <p:cNvGrpSpPr/>
        <p:nvPr/>
      </p:nvGrpSpPr>
      <p:grpSpPr>
        <a:xfrm>
          <a:off x="0" y="0"/>
          <a:ext cx="0" cy="0"/>
          <a:chOff x="0" y="0"/>
          <a:chExt cx="0" cy="0"/>
        </a:xfrm>
      </p:grpSpPr>
      <p:sp>
        <p:nvSpPr>
          <p:cNvPr id="190" name="Google Shape;190;p4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91" name="Shape 191"/>
        <p:cNvGrpSpPr/>
        <p:nvPr/>
      </p:nvGrpSpPr>
      <p:grpSpPr>
        <a:xfrm>
          <a:off x="0" y="0"/>
          <a:ext cx="0" cy="0"/>
          <a:chOff x="0" y="0"/>
          <a:chExt cx="0" cy="0"/>
        </a:xfrm>
      </p:grpSpPr>
      <p:sp>
        <p:nvSpPr>
          <p:cNvPr id="192" name="Google Shape;192;p46"/>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93" name="Shape 193"/>
        <p:cNvGrpSpPr/>
        <p:nvPr/>
      </p:nvGrpSpPr>
      <p:grpSpPr>
        <a:xfrm>
          <a:off x="0" y="0"/>
          <a:ext cx="0" cy="0"/>
          <a:chOff x="0" y="0"/>
          <a:chExt cx="0" cy="0"/>
        </a:xfrm>
      </p:grpSpPr>
      <p:sp>
        <p:nvSpPr>
          <p:cNvPr id="194" name="Google Shape;194;p47"/>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47"/>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6" name="Google Shape;196;p47"/>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7" name="Google Shape;197;p47"/>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8" name="Shape 198"/>
        <p:cNvGrpSpPr/>
        <p:nvPr/>
      </p:nvGrpSpPr>
      <p:grpSpPr>
        <a:xfrm>
          <a:off x="0" y="0"/>
          <a:ext cx="0" cy="0"/>
          <a:chOff x="0" y="0"/>
          <a:chExt cx="0" cy="0"/>
        </a:xfrm>
      </p:grpSpPr>
      <p:sp>
        <p:nvSpPr>
          <p:cNvPr id="199" name="Google Shape;199;p4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8"/>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1" name="Google Shape;201;p48"/>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2" name="Google Shape;202;p48"/>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03" name="Shape 203"/>
        <p:cNvGrpSpPr/>
        <p:nvPr/>
      </p:nvGrpSpPr>
      <p:grpSpPr>
        <a:xfrm>
          <a:off x="0" y="0"/>
          <a:ext cx="0" cy="0"/>
          <a:chOff x="0" y="0"/>
          <a:chExt cx="0" cy="0"/>
        </a:xfrm>
      </p:grpSpPr>
      <p:sp>
        <p:nvSpPr>
          <p:cNvPr id="204" name="Google Shape;204;p49"/>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49"/>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6" name="Google Shape;206;p49"/>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7" name="Google Shape;207;p49"/>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8" name="Shape 208"/>
        <p:cNvGrpSpPr/>
        <p:nvPr/>
      </p:nvGrpSpPr>
      <p:grpSpPr>
        <a:xfrm>
          <a:off x="0" y="0"/>
          <a:ext cx="0" cy="0"/>
          <a:chOff x="0" y="0"/>
          <a:chExt cx="0" cy="0"/>
        </a:xfrm>
      </p:grpSpPr>
      <p:sp>
        <p:nvSpPr>
          <p:cNvPr id="209" name="Google Shape;209;p50"/>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50"/>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1" name="Google Shape;211;p50"/>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12" name="Shape 212"/>
        <p:cNvGrpSpPr/>
        <p:nvPr/>
      </p:nvGrpSpPr>
      <p:grpSpPr>
        <a:xfrm>
          <a:off x="0" y="0"/>
          <a:ext cx="0" cy="0"/>
          <a:chOff x="0" y="0"/>
          <a:chExt cx="0" cy="0"/>
        </a:xfrm>
      </p:grpSpPr>
      <p:sp>
        <p:nvSpPr>
          <p:cNvPr id="213" name="Google Shape;213;p51"/>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51"/>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5" name="Google Shape;215;p51"/>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51"/>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7" name="Google Shape;217;p51"/>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8" name="Shape 218"/>
        <p:cNvGrpSpPr/>
        <p:nvPr/>
      </p:nvGrpSpPr>
      <p:grpSpPr>
        <a:xfrm>
          <a:off x="0" y="0"/>
          <a:ext cx="0" cy="0"/>
          <a:chOff x="0" y="0"/>
          <a:chExt cx="0" cy="0"/>
        </a:xfrm>
      </p:grpSpPr>
      <p:sp>
        <p:nvSpPr>
          <p:cNvPr id="219" name="Google Shape;219;p5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52"/>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1" name="Google Shape;221;p52"/>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2" name="Google Shape;222;p52"/>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3" name="Google Shape;223;p52"/>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4" name="Google Shape;224;p52"/>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5" name="Google Shape;225;p52"/>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31" name="Shape 231"/>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32" name="Shape 232"/>
        <p:cNvGrpSpPr/>
        <p:nvPr/>
      </p:nvGrpSpPr>
      <p:grpSpPr>
        <a:xfrm>
          <a:off x="0" y="0"/>
          <a:ext cx="0" cy="0"/>
          <a:chOff x="0" y="0"/>
          <a:chExt cx="0" cy="0"/>
        </a:xfrm>
      </p:grpSpPr>
      <p:sp>
        <p:nvSpPr>
          <p:cNvPr id="233" name="Google Shape;233;p5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55"/>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35" name="Shape 235"/>
        <p:cNvGrpSpPr/>
        <p:nvPr/>
      </p:nvGrpSpPr>
      <p:grpSpPr>
        <a:xfrm>
          <a:off x="0" y="0"/>
          <a:ext cx="0" cy="0"/>
          <a:chOff x="0" y="0"/>
          <a:chExt cx="0" cy="0"/>
        </a:xfrm>
      </p:grpSpPr>
      <p:sp>
        <p:nvSpPr>
          <p:cNvPr id="236" name="Google Shape;236;p56"/>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56"/>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8" name="Shape 238"/>
        <p:cNvGrpSpPr/>
        <p:nvPr/>
      </p:nvGrpSpPr>
      <p:grpSpPr>
        <a:xfrm>
          <a:off x="0" y="0"/>
          <a:ext cx="0" cy="0"/>
          <a:chOff x="0" y="0"/>
          <a:chExt cx="0" cy="0"/>
        </a:xfrm>
      </p:grpSpPr>
      <p:sp>
        <p:nvSpPr>
          <p:cNvPr id="239" name="Google Shape;239;p57"/>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57"/>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41" name="Google Shape;241;p57"/>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2" name="Shape 242"/>
        <p:cNvGrpSpPr/>
        <p:nvPr/>
      </p:nvGrpSpPr>
      <p:grpSpPr>
        <a:xfrm>
          <a:off x="0" y="0"/>
          <a:ext cx="0" cy="0"/>
          <a:chOff x="0" y="0"/>
          <a:chExt cx="0" cy="0"/>
        </a:xfrm>
      </p:grpSpPr>
      <p:sp>
        <p:nvSpPr>
          <p:cNvPr id="243" name="Google Shape;243;p5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4" name="Shape 244"/>
        <p:cNvGrpSpPr/>
        <p:nvPr/>
      </p:nvGrpSpPr>
      <p:grpSpPr>
        <a:xfrm>
          <a:off x="0" y="0"/>
          <a:ext cx="0" cy="0"/>
          <a:chOff x="0" y="0"/>
          <a:chExt cx="0" cy="0"/>
        </a:xfrm>
      </p:grpSpPr>
      <p:sp>
        <p:nvSpPr>
          <p:cNvPr id="245" name="Google Shape;245;p59"/>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6" name="Shape 246"/>
        <p:cNvGrpSpPr/>
        <p:nvPr/>
      </p:nvGrpSpPr>
      <p:grpSpPr>
        <a:xfrm>
          <a:off x="0" y="0"/>
          <a:ext cx="0" cy="0"/>
          <a:chOff x="0" y="0"/>
          <a:chExt cx="0" cy="0"/>
        </a:xfrm>
      </p:grpSpPr>
      <p:sp>
        <p:nvSpPr>
          <p:cNvPr id="247" name="Google Shape;247;p60"/>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60"/>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49" name="Google Shape;249;p60"/>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0" name="Google Shape;250;p60"/>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51" name="Shape 251"/>
        <p:cNvGrpSpPr/>
        <p:nvPr/>
      </p:nvGrpSpPr>
      <p:grpSpPr>
        <a:xfrm>
          <a:off x="0" y="0"/>
          <a:ext cx="0" cy="0"/>
          <a:chOff x="0" y="0"/>
          <a:chExt cx="0" cy="0"/>
        </a:xfrm>
      </p:grpSpPr>
      <p:sp>
        <p:nvSpPr>
          <p:cNvPr id="252" name="Google Shape;252;p61"/>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61"/>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4" name="Google Shape;254;p61"/>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5" name="Google Shape;255;p61"/>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56" name="Shape 256"/>
        <p:cNvGrpSpPr/>
        <p:nvPr/>
      </p:nvGrpSpPr>
      <p:grpSpPr>
        <a:xfrm>
          <a:off x="0" y="0"/>
          <a:ext cx="0" cy="0"/>
          <a:chOff x="0" y="0"/>
          <a:chExt cx="0" cy="0"/>
        </a:xfrm>
      </p:grpSpPr>
      <p:sp>
        <p:nvSpPr>
          <p:cNvPr id="257" name="Google Shape;257;p6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62"/>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9" name="Google Shape;259;p62"/>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0" name="Google Shape;260;p62"/>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61" name="Shape 261"/>
        <p:cNvGrpSpPr/>
        <p:nvPr/>
      </p:nvGrpSpPr>
      <p:grpSpPr>
        <a:xfrm>
          <a:off x="0" y="0"/>
          <a:ext cx="0" cy="0"/>
          <a:chOff x="0" y="0"/>
          <a:chExt cx="0" cy="0"/>
        </a:xfrm>
      </p:grpSpPr>
      <p:sp>
        <p:nvSpPr>
          <p:cNvPr id="262" name="Google Shape;262;p63"/>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63"/>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4" name="Google Shape;264;p63"/>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65" name="Shape 265"/>
        <p:cNvGrpSpPr/>
        <p:nvPr/>
      </p:nvGrpSpPr>
      <p:grpSpPr>
        <a:xfrm>
          <a:off x="0" y="0"/>
          <a:ext cx="0" cy="0"/>
          <a:chOff x="0" y="0"/>
          <a:chExt cx="0" cy="0"/>
        </a:xfrm>
      </p:grpSpPr>
      <p:sp>
        <p:nvSpPr>
          <p:cNvPr id="266" name="Google Shape;266;p64"/>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7" name="Google Shape;267;p64"/>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8" name="Google Shape;268;p64"/>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9" name="Google Shape;269;p64"/>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0" name="Google Shape;270;p64"/>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71" name="Shape 271"/>
        <p:cNvGrpSpPr/>
        <p:nvPr/>
      </p:nvGrpSpPr>
      <p:grpSpPr>
        <a:xfrm>
          <a:off x="0" y="0"/>
          <a:ext cx="0" cy="0"/>
          <a:chOff x="0" y="0"/>
          <a:chExt cx="0" cy="0"/>
        </a:xfrm>
      </p:grpSpPr>
      <p:sp>
        <p:nvSpPr>
          <p:cNvPr id="272" name="Google Shape;272;p6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65"/>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4" name="Google Shape;274;p65"/>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5" name="Google Shape;275;p65"/>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6" name="Google Shape;276;p65"/>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7" name="Google Shape;277;p65"/>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8" name="Google Shape;278;p65"/>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6.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5.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3.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4.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1"/>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
        <p:nvSpPr>
          <p:cNvPr id="13" name="Google Shape;13;p1"/>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 name="Google Shape;14;p1"/>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4"/>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5" name="Google Shape;65;p14"/>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6" name="Google Shape;66;p14"/>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
        <p:nvSpPr>
          <p:cNvPr id="67" name="Google Shape;67;p14"/>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8" name="Google Shape;68;p14"/>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27"/>
          <p:cNvSpPr txBox="1"/>
          <p:nvPr>
            <p:ph type="title"/>
          </p:nvPr>
        </p:nvSpPr>
        <p:spPr>
          <a:xfrm>
            <a:off x="504000" y="301320"/>
            <a:ext cx="9071640" cy="1262160"/>
          </a:xfrm>
          <a:prstGeom prst="rect">
            <a:avLst/>
          </a:prstGeom>
          <a:noFill/>
          <a:ln>
            <a:noFill/>
          </a:ln>
        </p:spPr>
        <p:txBody>
          <a:bodyPr anchorCtr="1"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9" name="Google Shape;119;p27"/>
          <p:cNvSpPr txBox="1"/>
          <p:nvPr>
            <p:ph idx="2" type="title"/>
          </p:nvPr>
        </p:nvSpPr>
        <p:spPr>
          <a:xfrm>
            <a:off x="504000" y="1769040"/>
            <a:ext cx="9071640" cy="43844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0" name="Google Shape;120;p27"/>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1" name="Google Shape;121;p27"/>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2" name="Google Shape;122;p27"/>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
        <p:nvSpPr>
          <p:cNvPr id="123" name="Google Shape;123;p27"/>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40"/>
          <p:cNvSpPr txBox="1"/>
          <p:nvPr>
            <p:ph type="title"/>
          </p:nvPr>
        </p:nvSpPr>
        <p:spPr>
          <a:xfrm>
            <a:off x="504000" y="301320"/>
            <a:ext cx="9071640" cy="1262160"/>
          </a:xfrm>
          <a:prstGeom prst="rect">
            <a:avLst/>
          </a:prstGeom>
          <a:noFill/>
          <a:ln>
            <a:noFill/>
          </a:ln>
        </p:spPr>
        <p:txBody>
          <a:bodyPr anchorCtr="1"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4" name="Google Shape;174;p40"/>
          <p:cNvSpPr txBox="1"/>
          <p:nvPr>
            <p:ph idx="1" type="body"/>
          </p:nvPr>
        </p:nvSpPr>
        <p:spPr>
          <a:xfrm>
            <a:off x="504000" y="1769040"/>
            <a:ext cx="9071640" cy="43844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5" name="Google Shape;175;p40"/>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6" name="Google Shape;176;p40"/>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7" name="Google Shape;177;p40"/>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53"/>
          <p:cNvSpPr txBox="1"/>
          <p:nvPr>
            <p:ph type="title"/>
          </p:nvPr>
        </p:nvSpPr>
        <p:spPr>
          <a:xfrm>
            <a:off x="1260360" y="1236600"/>
            <a:ext cx="7559640" cy="2631960"/>
          </a:xfrm>
          <a:prstGeom prst="rect">
            <a:avLst/>
          </a:prstGeom>
          <a:noFill/>
          <a:ln>
            <a:noFill/>
          </a:ln>
        </p:spPr>
        <p:txBody>
          <a:bodyPr anchorCtr="1"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8" name="Google Shape;228;p53"/>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9" name="Google Shape;229;p53"/>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0" name="Google Shape;230;p53"/>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1.jpg"/><Relationship Id="rId4" Type="http://schemas.openxmlformats.org/officeDocument/2006/relationships/image" Target="../media/image10.png"/><Relationship Id="rId5" Type="http://schemas.openxmlformats.org/officeDocument/2006/relationships/image" Target="../media/image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4.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7.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6.xml"/><Relationship Id="rId3" Type="http://schemas.openxmlformats.org/officeDocument/2006/relationships/image" Target="../media/image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0" Type="http://schemas.openxmlformats.org/officeDocument/2006/relationships/image" Target="../media/image29.png"/><Relationship Id="rId22" Type="http://schemas.openxmlformats.org/officeDocument/2006/relationships/image" Target="../media/image25.png"/><Relationship Id="rId21" Type="http://schemas.openxmlformats.org/officeDocument/2006/relationships/image" Target="../media/image18.png"/><Relationship Id="rId24" Type="http://schemas.openxmlformats.org/officeDocument/2006/relationships/image" Target="../media/image24.png"/><Relationship Id="rId23" Type="http://schemas.openxmlformats.org/officeDocument/2006/relationships/image" Target="../media/image19.png"/><Relationship Id="rId1" Type="http://schemas.openxmlformats.org/officeDocument/2006/relationships/slideLayout" Target="../slideLayouts/slideLayout25.xml"/><Relationship Id="rId2" Type="http://schemas.openxmlformats.org/officeDocument/2006/relationships/notesSlide" Target="../notesSlides/notesSlide52.xml"/><Relationship Id="rId3"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6.png"/><Relationship Id="rId26" Type="http://schemas.openxmlformats.org/officeDocument/2006/relationships/image" Target="../media/image27.png"/><Relationship Id="rId25" Type="http://schemas.openxmlformats.org/officeDocument/2006/relationships/image" Target="../media/image26.png"/><Relationship Id="rId28" Type="http://schemas.openxmlformats.org/officeDocument/2006/relationships/image" Target="../media/image43.png"/><Relationship Id="rId27" Type="http://schemas.openxmlformats.org/officeDocument/2006/relationships/image" Target="../media/image28.png"/><Relationship Id="rId5" Type="http://schemas.openxmlformats.org/officeDocument/2006/relationships/image" Target="../media/image3.png"/><Relationship Id="rId6" Type="http://schemas.openxmlformats.org/officeDocument/2006/relationships/image" Target="../media/image22.png"/><Relationship Id="rId29" Type="http://schemas.openxmlformats.org/officeDocument/2006/relationships/image" Target="../media/image44.png"/><Relationship Id="rId7" Type="http://schemas.openxmlformats.org/officeDocument/2006/relationships/image" Target="../media/image11.png"/><Relationship Id="rId8" Type="http://schemas.openxmlformats.org/officeDocument/2006/relationships/image" Target="../media/image13.png"/><Relationship Id="rId31" Type="http://schemas.openxmlformats.org/officeDocument/2006/relationships/image" Target="../media/image31.png"/><Relationship Id="rId30" Type="http://schemas.openxmlformats.org/officeDocument/2006/relationships/image" Target="../media/image40.png"/><Relationship Id="rId11" Type="http://schemas.openxmlformats.org/officeDocument/2006/relationships/image" Target="../media/image9.png"/><Relationship Id="rId33" Type="http://schemas.openxmlformats.org/officeDocument/2006/relationships/image" Target="../media/image30.png"/><Relationship Id="rId10" Type="http://schemas.openxmlformats.org/officeDocument/2006/relationships/image" Target="../media/image21.png"/><Relationship Id="rId32" Type="http://schemas.openxmlformats.org/officeDocument/2006/relationships/image" Target="../media/image33.png"/><Relationship Id="rId13" Type="http://schemas.openxmlformats.org/officeDocument/2006/relationships/image" Target="../media/image15.png"/><Relationship Id="rId12" Type="http://schemas.openxmlformats.org/officeDocument/2006/relationships/image" Target="../media/image17.png"/><Relationship Id="rId15" Type="http://schemas.openxmlformats.org/officeDocument/2006/relationships/image" Target="../media/image34.png"/><Relationship Id="rId14" Type="http://schemas.openxmlformats.org/officeDocument/2006/relationships/image" Target="../media/image12.png"/><Relationship Id="rId17" Type="http://schemas.openxmlformats.org/officeDocument/2006/relationships/image" Target="../media/image23.png"/><Relationship Id="rId16" Type="http://schemas.openxmlformats.org/officeDocument/2006/relationships/image" Target="../media/image14.png"/><Relationship Id="rId19" Type="http://schemas.openxmlformats.org/officeDocument/2006/relationships/image" Target="../media/image38.png"/><Relationship Id="rId18"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36.gif"/><Relationship Id="rId4" Type="http://schemas.openxmlformats.org/officeDocument/2006/relationships/image" Target="../media/image3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5.xml"/><Relationship Id="rId3" Type="http://schemas.openxmlformats.org/officeDocument/2006/relationships/image" Target="../media/image37.png"/><Relationship Id="rId4"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4.xml"/><Relationship Id="rId3" Type="http://schemas.openxmlformats.org/officeDocument/2006/relationships/image" Target="../media/image45.png"/><Relationship Id="rId4" Type="http://schemas.openxmlformats.org/officeDocument/2006/relationships/image" Target="../media/image42.png"/><Relationship Id="rId5" Type="http://schemas.openxmlformats.org/officeDocument/2006/relationships/image" Target="../media/image46.png"/><Relationship Id="rId6" Type="http://schemas.openxmlformats.org/officeDocument/2006/relationships/image" Target="../media/image48.png"/><Relationship Id="rId7" Type="http://schemas.openxmlformats.org/officeDocument/2006/relationships/image" Target="../media/image4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1.xml"/><Relationship Id="rId3" Type="http://schemas.openxmlformats.org/officeDocument/2006/relationships/image" Target="../media/image3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3.xml"/><Relationship Id="rId3" Type="http://schemas.openxmlformats.org/officeDocument/2006/relationships/image" Target="../media/image4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66"/>
          <p:cNvSpPr txBox="1"/>
          <p:nvPr/>
        </p:nvSpPr>
        <p:spPr>
          <a:xfrm>
            <a:off x="504000" y="36720"/>
            <a:ext cx="9071640" cy="63810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Time Complexity Analysis</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6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Purpose</a:t>
            </a:r>
            <a:endParaRPr b="0" i="0" sz="4400" u="none" cap="none" strike="noStrike">
              <a:latin typeface="Arial"/>
              <a:ea typeface="Arial"/>
              <a:cs typeface="Arial"/>
              <a:sym typeface="Arial"/>
            </a:endParaRPr>
          </a:p>
        </p:txBody>
      </p:sp>
      <p:sp>
        <p:nvSpPr>
          <p:cNvPr id="291" name="Google Shape;291;p6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Measure the time taken by programs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Compare two or more solutions to a problem – for their speed</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Categorise a program into one of the known categories of </a:t>
            </a:r>
            <a:r>
              <a:rPr b="1" i="1" lang="en-IN" sz="3200" u="none" cap="none" strike="noStrike">
                <a:solidFill>
                  <a:srgbClr val="0000CC"/>
                </a:solidFill>
                <a:latin typeface="Arial"/>
                <a:ea typeface="Arial"/>
                <a:cs typeface="Arial"/>
                <a:sym typeface="Arial"/>
              </a:rPr>
              <a:t>time complexities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68"/>
          <p:cNvSpPr txBox="1"/>
          <p:nvPr/>
        </p:nvSpPr>
        <p:spPr>
          <a:xfrm>
            <a:off x="507960" y="9828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(Type of) Problem(s) to be solved</a:t>
            </a:r>
            <a:endParaRPr b="0" i="0" sz="3600" u="none" cap="none" strike="noStrike">
              <a:latin typeface="Arial"/>
              <a:ea typeface="Arial"/>
              <a:cs typeface="Arial"/>
              <a:sym typeface="Arial"/>
            </a:endParaRPr>
          </a:p>
        </p:txBody>
      </p:sp>
      <p:sp>
        <p:nvSpPr>
          <p:cNvPr id="298" name="Google Shape;298;p68"/>
          <p:cNvSpPr txBox="1"/>
          <p:nvPr/>
        </p:nvSpPr>
        <p:spPr>
          <a:xfrm>
            <a:off x="396720" y="774000"/>
            <a:ext cx="4392000" cy="5574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00"/>
                </a:solidFill>
                <a:latin typeface="Courier"/>
                <a:ea typeface="Courier"/>
                <a:cs typeface="Courier"/>
                <a:sym typeface="Courier"/>
              </a:rPr>
              <a:t>double power(int x, int y) {</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prod = 1;</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i;</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term = x;</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if(y &lt; 0)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sign = -1;</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y = -y;</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000000"/>
                </a:solidFill>
                <a:latin typeface="Courier"/>
                <a:ea typeface="Courier"/>
                <a:cs typeface="Courier"/>
                <a:sym typeface="Courier"/>
              </a:rPr>
              <a:t>for(i = 0; i &lt; y; i++)</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00"/>
                </a:solidFill>
                <a:latin typeface="Courier"/>
                <a:ea typeface="Courier"/>
                <a:cs typeface="Courier"/>
                <a:sym typeface="Courier"/>
              </a:rPr>
              <a:t>prod = prod * x;</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if(sign == -1)</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prod = 1.0 / prod;</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return prod;</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299" name="Google Shape;299;p68"/>
          <p:cNvSpPr txBox="1"/>
          <p:nvPr/>
        </p:nvSpPr>
        <p:spPr>
          <a:xfrm>
            <a:off x="5152680" y="77400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double power(int x, int y) {</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ans = 1;</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term = x;</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while(y &gt; 0)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if(y % 2 == 1)</a:t>
            </a:r>
            <a:endParaRPr b="0" i="0" sz="2000" u="none" cap="none" strike="noStrike">
              <a:latin typeface="Arial"/>
              <a:ea typeface="Arial"/>
              <a:cs typeface="Arial"/>
              <a:sym typeface="Arial"/>
            </a:endParaRPr>
          </a:p>
          <a:p>
            <a:pPr indent="0" lvl="0" marL="144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ans *= term;</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term = term * term;</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y = y/2;	</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return ans;</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300" name="Google Shape;300;p68"/>
          <p:cNvSpPr txBox="1"/>
          <p:nvPr/>
        </p:nvSpPr>
        <p:spPr>
          <a:xfrm>
            <a:off x="4860000" y="6264000"/>
            <a:ext cx="4824000" cy="1197360"/>
          </a:xfrm>
          <a:prstGeom prst="rect">
            <a:avLst/>
          </a:prstGeom>
          <a:noFill/>
          <a:ln>
            <a:noFill/>
          </a:ln>
        </p:spPr>
        <p:txBody>
          <a:bodyPr anchorCtr="1" anchor="t" bIns="45000" lIns="90000" spcFirstLastPara="1" rIns="90000" wrap="square" tIns="45000">
            <a:noAutofit/>
          </a:bodyPr>
          <a:lstStyle/>
          <a:p>
            <a:pPr indent="0" lvl="0" marL="0" marR="0" rtl="0" algn="ctr">
              <a:lnSpc>
                <a:spcPct val="100000"/>
              </a:lnSpc>
              <a:spcBef>
                <a:spcPts val="0"/>
              </a:spcBef>
              <a:spcAft>
                <a:spcPts val="0"/>
              </a:spcAft>
              <a:buNone/>
            </a:pPr>
            <a:r>
              <a:rPr b="1" i="0" lang="en-IN" sz="2600" u="none" cap="none" strike="noStrike">
                <a:solidFill>
                  <a:srgbClr val="000000"/>
                </a:solidFill>
                <a:latin typeface="Arial"/>
                <a:ea typeface="Arial"/>
                <a:cs typeface="Arial"/>
                <a:sym typeface="Arial"/>
              </a:rPr>
              <a:t>Question: Which solution is better?  How much better? How ‘good’ is each solution?</a:t>
            </a:r>
            <a:endParaRPr b="0" i="0" sz="2600" u="none" cap="none" strike="noStrik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9"/>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Measuring the ACTUAL</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Time taken by a program</a:t>
            </a:r>
            <a:endParaRPr b="0" i="0" sz="3200" u="none" cap="none" strike="noStrike">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7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 ) function</a:t>
            </a:r>
            <a:endParaRPr b="0" i="0" sz="4400" u="none" cap="none" strike="noStrike">
              <a:latin typeface="Arial"/>
              <a:ea typeface="Arial"/>
              <a:cs typeface="Arial"/>
              <a:sym typeface="Arial"/>
            </a:endParaRPr>
          </a:p>
        </p:txBody>
      </p:sp>
      <p:sp>
        <p:nvSpPr>
          <p:cNvPr id="313" name="Google Shape;313;p70"/>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 function gives you the current time in a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SYNOPSIS</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#include &lt;time.h&gt;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time_t time(time_t *t);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DESCRIPTION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time() returns the time as the number of seconds since the Epoch, 1970-01-01 00:00:00 +0000 (UTC).</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7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 ) function</a:t>
            </a:r>
            <a:endParaRPr b="0" i="0" sz="4400" u="none" cap="none" strike="noStrike">
              <a:latin typeface="Arial"/>
              <a:ea typeface="Arial"/>
              <a:cs typeface="Arial"/>
              <a:sym typeface="Arial"/>
            </a:endParaRPr>
          </a:p>
        </p:txBody>
      </p:sp>
      <p:sp>
        <p:nvSpPr>
          <p:cNvPr id="320" name="Google Shape;320;p71"/>
          <p:cNvSpPr txBox="1"/>
          <p:nvPr/>
        </p:nvSpPr>
        <p:spPr>
          <a:xfrm>
            <a:off x="501120" y="143460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800000"/>
                </a:solidFill>
                <a:latin typeface="Courier"/>
                <a:ea typeface="Courier"/>
                <a:cs typeface="Courier"/>
                <a:sym typeface="Courier"/>
              </a:rPr>
              <a:t>Original</a:t>
            </a:r>
            <a:r>
              <a:rPr b="1" i="0" lang="en-IN" sz="2800" u="none" cap="none" strike="noStrike">
                <a:solidFill>
                  <a:srgbClr val="800000"/>
                </a:solidFill>
                <a:latin typeface="Courier"/>
                <a:ea typeface="Courier"/>
                <a:cs typeface="Courier"/>
                <a:sym typeface="Courier"/>
              </a:rPr>
              <a:t> code</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int main() {</a:t>
            </a:r>
            <a:endParaRPr b="0" i="0" sz="28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f();</a:t>
            </a:r>
            <a:endParaRPr b="0" i="0" sz="28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g();</a:t>
            </a:r>
            <a:endParaRPr b="0" i="0" sz="28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h();</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a:t>
            </a:r>
            <a:endParaRPr b="0" i="0" sz="2800" u="none" cap="none" strike="noStrike">
              <a:latin typeface="Arial"/>
              <a:ea typeface="Arial"/>
              <a:cs typeface="Arial"/>
              <a:sym typeface="Arial"/>
            </a:endParaRPr>
          </a:p>
        </p:txBody>
      </p:sp>
      <p:sp>
        <p:nvSpPr>
          <p:cNvPr id="321" name="Google Shape;321;p71"/>
          <p:cNvSpPr txBox="1"/>
          <p:nvPr/>
        </p:nvSpPr>
        <p:spPr>
          <a:xfrm>
            <a:off x="5131800" y="143460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800000"/>
                </a:solidFill>
                <a:latin typeface="Courier"/>
                <a:ea typeface="Courier"/>
                <a:cs typeface="Courier"/>
                <a:sym typeface="Courier"/>
              </a:rPr>
              <a:t>Modified code</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time_t t1, t2, time_taken;</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t1 = time();</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f();</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g();</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h();</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t2 = time();</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time_taken = t2-t1;</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322" name="Google Shape;322;p71"/>
          <p:cNvSpPr txBox="1"/>
          <p:nvPr/>
        </p:nvSpPr>
        <p:spPr>
          <a:xfrm>
            <a:off x="255960" y="6480000"/>
            <a:ext cx="9752040" cy="10022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 can use time( ) function like this in your program to measure time taken by the program</a:t>
            </a:r>
            <a:endParaRPr b="0" i="0" sz="3200" u="none" cap="none" strike="noStrike">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7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 ) function</a:t>
            </a:r>
            <a:endParaRPr b="0" i="0" sz="4400" u="none" cap="none" strike="noStrike">
              <a:latin typeface="Arial"/>
              <a:ea typeface="Arial"/>
              <a:cs typeface="Arial"/>
              <a:sym typeface="Arial"/>
            </a:endParaRPr>
          </a:p>
        </p:txBody>
      </p:sp>
      <p:sp>
        <p:nvSpPr>
          <p:cNvPr id="329" name="Google Shape;329;p72"/>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Limitations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original program is modified, so it's no longer the same program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obtained includes the time spent in waiting for user input, output and other I/O also</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Suppose the user enters the data for a getchar() after 1 hour, then the 1 hour is also included in the time</a:t>
            </a:r>
            <a:endParaRPr b="0" i="0" sz="3200" u="none" cap="none" strike="noStrike">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7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gettimeofday() function</a:t>
            </a:r>
            <a:endParaRPr b="0" i="0" sz="4400" u="none" cap="none" strike="noStrike">
              <a:latin typeface="Arial"/>
              <a:ea typeface="Arial"/>
              <a:cs typeface="Arial"/>
              <a:sym typeface="Arial"/>
            </a:endParaRPr>
          </a:p>
        </p:txBody>
      </p:sp>
      <p:sp>
        <p:nvSpPr>
          <p:cNvPr id="336" name="Google Shape;336;p73"/>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 function returns time in seconds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This may not be useful for programs which run in less time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gettimeofday() function returns time in microseconds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It can be used in the same fashion as the time( ) function</a:t>
            </a:r>
            <a:endParaRPr b="0" i="0" sz="3200" u="none" cap="none"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7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The “time” command</a:t>
            </a:r>
            <a:endParaRPr b="0" i="0" sz="4400" u="none" cap="none" strike="noStrike">
              <a:latin typeface="Arial"/>
              <a:ea typeface="Arial"/>
              <a:cs typeface="Arial"/>
              <a:sym typeface="Arial"/>
            </a:endParaRPr>
          </a:p>
        </p:txBody>
      </p:sp>
      <p:sp>
        <p:nvSpPr>
          <p:cNvPr id="343" name="Google Shape;343;p74"/>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 can run any program preceded with the “time” command:</a:t>
            </a:r>
            <a:endParaRPr b="0" i="0" sz="3200" u="none" cap="none" strike="noStrike">
              <a:latin typeface="Arial"/>
              <a:ea typeface="Arial"/>
              <a:cs typeface="Arial"/>
              <a:sym typeface="Arial"/>
            </a:endParaRPr>
          </a:p>
        </p:txBody>
      </p:sp>
      <p:sp>
        <p:nvSpPr>
          <p:cNvPr id="344" name="Google Shape;344;p74"/>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For example, run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time ls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It will show three timings in the end like this: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real	0m0.001s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user	0m0.000s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sys	0m0.000s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75"/>
          <p:cNvSpPr txBox="1"/>
          <p:nvPr/>
        </p:nvSpPr>
        <p:spPr>
          <a:xfrm>
            <a:off x="1048320" y="1505160"/>
            <a:ext cx="6612840" cy="38984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 time ./a.out</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br>
              <a:rPr b="0" i="0" lang="en-IN" sz="1800" u="none" cap="none" strike="noStrike"/>
            </a:br>
            <a:br>
              <a:rPr b="0" i="0" lang="en-IN" sz="1800" u="none" cap="none" strike="noStrike"/>
            </a:br>
            <a:r>
              <a:rPr b="1" i="0" lang="en-IN" sz="3200" u="none" cap="none" strike="noStrike">
                <a:solidFill>
                  <a:srgbClr val="0000CC"/>
                </a:solidFill>
                <a:latin typeface="Arial"/>
                <a:ea typeface="Arial"/>
                <a:cs typeface="Arial"/>
                <a:sym typeface="Arial"/>
              </a:rPr>
              <a:t>real   0m0.003s</a:t>
            </a:r>
            <a:br>
              <a:rPr b="0" i="0" lang="en-IN" sz="1800" u="none" cap="none" strike="noStrike"/>
            </a:br>
            <a:r>
              <a:rPr b="1" i="0" lang="en-IN" sz="3200" u="none" cap="none" strike="noStrike">
                <a:solidFill>
                  <a:srgbClr val="0000CC"/>
                </a:solidFill>
                <a:latin typeface="Arial"/>
                <a:ea typeface="Arial"/>
                <a:cs typeface="Arial"/>
                <a:sym typeface="Arial"/>
              </a:rPr>
              <a:t>user   0m0.001s</a:t>
            </a:r>
            <a:br>
              <a:rPr b="0" i="0" lang="en-IN" sz="1800" u="none" cap="none" strike="noStrike"/>
            </a:br>
            <a:r>
              <a:rPr b="1" i="0" lang="en-IN" sz="3200" u="none" cap="none" strike="noStrike">
                <a:solidFill>
                  <a:srgbClr val="0000CC"/>
                </a:solidFill>
                <a:latin typeface="Arial"/>
                <a:ea typeface="Arial"/>
                <a:cs typeface="Arial"/>
                <a:sym typeface="Arial"/>
              </a:rPr>
              <a:t>sys   0m0.002s</a:t>
            </a:r>
            <a:endParaRPr b="0" i="0" sz="3200" u="none" cap="none"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7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The “time” command</a:t>
            </a:r>
            <a:endParaRPr b="0" i="0" sz="4400" u="none" cap="none" strike="noStrike">
              <a:latin typeface="Arial"/>
              <a:ea typeface="Arial"/>
              <a:cs typeface="Arial"/>
              <a:sym typeface="Arial"/>
            </a:endParaRPr>
          </a:p>
        </p:txBody>
      </p:sp>
      <p:sp>
        <p:nvSpPr>
          <p:cNvPr id="356" name="Google Shape;356;p76"/>
          <p:cNvSpPr txBox="1"/>
          <p:nvPr/>
        </p:nvSpPr>
        <p:spPr>
          <a:xfrm>
            <a:off x="504000" y="1323000"/>
            <a:ext cx="926460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meaning of the three timings shown</a:t>
            </a:r>
            <a:endParaRPr b="0" i="0" sz="3200" u="none" cap="none" strike="noStrike">
              <a:latin typeface="Arial"/>
              <a:ea typeface="Arial"/>
              <a:cs typeface="Arial"/>
              <a:sym typeface="Arial"/>
            </a:endParaRPr>
          </a:p>
        </p:txBody>
      </p:sp>
      <p:sp>
        <p:nvSpPr>
          <p:cNvPr id="357" name="Google Shape;357;p76"/>
          <p:cNvSpPr txBox="1"/>
          <p:nvPr/>
        </p:nvSpPr>
        <p:spPr>
          <a:xfrm>
            <a:off x="504000" y="1852200"/>
            <a:ext cx="90727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Real</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This is the total time taken by the program to run, includes the waiting time involves in I/O also</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User</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The actual CPU time taken by the program</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This is the time we are normally interested in</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Sys</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Time taken by the user program + time taken by the OS</a:t>
            </a:r>
            <a:endParaRPr b="0" i="0" sz="28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Effect filter="fade" transition="in">
                                      <p:cBhvr>
                                        <p:cTn dur="1"/>
                                        <p:tgtEl>
                                          <p:spTgt spid="3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animEffect filter="fade" transition="in">
                                      <p:cBhvr>
                                        <p:cTn dur="1"/>
                                        <p:tgtEl>
                                          <p:spTgt spid="3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animEffect filter="fade" transition="in">
                                      <p:cBhvr>
                                        <p:cTn dur="1"/>
                                        <p:tgtEl>
                                          <p:spTgt spid="3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animEffect filter="fade" transition="in">
                                      <p:cBhvr>
                                        <p:cTn dur="1"/>
                                        <p:tgtEl>
                                          <p:spTgt spid="3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4" st="4"/>
                                            </p:txEl>
                                          </p:spTgt>
                                        </p:tgtEl>
                                        <p:attrNameLst>
                                          <p:attrName>style.visibility</p:attrName>
                                        </p:attrNameLst>
                                      </p:cBhvr>
                                      <p:to>
                                        <p:strVal val="visible"/>
                                      </p:to>
                                    </p:set>
                                    <p:animEffect filter="fade" transition="in">
                                      <p:cBhvr>
                                        <p:cTn dur="1"/>
                                        <p:tgtEl>
                                          <p:spTgt spid="3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5" st="5"/>
                                            </p:txEl>
                                          </p:spTgt>
                                        </p:tgtEl>
                                        <p:attrNameLst>
                                          <p:attrName>style.visibility</p:attrName>
                                        </p:attrNameLst>
                                      </p:cBhvr>
                                      <p:to>
                                        <p:strVal val="visible"/>
                                      </p:to>
                                    </p:set>
                                    <p:animEffect filter="fade" transition="in">
                                      <p:cBhvr>
                                        <p:cTn dur="1"/>
                                        <p:tgtEl>
                                          <p:spTgt spid="3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6" st="6"/>
                                            </p:txEl>
                                          </p:spTgt>
                                        </p:tgtEl>
                                        <p:attrNameLst>
                                          <p:attrName>style.visibility</p:attrName>
                                        </p:attrNameLst>
                                      </p:cBhvr>
                                      <p:to>
                                        <p:strVal val="visible"/>
                                      </p:to>
                                    </p:set>
                                    <p:animEffect filter="fade" transition="in">
                                      <p:cBhvr>
                                        <p:cTn dur="1"/>
                                        <p:tgtEl>
                                          <p:spTgt spid="35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7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Use the time command</a:t>
            </a:r>
            <a:endParaRPr b="0" i="0" sz="4400" u="none" cap="none" strike="noStrike">
              <a:latin typeface="Arial"/>
              <a:ea typeface="Arial"/>
              <a:cs typeface="Arial"/>
              <a:sym typeface="Arial"/>
            </a:endParaRPr>
          </a:p>
        </p:txBody>
      </p:sp>
      <p:sp>
        <p:nvSpPr>
          <p:cNvPr id="364" name="Google Shape;364;p7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 should use the time command to run your own programs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Use it like this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800000"/>
                </a:solidFill>
                <a:latin typeface="Arial"/>
                <a:ea typeface="Arial"/>
                <a:cs typeface="Arial"/>
                <a:sym typeface="Arial"/>
              </a:rPr>
              <a:t>time ./program arg1 arg2 arg3</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user timings should be noted down</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If the user timing is 0.000s then it means your input size was too low, give a bigger sized input to your program</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animEffect filter="fade" transition="in">
                                      <p:cBhvr>
                                        <p:cTn dur="1"/>
                                        <p:tgtEl>
                                          <p:spTgt spid="3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animEffect filter="fade" transition="in">
                                      <p:cBhvr>
                                        <p:cTn dur="1"/>
                                        <p:tgtEl>
                                          <p:spTgt spid="3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animEffect filter="fade" transition="in">
                                      <p:cBhvr>
                                        <p:cTn dur="1"/>
                                        <p:tgtEl>
                                          <p:spTgt spid="3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animEffect filter="fade" transition="in">
                                      <p:cBhvr>
                                        <p:cTn dur="1"/>
                                        <p:tgtEl>
                                          <p:spTgt spid="3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4" st="4"/>
                                            </p:txEl>
                                          </p:spTgt>
                                        </p:tgtEl>
                                        <p:attrNameLst>
                                          <p:attrName>style.visibility</p:attrName>
                                        </p:attrNameLst>
                                      </p:cBhvr>
                                      <p:to>
                                        <p:strVal val="visible"/>
                                      </p:to>
                                    </p:set>
                                    <p:animEffect filter="fade" transition="in">
                                      <p:cBhvr>
                                        <p:cTn dur="1"/>
                                        <p:tgtEl>
                                          <p:spTgt spid="36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7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Limitations of “measuring actual time”</a:t>
            </a:r>
            <a:endParaRPr b="0" i="0" sz="4400" u="none" cap="none" strike="noStrike">
              <a:latin typeface="Arial"/>
              <a:ea typeface="Arial"/>
              <a:cs typeface="Arial"/>
              <a:sym typeface="Arial"/>
            </a:endParaRPr>
          </a:p>
        </p:txBody>
      </p:sp>
      <p:sp>
        <p:nvSpPr>
          <p:cNvPr id="371" name="Google Shape;371;p78"/>
          <p:cNvSpPr txBox="1"/>
          <p:nvPr/>
        </p:nvSpPr>
        <p:spPr>
          <a:xfrm>
            <a:off x="504000" y="1587600"/>
            <a:ext cx="907164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Needs a running program to begin with</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Can't do it with the “idea” of the program, the algorithm</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Most of the times we want to discard the idea for a better idea, and write code only for the better idea</a:t>
            </a:r>
            <a:endParaRPr b="0" i="0" sz="2400" u="none" cap="none" strike="noStrike">
              <a:latin typeface="Arial"/>
              <a:ea typeface="Arial"/>
              <a:cs typeface="Arial"/>
              <a:sym typeface="Arial"/>
            </a:endParaRPr>
          </a:p>
          <a:p>
            <a:pPr indent="-68580" lvl="0" marL="0" marR="0" rtl="0" algn="l">
              <a:lnSpc>
                <a:spcPct val="10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Gives the measure of time for a specific input only</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Can't tell me in general how the program behaves</a:t>
            </a:r>
            <a:endParaRPr b="0" i="0" sz="24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This is what we normally want. Know how efficient the program is for any input in general</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We can plot a graph of time taken for various inputs to get some idea of the “general” behaviour of “time taken”</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0" st="0"/>
                                            </p:txEl>
                                          </p:spTgt>
                                        </p:tgtEl>
                                        <p:attrNameLst>
                                          <p:attrName>style.visibility</p:attrName>
                                        </p:attrNameLst>
                                      </p:cBhvr>
                                      <p:to>
                                        <p:strVal val="visible"/>
                                      </p:to>
                                    </p:set>
                                    <p:animEffect filter="fade" transition="in">
                                      <p:cBhvr>
                                        <p:cTn dur="1"/>
                                        <p:tgtEl>
                                          <p:spTgt spid="3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1" st="1"/>
                                            </p:txEl>
                                          </p:spTgt>
                                        </p:tgtEl>
                                        <p:attrNameLst>
                                          <p:attrName>style.visibility</p:attrName>
                                        </p:attrNameLst>
                                      </p:cBhvr>
                                      <p:to>
                                        <p:strVal val="visible"/>
                                      </p:to>
                                    </p:set>
                                    <p:animEffect filter="fade" transition="in">
                                      <p:cBhvr>
                                        <p:cTn dur="1"/>
                                        <p:tgtEl>
                                          <p:spTgt spid="3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2" st="2"/>
                                            </p:txEl>
                                          </p:spTgt>
                                        </p:tgtEl>
                                        <p:attrNameLst>
                                          <p:attrName>style.visibility</p:attrName>
                                        </p:attrNameLst>
                                      </p:cBhvr>
                                      <p:to>
                                        <p:strVal val="visible"/>
                                      </p:to>
                                    </p:set>
                                    <p:animEffect filter="fade" transition="in">
                                      <p:cBhvr>
                                        <p:cTn dur="1"/>
                                        <p:tgtEl>
                                          <p:spTgt spid="3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3" st="3"/>
                                            </p:txEl>
                                          </p:spTgt>
                                        </p:tgtEl>
                                        <p:attrNameLst>
                                          <p:attrName>style.visibility</p:attrName>
                                        </p:attrNameLst>
                                      </p:cBhvr>
                                      <p:to>
                                        <p:strVal val="visible"/>
                                      </p:to>
                                    </p:set>
                                    <p:animEffect filter="fade" transition="in">
                                      <p:cBhvr>
                                        <p:cTn dur="1"/>
                                        <p:tgtEl>
                                          <p:spTgt spid="3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4" st="4"/>
                                            </p:txEl>
                                          </p:spTgt>
                                        </p:tgtEl>
                                        <p:attrNameLst>
                                          <p:attrName>style.visibility</p:attrName>
                                        </p:attrNameLst>
                                      </p:cBhvr>
                                      <p:to>
                                        <p:strVal val="visible"/>
                                      </p:to>
                                    </p:set>
                                    <p:animEffect filter="fade" transition="in">
                                      <p:cBhvr>
                                        <p:cTn dur="1"/>
                                        <p:tgtEl>
                                          <p:spTgt spid="3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5" st="5"/>
                                            </p:txEl>
                                          </p:spTgt>
                                        </p:tgtEl>
                                        <p:attrNameLst>
                                          <p:attrName>style.visibility</p:attrName>
                                        </p:attrNameLst>
                                      </p:cBhvr>
                                      <p:to>
                                        <p:strVal val="visible"/>
                                      </p:to>
                                    </p:set>
                                    <p:animEffect filter="fade" transition="in">
                                      <p:cBhvr>
                                        <p:cTn dur="1"/>
                                        <p:tgtEl>
                                          <p:spTgt spid="3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6" st="6"/>
                                            </p:txEl>
                                          </p:spTgt>
                                        </p:tgtEl>
                                        <p:attrNameLst>
                                          <p:attrName>style.visibility</p:attrName>
                                        </p:attrNameLst>
                                      </p:cBhvr>
                                      <p:to>
                                        <p:strVal val="visible"/>
                                      </p:to>
                                    </p:set>
                                    <p:animEffect filter="fade" transition="in">
                                      <p:cBhvr>
                                        <p:cTn dur="1"/>
                                        <p:tgtEl>
                                          <p:spTgt spid="37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79"/>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Time Complexity Analysis</a:t>
            </a:r>
            <a:endParaRPr b="0" i="0" sz="3200" u="none" cap="none" strike="noStrike">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complexity Analysis</a:t>
            </a:r>
            <a:endParaRPr b="0" i="0" sz="4400" u="none" cap="none" strike="noStrike">
              <a:latin typeface="Arial"/>
              <a:ea typeface="Arial"/>
              <a:cs typeface="Arial"/>
              <a:sym typeface="Arial"/>
            </a:endParaRPr>
          </a:p>
        </p:txBody>
      </p:sp>
      <p:sp>
        <p:nvSpPr>
          <p:cNvPr id="384" name="Google Shape;384;p80"/>
          <p:cNvSpPr txBox="1"/>
          <p:nvPr/>
        </p:nvSpPr>
        <p:spPr>
          <a:xfrm>
            <a:off x="504000" y="1401120"/>
            <a:ext cx="907164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Normally involves two steps</a:t>
            </a:r>
            <a:endParaRPr b="0" i="0" sz="2800" u="none" cap="none" strike="noStrike">
              <a:latin typeface="Arial"/>
              <a:ea typeface="Arial"/>
              <a:cs typeface="Arial"/>
              <a:sym typeface="Arial"/>
            </a:endParaRPr>
          </a:p>
          <a:p>
            <a:pPr indent="-177800" lvl="0" marL="0" marR="0" rtl="0" algn="l">
              <a:lnSpc>
                <a:spcPct val="100000"/>
              </a:lnSpc>
              <a:spcBef>
                <a:spcPts val="1414"/>
              </a:spcBef>
              <a:spcAft>
                <a:spcPts val="0"/>
              </a:spcAft>
              <a:buClr>
                <a:srgbClr val="000000"/>
              </a:buClr>
              <a:buSzPts val="2800"/>
              <a:buFont typeface="Noto Sans Symbols"/>
              <a:buAutoNum type="arabicParenR"/>
            </a:pPr>
            <a:r>
              <a:rPr b="1" i="0" lang="en-IN" sz="2800" u="none" cap="none" strike="noStrike">
                <a:solidFill>
                  <a:srgbClr val="0000CC"/>
                </a:solidFill>
                <a:latin typeface="Arial"/>
                <a:ea typeface="Arial"/>
                <a:cs typeface="Arial"/>
                <a:sym typeface="Arial"/>
              </a:rPr>
              <a:t>Deriving an algebraic equation for the time taken by the program</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Sometimes we derive three equations: </a:t>
            </a:r>
            <a:r>
              <a:rPr b="1" i="0" lang="en-IN" sz="2800" u="none" cap="none" strike="noStrike">
                <a:solidFill>
                  <a:srgbClr val="C55A11"/>
                </a:solidFill>
                <a:latin typeface="Arial"/>
                <a:ea typeface="Arial"/>
                <a:cs typeface="Arial"/>
                <a:sym typeface="Arial"/>
              </a:rPr>
              <a:t>Best case, Average case, Worst Case</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Most of the times the Worst case is sufficient</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May be difficult for programs which are complicated</a:t>
            </a:r>
            <a:endParaRPr b="0" i="0" sz="2800" u="none" cap="none" strike="noStrike">
              <a:latin typeface="Arial"/>
              <a:ea typeface="Arial"/>
              <a:cs typeface="Arial"/>
              <a:sym typeface="Arial"/>
            </a:endParaRPr>
          </a:p>
          <a:p>
            <a:pPr indent="-177800" lvl="0" marL="0" marR="0" rtl="0" algn="l">
              <a:lnSpc>
                <a:spcPct val="100000"/>
              </a:lnSpc>
              <a:spcBef>
                <a:spcPts val="1414"/>
              </a:spcBef>
              <a:spcAft>
                <a:spcPts val="0"/>
              </a:spcAft>
              <a:buClr>
                <a:srgbClr val="000000"/>
              </a:buClr>
              <a:buSzPts val="2800"/>
              <a:buFont typeface="Noto Sans Symbols"/>
              <a:buAutoNum type="arabicParenR"/>
            </a:pPr>
            <a:r>
              <a:rPr b="1" i="0" lang="en-IN" sz="2800" u="none" cap="none" strike="noStrike">
                <a:solidFill>
                  <a:srgbClr val="0000CC"/>
                </a:solidFill>
                <a:latin typeface="Arial"/>
                <a:ea typeface="Arial"/>
                <a:cs typeface="Arial"/>
                <a:sym typeface="Arial"/>
              </a:rPr>
              <a:t>Deriving an lower/upper/tight bound on the equation found</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Finding a (known) equation, which is better or worse than the equation at hands</a:t>
            </a:r>
            <a:endParaRPr b="0" i="0" sz="28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0" st="0"/>
                                            </p:txEl>
                                          </p:spTgt>
                                        </p:tgtEl>
                                        <p:attrNameLst>
                                          <p:attrName>style.visibility</p:attrName>
                                        </p:attrNameLst>
                                      </p:cBhvr>
                                      <p:to>
                                        <p:strVal val="visible"/>
                                      </p:to>
                                    </p:set>
                                    <p:animEffect filter="fade" transition="in">
                                      <p:cBhvr>
                                        <p:cTn dur="1"/>
                                        <p:tgtEl>
                                          <p:spTgt spid="3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1" st="1"/>
                                            </p:txEl>
                                          </p:spTgt>
                                        </p:tgtEl>
                                        <p:attrNameLst>
                                          <p:attrName>style.visibility</p:attrName>
                                        </p:attrNameLst>
                                      </p:cBhvr>
                                      <p:to>
                                        <p:strVal val="visible"/>
                                      </p:to>
                                    </p:set>
                                    <p:animEffect filter="fade" transition="in">
                                      <p:cBhvr>
                                        <p:cTn dur="1"/>
                                        <p:tgtEl>
                                          <p:spTgt spid="3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2" st="2"/>
                                            </p:txEl>
                                          </p:spTgt>
                                        </p:tgtEl>
                                        <p:attrNameLst>
                                          <p:attrName>style.visibility</p:attrName>
                                        </p:attrNameLst>
                                      </p:cBhvr>
                                      <p:to>
                                        <p:strVal val="visible"/>
                                      </p:to>
                                    </p:set>
                                    <p:animEffect filter="fade" transition="in">
                                      <p:cBhvr>
                                        <p:cTn dur="1"/>
                                        <p:tgtEl>
                                          <p:spTgt spid="3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3" st="3"/>
                                            </p:txEl>
                                          </p:spTgt>
                                        </p:tgtEl>
                                        <p:attrNameLst>
                                          <p:attrName>style.visibility</p:attrName>
                                        </p:attrNameLst>
                                      </p:cBhvr>
                                      <p:to>
                                        <p:strVal val="visible"/>
                                      </p:to>
                                    </p:set>
                                    <p:animEffect filter="fade" transition="in">
                                      <p:cBhvr>
                                        <p:cTn dur="1"/>
                                        <p:tgtEl>
                                          <p:spTgt spid="3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4" st="4"/>
                                            </p:txEl>
                                          </p:spTgt>
                                        </p:tgtEl>
                                        <p:attrNameLst>
                                          <p:attrName>style.visibility</p:attrName>
                                        </p:attrNameLst>
                                      </p:cBhvr>
                                      <p:to>
                                        <p:strVal val="visible"/>
                                      </p:to>
                                    </p:set>
                                    <p:animEffect filter="fade" transition="in">
                                      <p:cBhvr>
                                        <p:cTn dur="1"/>
                                        <p:tgtEl>
                                          <p:spTgt spid="3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5" st="5"/>
                                            </p:txEl>
                                          </p:spTgt>
                                        </p:tgtEl>
                                        <p:attrNameLst>
                                          <p:attrName>style.visibility</p:attrName>
                                        </p:attrNameLst>
                                      </p:cBhvr>
                                      <p:to>
                                        <p:strVal val="visible"/>
                                      </p:to>
                                    </p:set>
                                    <p:animEffect filter="fade" transition="in">
                                      <p:cBhvr>
                                        <p:cTn dur="1"/>
                                        <p:tgtEl>
                                          <p:spTgt spid="3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6" st="6"/>
                                            </p:txEl>
                                          </p:spTgt>
                                        </p:tgtEl>
                                        <p:attrNameLst>
                                          <p:attrName>style.visibility</p:attrName>
                                        </p:attrNameLst>
                                      </p:cBhvr>
                                      <p:to>
                                        <p:strVal val="visible"/>
                                      </p:to>
                                    </p:set>
                                    <p:animEffect filter="fade" transition="in">
                                      <p:cBhvr>
                                        <p:cTn dur="1"/>
                                        <p:tgtEl>
                                          <p:spTgt spid="38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8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391" name="Google Shape;391;p81"/>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x +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392" name="Google Shape;392;p81"/>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What is the time taken by this program?</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How do we measure the time taken by a program </a:t>
            </a:r>
            <a:r>
              <a:rPr b="1" i="1" lang="en-IN" sz="3200" u="none" cap="none" strike="noStrike">
                <a:solidFill>
                  <a:srgbClr val="0000CC"/>
                </a:solidFill>
                <a:latin typeface="Arial"/>
                <a:ea typeface="Arial"/>
                <a:cs typeface="Arial"/>
                <a:sym typeface="Arial"/>
              </a:rPr>
              <a:t>algebraically?</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1" lang="en-IN" sz="3200" u="none" cap="none" strike="noStrike">
                <a:solidFill>
                  <a:srgbClr val="0000CC"/>
                </a:solidFill>
                <a:latin typeface="Arial"/>
                <a:ea typeface="Arial"/>
                <a:cs typeface="Arial"/>
                <a:sym typeface="Arial"/>
              </a:rPr>
              <a:t>Algebraic formula will give the “general” notion about time taken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0" st="0"/>
                                            </p:txEl>
                                          </p:spTgt>
                                        </p:tgtEl>
                                        <p:attrNameLst>
                                          <p:attrName>style.visibility</p:attrName>
                                        </p:attrNameLst>
                                      </p:cBhvr>
                                      <p:to>
                                        <p:strVal val="visible"/>
                                      </p:to>
                                    </p:set>
                                    <p:animEffect filter="fade" transition="in">
                                      <p:cBhvr>
                                        <p:cTn dur="1"/>
                                        <p:tgtEl>
                                          <p:spTgt spid="3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1" st="1"/>
                                            </p:txEl>
                                          </p:spTgt>
                                        </p:tgtEl>
                                        <p:attrNameLst>
                                          <p:attrName>style.visibility</p:attrName>
                                        </p:attrNameLst>
                                      </p:cBhvr>
                                      <p:to>
                                        <p:strVal val="visible"/>
                                      </p:to>
                                    </p:set>
                                    <p:animEffect filter="fade" transition="in">
                                      <p:cBhvr>
                                        <p:cTn dur="1"/>
                                        <p:tgtEl>
                                          <p:spTgt spid="3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2" st="2"/>
                                            </p:txEl>
                                          </p:spTgt>
                                        </p:tgtEl>
                                        <p:attrNameLst>
                                          <p:attrName>style.visibility</p:attrName>
                                        </p:attrNameLst>
                                      </p:cBhvr>
                                      <p:to>
                                        <p:strVal val="visible"/>
                                      </p:to>
                                    </p:set>
                                    <p:animEffect filter="fade" transition="in">
                                      <p:cBhvr>
                                        <p:cTn dur="1"/>
                                        <p:tgtEl>
                                          <p:spTgt spid="39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8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Run time not required for ...</a:t>
            </a:r>
            <a:endParaRPr b="0" i="0" sz="4400" u="none" cap="none" strike="noStrike">
              <a:latin typeface="Arial"/>
              <a:ea typeface="Arial"/>
              <a:cs typeface="Arial"/>
              <a:sym typeface="Arial"/>
            </a:endParaRPr>
          </a:p>
        </p:txBody>
      </p:sp>
      <p:sp>
        <p:nvSpPr>
          <p:cNvPr id="399" name="Google Shape;399;p82"/>
          <p:cNvSpPr txBox="1"/>
          <p:nvPr/>
        </p:nvSpPr>
        <p:spPr>
          <a:xfrm>
            <a:off x="504000" y="1563480"/>
            <a:ext cx="9288000" cy="520452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Your code is comprised of many “parts”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Some parts of your code are only for the use of compiler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No machine code is generated for them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No memory is allocated for them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They don't consume run-time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Parts of code which “don't run”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#include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#define and all # directives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typedefs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prototype declarations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Type declarations like struct, union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Keywords: if, else, while, for, main, ... etc.</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0" st="0"/>
                                            </p:txEl>
                                          </p:spTgt>
                                        </p:tgtEl>
                                        <p:attrNameLst>
                                          <p:attrName>style.visibility</p:attrName>
                                        </p:attrNameLst>
                                      </p:cBhvr>
                                      <p:to>
                                        <p:strVal val="visible"/>
                                      </p:to>
                                    </p:set>
                                    <p:animEffect filter="fade" transition="in">
                                      <p:cBhvr>
                                        <p:cTn dur="1"/>
                                        <p:tgtEl>
                                          <p:spTgt spid="3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1" st="1"/>
                                            </p:txEl>
                                          </p:spTgt>
                                        </p:tgtEl>
                                        <p:attrNameLst>
                                          <p:attrName>style.visibility</p:attrName>
                                        </p:attrNameLst>
                                      </p:cBhvr>
                                      <p:to>
                                        <p:strVal val="visible"/>
                                      </p:to>
                                    </p:set>
                                    <p:animEffect filter="fade" transition="in">
                                      <p:cBhvr>
                                        <p:cTn dur="1"/>
                                        <p:tgtEl>
                                          <p:spTgt spid="3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2" st="2"/>
                                            </p:txEl>
                                          </p:spTgt>
                                        </p:tgtEl>
                                        <p:attrNameLst>
                                          <p:attrName>style.visibility</p:attrName>
                                        </p:attrNameLst>
                                      </p:cBhvr>
                                      <p:to>
                                        <p:strVal val="visible"/>
                                      </p:to>
                                    </p:set>
                                    <p:animEffect filter="fade" transition="in">
                                      <p:cBhvr>
                                        <p:cTn dur="1"/>
                                        <p:tgtEl>
                                          <p:spTgt spid="3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3" st="3"/>
                                            </p:txEl>
                                          </p:spTgt>
                                        </p:tgtEl>
                                        <p:attrNameLst>
                                          <p:attrName>style.visibility</p:attrName>
                                        </p:attrNameLst>
                                      </p:cBhvr>
                                      <p:to>
                                        <p:strVal val="visible"/>
                                      </p:to>
                                    </p:set>
                                    <p:animEffect filter="fade" transition="in">
                                      <p:cBhvr>
                                        <p:cTn dur="1"/>
                                        <p:tgtEl>
                                          <p:spTgt spid="3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4" st="4"/>
                                            </p:txEl>
                                          </p:spTgt>
                                        </p:tgtEl>
                                        <p:attrNameLst>
                                          <p:attrName>style.visibility</p:attrName>
                                        </p:attrNameLst>
                                      </p:cBhvr>
                                      <p:to>
                                        <p:strVal val="visible"/>
                                      </p:to>
                                    </p:set>
                                    <p:animEffect filter="fade" transition="in">
                                      <p:cBhvr>
                                        <p:cTn dur="1"/>
                                        <p:tgtEl>
                                          <p:spTgt spid="3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5" st="5"/>
                                            </p:txEl>
                                          </p:spTgt>
                                        </p:tgtEl>
                                        <p:attrNameLst>
                                          <p:attrName>style.visibility</p:attrName>
                                        </p:attrNameLst>
                                      </p:cBhvr>
                                      <p:to>
                                        <p:strVal val="visible"/>
                                      </p:to>
                                    </p:set>
                                    <p:animEffect filter="fade" transition="in">
                                      <p:cBhvr>
                                        <p:cTn dur="1"/>
                                        <p:tgtEl>
                                          <p:spTgt spid="3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6" st="6"/>
                                            </p:txEl>
                                          </p:spTgt>
                                        </p:tgtEl>
                                        <p:attrNameLst>
                                          <p:attrName>style.visibility</p:attrName>
                                        </p:attrNameLst>
                                      </p:cBhvr>
                                      <p:to>
                                        <p:strVal val="visible"/>
                                      </p:to>
                                    </p:set>
                                    <p:animEffect filter="fade" transition="in">
                                      <p:cBhvr>
                                        <p:cTn dur="1"/>
                                        <p:tgtEl>
                                          <p:spTgt spid="3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7" st="7"/>
                                            </p:txEl>
                                          </p:spTgt>
                                        </p:tgtEl>
                                        <p:attrNameLst>
                                          <p:attrName>style.visibility</p:attrName>
                                        </p:attrNameLst>
                                      </p:cBhvr>
                                      <p:to>
                                        <p:strVal val="visible"/>
                                      </p:to>
                                    </p:set>
                                    <p:animEffect filter="fade" transition="in">
                                      <p:cBhvr>
                                        <p:cTn dur="1"/>
                                        <p:tgtEl>
                                          <p:spTgt spid="3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8" st="8"/>
                                            </p:txEl>
                                          </p:spTgt>
                                        </p:tgtEl>
                                        <p:attrNameLst>
                                          <p:attrName>style.visibility</p:attrName>
                                        </p:attrNameLst>
                                      </p:cBhvr>
                                      <p:to>
                                        <p:strVal val="visible"/>
                                      </p:to>
                                    </p:set>
                                    <p:animEffect filter="fade" transition="in">
                                      <p:cBhvr>
                                        <p:cTn dur="1"/>
                                        <p:tgtEl>
                                          <p:spTgt spid="3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9" st="9"/>
                                            </p:txEl>
                                          </p:spTgt>
                                        </p:tgtEl>
                                        <p:attrNameLst>
                                          <p:attrName>style.visibility</p:attrName>
                                        </p:attrNameLst>
                                      </p:cBhvr>
                                      <p:to>
                                        <p:strVal val="visible"/>
                                      </p:to>
                                    </p:set>
                                    <p:animEffect filter="fade" transition="in">
                                      <p:cBhvr>
                                        <p:cTn dur="1"/>
                                        <p:tgtEl>
                                          <p:spTgt spid="39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10" st="10"/>
                                            </p:txEl>
                                          </p:spTgt>
                                        </p:tgtEl>
                                        <p:attrNameLst>
                                          <p:attrName>style.visibility</p:attrName>
                                        </p:attrNameLst>
                                      </p:cBhvr>
                                      <p:to>
                                        <p:strVal val="visible"/>
                                      </p:to>
                                    </p:set>
                                    <p:animEffect filter="fade" transition="in">
                                      <p:cBhvr>
                                        <p:cTn dur="1"/>
                                        <p:tgtEl>
                                          <p:spTgt spid="39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11" st="11"/>
                                            </p:txEl>
                                          </p:spTgt>
                                        </p:tgtEl>
                                        <p:attrNameLst>
                                          <p:attrName>style.visibility</p:attrName>
                                        </p:attrNameLst>
                                      </p:cBhvr>
                                      <p:to>
                                        <p:strVal val="visible"/>
                                      </p:to>
                                    </p:set>
                                    <p:animEffect filter="fade" transition="in">
                                      <p:cBhvr>
                                        <p:cTn dur="1"/>
                                        <p:tgtEl>
                                          <p:spTgt spid="39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8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Run time is required for ...</a:t>
            </a:r>
            <a:endParaRPr b="0" i="0" sz="4400" u="none" cap="none" strike="noStrike">
              <a:latin typeface="Arial"/>
              <a:ea typeface="Arial"/>
              <a:cs typeface="Arial"/>
              <a:sym typeface="Arial"/>
            </a:endParaRPr>
          </a:p>
        </p:txBody>
      </p:sp>
      <p:sp>
        <p:nvSpPr>
          <p:cNvPr id="406" name="Google Shape;406;p83"/>
          <p:cNvSpPr txBox="1"/>
          <p:nvPr/>
        </p:nvSpPr>
        <p:spPr>
          <a:xfrm>
            <a:off x="504000" y="1563480"/>
            <a:ext cx="9288000" cy="520452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is required, at run-time for only some parts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Parts which actually get converted into machine code and some machine code runs for them when the program is running</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Calling a function</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int f(int y)  {  .... };   f(2);</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call f(2); requires time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Allocating local variables and function arguments</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f(int x, int y) { int m; }</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Allocating memory for x, y, 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operations (i.e. use of operators)</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 *, / ,....,   = , ==, &lt;=, ... ,  return,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return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animEffect filter="fade" transition="in">
                                      <p:cBhvr>
                                        <p:cTn dur="1"/>
                                        <p:tgtEl>
                                          <p:spTgt spid="4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animEffect filter="fade" transition="in">
                                      <p:cBhvr>
                                        <p:cTn dur="1"/>
                                        <p:tgtEl>
                                          <p:spTgt spid="4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animEffect filter="fade" transition="in">
                                      <p:cBhvr>
                                        <p:cTn dur="1"/>
                                        <p:tgtEl>
                                          <p:spTgt spid="4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animEffect filter="fade" transition="in">
                                      <p:cBhvr>
                                        <p:cTn dur="1"/>
                                        <p:tgtEl>
                                          <p:spTgt spid="4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4" st="4"/>
                                            </p:txEl>
                                          </p:spTgt>
                                        </p:tgtEl>
                                        <p:attrNameLst>
                                          <p:attrName>style.visibility</p:attrName>
                                        </p:attrNameLst>
                                      </p:cBhvr>
                                      <p:to>
                                        <p:strVal val="visible"/>
                                      </p:to>
                                    </p:set>
                                    <p:animEffect filter="fade" transition="in">
                                      <p:cBhvr>
                                        <p:cTn dur="1"/>
                                        <p:tgtEl>
                                          <p:spTgt spid="4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5" st="5"/>
                                            </p:txEl>
                                          </p:spTgt>
                                        </p:tgtEl>
                                        <p:attrNameLst>
                                          <p:attrName>style.visibility</p:attrName>
                                        </p:attrNameLst>
                                      </p:cBhvr>
                                      <p:to>
                                        <p:strVal val="visible"/>
                                      </p:to>
                                    </p:set>
                                    <p:animEffect filter="fade" transition="in">
                                      <p:cBhvr>
                                        <p:cTn dur="1"/>
                                        <p:tgtEl>
                                          <p:spTgt spid="4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6" st="6"/>
                                            </p:txEl>
                                          </p:spTgt>
                                        </p:tgtEl>
                                        <p:attrNameLst>
                                          <p:attrName>style.visibility</p:attrName>
                                        </p:attrNameLst>
                                      </p:cBhvr>
                                      <p:to>
                                        <p:strVal val="visible"/>
                                      </p:to>
                                    </p:set>
                                    <p:animEffect filter="fade" transition="in">
                                      <p:cBhvr>
                                        <p:cTn dur="1"/>
                                        <p:tgtEl>
                                          <p:spTgt spid="4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7" st="7"/>
                                            </p:txEl>
                                          </p:spTgt>
                                        </p:tgtEl>
                                        <p:attrNameLst>
                                          <p:attrName>style.visibility</p:attrName>
                                        </p:attrNameLst>
                                      </p:cBhvr>
                                      <p:to>
                                        <p:strVal val="visible"/>
                                      </p:to>
                                    </p:set>
                                    <p:animEffect filter="fade" transition="in">
                                      <p:cBhvr>
                                        <p:cTn dur="1"/>
                                        <p:tgtEl>
                                          <p:spTgt spid="4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8" st="8"/>
                                            </p:txEl>
                                          </p:spTgt>
                                        </p:tgtEl>
                                        <p:attrNameLst>
                                          <p:attrName>style.visibility</p:attrName>
                                        </p:attrNameLst>
                                      </p:cBhvr>
                                      <p:to>
                                        <p:strVal val="visible"/>
                                      </p:to>
                                    </p:set>
                                    <p:animEffect filter="fade" transition="in">
                                      <p:cBhvr>
                                        <p:cTn dur="1"/>
                                        <p:tgtEl>
                                          <p:spTgt spid="4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9" st="9"/>
                                            </p:txEl>
                                          </p:spTgt>
                                        </p:tgtEl>
                                        <p:attrNameLst>
                                          <p:attrName>style.visibility</p:attrName>
                                        </p:attrNameLst>
                                      </p:cBhvr>
                                      <p:to>
                                        <p:strVal val="visible"/>
                                      </p:to>
                                    </p:set>
                                    <p:animEffect filter="fade" transition="in">
                                      <p:cBhvr>
                                        <p:cTn dur="1"/>
                                        <p:tgtEl>
                                          <p:spTgt spid="4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10" st="10"/>
                                            </p:txEl>
                                          </p:spTgt>
                                        </p:tgtEl>
                                        <p:attrNameLst>
                                          <p:attrName>style.visibility</p:attrName>
                                        </p:attrNameLst>
                                      </p:cBhvr>
                                      <p:to>
                                        <p:strVal val="visible"/>
                                      </p:to>
                                    </p:set>
                                    <p:animEffect filter="fade" transition="in">
                                      <p:cBhvr>
                                        <p:cTn dur="1"/>
                                        <p:tgtEl>
                                          <p:spTgt spid="40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8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413" name="Google Shape;413;p84"/>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x +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14" name="Google Shape;414;p84"/>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1" lang="en-IN" sz="3200" u="none" cap="none" strike="noStrike">
                <a:solidFill>
                  <a:srgbClr val="0000CC"/>
                </a:solidFill>
                <a:latin typeface="Arial"/>
                <a:ea typeface="Arial"/>
                <a:cs typeface="Arial"/>
                <a:sym typeface="Arial"/>
              </a:rPr>
              <a:t>What is the time taken by this program?</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How do we measure the time taken by a program </a:t>
            </a:r>
            <a:r>
              <a:rPr b="1" i="1" lang="en-IN" sz="3200" u="none" cap="none" strike="noStrike">
                <a:solidFill>
                  <a:srgbClr val="0000CC"/>
                </a:solidFill>
                <a:latin typeface="Arial"/>
                <a:ea typeface="Arial"/>
                <a:cs typeface="Arial"/>
                <a:sym typeface="Arial"/>
              </a:rPr>
              <a:t>algebraically?</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1" lang="en-IN" sz="3200" u="none" cap="none" strike="noStrike">
                <a:solidFill>
                  <a:srgbClr val="0000CC"/>
                </a:solidFill>
                <a:latin typeface="Arial"/>
                <a:ea typeface="Arial"/>
                <a:cs typeface="Arial"/>
                <a:sym typeface="Arial"/>
              </a:rPr>
              <a:t>Algebraic formula will give the “general” notion about time taken</a:t>
            </a:r>
            <a:endParaRPr b="0" i="0" sz="3200" u="none" cap="none" strike="noStrike">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85"/>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Taken by a program</a:t>
            </a:r>
            <a:endParaRPr b="0" i="0" sz="4400" u="none" cap="none" strike="noStrike">
              <a:latin typeface="Arial"/>
              <a:ea typeface="Arial"/>
              <a:cs typeface="Arial"/>
              <a:sym typeface="Arial"/>
            </a:endParaRPr>
          </a:p>
        </p:txBody>
      </p:sp>
      <p:sp>
        <p:nvSpPr>
          <p:cNvPr id="421" name="Google Shape;421;p85"/>
          <p:cNvSpPr txBox="1"/>
          <p:nvPr/>
        </p:nvSpPr>
        <p:spPr>
          <a:xfrm>
            <a:off x="504000" y="1563480"/>
            <a:ext cx="9288000" cy="521496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a program = Sum of time taken by all it’s parts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When we say, constant time: typically some nanoseconds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On faster CPUs e.g. 2GHz vs 1GHz, it may be less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For example a multiplication will typically be faster on a 2GHz processsor than a 1GHz processor</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various parts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Operations: some constant time</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Every operation gets converted into a fixed no. of machine instructions, so it takes some constant time while running</a:t>
            </a:r>
            <a:endParaRPr b="0" i="0" sz="32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Different operations have different constants. Multiplication and division take a LONG time, while bitwise operations often take a very small time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Function call, return: </a:t>
            </a:r>
            <a:r>
              <a:rPr b="1" i="1" lang="en-IN" sz="3200" u="none" cap="none" strike="noStrike">
                <a:solidFill>
                  <a:srgbClr val="0000CC"/>
                </a:solidFill>
                <a:latin typeface="Arial"/>
                <a:ea typeface="Arial"/>
                <a:cs typeface="Arial"/>
                <a:sym typeface="Arial"/>
              </a:rPr>
              <a:t>another </a:t>
            </a:r>
            <a:r>
              <a:rPr b="1" i="0" lang="en-IN" sz="3200" u="none" cap="none" strike="noStrike">
                <a:solidFill>
                  <a:srgbClr val="0000CC"/>
                </a:solidFill>
                <a:latin typeface="Arial"/>
                <a:ea typeface="Arial"/>
                <a:cs typeface="Arial"/>
                <a:sym typeface="Arial"/>
              </a:rPr>
              <a:t> constant time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Allocating local variables, arguments: constant time (no matter how many of them)</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0" st="0"/>
                                            </p:txEl>
                                          </p:spTgt>
                                        </p:tgtEl>
                                        <p:attrNameLst>
                                          <p:attrName>style.visibility</p:attrName>
                                        </p:attrNameLst>
                                      </p:cBhvr>
                                      <p:to>
                                        <p:strVal val="visible"/>
                                      </p:to>
                                    </p:set>
                                    <p:animEffect filter="fade" transition="in">
                                      <p:cBhvr>
                                        <p:cTn dur="1"/>
                                        <p:tgtEl>
                                          <p:spTgt spid="4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1" st="1"/>
                                            </p:txEl>
                                          </p:spTgt>
                                        </p:tgtEl>
                                        <p:attrNameLst>
                                          <p:attrName>style.visibility</p:attrName>
                                        </p:attrNameLst>
                                      </p:cBhvr>
                                      <p:to>
                                        <p:strVal val="visible"/>
                                      </p:to>
                                    </p:set>
                                    <p:animEffect filter="fade" transition="in">
                                      <p:cBhvr>
                                        <p:cTn dur="1"/>
                                        <p:tgtEl>
                                          <p:spTgt spid="4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2" st="2"/>
                                            </p:txEl>
                                          </p:spTgt>
                                        </p:tgtEl>
                                        <p:attrNameLst>
                                          <p:attrName>style.visibility</p:attrName>
                                        </p:attrNameLst>
                                      </p:cBhvr>
                                      <p:to>
                                        <p:strVal val="visible"/>
                                      </p:to>
                                    </p:set>
                                    <p:animEffect filter="fade" transition="in">
                                      <p:cBhvr>
                                        <p:cTn dur="1"/>
                                        <p:tgtEl>
                                          <p:spTgt spid="4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3" st="3"/>
                                            </p:txEl>
                                          </p:spTgt>
                                        </p:tgtEl>
                                        <p:attrNameLst>
                                          <p:attrName>style.visibility</p:attrName>
                                        </p:attrNameLst>
                                      </p:cBhvr>
                                      <p:to>
                                        <p:strVal val="visible"/>
                                      </p:to>
                                    </p:set>
                                    <p:animEffect filter="fade" transition="in">
                                      <p:cBhvr>
                                        <p:cTn dur="1"/>
                                        <p:tgtEl>
                                          <p:spTgt spid="4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4" st="4"/>
                                            </p:txEl>
                                          </p:spTgt>
                                        </p:tgtEl>
                                        <p:attrNameLst>
                                          <p:attrName>style.visibility</p:attrName>
                                        </p:attrNameLst>
                                      </p:cBhvr>
                                      <p:to>
                                        <p:strVal val="visible"/>
                                      </p:to>
                                    </p:set>
                                    <p:animEffect filter="fade" transition="in">
                                      <p:cBhvr>
                                        <p:cTn dur="1"/>
                                        <p:tgtEl>
                                          <p:spTgt spid="4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5" st="5"/>
                                            </p:txEl>
                                          </p:spTgt>
                                        </p:tgtEl>
                                        <p:attrNameLst>
                                          <p:attrName>style.visibility</p:attrName>
                                        </p:attrNameLst>
                                      </p:cBhvr>
                                      <p:to>
                                        <p:strVal val="visible"/>
                                      </p:to>
                                    </p:set>
                                    <p:animEffect filter="fade" transition="in">
                                      <p:cBhvr>
                                        <p:cTn dur="1"/>
                                        <p:tgtEl>
                                          <p:spTgt spid="4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6" st="6"/>
                                            </p:txEl>
                                          </p:spTgt>
                                        </p:tgtEl>
                                        <p:attrNameLst>
                                          <p:attrName>style.visibility</p:attrName>
                                        </p:attrNameLst>
                                      </p:cBhvr>
                                      <p:to>
                                        <p:strVal val="visible"/>
                                      </p:to>
                                    </p:set>
                                    <p:animEffect filter="fade" transition="in">
                                      <p:cBhvr>
                                        <p:cTn dur="1"/>
                                        <p:tgtEl>
                                          <p:spTgt spid="42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7" st="7"/>
                                            </p:txEl>
                                          </p:spTgt>
                                        </p:tgtEl>
                                        <p:attrNameLst>
                                          <p:attrName>style.visibility</p:attrName>
                                        </p:attrNameLst>
                                      </p:cBhvr>
                                      <p:to>
                                        <p:strVal val="visible"/>
                                      </p:to>
                                    </p:set>
                                    <p:animEffect filter="fade" transition="in">
                                      <p:cBhvr>
                                        <p:cTn dur="1"/>
                                        <p:tgtEl>
                                          <p:spTgt spid="42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8" st="8"/>
                                            </p:txEl>
                                          </p:spTgt>
                                        </p:tgtEl>
                                        <p:attrNameLst>
                                          <p:attrName>style.visibility</p:attrName>
                                        </p:attrNameLst>
                                      </p:cBhvr>
                                      <p:to>
                                        <p:strVal val="visible"/>
                                      </p:to>
                                    </p:set>
                                    <p:animEffect filter="fade" transition="in">
                                      <p:cBhvr>
                                        <p:cTn dur="1"/>
                                        <p:tgtEl>
                                          <p:spTgt spid="42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9" st="9"/>
                                            </p:txEl>
                                          </p:spTgt>
                                        </p:tgtEl>
                                        <p:attrNameLst>
                                          <p:attrName>style.visibility</p:attrName>
                                        </p:attrNameLst>
                                      </p:cBhvr>
                                      <p:to>
                                        <p:strVal val="visible"/>
                                      </p:to>
                                    </p:set>
                                    <p:animEffect filter="fade" transition="in">
                                      <p:cBhvr>
                                        <p:cTn dur="1"/>
                                        <p:tgtEl>
                                          <p:spTgt spid="42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8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428" name="Google Shape;428;p86"/>
          <p:cNvSpPr txBox="1"/>
          <p:nvPr/>
        </p:nvSpPr>
        <p:spPr>
          <a:xfrm>
            <a:off x="504000" y="147672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x +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29" name="Google Shape;429;p86"/>
          <p:cNvSpPr txBox="1"/>
          <p:nvPr/>
        </p:nvSpPr>
        <p:spPr>
          <a:xfrm>
            <a:off x="5148720" y="1389960"/>
            <a:ext cx="442692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Time taken = sum of time taken by various parts</a:t>
            </a:r>
            <a:endParaRPr b="0" i="0" sz="2400" u="none" cap="none" strike="noStrike">
              <a:latin typeface="Arial"/>
              <a:ea typeface="Arial"/>
              <a:cs typeface="Arial"/>
              <a:sym typeface="Arial"/>
            </a:endParaRPr>
          </a:p>
          <a:p>
            <a:pPr indent="-68580" lvl="0" marL="0" marR="0" rtl="0" algn="l">
              <a:lnSpc>
                <a:spcPct val="10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Here all parts take some constant times</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4 ‘=’ operations</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 operation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 operation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return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variable allocation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So, total, The program takes some constant time</a:t>
            </a:r>
            <a:endParaRPr b="0" i="0" sz="2400" u="none" cap="none" strike="noStrike">
              <a:latin typeface="Arial"/>
              <a:ea typeface="Arial"/>
              <a:cs typeface="Arial"/>
              <a:sym typeface="Arial"/>
            </a:endParaRPr>
          </a:p>
          <a:p>
            <a:pPr indent="-68580" lvl="0" marL="0" marR="0" rtl="0" algn="l">
              <a:lnSpc>
                <a:spcPct val="10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time_taken( ) = C</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0" st="0"/>
                                            </p:txEl>
                                          </p:spTgt>
                                        </p:tgtEl>
                                        <p:attrNameLst>
                                          <p:attrName>style.visibility</p:attrName>
                                        </p:attrNameLst>
                                      </p:cBhvr>
                                      <p:to>
                                        <p:strVal val="visible"/>
                                      </p:to>
                                    </p:set>
                                    <p:animEffect filter="fade" transition="in">
                                      <p:cBhvr>
                                        <p:cTn dur="1"/>
                                        <p:tgtEl>
                                          <p:spTgt spid="4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1" st="1"/>
                                            </p:txEl>
                                          </p:spTgt>
                                        </p:tgtEl>
                                        <p:attrNameLst>
                                          <p:attrName>style.visibility</p:attrName>
                                        </p:attrNameLst>
                                      </p:cBhvr>
                                      <p:to>
                                        <p:strVal val="visible"/>
                                      </p:to>
                                    </p:set>
                                    <p:animEffect filter="fade" transition="in">
                                      <p:cBhvr>
                                        <p:cTn dur="1"/>
                                        <p:tgtEl>
                                          <p:spTgt spid="4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2" st="2"/>
                                            </p:txEl>
                                          </p:spTgt>
                                        </p:tgtEl>
                                        <p:attrNameLst>
                                          <p:attrName>style.visibility</p:attrName>
                                        </p:attrNameLst>
                                      </p:cBhvr>
                                      <p:to>
                                        <p:strVal val="visible"/>
                                      </p:to>
                                    </p:set>
                                    <p:animEffect filter="fade" transition="in">
                                      <p:cBhvr>
                                        <p:cTn dur="1"/>
                                        <p:tgtEl>
                                          <p:spTgt spid="4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3" st="3"/>
                                            </p:txEl>
                                          </p:spTgt>
                                        </p:tgtEl>
                                        <p:attrNameLst>
                                          <p:attrName>style.visibility</p:attrName>
                                        </p:attrNameLst>
                                      </p:cBhvr>
                                      <p:to>
                                        <p:strVal val="visible"/>
                                      </p:to>
                                    </p:set>
                                    <p:animEffect filter="fade" transition="in">
                                      <p:cBhvr>
                                        <p:cTn dur="1"/>
                                        <p:tgtEl>
                                          <p:spTgt spid="4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4" st="4"/>
                                            </p:txEl>
                                          </p:spTgt>
                                        </p:tgtEl>
                                        <p:attrNameLst>
                                          <p:attrName>style.visibility</p:attrName>
                                        </p:attrNameLst>
                                      </p:cBhvr>
                                      <p:to>
                                        <p:strVal val="visible"/>
                                      </p:to>
                                    </p:set>
                                    <p:animEffect filter="fade" transition="in">
                                      <p:cBhvr>
                                        <p:cTn dur="1"/>
                                        <p:tgtEl>
                                          <p:spTgt spid="42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5" st="5"/>
                                            </p:txEl>
                                          </p:spTgt>
                                        </p:tgtEl>
                                        <p:attrNameLst>
                                          <p:attrName>style.visibility</p:attrName>
                                        </p:attrNameLst>
                                      </p:cBhvr>
                                      <p:to>
                                        <p:strVal val="visible"/>
                                      </p:to>
                                    </p:set>
                                    <p:animEffect filter="fade" transition="in">
                                      <p:cBhvr>
                                        <p:cTn dur="1"/>
                                        <p:tgtEl>
                                          <p:spTgt spid="42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6" st="6"/>
                                            </p:txEl>
                                          </p:spTgt>
                                        </p:tgtEl>
                                        <p:attrNameLst>
                                          <p:attrName>style.visibility</p:attrName>
                                        </p:attrNameLst>
                                      </p:cBhvr>
                                      <p:to>
                                        <p:strVal val="visible"/>
                                      </p:to>
                                    </p:set>
                                    <p:animEffect filter="fade" transition="in">
                                      <p:cBhvr>
                                        <p:cTn dur="1"/>
                                        <p:tgtEl>
                                          <p:spTgt spid="42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7" st="7"/>
                                            </p:txEl>
                                          </p:spTgt>
                                        </p:tgtEl>
                                        <p:attrNameLst>
                                          <p:attrName>style.visibility</p:attrName>
                                        </p:attrNameLst>
                                      </p:cBhvr>
                                      <p:to>
                                        <p:strVal val="visible"/>
                                      </p:to>
                                    </p:set>
                                    <p:animEffect filter="fade" transition="in">
                                      <p:cBhvr>
                                        <p:cTn dur="1"/>
                                        <p:tgtEl>
                                          <p:spTgt spid="42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8" st="8"/>
                                            </p:txEl>
                                          </p:spTgt>
                                        </p:tgtEl>
                                        <p:attrNameLst>
                                          <p:attrName>style.visibility</p:attrName>
                                        </p:attrNameLst>
                                      </p:cBhvr>
                                      <p:to>
                                        <p:strVal val="visible"/>
                                      </p:to>
                                    </p:set>
                                    <p:animEffect filter="fade" transition="in">
                                      <p:cBhvr>
                                        <p:cTn dur="1"/>
                                        <p:tgtEl>
                                          <p:spTgt spid="42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87"/>
          <p:cNvSpPr txBox="1"/>
          <p:nvPr/>
        </p:nvSpPr>
        <p:spPr>
          <a:xfrm>
            <a:off x="504360" y="116640"/>
            <a:ext cx="9071640" cy="615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Deriving time taken by a program</a:t>
            </a:r>
            <a:endParaRPr b="0" i="0" sz="4000" u="none" cap="none" strike="noStrike">
              <a:latin typeface="Arial"/>
              <a:ea typeface="Arial"/>
              <a:cs typeface="Arial"/>
              <a:sym typeface="Arial"/>
            </a:endParaRPr>
          </a:p>
        </p:txBody>
      </p:sp>
      <p:sp>
        <p:nvSpPr>
          <p:cNvPr id="436" name="Google Shape;436;p87"/>
          <p:cNvSpPr txBox="1"/>
          <p:nvPr/>
        </p:nvSpPr>
        <p:spPr>
          <a:xfrm>
            <a:off x="358200" y="104436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f(int p, int q)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p + q;</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f(x,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37" name="Google Shape;437;p87"/>
          <p:cNvSpPr txBox="1"/>
          <p:nvPr/>
        </p:nvSpPr>
        <p:spPr>
          <a:xfrm>
            <a:off x="4638960" y="731880"/>
            <a:ext cx="493740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 time taken by various parts</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4 = operations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function call f()</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 for main( )</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by f ( ) function</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 operation</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 operation</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All the above times are some constants</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 program takes consant time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time_taken( ) = C  </a:t>
            </a:r>
            <a:endParaRPr b="0" i="0" sz="20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0" st="0"/>
                                            </p:txEl>
                                          </p:spTgt>
                                        </p:tgtEl>
                                        <p:attrNameLst>
                                          <p:attrName>style.visibility</p:attrName>
                                        </p:attrNameLst>
                                      </p:cBhvr>
                                      <p:to>
                                        <p:strVal val="visible"/>
                                      </p:to>
                                    </p:set>
                                    <p:animEffect filter="fade" transition="in">
                                      <p:cBhvr>
                                        <p:cTn dur="1"/>
                                        <p:tgtEl>
                                          <p:spTgt spid="4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 st="1"/>
                                            </p:txEl>
                                          </p:spTgt>
                                        </p:tgtEl>
                                        <p:attrNameLst>
                                          <p:attrName>style.visibility</p:attrName>
                                        </p:attrNameLst>
                                      </p:cBhvr>
                                      <p:to>
                                        <p:strVal val="visible"/>
                                      </p:to>
                                    </p:set>
                                    <p:animEffect filter="fade" transition="in">
                                      <p:cBhvr>
                                        <p:cTn dur="1"/>
                                        <p:tgtEl>
                                          <p:spTgt spid="4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2" st="2"/>
                                            </p:txEl>
                                          </p:spTgt>
                                        </p:tgtEl>
                                        <p:attrNameLst>
                                          <p:attrName>style.visibility</p:attrName>
                                        </p:attrNameLst>
                                      </p:cBhvr>
                                      <p:to>
                                        <p:strVal val="visible"/>
                                      </p:to>
                                    </p:set>
                                    <p:animEffect filter="fade" transition="in">
                                      <p:cBhvr>
                                        <p:cTn dur="1"/>
                                        <p:tgtEl>
                                          <p:spTgt spid="4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3" st="3"/>
                                            </p:txEl>
                                          </p:spTgt>
                                        </p:tgtEl>
                                        <p:attrNameLst>
                                          <p:attrName>style.visibility</p:attrName>
                                        </p:attrNameLst>
                                      </p:cBhvr>
                                      <p:to>
                                        <p:strVal val="visible"/>
                                      </p:to>
                                    </p:set>
                                    <p:animEffect filter="fade" transition="in">
                                      <p:cBhvr>
                                        <p:cTn dur="1"/>
                                        <p:tgtEl>
                                          <p:spTgt spid="4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4" st="4"/>
                                            </p:txEl>
                                          </p:spTgt>
                                        </p:tgtEl>
                                        <p:attrNameLst>
                                          <p:attrName>style.visibility</p:attrName>
                                        </p:attrNameLst>
                                      </p:cBhvr>
                                      <p:to>
                                        <p:strVal val="visible"/>
                                      </p:to>
                                    </p:set>
                                    <p:animEffect filter="fade" transition="in">
                                      <p:cBhvr>
                                        <p:cTn dur="1"/>
                                        <p:tgtEl>
                                          <p:spTgt spid="4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5" st="5"/>
                                            </p:txEl>
                                          </p:spTgt>
                                        </p:tgtEl>
                                        <p:attrNameLst>
                                          <p:attrName>style.visibility</p:attrName>
                                        </p:attrNameLst>
                                      </p:cBhvr>
                                      <p:to>
                                        <p:strVal val="visible"/>
                                      </p:to>
                                    </p:set>
                                    <p:animEffect filter="fade" transition="in">
                                      <p:cBhvr>
                                        <p:cTn dur="1"/>
                                        <p:tgtEl>
                                          <p:spTgt spid="4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6" st="6"/>
                                            </p:txEl>
                                          </p:spTgt>
                                        </p:tgtEl>
                                        <p:attrNameLst>
                                          <p:attrName>style.visibility</p:attrName>
                                        </p:attrNameLst>
                                      </p:cBhvr>
                                      <p:to>
                                        <p:strVal val="visible"/>
                                      </p:to>
                                    </p:set>
                                    <p:animEffect filter="fade" transition="in">
                                      <p:cBhvr>
                                        <p:cTn dur="1"/>
                                        <p:tgtEl>
                                          <p:spTgt spid="43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7" st="7"/>
                                            </p:txEl>
                                          </p:spTgt>
                                        </p:tgtEl>
                                        <p:attrNameLst>
                                          <p:attrName>style.visibility</p:attrName>
                                        </p:attrNameLst>
                                      </p:cBhvr>
                                      <p:to>
                                        <p:strVal val="visible"/>
                                      </p:to>
                                    </p:set>
                                    <p:animEffect filter="fade" transition="in">
                                      <p:cBhvr>
                                        <p:cTn dur="1"/>
                                        <p:tgtEl>
                                          <p:spTgt spid="43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8" st="8"/>
                                            </p:txEl>
                                          </p:spTgt>
                                        </p:tgtEl>
                                        <p:attrNameLst>
                                          <p:attrName>style.visibility</p:attrName>
                                        </p:attrNameLst>
                                      </p:cBhvr>
                                      <p:to>
                                        <p:strVal val="visible"/>
                                      </p:to>
                                    </p:set>
                                    <p:animEffect filter="fade" transition="in">
                                      <p:cBhvr>
                                        <p:cTn dur="1"/>
                                        <p:tgtEl>
                                          <p:spTgt spid="43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9" st="9"/>
                                            </p:txEl>
                                          </p:spTgt>
                                        </p:tgtEl>
                                        <p:attrNameLst>
                                          <p:attrName>style.visibility</p:attrName>
                                        </p:attrNameLst>
                                      </p:cBhvr>
                                      <p:to>
                                        <p:strVal val="visible"/>
                                      </p:to>
                                    </p:set>
                                    <p:animEffect filter="fade" transition="in">
                                      <p:cBhvr>
                                        <p:cTn dur="1"/>
                                        <p:tgtEl>
                                          <p:spTgt spid="43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0" st="10"/>
                                            </p:txEl>
                                          </p:spTgt>
                                        </p:tgtEl>
                                        <p:attrNameLst>
                                          <p:attrName>style.visibility</p:attrName>
                                        </p:attrNameLst>
                                      </p:cBhvr>
                                      <p:to>
                                        <p:strVal val="visible"/>
                                      </p:to>
                                    </p:set>
                                    <p:animEffect filter="fade" transition="in">
                                      <p:cBhvr>
                                        <p:cTn dur="1"/>
                                        <p:tgtEl>
                                          <p:spTgt spid="43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1" st="11"/>
                                            </p:txEl>
                                          </p:spTgt>
                                        </p:tgtEl>
                                        <p:attrNameLst>
                                          <p:attrName>style.visibility</p:attrName>
                                        </p:attrNameLst>
                                      </p:cBhvr>
                                      <p:to>
                                        <p:strVal val="visible"/>
                                      </p:to>
                                    </p:set>
                                    <p:animEffect filter="fade" transition="in">
                                      <p:cBhvr>
                                        <p:cTn dur="1"/>
                                        <p:tgtEl>
                                          <p:spTgt spid="43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2" st="12"/>
                                            </p:txEl>
                                          </p:spTgt>
                                        </p:tgtEl>
                                        <p:attrNameLst>
                                          <p:attrName>style.visibility</p:attrName>
                                        </p:attrNameLst>
                                      </p:cBhvr>
                                      <p:to>
                                        <p:strVal val="visible"/>
                                      </p:to>
                                    </p:set>
                                    <p:animEffect filter="fade" transition="in">
                                      <p:cBhvr>
                                        <p:cTn dur="1"/>
                                        <p:tgtEl>
                                          <p:spTgt spid="437">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88"/>
          <p:cNvSpPr txBox="1"/>
          <p:nvPr/>
        </p:nvSpPr>
        <p:spPr>
          <a:xfrm>
            <a:off x="649080" y="17604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Deriving time taken by a program</a:t>
            </a:r>
            <a:endParaRPr b="0" i="0" sz="3600" u="none" cap="none" strike="noStrike">
              <a:latin typeface="Arial"/>
              <a:ea typeface="Arial"/>
              <a:cs typeface="Arial"/>
              <a:sym typeface="Arial"/>
            </a:endParaRPr>
          </a:p>
        </p:txBody>
      </p:sp>
      <p:sp>
        <p:nvSpPr>
          <p:cNvPr id="444" name="Google Shape;444;p88"/>
          <p:cNvSpPr txBox="1"/>
          <p:nvPr/>
        </p:nvSpPr>
        <p:spPr>
          <a:xfrm>
            <a:off x="386640" y="80028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f(int p, int q)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p + q;</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y,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scanf(“%d%d”, &amp;x,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f(x,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45" name="Google Shape;445;p88"/>
          <p:cNvSpPr txBox="1"/>
          <p:nvPr/>
        </p:nvSpPr>
        <p:spPr>
          <a:xfrm>
            <a:off x="4114800" y="1112400"/>
            <a:ext cx="5965920" cy="564696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 time taken by various parts</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2 ‘=’ operations</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function call f()</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function call scanf()</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 for main( )</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by f ( ) function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 operation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 operation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by scanf() function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Assume to be constant</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FF3333"/>
                </a:solidFill>
                <a:latin typeface="Arial"/>
                <a:ea typeface="Arial"/>
                <a:cs typeface="Arial"/>
                <a:sym typeface="Arial"/>
              </a:rPr>
              <a:t>For library functions we NEED TO know their equation for time taken</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All the above times are some constants</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 program takes consant time</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time_taken( ) = C  </a:t>
            </a:r>
            <a:endParaRPr b="0" i="0" sz="20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animEffect filter="fade" transition="in">
                                      <p:cBhvr>
                                        <p:cTn dur="1"/>
                                        <p:tgtEl>
                                          <p:spTgt spid="4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animEffect filter="fade" transition="in">
                                      <p:cBhvr>
                                        <p:cTn dur="1"/>
                                        <p:tgtEl>
                                          <p:spTgt spid="4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animEffect filter="fade" transition="in">
                                      <p:cBhvr>
                                        <p:cTn dur="1"/>
                                        <p:tgtEl>
                                          <p:spTgt spid="4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3" st="3"/>
                                            </p:txEl>
                                          </p:spTgt>
                                        </p:tgtEl>
                                        <p:attrNameLst>
                                          <p:attrName>style.visibility</p:attrName>
                                        </p:attrNameLst>
                                      </p:cBhvr>
                                      <p:to>
                                        <p:strVal val="visible"/>
                                      </p:to>
                                    </p:set>
                                    <p:animEffect filter="fade" transition="in">
                                      <p:cBhvr>
                                        <p:cTn dur="1"/>
                                        <p:tgtEl>
                                          <p:spTgt spid="4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4" st="4"/>
                                            </p:txEl>
                                          </p:spTgt>
                                        </p:tgtEl>
                                        <p:attrNameLst>
                                          <p:attrName>style.visibility</p:attrName>
                                        </p:attrNameLst>
                                      </p:cBhvr>
                                      <p:to>
                                        <p:strVal val="visible"/>
                                      </p:to>
                                    </p:set>
                                    <p:animEffect filter="fade" transition="in">
                                      <p:cBhvr>
                                        <p:cTn dur="1"/>
                                        <p:tgtEl>
                                          <p:spTgt spid="4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5" st="5"/>
                                            </p:txEl>
                                          </p:spTgt>
                                        </p:tgtEl>
                                        <p:attrNameLst>
                                          <p:attrName>style.visibility</p:attrName>
                                        </p:attrNameLst>
                                      </p:cBhvr>
                                      <p:to>
                                        <p:strVal val="visible"/>
                                      </p:to>
                                    </p:set>
                                    <p:animEffect filter="fade" transition="in">
                                      <p:cBhvr>
                                        <p:cTn dur="1"/>
                                        <p:tgtEl>
                                          <p:spTgt spid="4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6" st="6"/>
                                            </p:txEl>
                                          </p:spTgt>
                                        </p:tgtEl>
                                        <p:attrNameLst>
                                          <p:attrName>style.visibility</p:attrName>
                                        </p:attrNameLst>
                                      </p:cBhvr>
                                      <p:to>
                                        <p:strVal val="visible"/>
                                      </p:to>
                                    </p:set>
                                    <p:animEffect filter="fade" transition="in">
                                      <p:cBhvr>
                                        <p:cTn dur="1"/>
                                        <p:tgtEl>
                                          <p:spTgt spid="4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7" st="7"/>
                                            </p:txEl>
                                          </p:spTgt>
                                        </p:tgtEl>
                                        <p:attrNameLst>
                                          <p:attrName>style.visibility</p:attrName>
                                        </p:attrNameLst>
                                      </p:cBhvr>
                                      <p:to>
                                        <p:strVal val="visible"/>
                                      </p:to>
                                    </p:set>
                                    <p:animEffect filter="fade" transition="in">
                                      <p:cBhvr>
                                        <p:cTn dur="1"/>
                                        <p:tgtEl>
                                          <p:spTgt spid="44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8" st="8"/>
                                            </p:txEl>
                                          </p:spTgt>
                                        </p:tgtEl>
                                        <p:attrNameLst>
                                          <p:attrName>style.visibility</p:attrName>
                                        </p:attrNameLst>
                                      </p:cBhvr>
                                      <p:to>
                                        <p:strVal val="visible"/>
                                      </p:to>
                                    </p:set>
                                    <p:animEffect filter="fade" transition="in">
                                      <p:cBhvr>
                                        <p:cTn dur="1"/>
                                        <p:tgtEl>
                                          <p:spTgt spid="44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9" st="9"/>
                                            </p:txEl>
                                          </p:spTgt>
                                        </p:tgtEl>
                                        <p:attrNameLst>
                                          <p:attrName>style.visibility</p:attrName>
                                        </p:attrNameLst>
                                      </p:cBhvr>
                                      <p:to>
                                        <p:strVal val="visible"/>
                                      </p:to>
                                    </p:set>
                                    <p:animEffect filter="fade" transition="in">
                                      <p:cBhvr>
                                        <p:cTn dur="1"/>
                                        <p:tgtEl>
                                          <p:spTgt spid="44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0" st="10"/>
                                            </p:txEl>
                                          </p:spTgt>
                                        </p:tgtEl>
                                        <p:attrNameLst>
                                          <p:attrName>style.visibility</p:attrName>
                                        </p:attrNameLst>
                                      </p:cBhvr>
                                      <p:to>
                                        <p:strVal val="visible"/>
                                      </p:to>
                                    </p:set>
                                    <p:animEffect filter="fade" transition="in">
                                      <p:cBhvr>
                                        <p:cTn dur="1"/>
                                        <p:tgtEl>
                                          <p:spTgt spid="44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1" st="11"/>
                                            </p:txEl>
                                          </p:spTgt>
                                        </p:tgtEl>
                                        <p:attrNameLst>
                                          <p:attrName>style.visibility</p:attrName>
                                        </p:attrNameLst>
                                      </p:cBhvr>
                                      <p:to>
                                        <p:strVal val="visible"/>
                                      </p:to>
                                    </p:set>
                                    <p:animEffect filter="fade" transition="in">
                                      <p:cBhvr>
                                        <p:cTn dur="1"/>
                                        <p:tgtEl>
                                          <p:spTgt spid="44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2" st="12"/>
                                            </p:txEl>
                                          </p:spTgt>
                                        </p:tgtEl>
                                        <p:attrNameLst>
                                          <p:attrName>style.visibility</p:attrName>
                                        </p:attrNameLst>
                                      </p:cBhvr>
                                      <p:to>
                                        <p:strVal val="visible"/>
                                      </p:to>
                                    </p:set>
                                    <p:animEffect filter="fade" transition="in">
                                      <p:cBhvr>
                                        <p:cTn dur="1"/>
                                        <p:tgtEl>
                                          <p:spTgt spid="44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3" st="13"/>
                                            </p:txEl>
                                          </p:spTgt>
                                        </p:tgtEl>
                                        <p:attrNameLst>
                                          <p:attrName>style.visibility</p:attrName>
                                        </p:attrNameLst>
                                      </p:cBhvr>
                                      <p:to>
                                        <p:strVal val="visible"/>
                                      </p:to>
                                    </p:set>
                                    <p:animEffect filter="fade" transition="in">
                                      <p:cBhvr>
                                        <p:cTn dur="1"/>
                                        <p:tgtEl>
                                          <p:spTgt spid="44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4" st="14"/>
                                            </p:txEl>
                                          </p:spTgt>
                                        </p:tgtEl>
                                        <p:attrNameLst>
                                          <p:attrName>style.visibility</p:attrName>
                                        </p:attrNameLst>
                                      </p:cBhvr>
                                      <p:to>
                                        <p:strVal val="visible"/>
                                      </p:to>
                                    </p:set>
                                    <p:animEffect filter="fade" transition="in">
                                      <p:cBhvr>
                                        <p:cTn dur="1"/>
                                        <p:tgtEl>
                                          <p:spTgt spid="44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5" st="15"/>
                                            </p:txEl>
                                          </p:spTgt>
                                        </p:tgtEl>
                                        <p:attrNameLst>
                                          <p:attrName>style.visibility</p:attrName>
                                        </p:attrNameLst>
                                      </p:cBhvr>
                                      <p:to>
                                        <p:strVal val="visible"/>
                                      </p:to>
                                    </p:set>
                                    <p:animEffect filter="fade" transition="in">
                                      <p:cBhvr>
                                        <p:cTn dur="1"/>
                                        <p:tgtEl>
                                          <p:spTgt spid="445">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6" st="16"/>
                                            </p:txEl>
                                          </p:spTgt>
                                        </p:tgtEl>
                                        <p:attrNameLst>
                                          <p:attrName>style.visibility</p:attrName>
                                        </p:attrNameLst>
                                      </p:cBhvr>
                                      <p:to>
                                        <p:strVal val="visible"/>
                                      </p:to>
                                    </p:set>
                                    <p:animEffect filter="fade" transition="in">
                                      <p:cBhvr>
                                        <p:cTn dur="1"/>
                                        <p:tgtEl>
                                          <p:spTgt spid="445">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89"/>
          <p:cNvSpPr txBox="1"/>
          <p:nvPr/>
        </p:nvSpPr>
        <p:spPr>
          <a:xfrm>
            <a:off x="395280" y="14364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Deriving time taken by a program</a:t>
            </a:r>
            <a:endParaRPr b="0" i="0" sz="3600" u="none" cap="none" strike="noStrike">
              <a:latin typeface="Arial"/>
              <a:ea typeface="Arial"/>
              <a:cs typeface="Arial"/>
              <a:sym typeface="Arial"/>
            </a:endParaRPr>
          </a:p>
        </p:txBody>
      </p:sp>
      <p:sp>
        <p:nvSpPr>
          <p:cNvPr id="452" name="Google Shape;452;p89"/>
          <p:cNvSpPr txBox="1"/>
          <p:nvPr/>
        </p:nvSpPr>
        <p:spPr>
          <a:xfrm>
            <a:off x="395280" y="69768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int x, y, z = 10;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scanf(“%d”, &amp;x);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for(y = 0; y &lt; 10;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53" name="Google Shape;453;p89"/>
          <p:cNvSpPr txBox="1"/>
          <p:nvPr/>
        </p:nvSpPr>
        <p:spPr>
          <a:xfrm>
            <a:off x="4426920" y="776520"/>
            <a:ext cx="5252760" cy="5646960"/>
          </a:xfrm>
          <a:prstGeom prst="rect">
            <a:avLst/>
          </a:prstGeom>
          <a:noFill/>
          <a:ln>
            <a:noFill/>
          </a:ln>
        </p:spPr>
        <p:txBody>
          <a:bodyPr anchorCtr="0" anchor="t" bIns="0" lIns="0" spcFirstLastPara="1" rIns="0" wrap="square" tIns="0">
            <a:noAutofit/>
          </a:bodyPr>
          <a:lstStyle/>
          <a:p>
            <a:pPr indent="-45720" lvl="0" marL="0" marR="0" rtl="0" algn="l">
              <a:lnSpc>
                <a:spcPct val="100000"/>
              </a:lnSpc>
              <a:spcBef>
                <a:spcPts val="0"/>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 time taken by various parts</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by scanf() function</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Assume to be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 operation (z * x)</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Two ‘=’ operation (z = 10, y = z * x)</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 operation (y =0)</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 operations (z = f(x, y))</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11 ‘&lt;’ operations (y &lt; 10)</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 operations (y++)</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function calls f()</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 time required for f ()</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return, one ‘+’ operation =&gt;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All the above timings and their sum is a constant</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So program takes consant time</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time_taken( ) = C  </a:t>
            </a:r>
            <a:endParaRPr b="0" i="0" sz="16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0" st="0"/>
                                            </p:txEl>
                                          </p:spTgt>
                                        </p:tgtEl>
                                        <p:attrNameLst>
                                          <p:attrName>style.visibility</p:attrName>
                                        </p:attrNameLst>
                                      </p:cBhvr>
                                      <p:to>
                                        <p:strVal val="visible"/>
                                      </p:to>
                                    </p:set>
                                    <p:animEffect filter="fade" transition="in">
                                      <p:cBhvr>
                                        <p:cTn dur="1"/>
                                        <p:tgtEl>
                                          <p:spTgt spid="4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 st="1"/>
                                            </p:txEl>
                                          </p:spTgt>
                                        </p:tgtEl>
                                        <p:attrNameLst>
                                          <p:attrName>style.visibility</p:attrName>
                                        </p:attrNameLst>
                                      </p:cBhvr>
                                      <p:to>
                                        <p:strVal val="visible"/>
                                      </p:to>
                                    </p:set>
                                    <p:animEffect filter="fade" transition="in">
                                      <p:cBhvr>
                                        <p:cTn dur="1"/>
                                        <p:tgtEl>
                                          <p:spTgt spid="4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2" st="2"/>
                                            </p:txEl>
                                          </p:spTgt>
                                        </p:tgtEl>
                                        <p:attrNameLst>
                                          <p:attrName>style.visibility</p:attrName>
                                        </p:attrNameLst>
                                      </p:cBhvr>
                                      <p:to>
                                        <p:strVal val="visible"/>
                                      </p:to>
                                    </p:set>
                                    <p:animEffect filter="fade" transition="in">
                                      <p:cBhvr>
                                        <p:cTn dur="1"/>
                                        <p:tgtEl>
                                          <p:spTgt spid="4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3" st="3"/>
                                            </p:txEl>
                                          </p:spTgt>
                                        </p:tgtEl>
                                        <p:attrNameLst>
                                          <p:attrName>style.visibility</p:attrName>
                                        </p:attrNameLst>
                                      </p:cBhvr>
                                      <p:to>
                                        <p:strVal val="visible"/>
                                      </p:to>
                                    </p:set>
                                    <p:animEffect filter="fade" transition="in">
                                      <p:cBhvr>
                                        <p:cTn dur="1"/>
                                        <p:tgtEl>
                                          <p:spTgt spid="4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4" st="4"/>
                                            </p:txEl>
                                          </p:spTgt>
                                        </p:tgtEl>
                                        <p:attrNameLst>
                                          <p:attrName>style.visibility</p:attrName>
                                        </p:attrNameLst>
                                      </p:cBhvr>
                                      <p:to>
                                        <p:strVal val="visible"/>
                                      </p:to>
                                    </p:set>
                                    <p:animEffect filter="fade" transition="in">
                                      <p:cBhvr>
                                        <p:cTn dur="1"/>
                                        <p:tgtEl>
                                          <p:spTgt spid="45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5" st="5"/>
                                            </p:txEl>
                                          </p:spTgt>
                                        </p:tgtEl>
                                        <p:attrNameLst>
                                          <p:attrName>style.visibility</p:attrName>
                                        </p:attrNameLst>
                                      </p:cBhvr>
                                      <p:to>
                                        <p:strVal val="visible"/>
                                      </p:to>
                                    </p:set>
                                    <p:animEffect filter="fade" transition="in">
                                      <p:cBhvr>
                                        <p:cTn dur="1"/>
                                        <p:tgtEl>
                                          <p:spTgt spid="45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6" st="6"/>
                                            </p:txEl>
                                          </p:spTgt>
                                        </p:tgtEl>
                                        <p:attrNameLst>
                                          <p:attrName>style.visibility</p:attrName>
                                        </p:attrNameLst>
                                      </p:cBhvr>
                                      <p:to>
                                        <p:strVal val="visible"/>
                                      </p:to>
                                    </p:set>
                                    <p:animEffect filter="fade" transition="in">
                                      <p:cBhvr>
                                        <p:cTn dur="1"/>
                                        <p:tgtEl>
                                          <p:spTgt spid="45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7" st="7"/>
                                            </p:txEl>
                                          </p:spTgt>
                                        </p:tgtEl>
                                        <p:attrNameLst>
                                          <p:attrName>style.visibility</p:attrName>
                                        </p:attrNameLst>
                                      </p:cBhvr>
                                      <p:to>
                                        <p:strVal val="visible"/>
                                      </p:to>
                                    </p:set>
                                    <p:animEffect filter="fade" transition="in">
                                      <p:cBhvr>
                                        <p:cTn dur="1"/>
                                        <p:tgtEl>
                                          <p:spTgt spid="45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8" st="8"/>
                                            </p:txEl>
                                          </p:spTgt>
                                        </p:tgtEl>
                                        <p:attrNameLst>
                                          <p:attrName>style.visibility</p:attrName>
                                        </p:attrNameLst>
                                      </p:cBhvr>
                                      <p:to>
                                        <p:strVal val="visible"/>
                                      </p:to>
                                    </p:set>
                                    <p:animEffect filter="fade" transition="in">
                                      <p:cBhvr>
                                        <p:cTn dur="1"/>
                                        <p:tgtEl>
                                          <p:spTgt spid="45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9" st="9"/>
                                            </p:txEl>
                                          </p:spTgt>
                                        </p:tgtEl>
                                        <p:attrNameLst>
                                          <p:attrName>style.visibility</p:attrName>
                                        </p:attrNameLst>
                                      </p:cBhvr>
                                      <p:to>
                                        <p:strVal val="visible"/>
                                      </p:to>
                                    </p:set>
                                    <p:animEffect filter="fade" transition="in">
                                      <p:cBhvr>
                                        <p:cTn dur="1"/>
                                        <p:tgtEl>
                                          <p:spTgt spid="45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0" st="10"/>
                                            </p:txEl>
                                          </p:spTgt>
                                        </p:tgtEl>
                                        <p:attrNameLst>
                                          <p:attrName>style.visibility</p:attrName>
                                        </p:attrNameLst>
                                      </p:cBhvr>
                                      <p:to>
                                        <p:strVal val="visible"/>
                                      </p:to>
                                    </p:set>
                                    <p:animEffect filter="fade" transition="in">
                                      <p:cBhvr>
                                        <p:cTn dur="1"/>
                                        <p:tgtEl>
                                          <p:spTgt spid="45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1" st="11"/>
                                            </p:txEl>
                                          </p:spTgt>
                                        </p:tgtEl>
                                        <p:attrNameLst>
                                          <p:attrName>style.visibility</p:attrName>
                                        </p:attrNameLst>
                                      </p:cBhvr>
                                      <p:to>
                                        <p:strVal val="visible"/>
                                      </p:to>
                                    </p:set>
                                    <p:animEffect filter="fade" transition="in">
                                      <p:cBhvr>
                                        <p:cTn dur="1"/>
                                        <p:tgtEl>
                                          <p:spTgt spid="45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2" st="12"/>
                                            </p:txEl>
                                          </p:spTgt>
                                        </p:tgtEl>
                                        <p:attrNameLst>
                                          <p:attrName>style.visibility</p:attrName>
                                        </p:attrNameLst>
                                      </p:cBhvr>
                                      <p:to>
                                        <p:strVal val="visible"/>
                                      </p:to>
                                    </p:set>
                                    <p:animEffect filter="fade" transition="in">
                                      <p:cBhvr>
                                        <p:cTn dur="1"/>
                                        <p:tgtEl>
                                          <p:spTgt spid="45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3" st="13"/>
                                            </p:txEl>
                                          </p:spTgt>
                                        </p:tgtEl>
                                        <p:attrNameLst>
                                          <p:attrName>style.visibility</p:attrName>
                                        </p:attrNameLst>
                                      </p:cBhvr>
                                      <p:to>
                                        <p:strVal val="visible"/>
                                      </p:to>
                                    </p:set>
                                    <p:animEffect filter="fade" transition="in">
                                      <p:cBhvr>
                                        <p:cTn dur="1"/>
                                        <p:tgtEl>
                                          <p:spTgt spid="45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4" st="14"/>
                                            </p:txEl>
                                          </p:spTgt>
                                        </p:tgtEl>
                                        <p:attrNameLst>
                                          <p:attrName>style.visibility</p:attrName>
                                        </p:attrNameLst>
                                      </p:cBhvr>
                                      <p:to>
                                        <p:strVal val="visible"/>
                                      </p:to>
                                    </p:set>
                                    <p:animEffect filter="fade" transition="in">
                                      <p:cBhvr>
                                        <p:cTn dur="1"/>
                                        <p:tgtEl>
                                          <p:spTgt spid="45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5" st="15"/>
                                            </p:txEl>
                                          </p:spTgt>
                                        </p:tgtEl>
                                        <p:attrNameLst>
                                          <p:attrName>style.visibility</p:attrName>
                                        </p:attrNameLst>
                                      </p:cBhvr>
                                      <p:to>
                                        <p:strVal val="visible"/>
                                      </p:to>
                                    </p:set>
                                    <p:animEffect filter="fade" transition="in">
                                      <p:cBhvr>
                                        <p:cTn dur="1"/>
                                        <p:tgtEl>
                                          <p:spTgt spid="453">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9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460" name="Google Shape;460;p90"/>
          <p:cNvSpPr txBox="1"/>
          <p:nvPr/>
        </p:nvSpPr>
        <p:spPr>
          <a:xfrm>
            <a:off x="504000" y="133416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int x, y, z = 10;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scanf(“%d”, &amp;x);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for(y = 0;</a:t>
            </a:r>
            <a:r>
              <a:rPr b="1" i="0" lang="en-IN" sz="2000" u="none" cap="none" strike="noStrike">
                <a:solidFill>
                  <a:srgbClr val="0000FF"/>
                </a:solidFill>
                <a:latin typeface="Courier"/>
                <a:ea typeface="Courier"/>
                <a:cs typeface="Courier"/>
                <a:sym typeface="Courier"/>
              </a:rPr>
              <a:t> y &lt; x</a:t>
            </a:r>
            <a:r>
              <a:rPr b="1" i="0" lang="en-IN" sz="2000" u="none" cap="none" strike="noStrike">
                <a:solidFill>
                  <a:srgbClr val="800000"/>
                </a:solidFill>
                <a:latin typeface="Courier"/>
                <a:ea typeface="Courier"/>
                <a:cs typeface="Courier"/>
                <a:sym typeface="Courier"/>
              </a:rPr>
              <a:t>;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61" name="Google Shape;461;p90"/>
          <p:cNvSpPr txBox="1"/>
          <p:nvPr/>
        </p:nvSpPr>
        <p:spPr>
          <a:xfrm>
            <a:off x="4376160" y="1334160"/>
            <a:ext cx="5753880" cy="5646960"/>
          </a:xfrm>
          <a:prstGeom prst="rect">
            <a:avLst/>
          </a:prstGeom>
          <a:noFill/>
          <a:ln>
            <a:noFill/>
          </a:ln>
        </p:spPr>
        <p:txBody>
          <a:bodyPr anchorCtr="0" anchor="t" bIns="0" lIns="0" spcFirstLastPara="1" rIns="0" wrap="square" tIns="0">
            <a:noAutofit/>
          </a:bodyPr>
          <a:lstStyle/>
          <a:p>
            <a:pPr indent="-45720" lvl="0" marL="0" marR="0" rtl="0" algn="l">
              <a:lnSpc>
                <a:spcPct val="100000"/>
              </a:lnSpc>
              <a:spcBef>
                <a:spcPts val="0"/>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 time taken by various parts</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by scanf() function</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Assume to be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Constant time operations</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6600"/>
                </a:solidFill>
                <a:latin typeface="Arial"/>
                <a:ea typeface="Arial"/>
                <a:cs typeface="Arial"/>
                <a:sym typeface="Arial"/>
              </a:rPr>
              <a:t>One ‘*’ operation (z * x)</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6600"/>
                </a:solidFill>
                <a:latin typeface="Arial"/>
                <a:ea typeface="Arial"/>
                <a:cs typeface="Arial"/>
                <a:sym typeface="Arial"/>
              </a:rPr>
              <a:t>Two ‘=’ operation (z = 10, y = z * x)</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 operation (y =0)</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Variable time operations</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 operations (z = f(x, y))</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x+1</a:t>
            </a:r>
            <a:r>
              <a:rPr b="1" i="0" lang="en-IN" sz="1600" u="none" cap="none" strike="noStrike">
                <a:solidFill>
                  <a:srgbClr val="0000CC"/>
                </a:solidFill>
                <a:latin typeface="Arial"/>
                <a:ea typeface="Arial"/>
                <a:cs typeface="Arial"/>
                <a:sym typeface="Arial"/>
              </a:rPr>
              <a:t> ‘&lt;’ operations (y &lt; 10)</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 operations (y++)</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function calls f()</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 time required for f ()</a:t>
            </a:r>
            <a:endParaRPr b="0" i="0" sz="16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return, one ‘+’ operation =&gt;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T(X) = X * C1 + C2</a:t>
            </a:r>
            <a:endParaRPr b="0" i="0" sz="16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0" st="0"/>
                                            </p:txEl>
                                          </p:spTgt>
                                        </p:tgtEl>
                                        <p:attrNameLst>
                                          <p:attrName>style.visibility</p:attrName>
                                        </p:attrNameLst>
                                      </p:cBhvr>
                                      <p:to>
                                        <p:strVal val="visible"/>
                                      </p:to>
                                    </p:set>
                                    <p:animEffect filter="fade" transition="in">
                                      <p:cBhvr>
                                        <p:cTn dur="1"/>
                                        <p:tgtEl>
                                          <p:spTgt spid="4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 st="1"/>
                                            </p:txEl>
                                          </p:spTgt>
                                        </p:tgtEl>
                                        <p:attrNameLst>
                                          <p:attrName>style.visibility</p:attrName>
                                        </p:attrNameLst>
                                      </p:cBhvr>
                                      <p:to>
                                        <p:strVal val="visible"/>
                                      </p:to>
                                    </p:set>
                                    <p:animEffect filter="fade" transition="in">
                                      <p:cBhvr>
                                        <p:cTn dur="1"/>
                                        <p:tgtEl>
                                          <p:spTgt spid="4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2" st="2"/>
                                            </p:txEl>
                                          </p:spTgt>
                                        </p:tgtEl>
                                        <p:attrNameLst>
                                          <p:attrName>style.visibility</p:attrName>
                                        </p:attrNameLst>
                                      </p:cBhvr>
                                      <p:to>
                                        <p:strVal val="visible"/>
                                      </p:to>
                                    </p:set>
                                    <p:animEffect filter="fade" transition="in">
                                      <p:cBhvr>
                                        <p:cTn dur="1"/>
                                        <p:tgtEl>
                                          <p:spTgt spid="4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3" st="3"/>
                                            </p:txEl>
                                          </p:spTgt>
                                        </p:tgtEl>
                                        <p:attrNameLst>
                                          <p:attrName>style.visibility</p:attrName>
                                        </p:attrNameLst>
                                      </p:cBhvr>
                                      <p:to>
                                        <p:strVal val="visible"/>
                                      </p:to>
                                    </p:set>
                                    <p:animEffect filter="fade" transition="in">
                                      <p:cBhvr>
                                        <p:cTn dur="1"/>
                                        <p:tgtEl>
                                          <p:spTgt spid="4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4" st="4"/>
                                            </p:txEl>
                                          </p:spTgt>
                                        </p:tgtEl>
                                        <p:attrNameLst>
                                          <p:attrName>style.visibility</p:attrName>
                                        </p:attrNameLst>
                                      </p:cBhvr>
                                      <p:to>
                                        <p:strVal val="visible"/>
                                      </p:to>
                                    </p:set>
                                    <p:animEffect filter="fade" transition="in">
                                      <p:cBhvr>
                                        <p:cTn dur="1"/>
                                        <p:tgtEl>
                                          <p:spTgt spid="4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5" st="5"/>
                                            </p:txEl>
                                          </p:spTgt>
                                        </p:tgtEl>
                                        <p:attrNameLst>
                                          <p:attrName>style.visibility</p:attrName>
                                        </p:attrNameLst>
                                      </p:cBhvr>
                                      <p:to>
                                        <p:strVal val="visible"/>
                                      </p:to>
                                    </p:set>
                                    <p:animEffect filter="fade" transition="in">
                                      <p:cBhvr>
                                        <p:cTn dur="1"/>
                                        <p:tgtEl>
                                          <p:spTgt spid="4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6" st="6"/>
                                            </p:txEl>
                                          </p:spTgt>
                                        </p:tgtEl>
                                        <p:attrNameLst>
                                          <p:attrName>style.visibility</p:attrName>
                                        </p:attrNameLst>
                                      </p:cBhvr>
                                      <p:to>
                                        <p:strVal val="visible"/>
                                      </p:to>
                                    </p:set>
                                    <p:animEffect filter="fade" transition="in">
                                      <p:cBhvr>
                                        <p:cTn dur="1"/>
                                        <p:tgtEl>
                                          <p:spTgt spid="4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7" st="7"/>
                                            </p:txEl>
                                          </p:spTgt>
                                        </p:tgtEl>
                                        <p:attrNameLst>
                                          <p:attrName>style.visibility</p:attrName>
                                        </p:attrNameLst>
                                      </p:cBhvr>
                                      <p:to>
                                        <p:strVal val="visible"/>
                                      </p:to>
                                    </p:set>
                                    <p:animEffect filter="fade" transition="in">
                                      <p:cBhvr>
                                        <p:cTn dur="1"/>
                                        <p:tgtEl>
                                          <p:spTgt spid="4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8" st="8"/>
                                            </p:txEl>
                                          </p:spTgt>
                                        </p:tgtEl>
                                        <p:attrNameLst>
                                          <p:attrName>style.visibility</p:attrName>
                                        </p:attrNameLst>
                                      </p:cBhvr>
                                      <p:to>
                                        <p:strVal val="visible"/>
                                      </p:to>
                                    </p:set>
                                    <p:animEffect filter="fade" transition="in">
                                      <p:cBhvr>
                                        <p:cTn dur="1"/>
                                        <p:tgtEl>
                                          <p:spTgt spid="46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9" st="9"/>
                                            </p:txEl>
                                          </p:spTgt>
                                        </p:tgtEl>
                                        <p:attrNameLst>
                                          <p:attrName>style.visibility</p:attrName>
                                        </p:attrNameLst>
                                      </p:cBhvr>
                                      <p:to>
                                        <p:strVal val="visible"/>
                                      </p:to>
                                    </p:set>
                                    <p:animEffect filter="fade" transition="in">
                                      <p:cBhvr>
                                        <p:cTn dur="1"/>
                                        <p:tgtEl>
                                          <p:spTgt spid="46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0" st="10"/>
                                            </p:txEl>
                                          </p:spTgt>
                                        </p:tgtEl>
                                        <p:attrNameLst>
                                          <p:attrName>style.visibility</p:attrName>
                                        </p:attrNameLst>
                                      </p:cBhvr>
                                      <p:to>
                                        <p:strVal val="visible"/>
                                      </p:to>
                                    </p:set>
                                    <p:animEffect filter="fade" transition="in">
                                      <p:cBhvr>
                                        <p:cTn dur="1"/>
                                        <p:tgtEl>
                                          <p:spTgt spid="46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1" st="11"/>
                                            </p:txEl>
                                          </p:spTgt>
                                        </p:tgtEl>
                                        <p:attrNameLst>
                                          <p:attrName>style.visibility</p:attrName>
                                        </p:attrNameLst>
                                      </p:cBhvr>
                                      <p:to>
                                        <p:strVal val="visible"/>
                                      </p:to>
                                    </p:set>
                                    <p:animEffect filter="fade" transition="in">
                                      <p:cBhvr>
                                        <p:cTn dur="1"/>
                                        <p:tgtEl>
                                          <p:spTgt spid="46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2" st="12"/>
                                            </p:txEl>
                                          </p:spTgt>
                                        </p:tgtEl>
                                        <p:attrNameLst>
                                          <p:attrName>style.visibility</p:attrName>
                                        </p:attrNameLst>
                                      </p:cBhvr>
                                      <p:to>
                                        <p:strVal val="visible"/>
                                      </p:to>
                                    </p:set>
                                    <p:animEffect filter="fade" transition="in">
                                      <p:cBhvr>
                                        <p:cTn dur="1"/>
                                        <p:tgtEl>
                                          <p:spTgt spid="46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3" st="13"/>
                                            </p:txEl>
                                          </p:spTgt>
                                        </p:tgtEl>
                                        <p:attrNameLst>
                                          <p:attrName>style.visibility</p:attrName>
                                        </p:attrNameLst>
                                      </p:cBhvr>
                                      <p:to>
                                        <p:strVal val="visible"/>
                                      </p:to>
                                    </p:set>
                                    <p:animEffect filter="fade" transition="in">
                                      <p:cBhvr>
                                        <p:cTn dur="1"/>
                                        <p:tgtEl>
                                          <p:spTgt spid="46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4" st="14"/>
                                            </p:txEl>
                                          </p:spTgt>
                                        </p:tgtEl>
                                        <p:attrNameLst>
                                          <p:attrName>style.visibility</p:attrName>
                                        </p:attrNameLst>
                                      </p:cBhvr>
                                      <p:to>
                                        <p:strVal val="visible"/>
                                      </p:to>
                                    </p:set>
                                    <p:animEffect filter="fade" transition="in">
                                      <p:cBhvr>
                                        <p:cTn dur="1"/>
                                        <p:tgtEl>
                                          <p:spTgt spid="46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5" st="15"/>
                                            </p:txEl>
                                          </p:spTgt>
                                        </p:tgtEl>
                                        <p:attrNameLst>
                                          <p:attrName>style.visibility</p:attrName>
                                        </p:attrNameLst>
                                      </p:cBhvr>
                                      <p:to>
                                        <p:strVal val="visible"/>
                                      </p:to>
                                    </p:set>
                                    <p:animEffect filter="fade" transition="in">
                                      <p:cBhvr>
                                        <p:cTn dur="1"/>
                                        <p:tgtEl>
                                          <p:spTgt spid="461">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91"/>
          <p:cNvSpPr txBox="1"/>
          <p:nvPr/>
        </p:nvSpPr>
        <p:spPr>
          <a:xfrm>
            <a:off x="439560" y="214200"/>
            <a:ext cx="9071640" cy="615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Deriving time taken by a program</a:t>
            </a:r>
            <a:endParaRPr b="0" i="0" sz="4000" u="none" cap="none" strike="noStrike">
              <a:latin typeface="Arial"/>
              <a:ea typeface="Arial"/>
              <a:cs typeface="Arial"/>
              <a:sym typeface="Arial"/>
            </a:endParaRPr>
          </a:p>
        </p:txBody>
      </p:sp>
      <p:sp>
        <p:nvSpPr>
          <p:cNvPr id="468" name="Google Shape;468;p91"/>
          <p:cNvSpPr txBox="1"/>
          <p:nvPr/>
        </p:nvSpPr>
        <p:spPr>
          <a:xfrm>
            <a:off x="321480" y="1519200"/>
            <a:ext cx="5761800" cy="5430960"/>
          </a:xfrm>
          <a:prstGeom prst="rect">
            <a:avLst/>
          </a:prstGeom>
          <a:noFill/>
          <a:ln>
            <a:noFill/>
          </a:ln>
        </p:spPr>
        <p:txBody>
          <a:bodyPr anchorCtr="0" anchor="t" bIns="0" lIns="0" spcFirstLastPara="1" rIns="0" wrap="square" tIns="0">
            <a:noAutofit/>
          </a:bodyPr>
          <a:lstStyle/>
          <a:p>
            <a:pPr indent="-80010" lvl="0" marL="0" marR="0" rtl="0" algn="l">
              <a:lnSpc>
                <a:spcPct val="15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int x, y, z = 10, k, i;</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scanf(“%d%d”, &amp;x, &amp;y);</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for(k = 0; k &lt; x; k++)</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for(i = 0; i &lt; y; i++)</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69" name="Google Shape;469;p91"/>
          <p:cNvSpPr txBox="1"/>
          <p:nvPr/>
        </p:nvSpPr>
        <p:spPr>
          <a:xfrm>
            <a:off x="5003640" y="1277640"/>
            <a:ext cx="4639320" cy="5646960"/>
          </a:xfrm>
          <a:prstGeom prst="rect">
            <a:avLst/>
          </a:prstGeom>
          <a:noFill/>
          <a:ln>
            <a:noFill/>
          </a:ln>
        </p:spPr>
        <p:txBody>
          <a:bodyPr anchorCtr="0" anchor="t" bIns="0" lIns="0" spcFirstLastPara="1" rIns="0" wrap="square" tIns="0">
            <a:noAutofit/>
          </a:bodyPr>
          <a:lstStyle/>
          <a:p>
            <a:pPr indent="-40005" lvl="0" marL="0" marR="0" rtl="0" algn="l">
              <a:lnSpc>
                <a:spcPct val="100000"/>
              </a:lnSpc>
              <a:spcBef>
                <a:spcPts val="0"/>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Time taken by scanf() function</a:t>
            </a:r>
            <a:endParaRPr b="0" i="0" sz="1400" u="none" cap="none" strike="noStrike">
              <a:latin typeface="Arial"/>
              <a:ea typeface="Arial"/>
              <a:cs typeface="Arial"/>
              <a:sym typeface="Arial"/>
            </a:endParaRPr>
          </a:p>
          <a:p>
            <a:pPr indent="-228600" lvl="1" marL="685800" marR="0" rtl="0" algn="l">
              <a:lnSpc>
                <a:spcPct val="100000"/>
              </a:lnSpc>
              <a:spcBef>
                <a:spcPts val="1199"/>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Assume to be constant</a:t>
            </a:r>
            <a:endParaRPr b="0" i="0" sz="1400" u="none" cap="none" strike="noStrike">
              <a:latin typeface="Arial"/>
              <a:ea typeface="Arial"/>
              <a:cs typeface="Arial"/>
              <a:sym typeface="Arial"/>
            </a:endParaRPr>
          </a:p>
          <a:p>
            <a:pPr indent="-40005" lvl="0" marL="0" marR="0" rtl="0" algn="l">
              <a:lnSpc>
                <a:spcPct val="100000"/>
              </a:lnSpc>
              <a:spcBef>
                <a:spcPts val="1199"/>
              </a:spcBef>
              <a:spcAft>
                <a:spcPts val="0"/>
              </a:spcAft>
              <a:buClr>
                <a:srgbClr val="000000"/>
              </a:buClr>
              <a:buSzPts val="630"/>
              <a:buFont typeface="Noto Sans Symbols"/>
              <a:buChar char="■"/>
            </a:pPr>
            <a:r>
              <a:rPr b="1" i="0" lang="en-IN" sz="1400" u="none" cap="none" strike="noStrike">
                <a:solidFill>
                  <a:srgbClr val="000099"/>
                </a:solidFill>
                <a:latin typeface="Arial"/>
                <a:ea typeface="Arial"/>
                <a:cs typeface="Arial"/>
                <a:sym typeface="Arial"/>
              </a:rPr>
              <a:t>Constant time operations</a:t>
            </a:r>
            <a:endParaRPr b="0" i="0" sz="1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Z =10, k = 0, y = z* x;</a:t>
            </a:r>
            <a:endParaRPr b="0" i="0" sz="1400" u="none" cap="none" strike="noStrike">
              <a:latin typeface="Arial"/>
              <a:ea typeface="Arial"/>
              <a:cs typeface="Arial"/>
              <a:sym typeface="Arial"/>
            </a:endParaRPr>
          </a:p>
          <a:p>
            <a:pPr indent="-40005" lvl="0" marL="0" marR="0" rtl="0" algn="l">
              <a:lnSpc>
                <a:spcPct val="10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Variable time operations</a:t>
            </a:r>
            <a:endParaRPr b="0" i="0" sz="1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800000"/>
                </a:solidFill>
                <a:latin typeface="Arial"/>
                <a:ea typeface="Arial"/>
                <a:cs typeface="Arial"/>
                <a:sym typeface="Arial"/>
              </a:rPr>
              <a:t>x</a:t>
            </a:r>
            <a:r>
              <a:rPr b="1" i="0" lang="en-IN" sz="1400" u="none" cap="none" strike="noStrike">
                <a:solidFill>
                  <a:srgbClr val="0000CC"/>
                </a:solidFill>
                <a:latin typeface="Arial"/>
                <a:ea typeface="Arial"/>
                <a:cs typeface="Arial"/>
                <a:sym typeface="Arial"/>
              </a:rPr>
              <a:t> Runs of the loop for(i = 0) and k++</a:t>
            </a:r>
            <a:endParaRPr b="0" i="0" sz="14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Each run of the loop:</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One i = 0</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+ 1  times i &lt; y</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times i++</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times  z =</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times f(x, y)</a:t>
            </a:r>
            <a:endParaRPr b="0" i="0" sz="1400" u="none" cap="none" strike="noStrike">
              <a:latin typeface="Arial"/>
              <a:ea typeface="Arial"/>
              <a:cs typeface="Arial"/>
              <a:sym typeface="Arial"/>
            </a:endParaRPr>
          </a:p>
          <a:p>
            <a:pPr indent="-228600" lvl="4" marL="20574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Each time of f(x, y) is a constant</a:t>
            </a:r>
            <a:endParaRPr b="0" i="0" sz="1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X+1 times k &lt; x</a:t>
            </a:r>
            <a:endParaRPr b="0" i="0" sz="1400" u="none" cap="none" strike="noStrike">
              <a:latin typeface="Arial"/>
              <a:ea typeface="Arial"/>
              <a:cs typeface="Arial"/>
              <a:sym typeface="Arial"/>
            </a:endParaRPr>
          </a:p>
          <a:p>
            <a:pPr indent="-40005" lvl="0" marL="0" marR="0" rtl="0" algn="l">
              <a:lnSpc>
                <a:spcPct val="10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T(x, y) =  c0 + x * (c4 + y * c2 + y * c1) + c3 + y * c2 + y * c1 + x * c5</a:t>
            </a:r>
            <a:endParaRPr b="0" i="0" sz="1400" u="none" cap="none" strike="noStrike">
              <a:latin typeface="Arial"/>
              <a:ea typeface="Arial"/>
              <a:cs typeface="Arial"/>
              <a:sym typeface="Arial"/>
            </a:endParaRPr>
          </a:p>
          <a:p>
            <a:pPr indent="-40005" lvl="0" marL="0" marR="0" rtl="0" algn="l">
              <a:lnSpc>
                <a:spcPct val="10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T(x, y) = A + Pxy + Qx</a:t>
            </a:r>
            <a:endParaRPr b="0" i="0" sz="1400" u="none" cap="none" strike="noStrike">
              <a:latin typeface="Arial"/>
              <a:ea typeface="Arial"/>
              <a:cs typeface="Arial"/>
              <a:sym typeface="Arial"/>
            </a:endParaRPr>
          </a:p>
        </p:txBody>
      </p:sp>
      <p:sp>
        <p:nvSpPr>
          <p:cNvPr id="470" name="Google Shape;470;p91"/>
          <p:cNvSpPr txBox="1"/>
          <p:nvPr/>
        </p:nvSpPr>
        <p:spPr>
          <a:xfrm>
            <a:off x="4680000" y="5373720"/>
            <a:ext cx="864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y * c1</a:t>
            </a:r>
            <a:endParaRPr b="0" i="0" sz="1800" u="none" cap="none" strike="noStrike">
              <a:latin typeface="Arial"/>
              <a:ea typeface="Arial"/>
              <a:cs typeface="Arial"/>
              <a:sym typeface="Arial"/>
            </a:endParaRPr>
          </a:p>
        </p:txBody>
      </p:sp>
      <p:sp>
        <p:nvSpPr>
          <p:cNvPr id="471" name="Google Shape;471;p91"/>
          <p:cNvSpPr/>
          <p:nvPr/>
        </p:nvSpPr>
        <p:spPr>
          <a:xfrm>
            <a:off x="5400000" y="5616000"/>
            <a:ext cx="1351440" cy="301680"/>
          </a:xfrm>
          <a:custGeom>
            <a:rect b="b" l="l" r="r" t="t"/>
            <a:pathLst>
              <a:path extrusionOk="0" h="400" w="2400">
                <a:moveTo>
                  <a:pt x="2400" y="400"/>
                </a:moveTo>
                <a:lnTo>
                  <a:pt x="0" y="0"/>
                </a:lnTo>
              </a:path>
            </a:pathLst>
          </a:custGeom>
          <a:noFill/>
          <a:ln cap="flat" cmpd="sng" w="9525">
            <a:solidFill>
              <a:srgbClr val="000000"/>
            </a:solidFill>
            <a:prstDash val="solid"/>
            <a:round/>
            <a:headEnd len="sm" w="sm" type="none"/>
            <a:tailEnd len="med" w="med" type="triangle"/>
          </a:ln>
        </p:spPr>
      </p:sp>
      <p:sp>
        <p:nvSpPr>
          <p:cNvPr id="472" name="Google Shape;472;p91"/>
          <p:cNvSpPr txBox="1"/>
          <p:nvPr/>
        </p:nvSpPr>
        <p:spPr>
          <a:xfrm>
            <a:off x="4335480" y="2369880"/>
            <a:ext cx="864000" cy="346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C0</a:t>
            </a:r>
            <a:endParaRPr b="0" i="0" sz="1800" u="none" cap="none" strike="noStrike">
              <a:latin typeface="Arial"/>
              <a:ea typeface="Arial"/>
              <a:cs typeface="Arial"/>
              <a:sym typeface="Arial"/>
            </a:endParaRPr>
          </a:p>
        </p:txBody>
      </p:sp>
      <p:sp>
        <p:nvSpPr>
          <p:cNvPr id="473" name="Google Shape;473;p91"/>
          <p:cNvSpPr/>
          <p:nvPr/>
        </p:nvSpPr>
        <p:spPr>
          <a:xfrm>
            <a:off x="4839840" y="2522160"/>
            <a:ext cx="359640" cy="360"/>
          </a:xfrm>
          <a:custGeom>
            <a:rect b="b" l="l" r="r" t="t"/>
            <a:pathLst>
              <a:path extrusionOk="0" h="7" w="359640">
                <a:moveTo>
                  <a:pt x="359640" y="0"/>
                </a:moveTo>
                <a:lnTo>
                  <a:pt x="0" y="0"/>
                </a:lnTo>
              </a:path>
            </a:pathLst>
          </a:custGeom>
          <a:noFill/>
          <a:ln cap="flat" cmpd="sng" w="9525">
            <a:solidFill>
              <a:srgbClr val="000000"/>
            </a:solidFill>
            <a:prstDash val="solid"/>
            <a:round/>
            <a:headEnd len="sm" w="sm" type="none"/>
            <a:tailEnd len="med" w="med" type="triangle"/>
          </a:ln>
        </p:spPr>
      </p:sp>
      <p:sp>
        <p:nvSpPr>
          <p:cNvPr id="474" name="Google Shape;474;p91"/>
          <p:cNvSpPr/>
          <p:nvPr/>
        </p:nvSpPr>
        <p:spPr>
          <a:xfrm>
            <a:off x="6120000" y="4752000"/>
            <a:ext cx="72000" cy="720000"/>
          </a:xfrm>
          <a:custGeom>
            <a:rect b="b" l="l" r="r" t="t"/>
            <a:pathLst>
              <a:path extrusionOk="0" h="2002" w="201">
                <a:moveTo>
                  <a:pt x="200" y="0"/>
                </a:moveTo>
                <a:cubicBezTo>
                  <a:pt x="150" y="0"/>
                  <a:pt x="100" y="83"/>
                  <a:pt x="100" y="166"/>
                </a:cubicBezTo>
                <a:lnTo>
                  <a:pt x="100" y="874"/>
                </a:lnTo>
                <a:cubicBezTo>
                  <a:pt x="100" y="957"/>
                  <a:pt x="50" y="1040"/>
                  <a:pt x="0" y="1040"/>
                </a:cubicBezTo>
                <a:cubicBezTo>
                  <a:pt x="50" y="1040"/>
                  <a:pt x="100" y="1124"/>
                  <a:pt x="100" y="1207"/>
                </a:cubicBezTo>
                <a:lnTo>
                  <a:pt x="100" y="1834"/>
                </a:lnTo>
                <a:cubicBezTo>
                  <a:pt x="100" y="1917"/>
                  <a:pt x="150" y="2001"/>
                  <a:pt x="200" y="2001"/>
                </a:cubicBezTo>
              </a:path>
            </a:pathLst>
          </a:custGeom>
          <a:noFill/>
          <a:ln cap="flat" cmpd="sng" w="9525">
            <a:solidFill>
              <a:srgbClr val="3465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91"/>
          <p:cNvSpPr/>
          <p:nvPr/>
        </p:nvSpPr>
        <p:spPr>
          <a:xfrm>
            <a:off x="5576760" y="5004360"/>
            <a:ext cx="503640" cy="215640"/>
          </a:xfrm>
          <a:custGeom>
            <a:rect b="b" l="l" r="r" t="t"/>
            <a:pathLst>
              <a:path extrusionOk="0" h="600" w="1400">
                <a:moveTo>
                  <a:pt x="1400" y="600"/>
                </a:moveTo>
                <a:lnTo>
                  <a:pt x="0" y="0"/>
                </a:lnTo>
              </a:path>
            </a:pathLst>
          </a:custGeom>
          <a:noFill/>
          <a:ln cap="flat" cmpd="sng" w="9525">
            <a:solidFill>
              <a:srgbClr val="000000"/>
            </a:solidFill>
            <a:prstDash val="solid"/>
            <a:round/>
            <a:headEnd len="sm" w="sm" type="none"/>
            <a:tailEnd len="med" w="med" type="triangle"/>
          </a:ln>
        </p:spPr>
      </p:sp>
      <p:sp>
        <p:nvSpPr>
          <p:cNvPr id="476" name="Google Shape;476;p91"/>
          <p:cNvSpPr txBox="1"/>
          <p:nvPr/>
        </p:nvSpPr>
        <p:spPr>
          <a:xfrm>
            <a:off x="4752000" y="4679640"/>
            <a:ext cx="864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y * c2</a:t>
            </a:r>
            <a:endParaRPr b="0" i="0" sz="1800" u="none" cap="none" strike="noStrike">
              <a:latin typeface="Arial"/>
              <a:ea typeface="Arial"/>
              <a:cs typeface="Arial"/>
              <a:sym typeface="Arial"/>
            </a:endParaRPr>
          </a:p>
        </p:txBody>
      </p:sp>
      <p:sp>
        <p:nvSpPr>
          <p:cNvPr id="477" name="Google Shape;477;p91"/>
          <p:cNvSpPr/>
          <p:nvPr/>
        </p:nvSpPr>
        <p:spPr>
          <a:xfrm>
            <a:off x="5298840" y="3957480"/>
            <a:ext cx="1007640" cy="287640"/>
          </a:xfrm>
          <a:custGeom>
            <a:rect b="b" l="l" r="r" t="t"/>
            <a:pathLst>
              <a:path extrusionOk="0" h="800" w="2800">
                <a:moveTo>
                  <a:pt x="2800" y="800"/>
                </a:moveTo>
                <a:lnTo>
                  <a:pt x="0" y="0"/>
                </a:lnTo>
              </a:path>
            </a:pathLst>
          </a:custGeom>
          <a:noFill/>
          <a:ln cap="flat" cmpd="sng" w="9525">
            <a:solidFill>
              <a:srgbClr val="000000"/>
            </a:solidFill>
            <a:prstDash val="solid"/>
            <a:round/>
            <a:headEnd len="sm" w="sm" type="none"/>
            <a:tailEnd len="med" w="med" type="triangle"/>
          </a:ln>
        </p:spPr>
      </p:sp>
      <p:sp>
        <p:nvSpPr>
          <p:cNvPr id="478" name="Google Shape;478;p91"/>
          <p:cNvSpPr txBox="1"/>
          <p:nvPr/>
        </p:nvSpPr>
        <p:spPr>
          <a:xfrm>
            <a:off x="4839840" y="3825720"/>
            <a:ext cx="864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c3</a:t>
            </a:r>
            <a:endParaRPr b="0" i="0" sz="1800" u="none" cap="none" strike="noStrike">
              <a:latin typeface="Arial"/>
              <a:ea typeface="Arial"/>
              <a:cs typeface="Arial"/>
              <a:sym typeface="Arial"/>
            </a:endParaRPr>
          </a:p>
        </p:txBody>
      </p:sp>
      <p:sp>
        <p:nvSpPr>
          <p:cNvPr id="479" name="Google Shape;479;p91"/>
          <p:cNvSpPr/>
          <p:nvPr/>
        </p:nvSpPr>
        <p:spPr>
          <a:xfrm>
            <a:off x="4824000" y="3456000"/>
            <a:ext cx="647640" cy="215640"/>
          </a:xfrm>
          <a:custGeom>
            <a:rect b="b" l="l" r="r" t="t"/>
            <a:pathLst>
              <a:path extrusionOk="0" h="600" w="1800">
                <a:moveTo>
                  <a:pt x="1800" y="600"/>
                </a:moveTo>
                <a:lnTo>
                  <a:pt x="0" y="0"/>
                </a:lnTo>
              </a:path>
            </a:pathLst>
          </a:custGeom>
          <a:noFill/>
          <a:ln cap="flat" cmpd="sng" w="9525">
            <a:solidFill>
              <a:srgbClr val="000000"/>
            </a:solidFill>
            <a:prstDash val="solid"/>
            <a:round/>
            <a:headEnd len="sm" w="sm" type="none"/>
            <a:tailEnd len="med" w="med" type="triangle"/>
          </a:ln>
        </p:spPr>
      </p:sp>
      <p:sp>
        <p:nvSpPr>
          <p:cNvPr id="480" name="Google Shape;480;p91"/>
          <p:cNvSpPr txBox="1"/>
          <p:nvPr/>
        </p:nvSpPr>
        <p:spPr>
          <a:xfrm>
            <a:off x="2520000" y="3069720"/>
            <a:ext cx="2808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x * (c4 + y * c2 + y * c1 )</a:t>
            </a:r>
            <a:endParaRPr b="0" i="0" sz="1800" u="none" cap="none" strike="noStrike">
              <a:latin typeface="Arial"/>
              <a:ea typeface="Arial"/>
              <a:cs typeface="Arial"/>
              <a:sym typeface="Arial"/>
            </a:endParaRPr>
          </a:p>
        </p:txBody>
      </p:sp>
      <p:sp>
        <p:nvSpPr>
          <p:cNvPr id="481" name="Google Shape;481;p91"/>
          <p:cNvSpPr txBox="1"/>
          <p:nvPr/>
        </p:nvSpPr>
        <p:spPr>
          <a:xfrm>
            <a:off x="4032000" y="5904000"/>
            <a:ext cx="1368000" cy="346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x* c5</a:t>
            </a:r>
            <a:endParaRPr b="0" i="0" sz="1800" u="none" cap="none" strike="noStrike">
              <a:latin typeface="Arial"/>
              <a:ea typeface="Arial"/>
              <a:cs typeface="Arial"/>
              <a:sym typeface="Arial"/>
            </a:endParaRPr>
          </a:p>
        </p:txBody>
      </p:sp>
      <p:sp>
        <p:nvSpPr>
          <p:cNvPr id="482" name="Google Shape;482;p91"/>
          <p:cNvSpPr/>
          <p:nvPr/>
        </p:nvSpPr>
        <p:spPr>
          <a:xfrm rot="733200">
            <a:off x="4752000" y="6198480"/>
            <a:ext cx="719640" cy="166320"/>
          </a:xfrm>
          <a:custGeom>
            <a:rect b="b" l="l" r="r" t="t"/>
            <a:pathLst>
              <a:path extrusionOk="0" h="7" w="647640">
                <a:moveTo>
                  <a:pt x="647640" y="0"/>
                </a:moveTo>
                <a:lnTo>
                  <a:pt x="0" y="0"/>
                </a:lnTo>
              </a:path>
            </a:pathLst>
          </a:custGeom>
          <a:noFill/>
          <a:ln cap="flat" cmpd="sng" w="9525">
            <a:solidFill>
              <a:srgbClr val="000000"/>
            </a:solidFill>
            <a:prstDash val="solid"/>
            <a:round/>
            <a:headEnd len="sm" w="sm"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0" st="0"/>
                                            </p:txEl>
                                          </p:spTgt>
                                        </p:tgtEl>
                                        <p:attrNameLst>
                                          <p:attrName>style.visibility</p:attrName>
                                        </p:attrNameLst>
                                      </p:cBhvr>
                                      <p:to>
                                        <p:strVal val="visible"/>
                                      </p:to>
                                    </p:set>
                                    <p:animEffect filter="fade" transition="in">
                                      <p:cBhvr>
                                        <p:cTn dur="1"/>
                                        <p:tgtEl>
                                          <p:spTgt spid="4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 st="1"/>
                                            </p:txEl>
                                          </p:spTgt>
                                        </p:tgtEl>
                                        <p:attrNameLst>
                                          <p:attrName>style.visibility</p:attrName>
                                        </p:attrNameLst>
                                      </p:cBhvr>
                                      <p:to>
                                        <p:strVal val="visible"/>
                                      </p:to>
                                    </p:set>
                                    <p:animEffect filter="fade" transition="in">
                                      <p:cBhvr>
                                        <p:cTn dur="1"/>
                                        <p:tgtEl>
                                          <p:spTgt spid="4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2" st="2"/>
                                            </p:txEl>
                                          </p:spTgt>
                                        </p:tgtEl>
                                        <p:attrNameLst>
                                          <p:attrName>style.visibility</p:attrName>
                                        </p:attrNameLst>
                                      </p:cBhvr>
                                      <p:to>
                                        <p:strVal val="visible"/>
                                      </p:to>
                                    </p:set>
                                    <p:animEffect filter="fade" transition="in">
                                      <p:cBhvr>
                                        <p:cTn dur="1"/>
                                        <p:tgtEl>
                                          <p:spTgt spid="4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3" st="3"/>
                                            </p:txEl>
                                          </p:spTgt>
                                        </p:tgtEl>
                                        <p:attrNameLst>
                                          <p:attrName>style.visibility</p:attrName>
                                        </p:attrNameLst>
                                      </p:cBhvr>
                                      <p:to>
                                        <p:strVal val="visible"/>
                                      </p:to>
                                    </p:set>
                                    <p:animEffect filter="fade" transition="in">
                                      <p:cBhvr>
                                        <p:cTn dur="1"/>
                                        <p:tgtEl>
                                          <p:spTgt spid="4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4" st="4"/>
                                            </p:txEl>
                                          </p:spTgt>
                                        </p:tgtEl>
                                        <p:attrNameLst>
                                          <p:attrName>style.visibility</p:attrName>
                                        </p:attrNameLst>
                                      </p:cBhvr>
                                      <p:to>
                                        <p:strVal val="visible"/>
                                      </p:to>
                                    </p:set>
                                    <p:animEffect filter="fade" transition="in">
                                      <p:cBhvr>
                                        <p:cTn dur="1"/>
                                        <p:tgtEl>
                                          <p:spTgt spid="4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5" st="5"/>
                                            </p:txEl>
                                          </p:spTgt>
                                        </p:tgtEl>
                                        <p:attrNameLst>
                                          <p:attrName>style.visibility</p:attrName>
                                        </p:attrNameLst>
                                      </p:cBhvr>
                                      <p:to>
                                        <p:strVal val="visible"/>
                                      </p:to>
                                    </p:set>
                                    <p:animEffect filter="fade" transition="in">
                                      <p:cBhvr>
                                        <p:cTn dur="1"/>
                                        <p:tgtEl>
                                          <p:spTgt spid="46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6" st="6"/>
                                            </p:txEl>
                                          </p:spTgt>
                                        </p:tgtEl>
                                        <p:attrNameLst>
                                          <p:attrName>style.visibility</p:attrName>
                                        </p:attrNameLst>
                                      </p:cBhvr>
                                      <p:to>
                                        <p:strVal val="visible"/>
                                      </p:to>
                                    </p:set>
                                    <p:animEffect filter="fade" transition="in">
                                      <p:cBhvr>
                                        <p:cTn dur="1"/>
                                        <p:tgtEl>
                                          <p:spTgt spid="46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7" st="7"/>
                                            </p:txEl>
                                          </p:spTgt>
                                        </p:tgtEl>
                                        <p:attrNameLst>
                                          <p:attrName>style.visibility</p:attrName>
                                        </p:attrNameLst>
                                      </p:cBhvr>
                                      <p:to>
                                        <p:strVal val="visible"/>
                                      </p:to>
                                    </p:set>
                                    <p:animEffect filter="fade" transition="in">
                                      <p:cBhvr>
                                        <p:cTn dur="1"/>
                                        <p:tgtEl>
                                          <p:spTgt spid="46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8" st="8"/>
                                            </p:txEl>
                                          </p:spTgt>
                                        </p:tgtEl>
                                        <p:attrNameLst>
                                          <p:attrName>style.visibility</p:attrName>
                                        </p:attrNameLst>
                                      </p:cBhvr>
                                      <p:to>
                                        <p:strVal val="visible"/>
                                      </p:to>
                                    </p:set>
                                    <p:animEffect filter="fade" transition="in">
                                      <p:cBhvr>
                                        <p:cTn dur="1"/>
                                        <p:tgtEl>
                                          <p:spTgt spid="46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9" st="9"/>
                                            </p:txEl>
                                          </p:spTgt>
                                        </p:tgtEl>
                                        <p:attrNameLst>
                                          <p:attrName>style.visibility</p:attrName>
                                        </p:attrNameLst>
                                      </p:cBhvr>
                                      <p:to>
                                        <p:strVal val="visible"/>
                                      </p:to>
                                    </p:set>
                                    <p:animEffect filter="fade" transition="in">
                                      <p:cBhvr>
                                        <p:cTn dur="1"/>
                                        <p:tgtEl>
                                          <p:spTgt spid="46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0" st="10"/>
                                            </p:txEl>
                                          </p:spTgt>
                                        </p:tgtEl>
                                        <p:attrNameLst>
                                          <p:attrName>style.visibility</p:attrName>
                                        </p:attrNameLst>
                                      </p:cBhvr>
                                      <p:to>
                                        <p:strVal val="visible"/>
                                      </p:to>
                                    </p:set>
                                    <p:animEffect filter="fade" transition="in">
                                      <p:cBhvr>
                                        <p:cTn dur="1"/>
                                        <p:tgtEl>
                                          <p:spTgt spid="46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1" st="11"/>
                                            </p:txEl>
                                          </p:spTgt>
                                        </p:tgtEl>
                                        <p:attrNameLst>
                                          <p:attrName>style.visibility</p:attrName>
                                        </p:attrNameLst>
                                      </p:cBhvr>
                                      <p:to>
                                        <p:strVal val="visible"/>
                                      </p:to>
                                    </p:set>
                                    <p:animEffect filter="fade" transition="in">
                                      <p:cBhvr>
                                        <p:cTn dur="1"/>
                                        <p:tgtEl>
                                          <p:spTgt spid="46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2" st="12"/>
                                            </p:txEl>
                                          </p:spTgt>
                                        </p:tgtEl>
                                        <p:attrNameLst>
                                          <p:attrName>style.visibility</p:attrName>
                                        </p:attrNameLst>
                                      </p:cBhvr>
                                      <p:to>
                                        <p:strVal val="visible"/>
                                      </p:to>
                                    </p:set>
                                    <p:animEffect filter="fade" transition="in">
                                      <p:cBhvr>
                                        <p:cTn dur="1"/>
                                        <p:tgtEl>
                                          <p:spTgt spid="46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0" st="0"/>
                                            </p:txEl>
                                          </p:spTgt>
                                        </p:tgtEl>
                                        <p:attrNameLst>
                                          <p:attrName>style.visibility</p:attrName>
                                        </p:attrNameLst>
                                      </p:cBhvr>
                                      <p:to>
                                        <p:strVal val="visible"/>
                                      </p:to>
                                    </p:set>
                                    <p:animEffect filter="fade" transition="in">
                                      <p:cBhvr>
                                        <p:cTn dur="1"/>
                                        <p:tgtEl>
                                          <p:spTgt spid="4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 st="1"/>
                                            </p:txEl>
                                          </p:spTgt>
                                        </p:tgtEl>
                                        <p:attrNameLst>
                                          <p:attrName>style.visibility</p:attrName>
                                        </p:attrNameLst>
                                      </p:cBhvr>
                                      <p:to>
                                        <p:strVal val="visible"/>
                                      </p:to>
                                    </p:set>
                                    <p:animEffect filter="fade" transition="in">
                                      <p:cBhvr>
                                        <p:cTn dur="1"/>
                                        <p:tgtEl>
                                          <p:spTgt spid="4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2" st="2"/>
                                            </p:txEl>
                                          </p:spTgt>
                                        </p:tgtEl>
                                        <p:attrNameLst>
                                          <p:attrName>style.visibility</p:attrName>
                                        </p:attrNameLst>
                                      </p:cBhvr>
                                      <p:to>
                                        <p:strVal val="visible"/>
                                      </p:to>
                                    </p:set>
                                    <p:animEffect filter="fade" transition="in">
                                      <p:cBhvr>
                                        <p:cTn dur="1"/>
                                        <p:tgtEl>
                                          <p:spTgt spid="4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3" st="3"/>
                                            </p:txEl>
                                          </p:spTgt>
                                        </p:tgtEl>
                                        <p:attrNameLst>
                                          <p:attrName>style.visibility</p:attrName>
                                        </p:attrNameLst>
                                      </p:cBhvr>
                                      <p:to>
                                        <p:strVal val="visible"/>
                                      </p:to>
                                    </p:set>
                                    <p:animEffect filter="fade" transition="in">
                                      <p:cBhvr>
                                        <p:cTn dur="1"/>
                                        <p:tgtEl>
                                          <p:spTgt spid="4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4" st="4"/>
                                            </p:txEl>
                                          </p:spTgt>
                                        </p:tgtEl>
                                        <p:attrNameLst>
                                          <p:attrName>style.visibility</p:attrName>
                                        </p:attrNameLst>
                                      </p:cBhvr>
                                      <p:to>
                                        <p:strVal val="visible"/>
                                      </p:to>
                                    </p:set>
                                    <p:animEffect filter="fade" transition="in">
                                      <p:cBhvr>
                                        <p:cTn dur="1"/>
                                        <p:tgtEl>
                                          <p:spTgt spid="4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5" st="5"/>
                                            </p:txEl>
                                          </p:spTgt>
                                        </p:tgtEl>
                                        <p:attrNameLst>
                                          <p:attrName>style.visibility</p:attrName>
                                        </p:attrNameLst>
                                      </p:cBhvr>
                                      <p:to>
                                        <p:strVal val="visible"/>
                                      </p:to>
                                    </p:set>
                                    <p:animEffect filter="fade" transition="in">
                                      <p:cBhvr>
                                        <p:cTn dur="1"/>
                                        <p:tgtEl>
                                          <p:spTgt spid="4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6" st="6"/>
                                            </p:txEl>
                                          </p:spTgt>
                                        </p:tgtEl>
                                        <p:attrNameLst>
                                          <p:attrName>style.visibility</p:attrName>
                                        </p:attrNameLst>
                                      </p:cBhvr>
                                      <p:to>
                                        <p:strVal val="visible"/>
                                      </p:to>
                                    </p:set>
                                    <p:animEffect filter="fade" transition="in">
                                      <p:cBhvr>
                                        <p:cTn dur="1"/>
                                        <p:tgtEl>
                                          <p:spTgt spid="4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7" st="7"/>
                                            </p:txEl>
                                          </p:spTgt>
                                        </p:tgtEl>
                                        <p:attrNameLst>
                                          <p:attrName>style.visibility</p:attrName>
                                        </p:attrNameLst>
                                      </p:cBhvr>
                                      <p:to>
                                        <p:strVal val="visible"/>
                                      </p:to>
                                    </p:set>
                                    <p:animEffect filter="fade" transition="in">
                                      <p:cBhvr>
                                        <p:cTn dur="1"/>
                                        <p:tgtEl>
                                          <p:spTgt spid="4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8" st="8"/>
                                            </p:txEl>
                                          </p:spTgt>
                                        </p:tgtEl>
                                        <p:attrNameLst>
                                          <p:attrName>style.visibility</p:attrName>
                                        </p:attrNameLst>
                                      </p:cBhvr>
                                      <p:to>
                                        <p:strVal val="visible"/>
                                      </p:to>
                                    </p:set>
                                    <p:animEffect filter="fade" transition="in">
                                      <p:cBhvr>
                                        <p:cTn dur="1"/>
                                        <p:tgtEl>
                                          <p:spTgt spid="4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9" st="9"/>
                                            </p:txEl>
                                          </p:spTgt>
                                        </p:tgtEl>
                                        <p:attrNameLst>
                                          <p:attrName>style.visibility</p:attrName>
                                        </p:attrNameLst>
                                      </p:cBhvr>
                                      <p:to>
                                        <p:strVal val="visible"/>
                                      </p:to>
                                    </p:set>
                                    <p:animEffect filter="fade" transition="in">
                                      <p:cBhvr>
                                        <p:cTn dur="1"/>
                                        <p:tgtEl>
                                          <p:spTgt spid="4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0" st="10"/>
                                            </p:txEl>
                                          </p:spTgt>
                                        </p:tgtEl>
                                        <p:attrNameLst>
                                          <p:attrName>style.visibility</p:attrName>
                                        </p:attrNameLst>
                                      </p:cBhvr>
                                      <p:to>
                                        <p:strVal val="visible"/>
                                      </p:to>
                                    </p:set>
                                    <p:animEffect filter="fade" transition="in">
                                      <p:cBhvr>
                                        <p:cTn dur="1"/>
                                        <p:tgtEl>
                                          <p:spTgt spid="46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1" st="11"/>
                                            </p:txEl>
                                          </p:spTgt>
                                        </p:tgtEl>
                                        <p:attrNameLst>
                                          <p:attrName>style.visibility</p:attrName>
                                        </p:attrNameLst>
                                      </p:cBhvr>
                                      <p:to>
                                        <p:strVal val="visible"/>
                                      </p:to>
                                    </p:set>
                                    <p:animEffect filter="fade" transition="in">
                                      <p:cBhvr>
                                        <p:cTn dur="1"/>
                                        <p:tgtEl>
                                          <p:spTgt spid="46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2" st="12"/>
                                            </p:txEl>
                                          </p:spTgt>
                                        </p:tgtEl>
                                        <p:attrNameLst>
                                          <p:attrName>style.visibility</p:attrName>
                                        </p:attrNameLst>
                                      </p:cBhvr>
                                      <p:to>
                                        <p:strVal val="visible"/>
                                      </p:to>
                                    </p:set>
                                    <p:animEffect filter="fade" transition="in">
                                      <p:cBhvr>
                                        <p:cTn dur="1"/>
                                        <p:tgtEl>
                                          <p:spTgt spid="46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3" st="13"/>
                                            </p:txEl>
                                          </p:spTgt>
                                        </p:tgtEl>
                                        <p:attrNameLst>
                                          <p:attrName>style.visibility</p:attrName>
                                        </p:attrNameLst>
                                      </p:cBhvr>
                                      <p:to>
                                        <p:strVal val="visible"/>
                                      </p:to>
                                    </p:set>
                                    <p:animEffect filter="fade" transition="in">
                                      <p:cBhvr>
                                        <p:cTn dur="1"/>
                                        <p:tgtEl>
                                          <p:spTgt spid="46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4" st="14"/>
                                            </p:txEl>
                                          </p:spTgt>
                                        </p:tgtEl>
                                        <p:attrNameLst>
                                          <p:attrName>style.visibility</p:attrName>
                                        </p:attrNameLst>
                                      </p:cBhvr>
                                      <p:to>
                                        <p:strVal val="visible"/>
                                      </p:to>
                                    </p:set>
                                    <p:animEffect filter="fade" transition="in">
                                      <p:cBhvr>
                                        <p:cTn dur="1"/>
                                        <p:tgtEl>
                                          <p:spTgt spid="46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5" st="15"/>
                                            </p:txEl>
                                          </p:spTgt>
                                        </p:tgtEl>
                                        <p:attrNameLst>
                                          <p:attrName>style.visibility</p:attrName>
                                        </p:attrNameLst>
                                      </p:cBhvr>
                                      <p:to>
                                        <p:strVal val="visible"/>
                                      </p:to>
                                    </p:set>
                                    <p:animEffect filter="fade" transition="in">
                                      <p:cBhvr>
                                        <p:cTn dur="1"/>
                                        <p:tgtEl>
                                          <p:spTgt spid="469">
                                            <p:txEl>
                                              <p:pRg end="15" st="1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
                                        <p:tgtEl>
                                          <p:spTgt spid="473"/>
                                        </p:tgtEl>
                                      </p:cBhvr>
                                    </p:animEffect>
                                  </p:childTnLst>
                                </p:cTn>
                              </p:par>
                              <p:par>
                                <p:cTn fill="hold" nodeType="withEffect" presetClass="entr" presetID="10" presetSubtype="0">
                                  <p:stCondLst>
                                    <p:cond delay="0"/>
                                  </p:stCondLst>
                                  <p:childTnLst>
                                    <p:set>
                                      <p:cBhvr>
                                        <p:cTn dur="1" fill="hold">
                                          <p:stCondLst>
                                            <p:cond delay="0"/>
                                          </p:stCondLst>
                                        </p:cTn>
                                        <p:tgtEl>
                                          <p:spTgt spid="472">
                                            <p:txEl>
                                              <p:pRg end="0" st="0"/>
                                            </p:txEl>
                                          </p:spTgt>
                                        </p:tgtEl>
                                        <p:attrNameLst>
                                          <p:attrName>style.visibility</p:attrName>
                                        </p:attrNameLst>
                                      </p:cBhvr>
                                      <p:to>
                                        <p:strVal val="visible"/>
                                      </p:to>
                                    </p:set>
                                    <p:animEffect filter="fade" transition="in">
                                      <p:cBhvr>
                                        <p:cTn dur="1"/>
                                        <p:tgtEl>
                                          <p:spTgt spid="4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
                                        <p:tgtEl>
                                          <p:spTgt spid="477"/>
                                        </p:tgtEl>
                                      </p:cBhvr>
                                    </p:animEffect>
                                  </p:childTnLst>
                                </p:cTn>
                              </p:par>
                              <p:par>
                                <p:cTn fill="hold" nodeType="withEffect" presetClass="entr" presetID="10" presetSubtype="0">
                                  <p:stCondLst>
                                    <p:cond delay="0"/>
                                  </p:stCondLst>
                                  <p:childTnLst>
                                    <p:set>
                                      <p:cBhvr>
                                        <p:cTn dur="1" fill="hold">
                                          <p:stCondLst>
                                            <p:cond delay="0"/>
                                          </p:stCondLst>
                                        </p:cTn>
                                        <p:tgtEl>
                                          <p:spTgt spid="478">
                                            <p:txEl>
                                              <p:pRg end="0" st="0"/>
                                            </p:txEl>
                                          </p:spTgt>
                                        </p:tgtEl>
                                        <p:attrNameLst>
                                          <p:attrName>style.visibility</p:attrName>
                                        </p:attrNameLst>
                                      </p:cBhvr>
                                      <p:to>
                                        <p:strVal val="visible"/>
                                      </p:to>
                                    </p:set>
                                    <p:animEffect filter="fade" transition="in">
                                      <p:cBhvr>
                                        <p:cTn dur="1"/>
                                        <p:tgtEl>
                                          <p:spTgt spid="4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xEl>
                                              <p:pRg end="0" st="0"/>
                                            </p:txEl>
                                          </p:spTgt>
                                        </p:tgtEl>
                                        <p:attrNameLst>
                                          <p:attrName>style.visibility</p:attrName>
                                        </p:attrNameLst>
                                      </p:cBhvr>
                                      <p:to>
                                        <p:strVal val="visible"/>
                                      </p:to>
                                    </p:set>
                                    <p:animEffect filter="fade" transition="in">
                                      <p:cBhvr>
                                        <p:cTn dur="1"/>
                                        <p:tgtEl>
                                          <p:spTgt spid="47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1"/>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
                                        <p:tgtEl>
                                          <p:spTgt spid="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xEl>
                                              <p:pRg end="0" st="0"/>
                                            </p:txEl>
                                          </p:spTgt>
                                        </p:tgtEl>
                                        <p:attrNameLst>
                                          <p:attrName>style.visibility</p:attrName>
                                        </p:attrNameLst>
                                      </p:cBhvr>
                                      <p:to>
                                        <p:strVal val="visible"/>
                                      </p:to>
                                    </p:set>
                                    <p:animEffect filter="fade" transition="in">
                                      <p:cBhvr>
                                        <p:cTn dur="1"/>
                                        <p:tgtEl>
                                          <p:spTgt spid="4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1"/>
                                        <p:tgtEl>
                                          <p:spTgt spid="479"/>
                                        </p:tgtEl>
                                      </p:cBhvr>
                                    </p:animEffect>
                                  </p:childTnLst>
                                </p:cTn>
                              </p:par>
                              <p:par>
                                <p:cTn fill="hold" nodeType="withEffect" presetClass="entr" presetID="10" presetSubtype="0">
                                  <p:stCondLst>
                                    <p:cond delay="0"/>
                                  </p:stCondLst>
                                  <p:childTnLst>
                                    <p:set>
                                      <p:cBhvr>
                                        <p:cTn dur="1" fill="hold">
                                          <p:stCondLst>
                                            <p:cond delay="0"/>
                                          </p:stCondLst>
                                        </p:cTn>
                                        <p:tgtEl>
                                          <p:spTgt spid="480">
                                            <p:txEl>
                                              <p:pRg end="0" st="0"/>
                                            </p:txEl>
                                          </p:spTgt>
                                        </p:tgtEl>
                                        <p:attrNameLst>
                                          <p:attrName>style.visibility</p:attrName>
                                        </p:attrNameLst>
                                      </p:cBhvr>
                                      <p:to>
                                        <p:strVal val="visible"/>
                                      </p:to>
                                    </p:set>
                                    <p:animEffect filter="fade" transition="in">
                                      <p:cBhvr>
                                        <p:cTn dur="1"/>
                                        <p:tgtEl>
                                          <p:spTgt spid="4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xEl>
                                              <p:pRg end="0" st="0"/>
                                            </p:txEl>
                                          </p:spTgt>
                                        </p:tgtEl>
                                        <p:attrNameLst>
                                          <p:attrName>style.visibility</p:attrName>
                                        </p:attrNameLst>
                                      </p:cBhvr>
                                      <p:to>
                                        <p:strVal val="visible"/>
                                      </p:to>
                                    </p:set>
                                    <p:animEffect filter="fade" transition="in">
                                      <p:cBhvr>
                                        <p:cTn dur="1"/>
                                        <p:tgtEl>
                                          <p:spTgt spid="48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1"/>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92"/>
          <p:cNvSpPr txBox="1"/>
          <p:nvPr/>
        </p:nvSpPr>
        <p:spPr>
          <a:xfrm>
            <a:off x="504000" y="223200"/>
            <a:ext cx="9071640" cy="615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Deriving time taken by a program</a:t>
            </a:r>
            <a:endParaRPr b="0" i="0" sz="4000" u="none" cap="none" strike="noStrike">
              <a:latin typeface="Arial"/>
              <a:ea typeface="Arial"/>
              <a:cs typeface="Arial"/>
              <a:sym typeface="Arial"/>
            </a:endParaRPr>
          </a:p>
        </p:txBody>
      </p:sp>
      <p:sp>
        <p:nvSpPr>
          <p:cNvPr id="489" name="Google Shape;489;p92"/>
          <p:cNvSpPr txBox="1"/>
          <p:nvPr/>
        </p:nvSpPr>
        <p:spPr>
          <a:xfrm>
            <a:off x="504000" y="754200"/>
            <a:ext cx="4464000" cy="543096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int x, y, z = 10, k, i;</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scanf(“%d%d”, &amp;x, &amp;y);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for(k = 0; k &lt; x; k++)</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for(i = 0; i &lt; y; i++)</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90" name="Google Shape;490;p92"/>
          <p:cNvSpPr txBox="1"/>
          <p:nvPr/>
        </p:nvSpPr>
        <p:spPr>
          <a:xfrm>
            <a:off x="5039640" y="646200"/>
            <a:ext cx="4639320" cy="564696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Other way of derivation</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inner loop = Ay + B</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Outer loop = Time for k=0  + x * (Time taken by inner loop, k &lt; x, k++)</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P + x (Ay + B + C)</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P + Qx + Axy</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Program = Const + P + Qx + Axy</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0" st="0"/>
                                            </p:txEl>
                                          </p:spTgt>
                                        </p:tgtEl>
                                        <p:attrNameLst>
                                          <p:attrName>style.visibility</p:attrName>
                                        </p:attrNameLst>
                                      </p:cBhvr>
                                      <p:to>
                                        <p:strVal val="visible"/>
                                      </p:to>
                                    </p:set>
                                    <p:animEffect filter="fade" transition="in">
                                      <p:cBhvr>
                                        <p:cTn dur="1"/>
                                        <p:tgtEl>
                                          <p:spTgt spid="4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 st="1"/>
                                            </p:txEl>
                                          </p:spTgt>
                                        </p:tgtEl>
                                        <p:attrNameLst>
                                          <p:attrName>style.visibility</p:attrName>
                                        </p:attrNameLst>
                                      </p:cBhvr>
                                      <p:to>
                                        <p:strVal val="visible"/>
                                      </p:to>
                                    </p:set>
                                    <p:animEffect filter="fade" transition="in">
                                      <p:cBhvr>
                                        <p:cTn dur="1"/>
                                        <p:tgtEl>
                                          <p:spTgt spid="4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2" st="2"/>
                                            </p:txEl>
                                          </p:spTgt>
                                        </p:tgtEl>
                                        <p:attrNameLst>
                                          <p:attrName>style.visibility</p:attrName>
                                        </p:attrNameLst>
                                      </p:cBhvr>
                                      <p:to>
                                        <p:strVal val="visible"/>
                                      </p:to>
                                    </p:set>
                                    <p:animEffect filter="fade" transition="in">
                                      <p:cBhvr>
                                        <p:cTn dur="1"/>
                                        <p:tgtEl>
                                          <p:spTgt spid="4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3" st="3"/>
                                            </p:txEl>
                                          </p:spTgt>
                                        </p:tgtEl>
                                        <p:attrNameLst>
                                          <p:attrName>style.visibility</p:attrName>
                                        </p:attrNameLst>
                                      </p:cBhvr>
                                      <p:to>
                                        <p:strVal val="visible"/>
                                      </p:to>
                                    </p:set>
                                    <p:animEffect filter="fade" transition="in">
                                      <p:cBhvr>
                                        <p:cTn dur="1"/>
                                        <p:tgtEl>
                                          <p:spTgt spid="4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4" st="4"/>
                                            </p:txEl>
                                          </p:spTgt>
                                        </p:tgtEl>
                                        <p:attrNameLst>
                                          <p:attrName>style.visibility</p:attrName>
                                        </p:attrNameLst>
                                      </p:cBhvr>
                                      <p:to>
                                        <p:strVal val="visible"/>
                                      </p:to>
                                    </p:set>
                                    <p:animEffect filter="fade" transition="in">
                                      <p:cBhvr>
                                        <p:cTn dur="1"/>
                                        <p:tgtEl>
                                          <p:spTgt spid="4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5" st="5"/>
                                            </p:txEl>
                                          </p:spTgt>
                                        </p:tgtEl>
                                        <p:attrNameLst>
                                          <p:attrName>style.visibility</p:attrName>
                                        </p:attrNameLst>
                                      </p:cBhvr>
                                      <p:to>
                                        <p:strVal val="visible"/>
                                      </p:to>
                                    </p:set>
                                    <p:animEffect filter="fade" transition="in">
                                      <p:cBhvr>
                                        <p:cTn dur="1"/>
                                        <p:tgtEl>
                                          <p:spTgt spid="4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6" st="6"/>
                                            </p:txEl>
                                          </p:spTgt>
                                        </p:tgtEl>
                                        <p:attrNameLst>
                                          <p:attrName>style.visibility</p:attrName>
                                        </p:attrNameLst>
                                      </p:cBhvr>
                                      <p:to>
                                        <p:strVal val="visible"/>
                                      </p:to>
                                    </p:set>
                                    <p:animEffect filter="fade" transition="in">
                                      <p:cBhvr>
                                        <p:cTn dur="1"/>
                                        <p:tgtEl>
                                          <p:spTgt spid="4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7" st="7"/>
                                            </p:txEl>
                                          </p:spTgt>
                                        </p:tgtEl>
                                        <p:attrNameLst>
                                          <p:attrName>style.visibility</p:attrName>
                                        </p:attrNameLst>
                                      </p:cBhvr>
                                      <p:to>
                                        <p:strVal val="visible"/>
                                      </p:to>
                                    </p:set>
                                    <p:animEffect filter="fade" transition="in">
                                      <p:cBhvr>
                                        <p:cTn dur="1"/>
                                        <p:tgtEl>
                                          <p:spTgt spid="48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8" st="8"/>
                                            </p:txEl>
                                          </p:spTgt>
                                        </p:tgtEl>
                                        <p:attrNameLst>
                                          <p:attrName>style.visibility</p:attrName>
                                        </p:attrNameLst>
                                      </p:cBhvr>
                                      <p:to>
                                        <p:strVal val="visible"/>
                                      </p:to>
                                    </p:set>
                                    <p:animEffect filter="fade" transition="in">
                                      <p:cBhvr>
                                        <p:cTn dur="1"/>
                                        <p:tgtEl>
                                          <p:spTgt spid="48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9" st="9"/>
                                            </p:txEl>
                                          </p:spTgt>
                                        </p:tgtEl>
                                        <p:attrNameLst>
                                          <p:attrName>style.visibility</p:attrName>
                                        </p:attrNameLst>
                                      </p:cBhvr>
                                      <p:to>
                                        <p:strVal val="visible"/>
                                      </p:to>
                                    </p:set>
                                    <p:animEffect filter="fade" transition="in">
                                      <p:cBhvr>
                                        <p:cTn dur="1"/>
                                        <p:tgtEl>
                                          <p:spTgt spid="48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0" st="10"/>
                                            </p:txEl>
                                          </p:spTgt>
                                        </p:tgtEl>
                                        <p:attrNameLst>
                                          <p:attrName>style.visibility</p:attrName>
                                        </p:attrNameLst>
                                      </p:cBhvr>
                                      <p:to>
                                        <p:strVal val="visible"/>
                                      </p:to>
                                    </p:set>
                                    <p:animEffect filter="fade" transition="in">
                                      <p:cBhvr>
                                        <p:cTn dur="1"/>
                                        <p:tgtEl>
                                          <p:spTgt spid="48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1" st="11"/>
                                            </p:txEl>
                                          </p:spTgt>
                                        </p:tgtEl>
                                        <p:attrNameLst>
                                          <p:attrName>style.visibility</p:attrName>
                                        </p:attrNameLst>
                                      </p:cBhvr>
                                      <p:to>
                                        <p:strVal val="visible"/>
                                      </p:to>
                                    </p:set>
                                    <p:animEffect filter="fade" transition="in">
                                      <p:cBhvr>
                                        <p:cTn dur="1"/>
                                        <p:tgtEl>
                                          <p:spTgt spid="48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2" st="12"/>
                                            </p:txEl>
                                          </p:spTgt>
                                        </p:tgtEl>
                                        <p:attrNameLst>
                                          <p:attrName>style.visibility</p:attrName>
                                        </p:attrNameLst>
                                      </p:cBhvr>
                                      <p:to>
                                        <p:strVal val="visible"/>
                                      </p:to>
                                    </p:set>
                                    <p:animEffect filter="fade" transition="in">
                                      <p:cBhvr>
                                        <p:cTn dur="1"/>
                                        <p:tgtEl>
                                          <p:spTgt spid="489">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93"/>
          <p:cNvSpPr txBox="1"/>
          <p:nvPr/>
        </p:nvSpPr>
        <p:spPr>
          <a:xfrm>
            <a:off x="593280" y="124200"/>
            <a:ext cx="9071640" cy="49248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800000"/>
                </a:solidFill>
                <a:latin typeface="Arial"/>
                <a:ea typeface="Arial"/>
                <a:cs typeface="Arial"/>
                <a:sym typeface="Arial"/>
              </a:rPr>
              <a:t>Deriving time taken by a program</a:t>
            </a:r>
            <a:endParaRPr b="0" i="0" sz="3200" u="none" cap="none" strike="noStrike">
              <a:latin typeface="Arial"/>
              <a:ea typeface="Arial"/>
              <a:cs typeface="Arial"/>
              <a:sym typeface="Arial"/>
            </a:endParaRPr>
          </a:p>
        </p:txBody>
      </p:sp>
      <p:sp>
        <p:nvSpPr>
          <p:cNvPr id="497" name="Google Shape;497;p93"/>
          <p:cNvSpPr txBox="1"/>
          <p:nvPr/>
        </p:nvSpPr>
        <p:spPr>
          <a:xfrm>
            <a:off x="432360" y="678960"/>
            <a:ext cx="4934160" cy="6264000"/>
          </a:xfrm>
          <a:prstGeom prst="rect">
            <a:avLst/>
          </a:prstGeom>
          <a:noFill/>
          <a:ln>
            <a:noFill/>
          </a:ln>
        </p:spPr>
        <p:txBody>
          <a:bodyPr anchorCtr="0" anchor="t" bIns="0" lIns="0" spcFirstLastPara="1" rIns="0" wrap="square" tIns="0">
            <a:noAutofit/>
          </a:bodyPr>
          <a:lstStyle/>
          <a:p>
            <a:pPr indent="-57150" lvl="0" marL="0" marR="0" rtl="0" algn="just">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Solution-1 for the x^y problem</a:t>
            </a:r>
            <a:endParaRPr b="0" i="0" sz="20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0000CC"/>
                </a:solidFill>
                <a:latin typeface="Courier"/>
                <a:ea typeface="Courier"/>
                <a:cs typeface="Courier"/>
                <a:sym typeface="Courier"/>
              </a:rPr>
              <a:t>double power(int x, int y) {</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long long prod = 1;</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int i;</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long long term = x;</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if(y &lt; 0) {</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sign = -1;</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y = -y;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0000CC"/>
                </a:solidFill>
                <a:latin typeface="Courier"/>
                <a:ea typeface="Courier"/>
                <a:cs typeface="Courier"/>
                <a:sym typeface="Courier"/>
              </a:rPr>
              <a:t>for(i = 0; i &lt; y; i++)</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0000CC"/>
                </a:solidFill>
                <a:latin typeface="Courier"/>
                <a:ea typeface="Courier"/>
                <a:cs typeface="Courier"/>
                <a:sym typeface="Courier"/>
              </a:rPr>
              <a:t>prod = prod * x;</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if(sign == -1)</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prod = 1.0 / prod;</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return prod;</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int main() {</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int x, 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scanf("%d%d", &amp;x, &amp;y);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printf("%lf\n", power(x, 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return 0;</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 </a:t>
            </a:r>
            <a:endParaRPr b="0" i="0" sz="1600" u="none" cap="none" strike="noStrike">
              <a:latin typeface="Arial"/>
              <a:ea typeface="Arial"/>
              <a:cs typeface="Arial"/>
              <a:sym typeface="Arial"/>
            </a:endParaRPr>
          </a:p>
        </p:txBody>
      </p:sp>
      <p:sp>
        <p:nvSpPr>
          <p:cNvPr id="498" name="Google Shape;498;p93"/>
          <p:cNvSpPr txBox="1"/>
          <p:nvPr/>
        </p:nvSpPr>
        <p:spPr>
          <a:xfrm>
            <a:off x="4817160" y="1296000"/>
            <a:ext cx="4934160" cy="5646960"/>
          </a:xfrm>
          <a:prstGeom prst="rect">
            <a:avLst/>
          </a:prstGeom>
          <a:noFill/>
          <a:ln>
            <a:noFill/>
          </a:ln>
        </p:spPr>
        <p:txBody>
          <a:bodyPr anchorCtr="0" anchor="t" bIns="0" lIns="0" spcFirstLastPara="1" rIns="0" wrap="square" tIns="0">
            <a:noAutofit/>
          </a:bodyPr>
          <a:lstStyle/>
          <a:p>
            <a:pPr indent="-51435" lvl="0" marL="0" marR="0" rtl="0" algn="l">
              <a:lnSpc>
                <a:spcPct val="100000"/>
              </a:lnSpc>
              <a:spcBef>
                <a:spcPts val="0"/>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If{ } implies that some code may or may not run at times</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Such cases lead to 3 different analysis</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Best case – minimum possible time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Worst case: Maximum possible time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Average case: Average time, considering all cases</a:t>
            </a:r>
            <a:endParaRPr b="0" i="0" sz="1800" u="none" cap="none" strike="noStrike">
              <a:latin typeface="Arial"/>
              <a:ea typeface="Arial"/>
              <a:cs typeface="Arial"/>
              <a:sym typeface="Arial"/>
            </a:endParaRPr>
          </a:p>
          <a:p>
            <a:pPr indent="-51435" lvl="0" marL="0" marR="0" rtl="0" algn="l">
              <a:lnSpc>
                <a:spcPct val="10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Let’s find the worst case time equation here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In worst case the if() condition is true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Time taken by for loop is Ay + B</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So time taken by Power function is</a:t>
            </a:r>
            <a:endParaRPr b="0" i="0" sz="1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Ay + B + C</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Time taken by Main() = Ay + B + C + D</a:t>
            </a:r>
            <a:endParaRPr b="0" i="0" sz="1800" u="none" cap="none" strike="noStrike">
              <a:latin typeface="Arial"/>
              <a:ea typeface="Arial"/>
              <a:cs typeface="Arial"/>
              <a:sym typeface="Arial"/>
            </a:endParaRPr>
          </a:p>
          <a:p>
            <a:pPr indent="-51435" lvl="0" marL="0" marR="0" rtl="0" algn="l">
              <a:lnSpc>
                <a:spcPct val="10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main(y) = Ay + E</a:t>
            </a:r>
            <a:endParaRPr b="0" i="0" sz="18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0" st="0"/>
                                            </p:txEl>
                                          </p:spTgt>
                                        </p:tgtEl>
                                        <p:attrNameLst>
                                          <p:attrName>style.visibility</p:attrName>
                                        </p:attrNameLst>
                                      </p:cBhvr>
                                      <p:to>
                                        <p:strVal val="visible"/>
                                      </p:to>
                                    </p:set>
                                    <p:animEffect filter="fade" transition="in">
                                      <p:cBhvr>
                                        <p:cTn dur="1"/>
                                        <p:tgtEl>
                                          <p:spTgt spid="4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1" st="1"/>
                                            </p:txEl>
                                          </p:spTgt>
                                        </p:tgtEl>
                                        <p:attrNameLst>
                                          <p:attrName>style.visibility</p:attrName>
                                        </p:attrNameLst>
                                      </p:cBhvr>
                                      <p:to>
                                        <p:strVal val="visible"/>
                                      </p:to>
                                    </p:set>
                                    <p:animEffect filter="fade" transition="in">
                                      <p:cBhvr>
                                        <p:cTn dur="1"/>
                                        <p:tgtEl>
                                          <p:spTgt spid="4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2" st="2"/>
                                            </p:txEl>
                                          </p:spTgt>
                                        </p:tgtEl>
                                        <p:attrNameLst>
                                          <p:attrName>style.visibility</p:attrName>
                                        </p:attrNameLst>
                                      </p:cBhvr>
                                      <p:to>
                                        <p:strVal val="visible"/>
                                      </p:to>
                                    </p:set>
                                    <p:animEffect filter="fade" transition="in">
                                      <p:cBhvr>
                                        <p:cTn dur="1"/>
                                        <p:tgtEl>
                                          <p:spTgt spid="4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3" st="3"/>
                                            </p:txEl>
                                          </p:spTgt>
                                        </p:tgtEl>
                                        <p:attrNameLst>
                                          <p:attrName>style.visibility</p:attrName>
                                        </p:attrNameLst>
                                      </p:cBhvr>
                                      <p:to>
                                        <p:strVal val="visible"/>
                                      </p:to>
                                    </p:set>
                                    <p:animEffect filter="fade" transition="in">
                                      <p:cBhvr>
                                        <p:cTn dur="1"/>
                                        <p:tgtEl>
                                          <p:spTgt spid="4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4" st="4"/>
                                            </p:txEl>
                                          </p:spTgt>
                                        </p:tgtEl>
                                        <p:attrNameLst>
                                          <p:attrName>style.visibility</p:attrName>
                                        </p:attrNameLst>
                                      </p:cBhvr>
                                      <p:to>
                                        <p:strVal val="visible"/>
                                      </p:to>
                                    </p:set>
                                    <p:animEffect filter="fade" transition="in">
                                      <p:cBhvr>
                                        <p:cTn dur="1"/>
                                        <p:tgtEl>
                                          <p:spTgt spid="4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5" st="5"/>
                                            </p:txEl>
                                          </p:spTgt>
                                        </p:tgtEl>
                                        <p:attrNameLst>
                                          <p:attrName>style.visibility</p:attrName>
                                        </p:attrNameLst>
                                      </p:cBhvr>
                                      <p:to>
                                        <p:strVal val="visible"/>
                                      </p:to>
                                    </p:set>
                                    <p:animEffect filter="fade" transition="in">
                                      <p:cBhvr>
                                        <p:cTn dur="1"/>
                                        <p:tgtEl>
                                          <p:spTgt spid="4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6" st="6"/>
                                            </p:txEl>
                                          </p:spTgt>
                                        </p:tgtEl>
                                        <p:attrNameLst>
                                          <p:attrName>style.visibility</p:attrName>
                                        </p:attrNameLst>
                                      </p:cBhvr>
                                      <p:to>
                                        <p:strVal val="visible"/>
                                      </p:to>
                                    </p:set>
                                    <p:animEffect filter="fade" transition="in">
                                      <p:cBhvr>
                                        <p:cTn dur="1"/>
                                        <p:tgtEl>
                                          <p:spTgt spid="4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7" st="7"/>
                                            </p:txEl>
                                          </p:spTgt>
                                        </p:tgtEl>
                                        <p:attrNameLst>
                                          <p:attrName>style.visibility</p:attrName>
                                        </p:attrNameLst>
                                      </p:cBhvr>
                                      <p:to>
                                        <p:strVal val="visible"/>
                                      </p:to>
                                    </p:set>
                                    <p:animEffect filter="fade" transition="in">
                                      <p:cBhvr>
                                        <p:cTn dur="1"/>
                                        <p:tgtEl>
                                          <p:spTgt spid="49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8" st="8"/>
                                            </p:txEl>
                                          </p:spTgt>
                                        </p:tgtEl>
                                        <p:attrNameLst>
                                          <p:attrName>style.visibility</p:attrName>
                                        </p:attrNameLst>
                                      </p:cBhvr>
                                      <p:to>
                                        <p:strVal val="visible"/>
                                      </p:to>
                                    </p:set>
                                    <p:animEffect filter="fade" transition="in">
                                      <p:cBhvr>
                                        <p:cTn dur="1"/>
                                        <p:tgtEl>
                                          <p:spTgt spid="49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9" st="9"/>
                                            </p:txEl>
                                          </p:spTgt>
                                        </p:tgtEl>
                                        <p:attrNameLst>
                                          <p:attrName>style.visibility</p:attrName>
                                        </p:attrNameLst>
                                      </p:cBhvr>
                                      <p:to>
                                        <p:strVal val="visible"/>
                                      </p:to>
                                    </p:set>
                                    <p:animEffect filter="fade" transition="in">
                                      <p:cBhvr>
                                        <p:cTn dur="1"/>
                                        <p:tgtEl>
                                          <p:spTgt spid="49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10" st="10"/>
                                            </p:txEl>
                                          </p:spTgt>
                                        </p:tgtEl>
                                        <p:attrNameLst>
                                          <p:attrName>style.visibility</p:attrName>
                                        </p:attrNameLst>
                                      </p:cBhvr>
                                      <p:to>
                                        <p:strVal val="visible"/>
                                      </p:to>
                                    </p:set>
                                    <p:animEffect filter="fade" transition="in">
                                      <p:cBhvr>
                                        <p:cTn dur="1"/>
                                        <p:tgtEl>
                                          <p:spTgt spid="49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11" st="11"/>
                                            </p:txEl>
                                          </p:spTgt>
                                        </p:tgtEl>
                                        <p:attrNameLst>
                                          <p:attrName>style.visibility</p:attrName>
                                        </p:attrNameLst>
                                      </p:cBhvr>
                                      <p:to>
                                        <p:strVal val="visible"/>
                                      </p:to>
                                    </p:set>
                                    <p:animEffect filter="fade" transition="in">
                                      <p:cBhvr>
                                        <p:cTn dur="1"/>
                                        <p:tgtEl>
                                          <p:spTgt spid="498">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9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505" name="Google Shape;505;p94"/>
          <p:cNvSpPr txBox="1"/>
          <p:nvPr/>
        </p:nvSpPr>
        <p:spPr>
          <a:xfrm>
            <a:off x="360000" y="1296000"/>
            <a:ext cx="4608000" cy="6264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Solution-1 for the x^y problem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double power(int x, int y) {</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long long ans = 1;</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long long term = x;</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while(y &gt; 0) {</a:t>
            </a:r>
            <a:endParaRPr b="0" i="0" sz="24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if(y % 2 == 1)</a:t>
            </a:r>
            <a:endParaRPr b="0" i="0" sz="2400" u="none" cap="none" strike="noStrike">
              <a:latin typeface="Arial"/>
              <a:ea typeface="Arial"/>
              <a:cs typeface="Arial"/>
              <a:sym typeface="Arial"/>
            </a:endParaRPr>
          </a:p>
          <a:p>
            <a:pPr indent="0" lvl="0" marL="144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ans *= term;</a:t>
            </a:r>
            <a:endParaRPr b="0" i="0" sz="24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term = term * term;</a:t>
            </a:r>
            <a:endParaRPr b="0" i="0" sz="24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y = y/2;	</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return ans;</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x, y;</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scanf("%d%d", &amp;x, &amp;y);</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printf("%lf\n", power(x, y));</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506" name="Google Shape;506;p94"/>
          <p:cNvSpPr txBox="1"/>
          <p:nvPr/>
        </p:nvSpPr>
        <p:spPr>
          <a:xfrm>
            <a:off x="5112000" y="1512000"/>
            <a:ext cx="4639320" cy="564696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Worst case time equation</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power(y) = A * No. Of times the loop runs + B</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A * (log</a:t>
            </a:r>
            <a:r>
              <a:rPr b="1" i="0" lang="en-IN" sz="1600"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y + 1) + B</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A * log</a:t>
            </a:r>
            <a:r>
              <a:rPr b="1" i="0" lang="en-IN" sz="1600"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y + C</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Why log</a:t>
            </a:r>
            <a:r>
              <a:rPr b="1" i="0" lang="en-IN" sz="1600"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y?</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By definition log</a:t>
            </a:r>
            <a:r>
              <a:rPr b="1" i="0" lang="en-IN" sz="1600" u="none" cap="none" strike="noStrike">
                <a:solidFill>
                  <a:srgbClr val="0000CC"/>
                </a:solidFill>
                <a:latin typeface="Arial"/>
                <a:ea typeface="Arial"/>
                <a:cs typeface="Arial"/>
                <a:sym typeface="Arial"/>
              </a:rPr>
              <a:t>2</a:t>
            </a:r>
            <a:r>
              <a:rPr b="1" i="0" lang="en-IN" sz="2600" u="none" cap="none" strike="noStrike">
                <a:solidFill>
                  <a:srgbClr val="0000CC"/>
                </a:solidFill>
                <a:latin typeface="Arial"/>
                <a:ea typeface="Arial"/>
                <a:cs typeface="Arial"/>
                <a:sym typeface="Arial"/>
              </a:rPr>
              <a:t>x is number of times division by 2 is required to reduce the number x to 1</a:t>
            </a:r>
            <a:endParaRPr b="0" i="0" sz="2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95"/>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Comparing time taken by two equations</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O, Ώ, Ɵ notations</a:t>
            </a:r>
            <a:endParaRPr b="0" i="0" sz="3200" u="none" cap="none" strike="noStrike">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96"/>
          <p:cNvSpPr txBox="1"/>
          <p:nvPr/>
        </p:nvSpPr>
        <p:spPr>
          <a:xfrm>
            <a:off x="79560" y="-93600"/>
            <a:ext cx="99212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400" u="none" cap="none" strike="noStrike">
                <a:solidFill>
                  <a:srgbClr val="800000"/>
                </a:solidFill>
                <a:latin typeface="Arial"/>
                <a:ea typeface="Arial"/>
                <a:cs typeface="Arial"/>
                <a:sym typeface="Arial"/>
              </a:rPr>
              <a:t>Consider these two solutions to the power (x^y) problem</a:t>
            </a:r>
            <a:endParaRPr b="0" i="0" sz="2400" u="none" cap="none" strike="noStrike">
              <a:latin typeface="Arial"/>
              <a:ea typeface="Arial"/>
              <a:cs typeface="Arial"/>
              <a:sym typeface="Arial"/>
            </a:endParaRPr>
          </a:p>
        </p:txBody>
      </p:sp>
      <p:sp>
        <p:nvSpPr>
          <p:cNvPr id="519" name="Google Shape;519;p96"/>
          <p:cNvSpPr txBox="1"/>
          <p:nvPr/>
        </p:nvSpPr>
        <p:spPr>
          <a:xfrm>
            <a:off x="425880" y="105552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6600"/>
                </a:solidFill>
                <a:latin typeface="Courier"/>
                <a:ea typeface="Courier"/>
                <a:cs typeface="Courier"/>
                <a:sym typeface="Courier"/>
              </a:rPr>
              <a:t>prod = 1</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6600"/>
                </a:solidFill>
                <a:latin typeface="Courier"/>
                <a:ea typeface="Courier"/>
                <a:cs typeface="Courier"/>
                <a:sym typeface="Courier"/>
              </a:rPr>
              <a:t>for (i = 0; i &lt; y; i++)</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6600"/>
                </a:solidFill>
                <a:latin typeface="Courier"/>
                <a:ea typeface="Courier"/>
                <a:cs typeface="Courier"/>
                <a:sym typeface="Courier"/>
              </a:rPr>
              <a:t>   prod = prod * x</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br>
              <a:rPr b="0" i="0" lang="en-IN" sz="1800" u="none" cap="none" strike="noStrike"/>
            </a:br>
            <a:r>
              <a:rPr b="1" i="0" lang="en-IN" sz="2200" u="none" cap="none" strike="noStrike">
                <a:solidFill>
                  <a:srgbClr val="0000CC"/>
                </a:solidFill>
                <a:latin typeface="Courier"/>
                <a:ea typeface="Courier"/>
                <a:cs typeface="Courier"/>
                <a:sym typeface="Courier"/>
              </a:rPr>
              <a:t> </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Equation for time taken is</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T(y) = Ay + B</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Where</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A: constatnt time required for i &lt; y, i++, prod *x, prod =</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B: constant time required for i =0, prod = 1</a:t>
            </a:r>
            <a:endParaRPr b="0" i="0" sz="2200" u="none" cap="none" strike="noStrike">
              <a:latin typeface="Arial"/>
              <a:ea typeface="Arial"/>
              <a:cs typeface="Arial"/>
              <a:sym typeface="Arial"/>
            </a:endParaRPr>
          </a:p>
        </p:txBody>
      </p:sp>
      <p:sp>
        <p:nvSpPr>
          <p:cNvPr id="520" name="Google Shape;520;p96"/>
          <p:cNvSpPr txBox="1"/>
          <p:nvPr/>
        </p:nvSpPr>
        <p:spPr>
          <a:xfrm>
            <a:off x="5616000" y="730440"/>
            <a:ext cx="4320000" cy="561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6600"/>
                </a:solidFill>
                <a:latin typeface="Courier"/>
                <a:ea typeface="Courier"/>
                <a:cs typeface="Courier"/>
                <a:sym typeface="Courier"/>
              </a:rPr>
              <a:t>term = x  *x</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prod = 1</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for(i = 0; i &lt; y/2; i++)</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   prod = prod * term;</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if(y %2)</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    Prod = prod * x;</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Equation for time taken is</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800000"/>
                </a:solidFill>
                <a:latin typeface="Courier"/>
                <a:ea typeface="Courier"/>
                <a:cs typeface="Courier"/>
                <a:sym typeface="Courier"/>
              </a:rPr>
              <a:t>P(y) = A(y/2) + Q</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Where</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A: constatnt time required for i &lt; y, i++, prod *x, prod =</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Q: constant time required for i =0, prod = 1, term = x*x, y%2, prod = prod *x</a:t>
            </a:r>
            <a:endParaRPr b="0" i="0" sz="2200" u="none" cap="none" strike="noStrike">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97"/>
          <p:cNvSpPr txBox="1"/>
          <p:nvPr/>
        </p:nvSpPr>
        <p:spPr>
          <a:xfrm>
            <a:off x="504000" y="262080"/>
            <a:ext cx="9071640" cy="13410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Consider these two solutions to the power (x^y) problem</a:t>
            </a:r>
            <a:endParaRPr b="0" i="0" sz="4400" u="none" cap="none" strike="noStrike">
              <a:latin typeface="Arial"/>
              <a:ea typeface="Arial"/>
              <a:cs typeface="Arial"/>
              <a:sym typeface="Arial"/>
            </a:endParaRPr>
          </a:p>
        </p:txBody>
      </p:sp>
      <p:sp>
        <p:nvSpPr>
          <p:cNvPr id="527" name="Google Shape;527;p9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Here both equations are linear equations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second equation has a smaller  constant A/2 for the y term</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second equation has a bigger constant  term Q (Q &gt; B)</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Still, we can say that the second one performs better for higher values of y ?</a:t>
            </a:r>
            <a:endParaRPr b="0" i="0" sz="3200" u="none" cap="none" strike="noStrike">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8"/>
          <p:cNvSpPr txBox="1"/>
          <p:nvPr/>
        </p:nvSpPr>
        <p:spPr>
          <a:xfrm>
            <a:off x="504000" y="10908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Comparing two linear solutions</a:t>
            </a:r>
            <a:endParaRPr b="0" i="0" sz="3600" u="none" cap="none" strike="noStrike">
              <a:latin typeface="Arial"/>
              <a:ea typeface="Arial"/>
              <a:cs typeface="Arial"/>
              <a:sym typeface="Arial"/>
            </a:endParaRPr>
          </a:p>
        </p:txBody>
      </p:sp>
      <p:sp>
        <p:nvSpPr>
          <p:cNvPr id="534" name="Google Shape;534;p98"/>
          <p:cNvSpPr txBox="1"/>
          <p:nvPr/>
        </p:nvSpPr>
        <p:spPr>
          <a:xfrm>
            <a:off x="804960" y="663120"/>
            <a:ext cx="907164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Consider two linear equations</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T(y) = 2y + 4</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P(y) = 4y + 8</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Clearly P(y) = 2 * T(y)</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This means solution P is twice as slow as solution T</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Suppose we run P and T both on a 2 GHz</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Then P will take twice the time to run</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Suppose we run P on a 2 GHz machine and T on a 1 GHz machine</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Then P and T will take same time to run  </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This reflects the dependence of the constant 4 in 4y (or 2 in 2y) on the speed of the processor</a:t>
            </a:r>
            <a:endParaRPr b="0" i="0" sz="2400" u="none" cap="none" strike="noStrike">
              <a:latin typeface="Arial"/>
              <a:ea typeface="Arial"/>
              <a:cs typeface="Arial"/>
              <a:sym typeface="Arial"/>
            </a:endParaRPr>
          </a:p>
          <a:p>
            <a:pPr indent="-68580" lvl="0" marL="0" marR="0" rtl="0" algn="ctr">
              <a:lnSpc>
                <a:spcPct val="100000"/>
              </a:lnSpc>
              <a:spcBef>
                <a:spcPts val="601"/>
              </a:spcBef>
              <a:spcAft>
                <a:spcPts val="0"/>
              </a:spcAft>
              <a:buClr>
                <a:srgbClr val="000000"/>
              </a:buClr>
              <a:buSzPts val="1080"/>
              <a:buFont typeface="Noto Sans Symbols"/>
              <a:buChar char="■"/>
            </a:pPr>
            <a:r>
              <a:rPr b="1" i="0" lang="en-IN" sz="2400" u="none" cap="none" strike="noStrike">
                <a:solidFill>
                  <a:srgbClr val="006600"/>
                </a:solidFill>
                <a:latin typeface="Arial"/>
                <a:ea typeface="Arial"/>
                <a:cs typeface="Arial"/>
                <a:sym typeface="Arial"/>
              </a:rPr>
              <a:t>Equations of the same degree, can be made comparable by changing the processor (i.e. the constants)</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0" st="0"/>
                                            </p:txEl>
                                          </p:spTgt>
                                        </p:tgtEl>
                                        <p:attrNameLst>
                                          <p:attrName>style.visibility</p:attrName>
                                        </p:attrNameLst>
                                      </p:cBhvr>
                                      <p:to>
                                        <p:strVal val="visible"/>
                                      </p:to>
                                    </p:set>
                                    <p:animEffect filter="fade" transition="in">
                                      <p:cBhvr>
                                        <p:cTn dur="1"/>
                                        <p:tgtEl>
                                          <p:spTgt spid="5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1" st="1"/>
                                            </p:txEl>
                                          </p:spTgt>
                                        </p:tgtEl>
                                        <p:attrNameLst>
                                          <p:attrName>style.visibility</p:attrName>
                                        </p:attrNameLst>
                                      </p:cBhvr>
                                      <p:to>
                                        <p:strVal val="visible"/>
                                      </p:to>
                                    </p:set>
                                    <p:animEffect filter="fade" transition="in">
                                      <p:cBhvr>
                                        <p:cTn dur="1"/>
                                        <p:tgtEl>
                                          <p:spTgt spid="5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2" st="2"/>
                                            </p:txEl>
                                          </p:spTgt>
                                        </p:tgtEl>
                                        <p:attrNameLst>
                                          <p:attrName>style.visibility</p:attrName>
                                        </p:attrNameLst>
                                      </p:cBhvr>
                                      <p:to>
                                        <p:strVal val="visible"/>
                                      </p:to>
                                    </p:set>
                                    <p:animEffect filter="fade" transition="in">
                                      <p:cBhvr>
                                        <p:cTn dur="1"/>
                                        <p:tgtEl>
                                          <p:spTgt spid="5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3" st="3"/>
                                            </p:txEl>
                                          </p:spTgt>
                                        </p:tgtEl>
                                        <p:attrNameLst>
                                          <p:attrName>style.visibility</p:attrName>
                                        </p:attrNameLst>
                                      </p:cBhvr>
                                      <p:to>
                                        <p:strVal val="visible"/>
                                      </p:to>
                                    </p:set>
                                    <p:animEffect filter="fade" transition="in">
                                      <p:cBhvr>
                                        <p:cTn dur="1"/>
                                        <p:tgtEl>
                                          <p:spTgt spid="5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4" st="4"/>
                                            </p:txEl>
                                          </p:spTgt>
                                        </p:tgtEl>
                                        <p:attrNameLst>
                                          <p:attrName>style.visibility</p:attrName>
                                        </p:attrNameLst>
                                      </p:cBhvr>
                                      <p:to>
                                        <p:strVal val="visible"/>
                                      </p:to>
                                    </p:set>
                                    <p:animEffect filter="fade" transition="in">
                                      <p:cBhvr>
                                        <p:cTn dur="1"/>
                                        <p:tgtEl>
                                          <p:spTgt spid="5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5" st="5"/>
                                            </p:txEl>
                                          </p:spTgt>
                                        </p:tgtEl>
                                        <p:attrNameLst>
                                          <p:attrName>style.visibility</p:attrName>
                                        </p:attrNameLst>
                                      </p:cBhvr>
                                      <p:to>
                                        <p:strVal val="visible"/>
                                      </p:to>
                                    </p:set>
                                    <p:animEffect filter="fade" transition="in">
                                      <p:cBhvr>
                                        <p:cTn dur="1"/>
                                        <p:tgtEl>
                                          <p:spTgt spid="5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6" st="6"/>
                                            </p:txEl>
                                          </p:spTgt>
                                        </p:tgtEl>
                                        <p:attrNameLst>
                                          <p:attrName>style.visibility</p:attrName>
                                        </p:attrNameLst>
                                      </p:cBhvr>
                                      <p:to>
                                        <p:strVal val="visible"/>
                                      </p:to>
                                    </p:set>
                                    <p:animEffect filter="fade" transition="in">
                                      <p:cBhvr>
                                        <p:cTn dur="1"/>
                                        <p:tgtEl>
                                          <p:spTgt spid="5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7" st="7"/>
                                            </p:txEl>
                                          </p:spTgt>
                                        </p:tgtEl>
                                        <p:attrNameLst>
                                          <p:attrName>style.visibility</p:attrName>
                                        </p:attrNameLst>
                                      </p:cBhvr>
                                      <p:to>
                                        <p:strVal val="visible"/>
                                      </p:to>
                                    </p:set>
                                    <p:animEffect filter="fade" transition="in">
                                      <p:cBhvr>
                                        <p:cTn dur="1"/>
                                        <p:tgtEl>
                                          <p:spTgt spid="53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8" st="8"/>
                                            </p:txEl>
                                          </p:spTgt>
                                        </p:tgtEl>
                                        <p:attrNameLst>
                                          <p:attrName>style.visibility</p:attrName>
                                        </p:attrNameLst>
                                      </p:cBhvr>
                                      <p:to>
                                        <p:strVal val="visible"/>
                                      </p:to>
                                    </p:set>
                                    <p:animEffect filter="fade" transition="in">
                                      <p:cBhvr>
                                        <p:cTn dur="1"/>
                                        <p:tgtEl>
                                          <p:spTgt spid="53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9" st="9"/>
                                            </p:txEl>
                                          </p:spTgt>
                                        </p:tgtEl>
                                        <p:attrNameLst>
                                          <p:attrName>style.visibility</p:attrName>
                                        </p:attrNameLst>
                                      </p:cBhvr>
                                      <p:to>
                                        <p:strVal val="visible"/>
                                      </p:to>
                                    </p:set>
                                    <p:animEffect filter="fade" transition="in">
                                      <p:cBhvr>
                                        <p:cTn dur="1"/>
                                        <p:tgtEl>
                                          <p:spTgt spid="53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10" st="10"/>
                                            </p:txEl>
                                          </p:spTgt>
                                        </p:tgtEl>
                                        <p:attrNameLst>
                                          <p:attrName>style.visibility</p:attrName>
                                        </p:attrNameLst>
                                      </p:cBhvr>
                                      <p:to>
                                        <p:strVal val="visible"/>
                                      </p:to>
                                    </p:set>
                                    <p:animEffect filter="fade" transition="in">
                                      <p:cBhvr>
                                        <p:cTn dur="1"/>
                                        <p:tgtEl>
                                          <p:spTgt spid="53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41" name="Google Shape;541;p99"/>
          <p:cNvSpPr txBox="1"/>
          <p:nvPr/>
        </p:nvSpPr>
        <p:spPr>
          <a:xfrm>
            <a:off x="5184000" y="1656000"/>
            <a:ext cx="4320000" cy="5616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constants 300 and 500 are (100 times) higher than the constants 3 and 5 in R(x)</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What do we get when we plot the graphs of these two functions?</a:t>
            </a:r>
            <a:endParaRPr b="0" i="0" sz="3200" u="none" cap="none" strike="noStrike">
              <a:latin typeface="Arial"/>
              <a:ea typeface="Arial"/>
              <a:cs typeface="Arial"/>
              <a:sym typeface="Arial"/>
            </a:endParaRPr>
          </a:p>
        </p:txBody>
      </p:sp>
      <p:sp>
        <p:nvSpPr>
          <p:cNvPr id="542" name="Google Shape;542;p99"/>
          <p:cNvSpPr txBox="1"/>
          <p:nvPr/>
        </p:nvSpPr>
        <p:spPr>
          <a:xfrm>
            <a:off x="1090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00CC"/>
                </a:solidFill>
                <a:latin typeface="Courier"/>
                <a:ea typeface="Courier"/>
                <a:cs typeface="Courier"/>
                <a:sym typeface="Courier"/>
              </a:rPr>
              <a:t>Suppose Equation for time taken is</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T(x) = 300x + 500</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And another equation for time taken is</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R(x) = 3x</a:t>
            </a:r>
            <a:r>
              <a:rPr b="1" baseline="30000" i="0" lang="en-IN" sz="2541" u="none" cap="none" strike="noStrike">
                <a:solidFill>
                  <a:srgbClr val="800000"/>
                </a:solidFill>
                <a:latin typeface="Courier"/>
                <a:ea typeface="Courier"/>
                <a:cs typeface="Courier"/>
                <a:sym typeface="Courier"/>
              </a:rPr>
              <a:t>2</a:t>
            </a:r>
            <a:r>
              <a:rPr b="1" i="0" lang="en-IN" sz="2200" u="none" cap="none" strike="noStrike">
                <a:solidFill>
                  <a:srgbClr val="800000"/>
                </a:solidFill>
                <a:latin typeface="Courier"/>
                <a:ea typeface="Courier"/>
                <a:cs typeface="Courier"/>
                <a:sym typeface="Courier"/>
              </a:rPr>
              <a:t> + 5x</a:t>
            </a:r>
            <a:endParaRPr b="0" i="0" sz="2200" u="none" cap="none" strike="noStrike">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100"/>
          <p:cNvSpPr txBox="1"/>
          <p:nvPr/>
        </p:nvSpPr>
        <p:spPr>
          <a:xfrm>
            <a:off x="504000" y="262080"/>
            <a:ext cx="9071640" cy="13410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49" name="Google Shape;549;p100"/>
          <p:cNvSpPr txBox="1"/>
          <p:nvPr/>
        </p:nvSpPr>
        <p:spPr>
          <a:xfrm>
            <a:off x="8064000" y="1563480"/>
            <a:ext cx="1872000" cy="49665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Here we find that even though the constants 300,500 are very high, after x = around 100, the green curve of 3x</a:t>
            </a:r>
            <a:r>
              <a:rPr b="0" baseline="30000" i="0" lang="en-IN" sz="2079" u="none" cap="none" strike="noStrike">
                <a:solidFill>
                  <a:srgbClr val="000000"/>
                </a:solidFill>
                <a:latin typeface="Arial"/>
                <a:ea typeface="Arial"/>
                <a:cs typeface="Arial"/>
                <a:sym typeface="Arial"/>
              </a:rPr>
              <a:t>2</a:t>
            </a:r>
            <a:r>
              <a:rPr b="0" i="0" lang="en-IN" sz="1800" u="none" cap="none" strike="noStrike">
                <a:solidFill>
                  <a:srgbClr val="000000"/>
                </a:solidFill>
                <a:latin typeface="Arial"/>
                <a:ea typeface="Arial"/>
                <a:cs typeface="Arial"/>
                <a:sym typeface="Arial"/>
              </a:rPr>
              <a:t>+5x is always above the curve of 300x + 500</a:t>
            </a:r>
            <a:endParaRPr b="0" i="0" sz="1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This is because as value of x grows, the term x</a:t>
            </a:r>
            <a:r>
              <a:rPr b="0" baseline="30000" i="0" lang="en-IN" sz="2079" u="none" cap="none" strike="noStrike">
                <a:solidFill>
                  <a:srgbClr val="000000"/>
                </a:solidFill>
                <a:latin typeface="Arial"/>
                <a:ea typeface="Arial"/>
                <a:cs typeface="Arial"/>
                <a:sym typeface="Arial"/>
              </a:rPr>
              <a:t>2</a:t>
            </a:r>
            <a:r>
              <a:rPr b="0" i="0" lang="en-IN" sz="1800" u="none" cap="none" strike="noStrike">
                <a:solidFill>
                  <a:srgbClr val="000000"/>
                </a:solidFill>
                <a:latin typeface="Arial"/>
                <a:ea typeface="Arial"/>
                <a:cs typeface="Arial"/>
                <a:sym typeface="Arial"/>
              </a:rPr>
              <a:t> dominates the constant 3 or 300</a:t>
            </a:r>
            <a:endParaRPr b="0" i="0" sz="1800" u="none" cap="none" strike="noStrike">
              <a:latin typeface="Arial"/>
              <a:ea typeface="Arial"/>
              <a:cs typeface="Arial"/>
              <a:sym typeface="Arial"/>
            </a:endParaRPr>
          </a:p>
        </p:txBody>
      </p:sp>
      <p:pic>
        <p:nvPicPr>
          <p:cNvPr id="550" name="Google Shape;550;p100"/>
          <p:cNvPicPr preferRelativeResize="0"/>
          <p:nvPr/>
        </p:nvPicPr>
        <p:blipFill rotWithShape="1">
          <a:blip r:embed="rId3">
            <a:alphaModFix/>
          </a:blip>
          <a:srcRect b="0" l="0" r="0" t="0"/>
          <a:stretch/>
        </p:blipFill>
        <p:spPr>
          <a:xfrm>
            <a:off x="240480" y="1563480"/>
            <a:ext cx="7227360" cy="542052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10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57" name="Google Shape;557;p101"/>
          <p:cNvSpPr txBox="1"/>
          <p:nvPr/>
        </p:nvSpPr>
        <p:spPr>
          <a:xfrm>
            <a:off x="5184000" y="1656000"/>
            <a:ext cx="4320000" cy="5616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Can we make R(x) run as fast as T(x) if  we can get as fast a processor as desired?</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Looking at equations, we find that we’ll need a  </a:t>
            </a:r>
            <a:r>
              <a:rPr b="1" i="0" lang="en-IN" sz="2200" u="none" cap="none" strike="noStrike">
                <a:solidFill>
                  <a:srgbClr val="800000"/>
                </a:solidFill>
                <a:latin typeface="Courier"/>
                <a:ea typeface="Courier"/>
                <a:cs typeface="Courier"/>
                <a:sym typeface="Courier"/>
              </a:rPr>
              <a:t>(3x</a:t>
            </a:r>
            <a:r>
              <a:rPr b="1" baseline="30000" i="0" lang="en-IN" sz="2541" u="none" cap="none" strike="noStrike">
                <a:solidFill>
                  <a:srgbClr val="800000"/>
                </a:solidFill>
                <a:latin typeface="Courier"/>
                <a:ea typeface="Courier"/>
                <a:cs typeface="Courier"/>
                <a:sym typeface="Courier"/>
              </a:rPr>
              <a:t>2</a:t>
            </a:r>
            <a:r>
              <a:rPr b="1" i="0" lang="en-IN" sz="2200" u="none" cap="none" strike="noStrike">
                <a:solidFill>
                  <a:srgbClr val="800000"/>
                </a:solidFill>
                <a:latin typeface="Courier"/>
                <a:ea typeface="Courier"/>
                <a:cs typeface="Courier"/>
                <a:sym typeface="Courier"/>
              </a:rPr>
              <a:t> + 5x) / (300x + 500) times faster processor</a:t>
            </a:r>
            <a:endParaRPr b="0" i="0" sz="2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This is not possible!</a:t>
            </a:r>
            <a:endParaRPr b="0" i="0" sz="3200" u="none" cap="none" strike="noStrike">
              <a:latin typeface="Arial"/>
              <a:ea typeface="Arial"/>
              <a:cs typeface="Arial"/>
              <a:sym typeface="Arial"/>
            </a:endParaRPr>
          </a:p>
        </p:txBody>
      </p:sp>
      <p:sp>
        <p:nvSpPr>
          <p:cNvPr id="558" name="Google Shape;558;p101"/>
          <p:cNvSpPr txBox="1"/>
          <p:nvPr/>
        </p:nvSpPr>
        <p:spPr>
          <a:xfrm>
            <a:off x="1090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00CC"/>
                </a:solidFill>
                <a:latin typeface="Courier"/>
                <a:ea typeface="Courier"/>
                <a:cs typeface="Courier"/>
                <a:sym typeface="Courier"/>
              </a:rPr>
              <a:t>Contrast the euqation</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T(x) = 300x + 500</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With</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R(x) = 3x</a:t>
            </a:r>
            <a:r>
              <a:rPr b="1" baseline="30000" i="0" lang="en-IN" sz="2541" u="none" cap="none" strike="noStrike">
                <a:solidFill>
                  <a:srgbClr val="800000"/>
                </a:solidFill>
                <a:latin typeface="Courier"/>
                <a:ea typeface="Courier"/>
                <a:cs typeface="Courier"/>
                <a:sym typeface="Courier"/>
              </a:rPr>
              <a:t>2</a:t>
            </a:r>
            <a:r>
              <a:rPr b="1" i="0" lang="en-IN" sz="2200" u="none" cap="none" strike="noStrike">
                <a:solidFill>
                  <a:srgbClr val="800000"/>
                </a:solidFill>
                <a:latin typeface="Courier"/>
                <a:ea typeface="Courier"/>
                <a:cs typeface="Courier"/>
                <a:sym typeface="Courier"/>
              </a:rPr>
              <a:t> + 5x</a:t>
            </a:r>
            <a:endParaRPr b="0" i="0" sz="2200" u="none" cap="none" strike="noStrike">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10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65" name="Google Shape;565;p102"/>
          <p:cNvSpPr txBox="1"/>
          <p:nvPr/>
        </p:nvSpPr>
        <p:spPr>
          <a:xfrm>
            <a:off x="5184000" y="1656000"/>
            <a:ext cx="4320000" cy="5616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 an equation of a higher degree is </a:t>
            </a:r>
            <a:r>
              <a:rPr b="1" i="1" lang="en-IN" sz="3200" u="none" cap="none" strike="noStrike">
                <a:solidFill>
                  <a:srgbClr val="0000CC"/>
                </a:solidFill>
                <a:latin typeface="Arial"/>
                <a:ea typeface="Arial"/>
                <a:cs typeface="Arial"/>
                <a:sym typeface="Arial"/>
              </a:rPr>
              <a:t>qualitatively </a:t>
            </a:r>
            <a:r>
              <a:rPr b="1" i="0" lang="en-IN" sz="3200" u="none" cap="none" strike="noStrike">
                <a:solidFill>
                  <a:srgbClr val="0000CC"/>
                </a:solidFill>
                <a:latin typeface="Arial"/>
                <a:ea typeface="Arial"/>
                <a:cs typeface="Arial"/>
                <a:sym typeface="Arial"/>
              </a:rPr>
              <a:t> quite different from an equation of a lower degee</a:t>
            </a:r>
            <a:endParaRPr b="0" i="0" sz="3200" u="none" cap="none" strike="noStrike">
              <a:latin typeface="Arial"/>
              <a:ea typeface="Arial"/>
              <a:cs typeface="Arial"/>
              <a:sym typeface="Arial"/>
            </a:endParaRPr>
          </a:p>
          <a:p>
            <a:pPr indent="-91440" lvl="0" marL="0" marR="0" rtl="0" algn="ctr">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treat all the equations of a one degree to be comparable to each other</a:t>
            </a:r>
            <a:endParaRPr b="0" i="0" sz="3200" u="none" cap="none" strike="noStrike">
              <a:latin typeface="Arial"/>
              <a:ea typeface="Arial"/>
              <a:cs typeface="Arial"/>
              <a:sym typeface="Arial"/>
            </a:endParaRPr>
          </a:p>
        </p:txBody>
      </p:sp>
      <p:sp>
        <p:nvSpPr>
          <p:cNvPr id="566" name="Google Shape;566;p102"/>
          <p:cNvSpPr txBox="1"/>
          <p:nvPr/>
        </p:nvSpPr>
        <p:spPr>
          <a:xfrm>
            <a:off x="1090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We find that we can make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Courier"/>
                <a:ea typeface="Courier"/>
                <a:cs typeface="Courier"/>
                <a:sym typeface="Courier"/>
              </a:rPr>
              <a:t>T(y) = 2y + 4</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P(y) = 4y + 8</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Comparable by using a faster processor</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But we can’t make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Courier"/>
                <a:ea typeface="Courier"/>
                <a:cs typeface="Courier"/>
                <a:sym typeface="Courier"/>
              </a:rPr>
              <a:t>R(x) = 3x</a:t>
            </a:r>
            <a:r>
              <a:rPr b="1" baseline="30000" i="0" lang="en-IN" sz="2310" u="none" cap="none" strike="noStrike">
                <a:solidFill>
                  <a:srgbClr val="800000"/>
                </a:solidFill>
                <a:latin typeface="Courier"/>
                <a:ea typeface="Courier"/>
                <a:cs typeface="Courier"/>
                <a:sym typeface="Courier"/>
              </a:rPr>
              <a:t>2</a:t>
            </a:r>
            <a:r>
              <a:rPr b="1" i="0" lang="en-IN" sz="2000" u="none" cap="none" strike="noStrike">
                <a:solidFill>
                  <a:srgbClr val="800000"/>
                </a:solidFill>
                <a:latin typeface="Courier"/>
                <a:ea typeface="Courier"/>
                <a:cs typeface="Courier"/>
                <a:sym typeface="Courier"/>
              </a:rPr>
              <a:t> + 5x</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Courier"/>
                <a:ea typeface="Courier"/>
                <a:cs typeface="Courier"/>
                <a:sym typeface="Courier"/>
              </a:rPr>
              <a:t>comparable with</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Courier"/>
                <a:ea typeface="Courier"/>
                <a:cs typeface="Courier"/>
                <a:sym typeface="Courier"/>
              </a:rPr>
              <a:t>T(x) = 300x + 500</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99"/>
                </a:solidFill>
                <a:latin typeface="Courier"/>
                <a:ea typeface="Courier"/>
                <a:cs typeface="Courier"/>
                <a:sym typeface="Courier"/>
              </a:rPr>
              <a:t>Using any fast processor</a:t>
            </a:r>
            <a:endParaRPr b="0" i="0" sz="2000" u="none" cap="none" strike="noStrike">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10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573" name="Google Shape;573;p103"/>
          <p:cNvPicPr preferRelativeResize="0"/>
          <p:nvPr/>
        </p:nvPicPr>
        <p:blipFill rotWithShape="1">
          <a:blip r:embed="rId3">
            <a:alphaModFix/>
          </a:blip>
          <a:srcRect b="0" l="0" r="0" t="0"/>
          <a:stretch/>
        </p:blipFill>
        <p:spPr>
          <a:xfrm>
            <a:off x="1323360" y="468360"/>
            <a:ext cx="7220880" cy="4384440"/>
          </a:xfrm>
          <a:prstGeom prst="rect">
            <a:avLst/>
          </a:prstGeom>
          <a:noFill/>
          <a:ln>
            <a:noFill/>
          </a:ln>
        </p:spPr>
      </p:pic>
      <p:sp>
        <p:nvSpPr>
          <p:cNvPr id="574" name="Google Shape;574;p103"/>
          <p:cNvSpPr txBox="1"/>
          <p:nvPr/>
        </p:nvSpPr>
        <p:spPr>
          <a:xfrm>
            <a:off x="1008000" y="5454000"/>
            <a:ext cx="7957800" cy="1201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600" u="none" cap="none" strike="noStrike">
                <a:solidFill>
                  <a:srgbClr val="000000"/>
                </a:solidFill>
                <a:latin typeface="Arial"/>
                <a:ea typeface="Arial"/>
                <a:cs typeface="Arial"/>
                <a:sym typeface="Arial"/>
              </a:rPr>
              <a:t>The n</a:t>
            </a:r>
            <a:r>
              <a:rPr b="0" baseline="30000" i="0" lang="en-IN" sz="3003" u="none" cap="none" strike="noStrike">
                <a:solidFill>
                  <a:srgbClr val="000000"/>
                </a:solidFill>
                <a:latin typeface="Arial"/>
                <a:ea typeface="Arial"/>
                <a:cs typeface="Arial"/>
                <a:sym typeface="Arial"/>
              </a:rPr>
              <a:t>3</a:t>
            </a:r>
            <a:r>
              <a:rPr b="0" i="0" lang="en-IN" sz="2600" u="none" cap="none" strike="noStrike">
                <a:solidFill>
                  <a:srgbClr val="000000"/>
                </a:solidFill>
                <a:latin typeface="Arial"/>
                <a:ea typeface="Arial"/>
                <a:cs typeface="Arial"/>
                <a:sym typeface="Arial"/>
              </a:rPr>
              <a:t> function, drawn in blue, becomes larger than the 1999n function, drawn in red, after n = 45. After that point it remains larger for ever.</a:t>
            </a:r>
            <a:endParaRPr b="0" i="0" sz="2600" u="none" cap="none" strike="noStrike">
              <a:latin typeface="Arial"/>
              <a:ea typeface="Arial"/>
              <a:cs typeface="Arial"/>
              <a:sym typeface="Arial"/>
            </a:endParaRPr>
          </a:p>
        </p:txBody>
      </p:sp>
      <p:sp>
        <p:nvSpPr>
          <p:cNvPr id="575" name="Google Shape;575;p103"/>
          <p:cNvSpPr txBox="1"/>
          <p:nvPr/>
        </p:nvSpPr>
        <p:spPr>
          <a:xfrm>
            <a:off x="648360" y="644184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Compare functions:   n</a:t>
            </a:r>
            <a:r>
              <a:rPr b="1" baseline="30000" i="0" lang="en-IN" sz="4158" u="none" cap="none" strike="noStrike">
                <a:solidFill>
                  <a:srgbClr val="800000"/>
                </a:solidFill>
                <a:latin typeface="Arial"/>
                <a:ea typeface="Arial"/>
                <a:cs typeface="Arial"/>
                <a:sym typeface="Arial"/>
              </a:rPr>
              <a:t>3</a:t>
            </a:r>
            <a:r>
              <a:rPr b="1" i="0" lang="en-IN" sz="3600" u="none" cap="none" strike="noStrike">
                <a:solidFill>
                  <a:srgbClr val="800000"/>
                </a:solidFill>
                <a:latin typeface="Arial"/>
                <a:ea typeface="Arial"/>
                <a:cs typeface="Arial"/>
                <a:sym typeface="Arial"/>
              </a:rPr>
              <a:t> and 1999n</a:t>
            </a:r>
            <a:endParaRPr b="0" i="0" sz="3600" u="none" cap="none" strike="noStrike">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04"/>
          <p:cNvSpPr txBox="1"/>
          <p:nvPr/>
        </p:nvSpPr>
        <p:spPr>
          <a:xfrm>
            <a:off x="144000" y="5688000"/>
            <a:ext cx="9936000" cy="1340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The </a:t>
            </a:r>
            <a:r>
              <a:rPr b="0" i="0" lang="en-IN" sz="2000" u="none" cap="none" strike="noStrike">
                <a:solidFill>
                  <a:srgbClr val="000000"/>
                </a:solidFill>
                <a:latin typeface="Arial"/>
                <a:ea typeface="Arial"/>
                <a:cs typeface="Arial"/>
                <a:sym typeface="Arial"/>
              </a:rPr>
              <a:t>5x</a:t>
            </a:r>
            <a:r>
              <a:rPr b="0" baseline="30000" i="0" lang="en-IN" sz="2310" u="none" cap="none" strike="noStrike">
                <a:solidFill>
                  <a:srgbClr val="000000"/>
                </a:solidFill>
                <a:latin typeface="Arial"/>
                <a:ea typeface="Arial"/>
                <a:cs typeface="Arial"/>
                <a:sym typeface="Arial"/>
              </a:rPr>
              <a:t>2</a:t>
            </a:r>
            <a:r>
              <a:rPr b="0" i="0" lang="en-IN" sz="2000" u="none" cap="none" strike="noStrike">
                <a:solidFill>
                  <a:srgbClr val="000000"/>
                </a:solidFill>
                <a:latin typeface="Arial"/>
                <a:ea typeface="Arial"/>
                <a:cs typeface="Arial"/>
                <a:sym typeface="Arial"/>
              </a:rPr>
              <a:t>+10</a:t>
            </a:r>
            <a:r>
              <a:rPr b="0" i="0" lang="en-IN" sz="1300" u="none" cap="none" strike="noStrike">
                <a:solidFill>
                  <a:srgbClr val="000000"/>
                </a:solidFill>
                <a:latin typeface="Arial"/>
                <a:ea typeface="Arial"/>
                <a:cs typeface="Arial"/>
                <a:sym typeface="Arial"/>
              </a:rPr>
              <a:t> </a:t>
            </a:r>
            <a:r>
              <a:rPr b="0" i="0" lang="en-IN" sz="2200" u="none" cap="none" strike="noStrike">
                <a:solidFill>
                  <a:srgbClr val="000000"/>
                </a:solidFill>
                <a:latin typeface="Arial"/>
                <a:ea typeface="Arial"/>
                <a:cs typeface="Arial"/>
                <a:sym typeface="Arial"/>
              </a:rPr>
              <a:t>function, drawn in red, becomes larger than the 100000x+20000 function, drawn in blue after x = (nearly) 2000. After that point it remains larger for ever.  The constants 100000 and 20000, are big but stop making a difference after a x ~=2000</a:t>
            </a:r>
            <a:endParaRPr b="0" i="0" sz="2200" u="none" cap="none" strike="noStrike">
              <a:latin typeface="Arial"/>
              <a:ea typeface="Arial"/>
              <a:cs typeface="Arial"/>
              <a:sym typeface="Arial"/>
            </a:endParaRPr>
          </a:p>
        </p:txBody>
      </p:sp>
      <p:sp>
        <p:nvSpPr>
          <p:cNvPr id="582" name="Google Shape;582;p104"/>
          <p:cNvSpPr txBox="1"/>
          <p:nvPr/>
        </p:nvSpPr>
        <p:spPr>
          <a:xfrm>
            <a:off x="648360" y="665784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800" u="none" cap="none" strike="noStrike">
                <a:solidFill>
                  <a:srgbClr val="800000"/>
                </a:solidFill>
                <a:latin typeface="Arial"/>
                <a:ea typeface="Arial"/>
                <a:cs typeface="Arial"/>
                <a:sym typeface="Arial"/>
              </a:rPr>
              <a:t>Compare functions:   5x</a:t>
            </a:r>
            <a:r>
              <a:rPr b="1" baseline="30000" i="0" lang="en-IN" sz="3234" u="none" cap="none" strike="noStrike">
                <a:solidFill>
                  <a:srgbClr val="800000"/>
                </a:solidFill>
                <a:latin typeface="Arial"/>
                <a:ea typeface="Arial"/>
                <a:cs typeface="Arial"/>
                <a:sym typeface="Arial"/>
              </a:rPr>
              <a:t>2</a:t>
            </a:r>
            <a:r>
              <a:rPr b="1" i="0" lang="en-IN" sz="2800" u="none" cap="none" strike="noStrike">
                <a:solidFill>
                  <a:srgbClr val="800000"/>
                </a:solidFill>
                <a:latin typeface="Arial"/>
                <a:ea typeface="Arial"/>
                <a:cs typeface="Arial"/>
                <a:sym typeface="Arial"/>
              </a:rPr>
              <a:t>+10 and 10000x+200000</a:t>
            </a:r>
            <a:endParaRPr b="0" i="0" sz="2800" u="none" cap="none" strike="noStrike">
              <a:latin typeface="Arial"/>
              <a:ea typeface="Arial"/>
              <a:cs typeface="Arial"/>
              <a:sym typeface="Arial"/>
            </a:endParaRPr>
          </a:p>
        </p:txBody>
      </p:sp>
      <p:pic>
        <p:nvPicPr>
          <p:cNvPr id="583" name="Google Shape;583;p104"/>
          <p:cNvPicPr preferRelativeResize="0"/>
          <p:nvPr/>
        </p:nvPicPr>
        <p:blipFill rotWithShape="1">
          <a:blip r:embed="rId3">
            <a:alphaModFix/>
          </a:blip>
          <a:srcRect b="0" l="0" r="0" t="0"/>
          <a:stretch/>
        </p:blipFill>
        <p:spPr>
          <a:xfrm>
            <a:off x="1512000" y="198000"/>
            <a:ext cx="7416000" cy="5562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105"/>
          <p:cNvSpPr txBox="1"/>
          <p:nvPr/>
        </p:nvSpPr>
        <p:spPr>
          <a:xfrm>
            <a:off x="144000" y="5688000"/>
            <a:ext cx="9936000" cy="14835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The </a:t>
            </a:r>
            <a:r>
              <a:rPr b="0" i="0" lang="en-IN" sz="2600" u="none" cap="none" strike="noStrike">
                <a:solidFill>
                  <a:srgbClr val="000000"/>
                </a:solidFill>
                <a:latin typeface="Arial"/>
                <a:ea typeface="Arial"/>
                <a:cs typeface="Arial"/>
                <a:sym typeface="Arial"/>
              </a:rPr>
              <a:t>5x</a:t>
            </a:r>
            <a:r>
              <a:rPr b="0" baseline="30000" i="0" lang="en-IN" sz="3003" u="none" cap="none" strike="noStrike">
                <a:solidFill>
                  <a:srgbClr val="000000"/>
                </a:solidFill>
                <a:latin typeface="Arial"/>
                <a:ea typeface="Arial"/>
                <a:cs typeface="Arial"/>
                <a:sym typeface="Arial"/>
              </a:rPr>
              <a:t>3</a:t>
            </a:r>
            <a:r>
              <a:rPr b="0" i="0" lang="en-IN" sz="2600" u="none" cap="none" strike="noStrike">
                <a:solidFill>
                  <a:srgbClr val="000000"/>
                </a:solidFill>
                <a:latin typeface="Arial"/>
                <a:ea typeface="Arial"/>
                <a:cs typeface="Arial"/>
                <a:sym typeface="Arial"/>
              </a:rPr>
              <a:t>+3x</a:t>
            </a:r>
            <a:r>
              <a:rPr b="0" baseline="30000" i="0" lang="en-IN" sz="3003" u="none" cap="none" strike="noStrike">
                <a:solidFill>
                  <a:srgbClr val="000000"/>
                </a:solidFill>
                <a:latin typeface="Arial"/>
                <a:ea typeface="Arial"/>
                <a:cs typeface="Arial"/>
                <a:sym typeface="Arial"/>
              </a:rPr>
              <a:t>2</a:t>
            </a:r>
            <a:r>
              <a:rPr b="0" i="0" lang="en-IN" sz="2600" u="none" cap="none" strike="noStrike">
                <a:solidFill>
                  <a:srgbClr val="000000"/>
                </a:solidFill>
                <a:latin typeface="Arial"/>
                <a:ea typeface="Arial"/>
                <a:cs typeface="Arial"/>
                <a:sym typeface="Arial"/>
              </a:rPr>
              <a:t>+10x </a:t>
            </a:r>
            <a:r>
              <a:rPr b="0" i="0" lang="en-IN" sz="1300" u="none" cap="none" strike="noStrike">
                <a:solidFill>
                  <a:srgbClr val="000000"/>
                </a:solidFill>
                <a:latin typeface="Arial"/>
                <a:ea typeface="Arial"/>
                <a:cs typeface="Arial"/>
                <a:sym typeface="Arial"/>
              </a:rPr>
              <a:t> </a:t>
            </a:r>
            <a:r>
              <a:rPr b="0" i="0" lang="en-IN" sz="2200" u="none" cap="none" strike="noStrike">
                <a:solidFill>
                  <a:srgbClr val="000000"/>
                </a:solidFill>
                <a:latin typeface="Arial"/>
                <a:ea typeface="Arial"/>
                <a:cs typeface="Arial"/>
                <a:sym typeface="Arial"/>
              </a:rPr>
              <a:t>function, drawn in red, becomes larger than the </a:t>
            </a:r>
            <a:r>
              <a:rPr b="0" i="0" lang="en-IN" sz="2600" u="none" cap="none" strike="noStrike">
                <a:solidFill>
                  <a:srgbClr val="000000"/>
                </a:solidFill>
                <a:latin typeface="Arial"/>
                <a:ea typeface="Arial"/>
                <a:cs typeface="Arial"/>
                <a:sym typeface="Arial"/>
              </a:rPr>
              <a:t>999999x</a:t>
            </a:r>
            <a:r>
              <a:rPr b="0" baseline="30000" i="0" lang="en-IN" sz="3003" u="none" cap="none" strike="noStrike">
                <a:solidFill>
                  <a:srgbClr val="000000"/>
                </a:solidFill>
                <a:latin typeface="Arial"/>
                <a:ea typeface="Arial"/>
                <a:cs typeface="Arial"/>
                <a:sym typeface="Arial"/>
              </a:rPr>
              <a:t>2</a:t>
            </a:r>
            <a:r>
              <a:rPr b="0" i="0" lang="en-IN" sz="2600" u="none" cap="none" strike="noStrike">
                <a:solidFill>
                  <a:srgbClr val="000000"/>
                </a:solidFill>
                <a:latin typeface="Arial"/>
                <a:ea typeface="Arial"/>
                <a:cs typeface="Arial"/>
                <a:sym typeface="Arial"/>
              </a:rPr>
              <a:t>+999999</a:t>
            </a:r>
            <a:r>
              <a:rPr b="0" i="0" lang="en-IN" sz="2800" u="none" cap="none" strike="noStrike">
                <a:solidFill>
                  <a:srgbClr val="000000"/>
                </a:solidFill>
                <a:latin typeface="Arial"/>
                <a:ea typeface="Arial"/>
                <a:cs typeface="Arial"/>
                <a:sym typeface="Arial"/>
              </a:rPr>
              <a:t> </a:t>
            </a:r>
            <a:r>
              <a:rPr b="0" i="0" lang="en-IN" sz="2200" u="none" cap="none" strike="noStrike">
                <a:solidFill>
                  <a:srgbClr val="000000"/>
                </a:solidFill>
                <a:latin typeface="Arial"/>
                <a:ea typeface="Arial"/>
                <a:cs typeface="Arial"/>
                <a:sym typeface="Arial"/>
              </a:rPr>
              <a:t> function, drawn in blue after x = (nearly) 210000. After that point it remains larger for ever.  The constants 999999 and 999999, are big but stop making a difference after a x ~=210000</a:t>
            </a:r>
            <a:endParaRPr b="0" i="0" sz="2200" u="none" cap="none" strike="noStrike">
              <a:latin typeface="Arial"/>
              <a:ea typeface="Arial"/>
              <a:cs typeface="Arial"/>
              <a:sym typeface="Arial"/>
            </a:endParaRPr>
          </a:p>
        </p:txBody>
      </p:sp>
      <p:sp>
        <p:nvSpPr>
          <p:cNvPr id="590" name="Google Shape;590;p105"/>
          <p:cNvSpPr txBox="1"/>
          <p:nvPr/>
        </p:nvSpPr>
        <p:spPr>
          <a:xfrm>
            <a:off x="648360" y="665784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600" u="none" cap="none" strike="noStrike">
                <a:solidFill>
                  <a:srgbClr val="800000"/>
                </a:solidFill>
                <a:latin typeface="Arial"/>
                <a:ea typeface="Arial"/>
                <a:cs typeface="Arial"/>
                <a:sym typeface="Arial"/>
              </a:rPr>
              <a:t>Compare functions:   5x</a:t>
            </a:r>
            <a:r>
              <a:rPr b="1" baseline="30000" i="0" lang="en-IN" sz="3003" u="none" cap="none" strike="noStrike">
                <a:solidFill>
                  <a:srgbClr val="800000"/>
                </a:solidFill>
                <a:latin typeface="Arial"/>
                <a:ea typeface="Arial"/>
                <a:cs typeface="Arial"/>
                <a:sym typeface="Arial"/>
              </a:rPr>
              <a:t>3</a:t>
            </a:r>
            <a:r>
              <a:rPr b="1" i="0" lang="en-IN" sz="2600" u="none" cap="none" strike="noStrike">
                <a:solidFill>
                  <a:srgbClr val="800000"/>
                </a:solidFill>
                <a:latin typeface="Arial"/>
                <a:ea typeface="Arial"/>
                <a:cs typeface="Arial"/>
                <a:sym typeface="Arial"/>
              </a:rPr>
              <a:t>+3x</a:t>
            </a:r>
            <a:r>
              <a:rPr b="1" baseline="30000" i="0" lang="en-IN" sz="3003" u="none" cap="none" strike="noStrike">
                <a:solidFill>
                  <a:srgbClr val="800000"/>
                </a:solidFill>
                <a:latin typeface="Arial"/>
                <a:ea typeface="Arial"/>
                <a:cs typeface="Arial"/>
                <a:sym typeface="Arial"/>
              </a:rPr>
              <a:t>2</a:t>
            </a:r>
            <a:r>
              <a:rPr b="1" i="0" lang="en-IN" sz="2600" u="none" cap="none" strike="noStrike">
                <a:solidFill>
                  <a:srgbClr val="800000"/>
                </a:solidFill>
                <a:latin typeface="Arial"/>
                <a:ea typeface="Arial"/>
                <a:cs typeface="Arial"/>
                <a:sym typeface="Arial"/>
              </a:rPr>
              <a:t>+10x and 999999x</a:t>
            </a:r>
            <a:r>
              <a:rPr b="1" baseline="30000" i="0" lang="en-IN" sz="3003" u="none" cap="none" strike="noStrike">
                <a:solidFill>
                  <a:srgbClr val="800000"/>
                </a:solidFill>
                <a:latin typeface="Arial"/>
                <a:ea typeface="Arial"/>
                <a:cs typeface="Arial"/>
                <a:sym typeface="Arial"/>
              </a:rPr>
              <a:t>2</a:t>
            </a:r>
            <a:r>
              <a:rPr b="1" i="0" lang="en-IN" sz="2600" u="none" cap="none" strike="noStrike">
                <a:solidFill>
                  <a:srgbClr val="800000"/>
                </a:solidFill>
                <a:latin typeface="Arial"/>
                <a:ea typeface="Arial"/>
                <a:cs typeface="Arial"/>
                <a:sym typeface="Arial"/>
              </a:rPr>
              <a:t>+999999</a:t>
            </a:r>
            <a:endParaRPr b="0" i="0" sz="2600" u="none" cap="none" strike="noStrike">
              <a:latin typeface="Arial"/>
              <a:ea typeface="Arial"/>
              <a:cs typeface="Arial"/>
              <a:sym typeface="Arial"/>
            </a:endParaRPr>
          </a:p>
        </p:txBody>
      </p:sp>
      <p:pic>
        <p:nvPicPr>
          <p:cNvPr id="591" name="Google Shape;591;p105"/>
          <p:cNvPicPr preferRelativeResize="0"/>
          <p:nvPr/>
        </p:nvPicPr>
        <p:blipFill rotWithShape="1">
          <a:blip r:embed="rId3">
            <a:alphaModFix/>
          </a:blip>
          <a:srcRect b="0" l="0" r="0" t="0"/>
          <a:stretch/>
        </p:blipFill>
        <p:spPr>
          <a:xfrm>
            <a:off x="1320480" y="-72000"/>
            <a:ext cx="7535520" cy="565164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0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Some key points</a:t>
            </a:r>
            <a:endParaRPr b="0" i="0" sz="4400" u="none" cap="none" strike="noStrike">
              <a:latin typeface="Arial"/>
              <a:ea typeface="Arial"/>
              <a:cs typeface="Arial"/>
              <a:sym typeface="Arial"/>
            </a:endParaRPr>
          </a:p>
        </p:txBody>
      </p:sp>
      <p:sp>
        <p:nvSpPr>
          <p:cNvPr id="598" name="Google Shape;598;p10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Meaning of constant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Actual value of constants depends on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 number of steps in the algorithm </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(b) speed/quality of the processor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Changing the processor changes constants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E.g. on a 2GHz processor, compared to a 1GHz processor, the constants will be smaller</a:t>
            </a:r>
            <a:endParaRPr b="0" i="0" sz="3200" u="none" cap="none" strike="noStrike">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pic>
        <p:nvPicPr>
          <p:cNvPr id="603" name="Google Shape;603;p107"/>
          <p:cNvPicPr preferRelativeResize="0"/>
          <p:nvPr/>
        </p:nvPicPr>
        <p:blipFill rotWithShape="1">
          <a:blip r:embed="rId3">
            <a:alphaModFix/>
          </a:blip>
          <a:srcRect b="0" l="0" r="0" t="0"/>
          <a:stretch/>
        </p:blipFill>
        <p:spPr>
          <a:xfrm>
            <a:off x="137160" y="194400"/>
            <a:ext cx="3923280" cy="2942280"/>
          </a:xfrm>
          <a:prstGeom prst="rect">
            <a:avLst/>
          </a:prstGeom>
          <a:noFill/>
          <a:ln>
            <a:noFill/>
          </a:ln>
        </p:spPr>
      </p:pic>
      <p:pic>
        <p:nvPicPr>
          <p:cNvPr id="604" name="Google Shape;604;p107"/>
          <p:cNvPicPr preferRelativeResize="0"/>
          <p:nvPr/>
        </p:nvPicPr>
        <p:blipFill rotWithShape="1">
          <a:blip r:embed="rId4">
            <a:alphaModFix/>
          </a:blip>
          <a:srcRect b="0" l="0" r="0" t="0"/>
          <a:stretch/>
        </p:blipFill>
        <p:spPr>
          <a:xfrm>
            <a:off x="4393440" y="495360"/>
            <a:ext cx="4845960" cy="2942280"/>
          </a:xfrm>
          <a:prstGeom prst="rect">
            <a:avLst/>
          </a:prstGeom>
          <a:noFill/>
          <a:ln>
            <a:noFill/>
          </a:ln>
        </p:spPr>
      </p:pic>
      <p:sp>
        <p:nvSpPr>
          <p:cNvPr id="605" name="Google Shape;605;p107"/>
          <p:cNvSpPr txBox="1"/>
          <p:nvPr/>
        </p:nvSpPr>
        <p:spPr>
          <a:xfrm>
            <a:off x="5040360" y="3437640"/>
            <a:ext cx="3443400" cy="461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2400" u="none" cap="none" strike="noStrike">
                <a:solidFill>
                  <a:srgbClr val="800000"/>
                </a:solidFill>
                <a:latin typeface="Arial"/>
                <a:ea typeface="Arial"/>
                <a:cs typeface="Arial"/>
                <a:sym typeface="Arial"/>
              </a:rPr>
              <a:t>n</a:t>
            </a:r>
            <a:r>
              <a:rPr b="1" baseline="30000" i="0" lang="en-IN" sz="2772" u="none" cap="none" strike="noStrike">
                <a:solidFill>
                  <a:srgbClr val="800000"/>
                </a:solidFill>
                <a:latin typeface="Arial"/>
                <a:ea typeface="Arial"/>
                <a:cs typeface="Arial"/>
                <a:sym typeface="Arial"/>
              </a:rPr>
              <a:t>3</a:t>
            </a:r>
            <a:r>
              <a:rPr b="1" i="0" lang="en-IN" sz="2400" u="none" cap="none" strike="noStrike">
                <a:solidFill>
                  <a:srgbClr val="800000"/>
                </a:solidFill>
                <a:latin typeface="Arial"/>
                <a:ea typeface="Arial"/>
                <a:cs typeface="Arial"/>
                <a:sym typeface="Arial"/>
              </a:rPr>
              <a:t> and 1999n</a:t>
            </a:r>
            <a:endParaRPr b="0" i="0" sz="2400" u="none" cap="none" strike="noStrike">
              <a:latin typeface="Arial"/>
              <a:ea typeface="Arial"/>
              <a:cs typeface="Arial"/>
              <a:sym typeface="Arial"/>
            </a:endParaRPr>
          </a:p>
        </p:txBody>
      </p:sp>
      <p:sp>
        <p:nvSpPr>
          <p:cNvPr id="606" name="Google Shape;606;p107"/>
          <p:cNvSpPr txBox="1"/>
          <p:nvPr/>
        </p:nvSpPr>
        <p:spPr>
          <a:xfrm>
            <a:off x="189720" y="3045960"/>
            <a:ext cx="4701600" cy="584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2000" u="none" cap="none" strike="noStrike">
                <a:solidFill>
                  <a:srgbClr val="800000"/>
                </a:solidFill>
                <a:latin typeface="Arial"/>
                <a:ea typeface="Arial"/>
                <a:cs typeface="Arial"/>
                <a:sym typeface="Arial"/>
              </a:rPr>
              <a:t>3n</a:t>
            </a:r>
            <a:r>
              <a:rPr b="1" baseline="30000" i="0" lang="en-IN" sz="2310" u="none" cap="none" strike="noStrike">
                <a:solidFill>
                  <a:srgbClr val="800000"/>
                </a:solidFill>
                <a:latin typeface="Arial"/>
                <a:ea typeface="Arial"/>
                <a:cs typeface="Arial"/>
                <a:sym typeface="Arial"/>
              </a:rPr>
              <a:t>2 </a:t>
            </a:r>
            <a:r>
              <a:rPr b="1" i="0" lang="en-IN" sz="2000" u="none" cap="none" strike="noStrike">
                <a:solidFill>
                  <a:srgbClr val="800000"/>
                </a:solidFill>
                <a:latin typeface="Arial"/>
                <a:ea typeface="Arial"/>
                <a:cs typeface="Arial"/>
                <a:sym typeface="Arial"/>
              </a:rPr>
              <a:t>+ 5x and 300n + 500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latin typeface="Arial"/>
              <a:ea typeface="Arial"/>
              <a:cs typeface="Arial"/>
              <a:sym typeface="Arial"/>
            </a:endParaRPr>
          </a:p>
        </p:txBody>
      </p:sp>
      <p:pic>
        <p:nvPicPr>
          <p:cNvPr id="607" name="Google Shape;607;p107"/>
          <p:cNvPicPr preferRelativeResize="0"/>
          <p:nvPr/>
        </p:nvPicPr>
        <p:blipFill rotWithShape="1">
          <a:blip r:embed="rId5">
            <a:alphaModFix/>
          </a:blip>
          <a:srcRect b="0" l="0" r="0" t="0"/>
          <a:stretch/>
        </p:blipFill>
        <p:spPr>
          <a:xfrm>
            <a:off x="189720" y="3668400"/>
            <a:ext cx="4307760" cy="3231000"/>
          </a:xfrm>
          <a:prstGeom prst="rect">
            <a:avLst/>
          </a:prstGeom>
          <a:noFill/>
          <a:ln>
            <a:noFill/>
          </a:ln>
        </p:spPr>
      </p:pic>
      <p:sp>
        <p:nvSpPr>
          <p:cNvPr id="608" name="Google Shape;608;p107"/>
          <p:cNvSpPr txBox="1"/>
          <p:nvPr/>
        </p:nvSpPr>
        <p:spPr>
          <a:xfrm>
            <a:off x="950400" y="6948000"/>
            <a:ext cx="5038920" cy="399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2000" u="none" cap="none" strike="noStrike">
                <a:solidFill>
                  <a:srgbClr val="800000"/>
                </a:solidFill>
                <a:latin typeface="Arial"/>
                <a:ea typeface="Arial"/>
                <a:cs typeface="Arial"/>
                <a:sym typeface="Arial"/>
              </a:rPr>
              <a:t>5x</a:t>
            </a:r>
            <a:r>
              <a:rPr b="1" baseline="30000" i="0" lang="en-IN" sz="2310" u="none" cap="none" strike="noStrike">
                <a:solidFill>
                  <a:srgbClr val="800000"/>
                </a:solidFill>
                <a:latin typeface="Arial"/>
                <a:ea typeface="Arial"/>
                <a:cs typeface="Arial"/>
                <a:sym typeface="Arial"/>
              </a:rPr>
              <a:t>2</a:t>
            </a:r>
            <a:r>
              <a:rPr b="1" i="0" lang="en-IN" sz="2000" u="none" cap="none" strike="noStrike">
                <a:solidFill>
                  <a:srgbClr val="800000"/>
                </a:solidFill>
                <a:latin typeface="Arial"/>
                <a:ea typeface="Arial"/>
                <a:cs typeface="Arial"/>
                <a:sym typeface="Arial"/>
              </a:rPr>
              <a:t>+10</a:t>
            </a:r>
            <a:r>
              <a:rPr b="0" i="0" lang="en-IN" sz="1800" u="none" cap="none" strike="noStrike">
                <a:solidFill>
                  <a:srgbClr val="000000"/>
                </a:solidFill>
                <a:latin typeface="Calibri"/>
                <a:ea typeface="Calibri"/>
                <a:cs typeface="Calibri"/>
                <a:sym typeface="Calibri"/>
              </a:rPr>
              <a:t> </a:t>
            </a:r>
            <a:r>
              <a:rPr b="1" i="0" lang="en-IN" sz="2000" u="none" cap="none" strike="noStrike">
                <a:solidFill>
                  <a:srgbClr val="800000"/>
                </a:solidFill>
                <a:latin typeface="Arial"/>
                <a:ea typeface="Arial"/>
                <a:cs typeface="Arial"/>
                <a:sym typeface="Arial"/>
              </a:rPr>
              <a:t>and 10000x+200000</a:t>
            </a:r>
            <a:endParaRPr b="0" i="0" sz="2000" u="none" cap="none" strike="noStrike">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0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General Notes about different degree functions</a:t>
            </a:r>
            <a:endParaRPr b="0" i="0" sz="4400" u="none" cap="none" strike="noStrike">
              <a:latin typeface="Arial"/>
              <a:ea typeface="Arial"/>
              <a:cs typeface="Arial"/>
              <a:sym typeface="Arial"/>
            </a:endParaRPr>
          </a:p>
        </p:txBody>
      </p:sp>
      <p:sp>
        <p:nvSpPr>
          <p:cNvPr id="615" name="Google Shape;615;p108"/>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saw that a function of a different degree is altogether qualitatively different than a function of a lower degree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functions of the same degree (differing by constants) are comparable to each other as they only differ by constants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Hence it is imperative to see the behaviour – rate of growth- of different functions</a:t>
            </a:r>
            <a:endParaRPr b="0" i="0" sz="3200" u="none" cap="none" strike="noStrike">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Rates of growth of various functions of n</a:t>
            </a:r>
            <a:endParaRPr b="0" i="0" sz="4400" u="none" cap="none" strike="noStrike">
              <a:latin typeface="Arial"/>
              <a:ea typeface="Arial"/>
              <a:cs typeface="Arial"/>
              <a:sym typeface="Arial"/>
            </a:endParaRPr>
          </a:p>
        </p:txBody>
      </p:sp>
      <p:pic>
        <p:nvPicPr>
          <p:cNvPr id="622" name="Google Shape;622;p109"/>
          <p:cNvPicPr preferRelativeResize="0"/>
          <p:nvPr/>
        </p:nvPicPr>
        <p:blipFill rotWithShape="1">
          <a:blip r:embed="rId3">
            <a:alphaModFix/>
          </a:blip>
          <a:srcRect b="0" l="0" r="0" t="28623"/>
          <a:stretch/>
        </p:blipFill>
        <p:spPr>
          <a:xfrm>
            <a:off x="839880" y="3024000"/>
            <a:ext cx="8398800" cy="3129120"/>
          </a:xfrm>
          <a:prstGeom prst="rect">
            <a:avLst/>
          </a:prstGeom>
          <a:noFill/>
          <a:ln>
            <a:noFill/>
          </a:ln>
        </p:spPr>
      </p:pic>
      <p:sp>
        <p:nvSpPr>
          <p:cNvPr id="623" name="Google Shape;623;p109"/>
          <p:cNvSpPr txBox="1"/>
          <p:nvPr/>
        </p:nvSpPr>
        <p:spPr>
          <a:xfrm>
            <a:off x="2880000" y="6997320"/>
            <a:ext cx="6973200" cy="346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https://www.cpp.edu/~ftang/courses/CS240/lectures/img/alg-tab.jpg</a:t>
            </a:r>
            <a:endParaRPr b="0" i="0" sz="1800" u="none" cap="none" strike="noStrike">
              <a:latin typeface="Arial"/>
              <a:ea typeface="Arial"/>
              <a:cs typeface="Arial"/>
              <a:sym typeface="Arial"/>
            </a:endParaRPr>
          </a:p>
        </p:txBody>
      </p:sp>
      <p:sp>
        <p:nvSpPr>
          <p:cNvPr id="624" name="Google Shape;624;p109"/>
          <p:cNvSpPr txBox="1"/>
          <p:nvPr/>
        </p:nvSpPr>
        <p:spPr>
          <a:xfrm>
            <a:off x="648000" y="2232000"/>
            <a:ext cx="8496000" cy="792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200" u="none" cap="none" strike="noStrike">
                <a:solidFill>
                  <a:srgbClr val="800000"/>
                </a:solidFill>
                <a:latin typeface="Arial"/>
                <a:ea typeface="Arial"/>
                <a:cs typeface="Arial"/>
                <a:sym typeface="Arial"/>
              </a:rPr>
              <a:t>     n     1            log n       n      n log n        n</a:t>
            </a:r>
            <a:r>
              <a:rPr b="1" baseline="30000" i="0" lang="en-IN" sz="2541" u="none" cap="none" strike="noStrike">
                <a:solidFill>
                  <a:srgbClr val="800000"/>
                </a:solidFill>
                <a:latin typeface="Arial"/>
                <a:ea typeface="Arial"/>
                <a:cs typeface="Arial"/>
                <a:sym typeface="Arial"/>
              </a:rPr>
              <a:t>2                 </a:t>
            </a:r>
            <a:r>
              <a:rPr b="1" i="0" lang="en-IN" sz="2200" u="none" cap="none" strike="noStrike">
                <a:solidFill>
                  <a:srgbClr val="800000"/>
                </a:solidFill>
                <a:latin typeface="Arial"/>
                <a:ea typeface="Arial"/>
                <a:cs typeface="Arial"/>
                <a:sym typeface="Arial"/>
              </a:rPr>
              <a:t>n</a:t>
            </a:r>
            <a:r>
              <a:rPr b="1" baseline="30000" i="0" lang="en-IN" sz="2541" u="none" cap="none" strike="noStrike">
                <a:solidFill>
                  <a:srgbClr val="800000"/>
                </a:solidFill>
                <a:latin typeface="Arial"/>
                <a:ea typeface="Arial"/>
                <a:cs typeface="Arial"/>
                <a:sym typeface="Arial"/>
              </a:rPr>
              <a:t>3                    </a:t>
            </a:r>
            <a:r>
              <a:rPr b="1" i="0" lang="en-IN" sz="2200" u="none" cap="none" strike="noStrike">
                <a:solidFill>
                  <a:srgbClr val="800000"/>
                </a:solidFill>
                <a:latin typeface="Arial"/>
                <a:ea typeface="Arial"/>
                <a:cs typeface="Arial"/>
                <a:sym typeface="Arial"/>
              </a:rPr>
              <a:t>2</a:t>
            </a:r>
            <a:r>
              <a:rPr b="1" baseline="30000" i="0" lang="en-IN" sz="2541" u="none" cap="none" strike="noStrike">
                <a:solidFill>
                  <a:srgbClr val="800000"/>
                </a:solidFill>
                <a:latin typeface="Arial"/>
                <a:ea typeface="Arial"/>
                <a:cs typeface="Arial"/>
                <a:sym typeface="Arial"/>
              </a:rPr>
              <a:t>n</a:t>
            </a:r>
            <a:endParaRPr b="0" i="0" sz="2200" u="none" cap="none" strike="noStrike">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10"/>
          <p:cNvSpPr txBox="1"/>
          <p:nvPr/>
        </p:nvSpPr>
        <p:spPr>
          <a:xfrm>
            <a:off x="288000" y="597600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800" u="none" cap="none" strike="noStrike">
                <a:solidFill>
                  <a:srgbClr val="800000"/>
                </a:solidFill>
                <a:latin typeface="Arial"/>
                <a:ea typeface="Arial"/>
                <a:cs typeface="Arial"/>
                <a:sym typeface="Arial"/>
              </a:rPr>
              <a:t>Comparison of rates of growth of various functions</a:t>
            </a:r>
            <a:endParaRPr b="0" i="0" sz="2800" u="none" cap="none" strike="noStrike">
              <a:latin typeface="Arial"/>
              <a:ea typeface="Arial"/>
              <a:cs typeface="Arial"/>
              <a:sym typeface="Arial"/>
            </a:endParaRPr>
          </a:p>
        </p:txBody>
      </p:sp>
      <p:pic>
        <p:nvPicPr>
          <p:cNvPr id="631" name="Google Shape;631;p110"/>
          <p:cNvPicPr preferRelativeResize="0"/>
          <p:nvPr/>
        </p:nvPicPr>
        <p:blipFill rotWithShape="1">
          <a:blip r:embed="rId3">
            <a:alphaModFix/>
          </a:blip>
          <a:srcRect b="0" l="0" r="-1783" t="12206"/>
          <a:stretch/>
        </p:blipFill>
        <p:spPr>
          <a:xfrm>
            <a:off x="144000" y="144000"/>
            <a:ext cx="9648000" cy="6247800"/>
          </a:xfrm>
          <a:prstGeom prst="rect">
            <a:avLst/>
          </a:prstGeom>
          <a:noFill/>
          <a:ln>
            <a:noFill/>
          </a:ln>
        </p:spPr>
      </p:pic>
      <p:sp>
        <p:nvSpPr>
          <p:cNvPr id="632" name="Google Shape;632;p110"/>
          <p:cNvSpPr txBox="1"/>
          <p:nvPr/>
        </p:nvSpPr>
        <p:spPr>
          <a:xfrm>
            <a:off x="3744000" y="7200000"/>
            <a:ext cx="6061680" cy="346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http://www.slideshare.net/sumitbardhan/algorithm-analysis</a:t>
            </a:r>
            <a:endParaRPr b="0" i="0" sz="1800" u="none" cap="none" strike="noStrike">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1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descr="A close up of a logo&#10;&#10;Description generated with very high confidence" id="638" name="Google Shape;638;p111"/>
          <p:cNvPicPr preferRelativeResize="0"/>
          <p:nvPr/>
        </p:nvPicPr>
        <p:blipFill rotWithShape="1">
          <a:blip r:embed="rId3">
            <a:alphaModFix/>
          </a:blip>
          <a:srcRect b="0" l="0" r="0" t="0"/>
          <a:stretch/>
        </p:blipFill>
        <p:spPr>
          <a:xfrm>
            <a:off x="1198080" y="1094760"/>
            <a:ext cx="7432560" cy="5328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1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Rates of growth of various functions</a:t>
            </a:r>
            <a:endParaRPr b="0" i="0" sz="4400" u="none" cap="none" strike="noStrike">
              <a:latin typeface="Arial"/>
              <a:ea typeface="Arial"/>
              <a:cs typeface="Arial"/>
              <a:sym typeface="Arial"/>
            </a:endParaRPr>
          </a:p>
        </p:txBody>
      </p:sp>
      <p:sp>
        <p:nvSpPr>
          <p:cNvPr id="645" name="Google Shape;645;p112"/>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graph on earlier slide shows us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Some functions like log(n) grow very slowly while some like 2</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grow extremely fast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Functions like 2</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or even n</a:t>
            </a:r>
            <a:r>
              <a:rPr b="1" baseline="30000" i="0" lang="en-IN" sz="3696" u="none" cap="none" strike="noStrike">
                <a:solidFill>
                  <a:srgbClr val="0000CC"/>
                </a:solidFill>
                <a:latin typeface="Arial"/>
                <a:ea typeface="Arial"/>
                <a:cs typeface="Arial"/>
                <a:sym typeface="Arial"/>
              </a:rPr>
              <a:t>10</a:t>
            </a:r>
            <a:r>
              <a:rPr b="1" i="0" lang="en-IN" sz="3200" u="none" cap="none" strike="noStrike">
                <a:solidFill>
                  <a:srgbClr val="0000CC"/>
                </a:solidFill>
                <a:latin typeface="Arial"/>
                <a:ea typeface="Arial"/>
                <a:cs typeface="Arial"/>
                <a:sym typeface="Arial"/>
              </a:rPr>
              <a:t>  are horribly expensive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1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52" name="Google Shape;652;p113"/>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constants in equation become less significant as the “size of input”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highest degree term in a polynomial equation will dominate other terms as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Even if a smaller degree equation has a very high constant, a higher degree equation with a small constant will dominate it after sufficiently high 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0" st="0"/>
                                            </p:txEl>
                                          </p:spTgt>
                                        </p:tgtEl>
                                        <p:attrNameLst>
                                          <p:attrName>style.visibility</p:attrName>
                                        </p:attrNameLst>
                                      </p:cBhvr>
                                      <p:to>
                                        <p:strVal val="visible"/>
                                      </p:to>
                                    </p:set>
                                    <p:animEffect filter="fade" transition="in">
                                      <p:cBhvr>
                                        <p:cTn dur="1"/>
                                        <p:tgtEl>
                                          <p:spTgt spid="6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1" st="1"/>
                                            </p:txEl>
                                          </p:spTgt>
                                        </p:tgtEl>
                                        <p:attrNameLst>
                                          <p:attrName>style.visibility</p:attrName>
                                        </p:attrNameLst>
                                      </p:cBhvr>
                                      <p:to>
                                        <p:strVal val="visible"/>
                                      </p:to>
                                    </p:set>
                                    <p:animEffect filter="fade" transition="in">
                                      <p:cBhvr>
                                        <p:cTn dur="1"/>
                                        <p:tgtEl>
                                          <p:spTgt spid="6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2" st="2"/>
                                            </p:txEl>
                                          </p:spTgt>
                                        </p:tgtEl>
                                        <p:attrNameLst>
                                          <p:attrName>style.visibility</p:attrName>
                                        </p:attrNameLst>
                                      </p:cBhvr>
                                      <p:to>
                                        <p:strVal val="visible"/>
                                      </p:to>
                                    </p:set>
                                    <p:animEffect filter="fade" transition="in">
                                      <p:cBhvr>
                                        <p:cTn dur="1"/>
                                        <p:tgtEl>
                                          <p:spTgt spid="6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3" st="3"/>
                                            </p:txEl>
                                          </p:spTgt>
                                        </p:tgtEl>
                                        <p:attrNameLst>
                                          <p:attrName>style.visibility</p:attrName>
                                        </p:attrNameLst>
                                      </p:cBhvr>
                                      <p:to>
                                        <p:strVal val="visible"/>
                                      </p:to>
                                    </p:set>
                                    <p:animEffect filter="fade" transition="in">
                                      <p:cBhvr>
                                        <p:cTn dur="1"/>
                                        <p:tgtEl>
                                          <p:spTgt spid="65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59" name="Google Shape;659;p114"/>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fall in same category and in different category than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If q &gt; p, then all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  </a:t>
            </a:r>
            <a:r>
              <a:rPr b="1" i="0" lang="en-IN" sz="3200" u="none" cap="none" strike="noStrike">
                <a:solidFill>
                  <a:srgbClr val="0000CC"/>
                </a:solidFill>
                <a:latin typeface="Arial"/>
                <a:ea typeface="Arial"/>
                <a:cs typeface="Arial"/>
                <a:sym typeface="Arial"/>
              </a:rPr>
              <a:t>curves will cross 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sooner or later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Due to this It is generally sufficient to know</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That a function behaves “worse” or “better” than (some multiple of) a known function (like 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ore n</a:t>
            </a:r>
            <a:r>
              <a:rPr b="1" baseline="30000" i="0" lang="en-IN" sz="3696" u="none" cap="none" strike="noStrike">
                <a:solidFill>
                  <a:srgbClr val="0000CC"/>
                </a:solidFill>
                <a:latin typeface="Arial"/>
                <a:ea typeface="Arial"/>
                <a:cs typeface="Arial"/>
                <a:sym typeface="Arial"/>
              </a:rPr>
              <a:t>3</a:t>
            </a:r>
            <a:r>
              <a:rPr b="1" i="0" lang="en-IN" sz="3200" u="none" cap="none" strike="noStrike">
                <a:solidFill>
                  <a:srgbClr val="0000CC"/>
                </a:solidFill>
                <a:latin typeface="Arial"/>
                <a:ea typeface="Arial"/>
                <a:cs typeface="Arial"/>
                <a:sym typeface="Arial"/>
              </a:rPr>
              <a:t> or nlogn, etc )</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0" st="0"/>
                                            </p:txEl>
                                          </p:spTgt>
                                        </p:tgtEl>
                                        <p:attrNameLst>
                                          <p:attrName>style.visibility</p:attrName>
                                        </p:attrNameLst>
                                      </p:cBhvr>
                                      <p:to>
                                        <p:strVal val="visible"/>
                                      </p:to>
                                    </p:set>
                                    <p:animEffect filter="fade" transition="in">
                                      <p:cBhvr>
                                        <p:cTn dur="1"/>
                                        <p:tgtEl>
                                          <p:spTgt spid="6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1" st="1"/>
                                            </p:txEl>
                                          </p:spTgt>
                                        </p:tgtEl>
                                        <p:attrNameLst>
                                          <p:attrName>style.visibility</p:attrName>
                                        </p:attrNameLst>
                                      </p:cBhvr>
                                      <p:to>
                                        <p:strVal val="visible"/>
                                      </p:to>
                                    </p:set>
                                    <p:animEffect filter="fade" transition="in">
                                      <p:cBhvr>
                                        <p:cTn dur="1"/>
                                        <p:tgtEl>
                                          <p:spTgt spid="6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2" st="2"/>
                                            </p:txEl>
                                          </p:spTgt>
                                        </p:tgtEl>
                                        <p:attrNameLst>
                                          <p:attrName>style.visibility</p:attrName>
                                        </p:attrNameLst>
                                      </p:cBhvr>
                                      <p:to>
                                        <p:strVal val="visible"/>
                                      </p:to>
                                    </p:set>
                                    <p:animEffect filter="fade" transition="in">
                                      <p:cBhvr>
                                        <p:cTn dur="1"/>
                                        <p:tgtEl>
                                          <p:spTgt spid="6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3" st="3"/>
                                            </p:txEl>
                                          </p:spTgt>
                                        </p:tgtEl>
                                        <p:attrNameLst>
                                          <p:attrName>style.visibility</p:attrName>
                                        </p:attrNameLst>
                                      </p:cBhvr>
                                      <p:to>
                                        <p:strVal val="visible"/>
                                      </p:to>
                                    </p:set>
                                    <p:animEffect filter="fade" transition="in">
                                      <p:cBhvr>
                                        <p:cTn dur="1"/>
                                        <p:tgtEl>
                                          <p:spTgt spid="6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4" st="4"/>
                                            </p:txEl>
                                          </p:spTgt>
                                        </p:tgtEl>
                                        <p:attrNameLst>
                                          <p:attrName>style.visibility</p:attrName>
                                        </p:attrNameLst>
                                      </p:cBhvr>
                                      <p:to>
                                        <p:strVal val="visible"/>
                                      </p:to>
                                    </p:set>
                                    <p:animEffect filter="fade" transition="in">
                                      <p:cBhvr>
                                        <p:cTn dur="1"/>
                                        <p:tgtEl>
                                          <p:spTgt spid="65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15"/>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66" name="Google Shape;666;p115"/>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constants in equation become less significant as the “size of input”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highest degree term in a polynomial equation will dominate other terms as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Even if a smaller degree equation has a very high constant, a higher degree equation with a small constant will dominate it after sufficiently high 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0" st="0"/>
                                            </p:txEl>
                                          </p:spTgt>
                                        </p:tgtEl>
                                        <p:attrNameLst>
                                          <p:attrName>style.visibility</p:attrName>
                                        </p:attrNameLst>
                                      </p:cBhvr>
                                      <p:to>
                                        <p:strVal val="visible"/>
                                      </p:to>
                                    </p:set>
                                    <p:animEffect filter="fade" transition="in">
                                      <p:cBhvr>
                                        <p:cTn dur="1"/>
                                        <p:tgtEl>
                                          <p:spTgt spid="6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1" st="1"/>
                                            </p:txEl>
                                          </p:spTgt>
                                        </p:tgtEl>
                                        <p:attrNameLst>
                                          <p:attrName>style.visibility</p:attrName>
                                        </p:attrNameLst>
                                      </p:cBhvr>
                                      <p:to>
                                        <p:strVal val="visible"/>
                                      </p:to>
                                    </p:set>
                                    <p:animEffect filter="fade" transition="in">
                                      <p:cBhvr>
                                        <p:cTn dur="1"/>
                                        <p:tgtEl>
                                          <p:spTgt spid="6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2" st="2"/>
                                            </p:txEl>
                                          </p:spTgt>
                                        </p:tgtEl>
                                        <p:attrNameLst>
                                          <p:attrName>style.visibility</p:attrName>
                                        </p:attrNameLst>
                                      </p:cBhvr>
                                      <p:to>
                                        <p:strVal val="visible"/>
                                      </p:to>
                                    </p:set>
                                    <p:animEffect filter="fade" transition="in">
                                      <p:cBhvr>
                                        <p:cTn dur="1"/>
                                        <p:tgtEl>
                                          <p:spTgt spid="6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3" st="3"/>
                                            </p:txEl>
                                          </p:spTgt>
                                        </p:tgtEl>
                                        <p:attrNameLst>
                                          <p:attrName>style.visibility</p:attrName>
                                        </p:attrNameLst>
                                      </p:cBhvr>
                                      <p:to>
                                        <p:strVal val="visible"/>
                                      </p:to>
                                    </p:set>
                                    <p:animEffect filter="fade" transition="in">
                                      <p:cBhvr>
                                        <p:cTn dur="1"/>
                                        <p:tgtEl>
                                          <p:spTgt spid="66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1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73" name="Google Shape;673;p11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fall in same category and in different category than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If q &gt; p, then all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  </a:t>
            </a:r>
            <a:r>
              <a:rPr b="1" i="0" lang="en-IN" sz="3200" u="none" cap="none" strike="noStrike">
                <a:solidFill>
                  <a:srgbClr val="0000CC"/>
                </a:solidFill>
                <a:latin typeface="Arial"/>
                <a:ea typeface="Arial"/>
                <a:cs typeface="Arial"/>
                <a:sym typeface="Arial"/>
              </a:rPr>
              <a:t>curves will cross 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sooner or later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Due to this It is generally sufficient to know</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That a function behaves “worse” or “better” than (some multiple of) a known function (like 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ore n</a:t>
            </a:r>
            <a:r>
              <a:rPr b="1" baseline="30000" i="0" lang="en-IN" sz="3696" u="none" cap="none" strike="noStrike">
                <a:solidFill>
                  <a:srgbClr val="0000CC"/>
                </a:solidFill>
                <a:latin typeface="Arial"/>
                <a:ea typeface="Arial"/>
                <a:cs typeface="Arial"/>
                <a:sym typeface="Arial"/>
              </a:rPr>
              <a:t>3</a:t>
            </a:r>
            <a:r>
              <a:rPr b="1" i="0" lang="en-IN" sz="3200" u="none" cap="none" strike="noStrike">
                <a:solidFill>
                  <a:srgbClr val="0000CC"/>
                </a:solidFill>
                <a:latin typeface="Arial"/>
                <a:ea typeface="Arial"/>
                <a:cs typeface="Arial"/>
                <a:sym typeface="Arial"/>
              </a:rPr>
              <a:t> or nlogn, etc )</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0" st="0"/>
                                            </p:txEl>
                                          </p:spTgt>
                                        </p:tgtEl>
                                        <p:attrNameLst>
                                          <p:attrName>style.visibility</p:attrName>
                                        </p:attrNameLst>
                                      </p:cBhvr>
                                      <p:to>
                                        <p:strVal val="visible"/>
                                      </p:to>
                                    </p:set>
                                    <p:animEffect filter="fade" transition="in">
                                      <p:cBhvr>
                                        <p:cTn dur="1"/>
                                        <p:tgtEl>
                                          <p:spTgt spid="6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1" st="1"/>
                                            </p:txEl>
                                          </p:spTgt>
                                        </p:tgtEl>
                                        <p:attrNameLst>
                                          <p:attrName>style.visibility</p:attrName>
                                        </p:attrNameLst>
                                      </p:cBhvr>
                                      <p:to>
                                        <p:strVal val="visible"/>
                                      </p:to>
                                    </p:set>
                                    <p:animEffect filter="fade" transition="in">
                                      <p:cBhvr>
                                        <p:cTn dur="1"/>
                                        <p:tgtEl>
                                          <p:spTgt spid="6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2" st="2"/>
                                            </p:txEl>
                                          </p:spTgt>
                                        </p:tgtEl>
                                        <p:attrNameLst>
                                          <p:attrName>style.visibility</p:attrName>
                                        </p:attrNameLst>
                                      </p:cBhvr>
                                      <p:to>
                                        <p:strVal val="visible"/>
                                      </p:to>
                                    </p:set>
                                    <p:animEffect filter="fade" transition="in">
                                      <p:cBhvr>
                                        <p:cTn dur="1"/>
                                        <p:tgtEl>
                                          <p:spTgt spid="6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3" st="3"/>
                                            </p:txEl>
                                          </p:spTgt>
                                        </p:tgtEl>
                                        <p:attrNameLst>
                                          <p:attrName>style.visibility</p:attrName>
                                        </p:attrNameLst>
                                      </p:cBhvr>
                                      <p:to>
                                        <p:strVal val="visible"/>
                                      </p:to>
                                    </p:set>
                                    <p:animEffect filter="fade" transition="in">
                                      <p:cBhvr>
                                        <p:cTn dur="1"/>
                                        <p:tgtEl>
                                          <p:spTgt spid="6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4" st="4"/>
                                            </p:txEl>
                                          </p:spTgt>
                                        </p:tgtEl>
                                        <p:attrNameLst>
                                          <p:attrName>style.visibility</p:attrName>
                                        </p:attrNameLst>
                                      </p:cBhvr>
                                      <p:to>
                                        <p:strVal val="visible"/>
                                      </p:to>
                                    </p:set>
                                    <p:animEffect filter="fade" transition="in">
                                      <p:cBhvr>
                                        <p:cTn dur="1"/>
                                        <p:tgtEl>
                                          <p:spTgt spid="67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1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Asymptotic Notations</a:t>
            </a:r>
            <a:br>
              <a:rPr b="0" i="0" lang="en-IN" sz="1800" u="none" cap="none" strike="noStrike"/>
            </a:br>
            <a:endParaRPr b="0" i="0" sz="4400" u="none" cap="none" strike="noStrike">
              <a:latin typeface="Arial"/>
              <a:ea typeface="Arial"/>
              <a:cs typeface="Arial"/>
              <a:sym typeface="Arial"/>
            </a:endParaRPr>
          </a:p>
        </p:txBody>
      </p:sp>
      <p:sp>
        <p:nvSpPr>
          <p:cNvPr id="679" name="Google Shape;679;p11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ctr">
              <a:lnSpc>
                <a:spcPct val="80000"/>
              </a:lnSpc>
              <a:spcBef>
                <a:spcPts val="0"/>
              </a:spcBef>
              <a:spcAft>
                <a:spcPts val="0"/>
              </a:spcAft>
              <a:buNone/>
            </a:pPr>
            <a:r>
              <a:rPr b="1" i="0" lang="en-IN" sz="2800" u="none" cap="none" strike="noStrike">
                <a:solidFill>
                  <a:srgbClr val="FF0000"/>
                </a:solidFill>
                <a:latin typeface="Roboto"/>
                <a:ea typeface="Roboto"/>
                <a:cs typeface="Roboto"/>
                <a:sym typeface="Roboto"/>
              </a:rPr>
              <a:t>Asymptotic Notations are mathematical notations used to describe the running time of an algorithm </a:t>
            </a:r>
            <a:endParaRPr b="0" i="0" sz="28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200" u="none" cap="none" strike="noStrike">
                <a:solidFill>
                  <a:srgbClr val="111111"/>
                </a:solidFill>
                <a:latin typeface="Roboto"/>
                <a:ea typeface="Roboto"/>
                <a:cs typeface="Roboto"/>
                <a:sym typeface="Roboto"/>
              </a:rPr>
              <a:t> </a:t>
            </a:r>
            <a:endParaRPr b="0" i="0" sz="22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Following are the commonly used Asymptotic Notations to calculate the running time complexity of an algorithm.</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Ο Notation (Big ‘Oh’ )</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Ω Notation (Omega)</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θ Notation (Theta)</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 </a:t>
            </a:r>
            <a:endParaRPr b="0" i="0" sz="3400" u="none" cap="none" strike="noStrike">
              <a:latin typeface="Arial"/>
              <a:ea typeface="Arial"/>
              <a:cs typeface="Arial"/>
              <a:sym typeface="Arial"/>
            </a:endParaRPr>
          </a:p>
        </p:txBody>
      </p:sp>
      <p:pic>
        <p:nvPicPr>
          <p:cNvPr id="680" name="Google Shape;680;p117"/>
          <p:cNvPicPr preferRelativeResize="0"/>
          <p:nvPr/>
        </p:nvPicPr>
        <p:blipFill rotWithShape="1">
          <a:blip r:embed="rId3">
            <a:alphaModFix/>
          </a:blip>
          <a:srcRect b="0" l="0" r="0" t="0"/>
          <a:stretch/>
        </p:blipFill>
        <p:spPr>
          <a:xfrm>
            <a:off x="5133960" y="1579320"/>
            <a:ext cx="4262760" cy="670680"/>
          </a:xfrm>
          <a:prstGeom prst="rect">
            <a:avLst/>
          </a:prstGeom>
          <a:noFill/>
          <a:ln>
            <a:noFill/>
          </a:ln>
        </p:spPr>
      </p:pic>
      <p:pic>
        <p:nvPicPr>
          <p:cNvPr id="681" name="Google Shape;681;p117"/>
          <p:cNvPicPr preferRelativeResize="0"/>
          <p:nvPr/>
        </p:nvPicPr>
        <p:blipFill rotWithShape="1">
          <a:blip r:embed="rId4">
            <a:alphaModFix/>
          </a:blip>
          <a:srcRect b="0" l="0" r="0" t="0"/>
          <a:stretch/>
        </p:blipFill>
        <p:spPr>
          <a:xfrm>
            <a:off x="1093320" y="168840"/>
            <a:ext cx="4249800" cy="1055880"/>
          </a:xfrm>
          <a:prstGeom prst="rect">
            <a:avLst/>
          </a:prstGeom>
          <a:noFill/>
          <a:ln>
            <a:noFill/>
          </a:ln>
        </p:spPr>
      </p:pic>
      <p:grpSp>
        <p:nvGrpSpPr>
          <p:cNvPr id="682" name="Google Shape;682;p117"/>
          <p:cNvGrpSpPr/>
          <p:nvPr/>
        </p:nvGrpSpPr>
        <p:grpSpPr>
          <a:xfrm>
            <a:off x="255240" y="4401360"/>
            <a:ext cx="1376280" cy="1996200"/>
            <a:chOff x="255240" y="4401360"/>
            <a:chExt cx="1376280" cy="1996200"/>
          </a:xfrm>
        </p:grpSpPr>
        <p:pic>
          <p:nvPicPr>
            <p:cNvPr id="683" name="Google Shape;683;p117"/>
            <p:cNvPicPr preferRelativeResize="0"/>
            <p:nvPr/>
          </p:nvPicPr>
          <p:blipFill rotWithShape="1">
            <a:blip r:embed="rId5">
              <a:alphaModFix/>
            </a:blip>
            <a:srcRect b="0" l="0" r="0" t="0"/>
            <a:stretch/>
          </p:blipFill>
          <p:spPr>
            <a:xfrm>
              <a:off x="270360" y="4401360"/>
              <a:ext cx="155880" cy="579600"/>
            </a:xfrm>
            <a:prstGeom prst="rect">
              <a:avLst/>
            </a:prstGeom>
            <a:noFill/>
            <a:ln>
              <a:noFill/>
            </a:ln>
          </p:spPr>
        </p:pic>
        <p:pic>
          <p:nvPicPr>
            <p:cNvPr id="684" name="Google Shape;684;p117"/>
            <p:cNvPicPr preferRelativeResize="0"/>
            <p:nvPr/>
          </p:nvPicPr>
          <p:blipFill rotWithShape="1">
            <a:blip r:embed="rId6">
              <a:alphaModFix/>
            </a:blip>
            <a:srcRect b="0" l="0" r="0" t="0"/>
            <a:stretch/>
          </p:blipFill>
          <p:spPr>
            <a:xfrm>
              <a:off x="255240" y="5016240"/>
              <a:ext cx="425880" cy="512640"/>
            </a:xfrm>
            <a:prstGeom prst="rect">
              <a:avLst/>
            </a:prstGeom>
            <a:noFill/>
            <a:ln>
              <a:noFill/>
            </a:ln>
          </p:spPr>
        </p:pic>
        <p:pic>
          <p:nvPicPr>
            <p:cNvPr id="685" name="Google Shape;685;p117"/>
            <p:cNvPicPr preferRelativeResize="0"/>
            <p:nvPr/>
          </p:nvPicPr>
          <p:blipFill rotWithShape="1">
            <a:blip r:embed="rId7">
              <a:alphaModFix/>
            </a:blip>
            <a:srcRect b="0" l="0" r="0" t="0"/>
            <a:stretch/>
          </p:blipFill>
          <p:spPr>
            <a:xfrm>
              <a:off x="266040" y="5585400"/>
              <a:ext cx="1365480" cy="812160"/>
            </a:xfrm>
            <a:prstGeom prst="rect">
              <a:avLst/>
            </a:prstGeom>
            <a:noFill/>
            <a:ln>
              <a:noFill/>
            </a:ln>
          </p:spPr>
        </p:pic>
      </p:grpSp>
      <p:grpSp>
        <p:nvGrpSpPr>
          <p:cNvPr id="686" name="Google Shape;686;p117"/>
          <p:cNvGrpSpPr/>
          <p:nvPr/>
        </p:nvGrpSpPr>
        <p:grpSpPr>
          <a:xfrm>
            <a:off x="2570400" y="4318200"/>
            <a:ext cx="6285960" cy="3131640"/>
            <a:chOff x="2570400" y="4318200"/>
            <a:chExt cx="6285960" cy="3131640"/>
          </a:xfrm>
        </p:grpSpPr>
        <p:pic>
          <p:nvPicPr>
            <p:cNvPr id="687" name="Google Shape;687;p117"/>
            <p:cNvPicPr preferRelativeResize="0"/>
            <p:nvPr/>
          </p:nvPicPr>
          <p:blipFill rotWithShape="1">
            <a:blip r:embed="rId8">
              <a:alphaModFix/>
            </a:blip>
            <a:srcRect b="0" l="0" r="0" t="0"/>
            <a:stretch/>
          </p:blipFill>
          <p:spPr>
            <a:xfrm>
              <a:off x="2570400" y="4833000"/>
              <a:ext cx="2752920" cy="209520"/>
            </a:xfrm>
            <a:prstGeom prst="rect">
              <a:avLst/>
            </a:prstGeom>
            <a:noFill/>
            <a:ln>
              <a:noFill/>
            </a:ln>
          </p:spPr>
        </p:pic>
        <p:pic>
          <p:nvPicPr>
            <p:cNvPr id="688" name="Google Shape;688;p117"/>
            <p:cNvPicPr preferRelativeResize="0"/>
            <p:nvPr/>
          </p:nvPicPr>
          <p:blipFill rotWithShape="1">
            <a:blip r:embed="rId9">
              <a:alphaModFix/>
            </a:blip>
            <a:srcRect b="0" l="0" r="0" t="0"/>
            <a:stretch/>
          </p:blipFill>
          <p:spPr>
            <a:xfrm>
              <a:off x="5364000" y="4634280"/>
              <a:ext cx="555120" cy="71280"/>
            </a:xfrm>
            <a:prstGeom prst="rect">
              <a:avLst/>
            </a:prstGeom>
            <a:noFill/>
            <a:ln>
              <a:noFill/>
            </a:ln>
          </p:spPr>
        </p:pic>
        <p:pic>
          <p:nvPicPr>
            <p:cNvPr id="689" name="Google Shape;689;p117"/>
            <p:cNvPicPr preferRelativeResize="0"/>
            <p:nvPr/>
          </p:nvPicPr>
          <p:blipFill rotWithShape="1">
            <a:blip r:embed="rId10">
              <a:alphaModFix/>
            </a:blip>
            <a:srcRect b="0" l="0" r="0" t="0"/>
            <a:stretch/>
          </p:blipFill>
          <p:spPr>
            <a:xfrm>
              <a:off x="6410160" y="4548960"/>
              <a:ext cx="355680" cy="419400"/>
            </a:xfrm>
            <a:prstGeom prst="rect">
              <a:avLst/>
            </a:prstGeom>
            <a:noFill/>
            <a:ln>
              <a:noFill/>
            </a:ln>
          </p:spPr>
        </p:pic>
        <p:pic>
          <p:nvPicPr>
            <p:cNvPr id="690" name="Google Shape;690;p117"/>
            <p:cNvPicPr preferRelativeResize="0"/>
            <p:nvPr/>
          </p:nvPicPr>
          <p:blipFill rotWithShape="1">
            <a:blip r:embed="rId11">
              <a:alphaModFix/>
            </a:blip>
            <a:srcRect b="0" l="0" r="0" t="0"/>
            <a:stretch/>
          </p:blipFill>
          <p:spPr>
            <a:xfrm>
              <a:off x="6924240" y="4678560"/>
              <a:ext cx="431280" cy="242640"/>
            </a:xfrm>
            <a:prstGeom prst="rect">
              <a:avLst/>
            </a:prstGeom>
            <a:noFill/>
            <a:ln>
              <a:noFill/>
            </a:ln>
          </p:spPr>
        </p:pic>
        <p:pic>
          <p:nvPicPr>
            <p:cNvPr id="691" name="Google Shape;691;p117"/>
            <p:cNvPicPr preferRelativeResize="0"/>
            <p:nvPr/>
          </p:nvPicPr>
          <p:blipFill rotWithShape="1">
            <a:blip r:embed="rId12">
              <a:alphaModFix/>
            </a:blip>
            <a:srcRect b="0" l="0" r="0" t="0"/>
            <a:stretch/>
          </p:blipFill>
          <p:spPr>
            <a:xfrm>
              <a:off x="7425000" y="4572360"/>
              <a:ext cx="144360" cy="289440"/>
            </a:xfrm>
            <a:prstGeom prst="rect">
              <a:avLst/>
            </a:prstGeom>
            <a:noFill/>
            <a:ln>
              <a:noFill/>
            </a:ln>
          </p:spPr>
        </p:pic>
        <p:pic>
          <p:nvPicPr>
            <p:cNvPr id="692" name="Google Shape;692;p117"/>
            <p:cNvPicPr preferRelativeResize="0"/>
            <p:nvPr/>
          </p:nvPicPr>
          <p:blipFill rotWithShape="1">
            <a:blip r:embed="rId13">
              <a:alphaModFix/>
            </a:blip>
            <a:srcRect b="0" l="0" r="0" t="0"/>
            <a:stretch/>
          </p:blipFill>
          <p:spPr>
            <a:xfrm>
              <a:off x="7737120" y="4421160"/>
              <a:ext cx="59400" cy="444960"/>
            </a:xfrm>
            <a:prstGeom prst="rect">
              <a:avLst/>
            </a:prstGeom>
            <a:noFill/>
            <a:ln>
              <a:noFill/>
            </a:ln>
          </p:spPr>
        </p:pic>
        <p:pic>
          <p:nvPicPr>
            <p:cNvPr id="693" name="Google Shape;693;p117"/>
            <p:cNvPicPr preferRelativeResize="0"/>
            <p:nvPr/>
          </p:nvPicPr>
          <p:blipFill rotWithShape="1">
            <a:blip r:embed="rId14">
              <a:alphaModFix/>
            </a:blip>
            <a:srcRect b="0" l="0" r="0" t="0"/>
            <a:stretch/>
          </p:blipFill>
          <p:spPr>
            <a:xfrm>
              <a:off x="7683480" y="4611240"/>
              <a:ext cx="452520" cy="129600"/>
            </a:xfrm>
            <a:prstGeom prst="rect">
              <a:avLst/>
            </a:prstGeom>
            <a:noFill/>
            <a:ln>
              <a:noFill/>
            </a:ln>
          </p:spPr>
        </p:pic>
        <p:pic>
          <p:nvPicPr>
            <p:cNvPr id="694" name="Google Shape;694;p117"/>
            <p:cNvPicPr preferRelativeResize="0"/>
            <p:nvPr/>
          </p:nvPicPr>
          <p:blipFill rotWithShape="1">
            <a:blip r:embed="rId15">
              <a:alphaModFix/>
            </a:blip>
            <a:srcRect b="0" l="0" r="0" t="0"/>
            <a:stretch/>
          </p:blipFill>
          <p:spPr>
            <a:xfrm>
              <a:off x="6598440" y="5109840"/>
              <a:ext cx="1394640" cy="133200"/>
            </a:xfrm>
            <a:prstGeom prst="rect">
              <a:avLst/>
            </a:prstGeom>
            <a:noFill/>
            <a:ln>
              <a:noFill/>
            </a:ln>
          </p:spPr>
        </p:pic>
        <p:pic>
          <p:nvPicPr>
            <p:cNvPr id="695" name="Google Shape;695;p117"/>
            <p:cNvPicPr preferRelativeResize="0"/>
            <p:nvPr/>
          </p:nvPicPr>
          <p:blipFill rotWithShape="1">
            <a:blip r:embed="rId16">
              <a:alphaModFix/>
            </a:blip>
            <a:srcRect b="0" l="0" r="0" t="0"/>
            <a:stretch/>
          </p:blipFill>
          <p:spPr>
            <a:xfrm>
              <a:off x="4742640" y="5281920"/>
              <a:ext cx="1004400" cy="483480"/>
            </a:xfrm>
            <a:prstGeom prst="rect">
              <a:avLst/>
            </a:prstGeom>
            <a:noFill/>
            <a:ln>
              <a:noFill/>
            </a:ln>
          </p:spPr>
        </p:pic>
        <p:pic>
          <p:nvPicPr>
            <p:cNvPr id="696" name="Google Shape;696;p117"/>
            <p:cNvPicPr preferRelativeResize="0"/>
            <p:nvPr/>
          </p:nvPicPr>
          <p:blipFill rotWithShape="1">
            <a:blip r:embed="rId17">
              <a:alphaModFix/>
            </a:blip>
            <a:srcRect b="0" l="0" r="0" t="0"/>
            <a:stretch/>
          </p:blipFill>
          <p:spPr>
            <a:xfrm>
              <a:off x="5556600" y="5661360"/>
              <a:ext cx="263880" cy="195840"/>
            </a:xfrm>
            <a:prstGeom prst="rect">
              <a:avLst/>
            </a:prstGeom>
            <a:noFill/>
            <a:ln>
              <a:noFill/>
            </a:ln>
          </p:spPr>
        </p:pic>
        <p:pic>
          <p:nvPicPr>
            <p:cNvPr id="697" name="Google Shape;697;p117"/>
            <p:cNvPicPr preferRelativeResize="0"/>
            <p:nvPr/>
          </p:nvPicPr>
          <p:blipFill rotWithShape="1">
            <a:blip r:embed="rId18">
              <a:alphaModFix/>
            </a:blip>
            <a:srcRect b="0" l="0" r="0" t="0"/>
            <a:stretch/>
          </p:blipFill>
          <p:spPr>
            <a:xfrm>
              <a:off x="5783400" y="5626800"/>
              <a:ext cx="134280" cy="285480"/>
            </a:xfrm>
            <a:prstGeom prst="rect">
              <a:avLst/>
            </a:prstGeom>
            <a:noFill/>
            <a:ln>
              <a:noFill/>
            </a:ln>
          </p:spPr>
        </p:pic>
        <p:pic>
          <p:nvPicPr>
            <p:cNvPr id="698" name="Google Shape;698;p117"/>
            <p:cNvPicPr preferRelativeResize="0"/>
            <p:nvPr/>
          </p:nvPicPr>
          <p:blipFill rotWithShape="1">
            <a:blip r:embed="rId19">
              <a:alphaModFix/>
            </a:blip>
            <a:srcRect b="0" l="0" r="0" t="0"/>
            <a:stretch/>
          </p:blipFill>
          <p:spPr>
            <a:xfrm>
              <a:off x="6670440" y="5542920"/>
              <a:ext cx="62640" cy="494640"/>
            </a:xfrm>
            <a:prstGeom prst="rect">
              <a:avLst/>
            </a:prstGeom>
            <a:noFill/>
            <a:ln>
              <a:noFill/>
            </a:ln>
          </p:spPr>
        </p:pic>
        <p:pic>
          <p:nvPicPr>
            <p:cNvPr id="699" name="Google Shape;699;p117"/>
            <p:cNvPicPr preferRelativeResize="0"/>
            <p:nvPr/>
          </p:nvPicPr>
          <p:blipFill rotWithShape="1">
            <a:blip r:embed="rId20">
              <a:alphaModFix/>
            </a:blip>
            <a:srcRect b="0" l="0" r="0" t="0"/>
            <a:stretch/>
          </p:blipFill>
          <p:spPr>
            <a:xfrm>
              <a:off x="6640920" y="5603040"/>
              <a:ext cx="298080" cy="416880"/>
            </a:xfrm>
            <a:prstGeom prst="rect">
              <a:avLst/>
            </a:prstGeom>
            <a:noFill/>
            <a:ln>
              <a:noFill/>
            </a:ln>
          </p:spPr>
        </p:pic>
        <p:pic>
          <p:nvPicPr>
            <p:cNvPr id="700" name="Google Shape;700;p117"/>
            <p:cNvPicPr preferRelativeResize="0"/>
            <p:nvPr/>
          </p:nvPicPr>
          <p:blipFill rotWithShape="1">
            <a:blip r:embed="rId21">
              <a:alphaModFix/>
            </a:blip>
            <a:srcRect b="0" l="0" r="0" t="0"/>
            <a:stretch/>
          </p:blipFill>
          <p:spPr>
            <a:xfrm>
              <a:off x="7069320" y="5738400"/>
              <a:ext cx="546840" cy="242640"/>
            </a:xfrm>
            <a:prstGeom prst="rect">
              <a:avLst/>
            </a:prstGeom>
            <a:noFill/>
            <a:ln>
              <a:noFill/>
            </a:ln>
          </p:spPr>
        </p:pic>
        <p:pic>
          <p:nvPicPr>
            <p:cNvPr id="701" name="Google Shape;701;p117"/>
            <p:cNvPicPr preferRelativeResize="0"/>
            <p:nvPr/>
          </p:nvPicPr>
          <p:blipFill rotWithShape="1">
            <a:blip r:embed="rId22">
              <a:alphaModFix/>
            </a:blip>
            <a:srcRect b="0" l="0" r="0" t="0"/>
            <a:stretch/>
          </p:blipFill>
          <p:spPr>
            <a:xfrm>
              <a:off x="7766640" y="5527800"/>
              <a:ext cx="32760" cy="445680"/>
            </a:xfrm>
            <a:prstGeom prst="rect">
              <a:avLst/>
            </a:prstGeom>
            <a:noFill/>
            <a:ln>
              <a:noFill/>
            </a:ln>
          </p:spPr>
        </p:pic>
        <p:pic>
          <p:nvPicPr>
            <p:cNvPr id="702" name="Google Shape;702;p117"/>
            <p:cNvPicPr preferRelativeResize="0"/>
            <p:nvPr/>
          </p:nvPicPr>
          <p:blipFill rotWithShape="1">
            <a:blip r:embed="rId23">
              <a:alphaModFix/>
            </a:blip>
            <a:srcRect b="0" l="0" r="0" t="0"/>
            <a:stretch/>
          </p:blipFill>
          <p:spPr>
            <a:xfrm>
              <a:off x="7740000" y="5701320"/>
              <a:ext cx="359640" cy="153720"/>
            </a:xfrm>
            <a:prstGeom prst="rect">
              <a:avLst/>
            </a:prstGeom>
            <a:noFill/>
            <a:ln>
              <a:noFill/>
            </a:ln>
          </p:spPr>
        </p:pic>
        <p:pic>
          <p:nvPicPr>
            <p:cNvPr id="703" name="Google Shape;703;p117"/>
            <p:cNvPicPr preferRelativeResize="0"/>
            <p:nvPr/>
          </p:nvPicPr>
          <p:blipFill rotWithShape="1">
            <a:blip r:embed="rId24">
              <a:alphaModFix/>
            </a:blip>
            <a:srcRect b="0" l="0" r="0" t="0"/>
            <a:stretch/>
          </p:blipFill>
          <p:spPr>
            <a:xfrm>
              <a:off x="3992760" y="6160320"/>
              <a:ext cx="992520" cy="860400"/>
            </a:xfrm>
            <a:prstGeom prst="rect">
              <a:avLst/>
            </a:prstGeom>
            <a:noFill/>
            <a:ln>
              <a:noFill/>
            </a:ln>
          </p:spPr>
        </p:pic>
        <p:pic>
          <p:nvPicPr>
            <p:cNvPr id="704" name="Google Shape;704;p117"/>
            <p:cNvPicPr preferRelativeResize="0"/>
            <p:nvPr/>
          </p:nvPicPr>
          <p:blipFill rotWithShape="1">
            <a:blip r:embed="rId25">
              <a:alphaModFix/>
            </a:blip>
            <a:srcRect b="0" l="0" r="0" t="0"/>
            <a:stretch/>
          </p:blipFill>
          <p:spPr>
            <a:xfrm>
              <a:off x="4930920" y="6839640"/>
              <a:ext cx="207720" cy="403560"/>
            </a:xfrm>
            <a:prstGeom prst="rect">
              <a:avLst/>
            </a:prstGeom>
            <a:noFill/>
            <a:ln>
              <a:noFill/>
            </a:ln>
          </p:spPr>
        </p:pic>
        <p:pic>
          <p:nvPicPr>
            <p:cNvPr id="705" name="Google Shape;705;p117"/>
            <p:cNvPicPr preferRelativeResize="0"/>
            <p:nvPr/>
          </p:nvPicPr>
          <p:blipFill rotWithShape="1">
            <a:blip r:embed="rId26">
              <a:alphaModFix/>
            </a:blip>
            <a:srcRect b="0" l="0" r="0" t="0"/>
            <a:stretch/>
          </p:blipFill>
          <p:spPr>
            <a:xfrm>
              <a:off x="5746680" y="6696360"/>
              <a:ext cx="252720" cy="423720"/>
            </a:xfrm>
            <a:prstGeom prst="rect">
              <a:avLst/>
            </a:prstGeom>
            <a:noFill/>
            <a:ln>
              <a:noFill/>
            </a:ln>
          </p:spPr>
        </p:pic>
        <p:pic>
          <p:nvPicPr>
            <p:cNvPr id="706" name="Google Shape;706;p117"/>
            <p:cNvPicPr preferRelativeResize="0"/>
            <p:nvPr/>
          </p:nvPicPr>
          <p:blipFill rotWithShape="1">
            <a:blip r:embed="rId27">
              <a:alphaModFix/>
            </a:blip>
            <a:srcRect b="0" l="0" r="0" t="0"/>
            <a:stretch/>
          </p:blipFill>
          <p:spPr>
            <a:xfrm>
              <a:off x="6082200" y="6846120"/>
              <a:ext cx="227160" cy="195120"/>
            </a:xfrm>
            <a:prstGeom prst="rect">
              <a:avLst/>
            </a:prstGeom>
            <a:noFill/>
            <a:ln>
              <a:noFill/>
            </a:ln>
          </p:spPr>
        </p:pic>
        <p:pic>
          <p:nvPicPr>
            <p:cNvPr id="707" name="Google Shape;707;p117"/>
            <p:cNvPicPr preferRelativeResize="0"/>
            <p:nvPr/>
          </p:nvPicPr>
          <p:blipFill rotWithShape="1">
            <a:blip r:embed="rId28">
              <a:alphaModFix/>
            </a:blip>
            <a:srcRect b="0" l="0" r="0" t="0"/>
            <a:stretch/>
          </p:blipFill>
          <p:spPr>
            <a:xfrm>
              <a:off x="6451200" y="6776640"/>
              <a:ext cx="276480" cy="227160"/>
            </a:xfrm>
            <a:prstGeom prst="rect">
              <a:avLst/>
            </a:prstGeom>
            <a:noFill/>
            <a:ln>
              <a:noFill/>
            </a:ln>
          </p:spPr>
        </p:pic>
        <p:pic>
          <p:nvPicPr>
            <p:cNvPr id="708" name="Google Shape;708;p117"/>
            <p:cNvPicPr preferRelativeResize="0"/>
            <p:nvPr/>
          </p:nvPicPr>
          <p:blipFill rotWithShape="1">
            <a:blip r:embed="rId29">
              <a:alphaModFix/>
            </a:blip>
            <a:srcRect b="0" l="0" r="0" t="0"/>
            <a:stretch/>
          </p:blipFill>
          <p:spPr>
            <a:xfrm>
              <a:off x="6901920" y="6768000"/>
              <a:ext cx="93240" cy="82080"/>
            </a:xfrm>
            <a:prstGeom prst="rect">
              <a:avLst/>
            </a:prstGeom>
            <a:noFill/>
            <a:ln>
              <a:noFill/>
            </a:ln>
          </p:spPr>
        </p:pic>
        <p:pic>
          <p:nvPicPr>
            <p:cNvPr id="709" name="Google Shape;709;p117"/>
            <p:cNvPicPr preferRelativeResize="0"/>
            <p:nvPr/>
          </p:nvPicPr>
          <p:blipFill rotWithShape="1">
            <a:blip r:embed="rId30">
              <a:alphaModFix/>
            </a:blip>
            <a:srcRect b="0" l="0" r="0" t="0"/>
            <a:stretch/>
          </p:blipFill>
          <p:spPr>
            <a:xfrm>
              <a:off x="6484680" y="6820200"/>
              <a:ext cx="322920" cy="569880"/>
            </a:xfrm>
            <a:prstGeom prst="rect">
              <a:avLst/>
            </a:prstGeom>
            <a:noFill/>
            <a:ln>
              <a:noFill/>
            </a:ln>
          </p:spPr>
        </p:pic>
        <p:pic>
          <p:nvPicPr>
            <p:cNvPr id="710" name="Google Shape;710;p117"/>
            <p:cNvPicPr preferRelativeResize="0"/>
            <p:nvPr/>
          </p:nvPicPr>
          <p:blipFill rotWithShape="1">
            <a:blip r:embed="rId31">
              <a:alphaModFix/>
            </a:blip>
            <a:srcRect b="0" l="0" r="0" t="0"/>
            <a:stretch/>
          </p:blipFill>
          <p:spPr>
            <a:xfrm>
              <a:off x="6032520" y="4318200"/>
              <a:ext cx="2823840" cy="991080"/>
            </a:xfrm>
            <a:prstGeom prst="rect">
              <a:avLst/>
            </a:prstGeom>
            <a:noFill/>
            <a:ln>
              <a:noFill/>
            </a:ln>
          </p:spPr>
        </p:pic>
        <p:pic>
          <p:nvPicPr>
            <p:cNvPr id="711" name="Google Shape;711;p117"/>
            <p:cNvPicPr preferRelativeResize="0"/>
            <p:nvPr/>
          </p:nvPicPr>
          <p:blipFill rotWithShape="1">
            <a:blip r:embed="rId32">
              <a:alphaModFix/>
            </a:blip>
            <a:srcRect b="0" l="0" r="0" t="0"/>
            <a:stretch/>
          </p:blipFill>
          <p:spPr>
            <a:xfrm>
              <a:off x="6110640" y="5347440"/>
              <a:ext cx="2568960" cy="977760"/>
            </a:xfrm>
            <a:prstGeom prst="rect">
              <a:avLst/>
            </a:prstGeom>
            <a:noFill/>
            <a:ln>
              <a:noFill/>
            </a:ln>
          </p:spPr>
        </p:pic>
        <p:pic>
          <p:nvPicPr>
            <p:cNvPr id="712" name="Google Shape;712;p117"/>
            <p:cNvPicPr preferRelativeResize="0"/>
            <p:nvPr/>
          </p:nvPicPr>
          <p:blipFill rotWithShape="1">
            <a:blip r:embed="rId33">
              <a:alphaModFix/>
            </a:blip>
            <a:srcRect b="0" l="0" r="0" t="0"/>
            <a:stretch/>
          </p:blipFill>
          <p:spPr>
            <a:xfrm>
              <a:off x="5022360" y="6075360"/>
              <a:ext cx="2782800" cy="1374480"/>
            </a:xfrm>
            <a:prstGeom prst="rect">
              <a:avLst/>
            </a:prstGeom>
            <a:noFill/>
            <a:ln>
              <a:noFill/>
            </a:ln>
          </p:spPr>
        </p:pic>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1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Meaning of O, Ώ and Ɵ notation</a:t>
            </a:r>
            <a:endParaRPr b="0" i="0" sz="4400" u="none" cap="none" strike="noStrike">
              <a:latin typeface="Arial"/>
              <a:ea typeface="Arial"/>
              <a:cs typeface="Arial"/>
              <a:sym typeface="Arial"/>
            </a:endParaRPr>
          </a:p>
        </p:txBody>
      </p:sp>
      <p:pic>
        <p:nvPicPr>
          <p:cNvPr id="719" name="Google Shape;719;p118"/>
          <p:cNvPicPr preferRelativeResize="0"/>
          <p:nvPr/>
        </p:nvPicPr>
        <p:blipFill rotWithShape="1">
          <a:blip r:embed="rId3">
            <a:alphaModFix/>
          </a:blip>
          <a:srcRect b="0" l="0" r="0" t="0"/>
          <a:stretch/>
        </p:blipFill>
        <p:spPr>
          <a:xfrm>
            <a:off x="503640" y="2422800"/>
            <a:ext cx="9071640" cy="3076200"/>
          </a:xfrm>
          <a:prstGeom prst="rect">
            <a:avLst/>
          </a:prstGeom>
          <a:noFill/>
          <a:ln>
            <a:noFill/>
          </a:ln>
        </p:spPr>
      </p:pic>
      <p:sp>
        <p:nvSpPr>
          <p:cNvPr id="720" name="Google Shape;720;p118"/>
          <p:cNvSpPr txBox="1"/>
          <p:nvPr/>
        </p:nvSpPr>
        <p:spPr>
          <a:xfrm>
            <a:off x="144000" y="5472000"/>
            <a:ext cx="2808000" cy="19652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f(n) = Ɵ(g(n)) means that f(n) is bound on the upper and lower sides by some multiples of the function g(n)</a:t>
            </a:r>
            <a:endParaRPr b="0" i="0" sz="2200" u="none" cap="none" strike="noStrike">
              <a:latin typeface="Arial"/>
              <a:ea typeface="Arial"/>
              <a:cs typeface="Arial"/>
              <a:sym typeface="Arial"/>
            </a:endParaRPr>
          </a:p>
        </p:txBody>
      </p:sp>
      <p:sp>
        <p:nvSpPr>
          <p:cNvPr id="721" name="Google Shape;721;p118"/>
          <p:cNvSpPr txBox="1"/>
          <p:nvPr/>
        </p:nvSpPr>
        <p:spPr>
          <a:xfrm>
            <a:off x="3456000" y="5499000"/>
            <a:ext cx="2880000" cy="1845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f(n) = O(g(n)) means that f(n) is bound on the upper side by some multiple of the function g(n)</a:t>
            </a:r>
            <a:endParaRPr b="0" i="0" sz="2200" u="none" cap="none" strike="noStrike">
              <a:latin typeface="Arial"/>
              <a:ea typeface="Arial"/>
              <a:cs typeface="Arial"/>
              <a:sym typeface="Arial"/>
            </a:endParaRPr>
          </a:p>
        </p:txBody>
      </p:sp>
      <p:sp>
        <p:nvSpPr>
          <p:cNvPr id="722" name="Google Shape;722;p118"/>
          <p:cNvSpPr txBox="1"/>
          <p:nvPr/>
        </p:nvSpPr>
        <p:spPr>
          <a:xfrm>
            <a:off x="6624000" y="5427000"/>
            <a:ext cx="2880000" cy="1845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f(n) = Ώ(g(n)) means that f(n) is bound on the lower side by some multiple of the function g(n)</a:t>
            </a:r>
            <a:endParaRPr b="0" i="0" sz="2200" u="none" cap="none" strike="noStrike">
              <a:latin typeface="Arial"/>
              <a:ea typeface="Arial"/>
              <a:cs typeface="Arial"/>
              <a:sym typeface="Arial"/>
            </a:endParaRPr>
          </a:p>
        </p:txBody>
      </p:sp>
      <p:sp>
        <p:nvSpPr>
          <p:cNvPr id="723" name="Google Shape;723;p118"/>
          <p:cNvSpPr txBox="1"/>
          <p:nvPr/>
        </p:nvSpPr>
        <p:spPr>
          <a:xfrm>
            <a:off x="3120480" y="7357320"/>
            <a:ext cx="6959520" cy="346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http://staff.ustc.edu.cn/~csli/graduate/algorithms/book6/chap02.htm</a:t>
            </a:r>
            <a:endParaRPr b="0" i="0" sz="1800" u="none" cap="none" strike="noStrike">
              <a:latin typeface="Arial"/>
              <a:ea typeface="Arial"/>
              <a:cs typeface="Arial"/>
              <a:sym typeface="Arial"/>
            </a:endParaRPr>
          </a:p>
        </p:txBody>
      </p:sp>
      <p:pic>
        <p:nvPicPr>
          <p:cNvPr id="724" name="Google Shape;724;p118"/>
          <p:cNvPicPr preferRelativeResize="0"/>
          <p:nvPr/>
        </p:nvPicPr>
        <p:blipFill rotWithShape="1">
          <a:blip r:embed="rId4">
            <a:alphaModFix/>
          </a:blip>
          <a:srcRect b="0" l="0" r="0" t="0"/>
          <a:stretch/>
        </p:blipFill>
        <p:spPr>
          <a:xfrm>
            <a:off x="4411440" y="2188800"/>
            <a:ext cx="551160" cy="37908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1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Big Oh Notation, Ο</a:t>
            </a:r>
            <a:br>
              <a:rPr b="0" i="0" lang="en-IN" sz="1800" u="none" cap="none" strike="noStrike"/>
            </a:br>
            <a:endParaRPr b="0" i="0" sz="4400" u="none" cap="none" strike="noStrike">
              <a:latin typeface="Arial"/>
              <a:ea typeface="Arial"/>
              <a:cs typeface="Arial"/>
              <a:sym typeface="Arial"/>
            </a:endParaRPr>
          </a:p>
        </p:txBody>
      </p:sp>
      <p:sp>
        <p:nvSpPr>
          <p:cNvPr id="730" name="Google Shape;730;p119"/>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The notation Ο(n) is the formal way to express the upper bound of an algorithm's running time. It measures the worst case time complexity or the longest amount of time an algorithm can possibly take to complete.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2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pic>
        <p:nvPicPr>
          <p:cNvPr id="736" name="Google Shape;736;p120"/>
          <p:cNvPicPr preferRelativeResize="0"/>
          <p:nvPr/>
        </p:nvPicPr>
        <p:blipFill rotWithShape="1">
          <a:blip r:embed="rId3">
            <a:alphaModFix/>
          </a:blip>
          <a:srcRect b="0" l="0" r="0" t="0"/>
          <a:stretch/>
        </p:blipFill>
        <p:spPr>
          <a:xfrm>
            <a:off x="1619280" y="1783800"/>
            <a:ext cx="6841080" cy="4993920"/>
          </a:xfrm>
          <a:prstGeom prst="rect">
            <a:avLst/>
          </a:prstGeom>
          <a:noFill/>
          <a:ln>
            <a:noFill/>
          </a:ln>
        </p:spPr>
      </p:pic>
      <p:pic>
        <p:nvPicPr>
          <p:cNvPr id="737" name="Google Shape;737;p120"/>
          <p:cNvPicPr preferRelativeResize="0"/>
          <p:nvPr/>
        </p:nvPicPr>
        <p:blipFill rotWithShape="1">
          <a:blip r:embed="rId4">
            <a:alphaModFix/>
          </a:blip>
          <a:srcRect b="0" l="0" r="0" t="0"/>
          <a:stretch/>
        </p:blipFill>
        <p:spPr>
          <a:xfrm>
            <a:off x="8207280" y="1351440"/>
            <a:ext cx="366840" cy="2664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2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sp>
        <p:nvSpPr>
          <p:cNvPr id="743" name="Google Shape;743;p121"/>
          <p:cNvSpPr txBox="1"/>
          <p:nvPr/>
        </p:nvSpPr>
        <p:spPr>
          <a:xfrm>
            <a:off x="504000" y="169056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For example, for a function f(n)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Ο(f(n)) = { g(n) : there exists c &gt; 0 and n</a:t>
            </a:r>
            <a:r>
              <a:rPr b="1" baseline="-25000" i="0" lang="en-IN" sz="3696" u="none" cap="none" strike="noStrike">
                <a:solidFill>
                  <a:srgbClr val="0000CC"/>
                </a:solidFill>
                <a:latin typeface="Arial"/>
                <a:ea typeface="Arial"/>
                <a:cs typeface="Arial"/>
                <a:sym typeface="Arial"/>
              </a:rPr>
              <a:t>0</a:t>
            </a:r>
            <a:r>
              <a:rPr b="1" i="0" lang="en-IN" sz="3200" u="none" cap="none" strike="noStrike">
                <a:solidFill>
                  <a:srgbClr val="0000CC"/>
                </a:solidFill>
                <a:latin typeface="Arial"/>
                <a:ea typeface="Arial"/>
                <a:cs typeface="Arial"/>
                <a:sym typeface="Arial"/>
              </a:rPr>
              <a:t> such that f(n) ≤ c.g(n) for all n &gt; n</a:t>
            </a:r>
            <a:r>
              <a:rPr b="1" baseline="-25000" i="0" lang="en-IN" sz="3696" u="none" cap="none" strike="noStrike">
                <a:solidFill>
                  <a:srgbClr val="0000CC"/>
                </a:solidFill>
                <a:latin typeface="Arial"/>
                <a:ea typeface="Arial"/>
                <a:cs typeface="Arial"/>
                <a:sym typeface="Arial"/>
              </a:rPr>
              <a:t>0</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Big O of f(n)  is bigO of g(n)  iif there exist positive constant c and n</a:t>
            </a:r>
            <a:r>
              <a:rPr b="1" baseline="-25000" i="0" lang="en-IN" sz="3696" u="none" cap="none" strike="noStrike">
                <a:solidFill>
                  <a:srgbClr val="0000CC"/>
                </a:solidFill>
                <a:latin typeface="Arial"/>
                <a:ea typeface="Arial"/>
                <a:cs typeface="Arial"/>
                <a:sym typeface="Arial"/>
              </a:rPr>
              <a:t>0  </a:t>
            </a:r>
            <a:r>
              <a:rPr b="1" i="0" lang="en-IN" sz="3200" u="none" cap="none" strike="noStrike">
                <a:solidFill>
                  <a:srgbClr val="0000CC"/>
                </a:solidFill>
                <a:latin typeface="Arial"/>
                <a:ea typeface="Arial"/>
                <a:cs typeface="Arial"/>
                <a:sym typeface="Arial"/>
              </a:rPr>
              <a:t> such that f(n)&lt;cg(n) for all n, n&gt;=n</a:t>
            </a:r>
            <a:r>
              <a:rPr b="1" baseline="-25000" i="0" lang="en-IN" sz="3696" u="none" cap="none" strike="noStrike">
                <a:solidFill>
                  <a:srgbClr val="0000CC"/>
                </a:solidFill>
                <a:latin typeface="Arial"/>
                <a:ea typeface="Arial"/>
                <a:cs typeface="Arial"/>
                <a:sym typeface="Arial"/>
              </a:rPr>
              <a:t>0</a:t>
            </a:r>
            <a:endParaRPr b="0" i="0" sz="3200" u="none" cap="none" strike="noStrike">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22"/>
          <p:cNvSpPr txBox="1"/>
          <p:nvPr/>
        </p:nvSpPr>
        <p:spPr>
          <a:xfrm>
            <a:off x="504000" y="301320"/>
            <a:ext cx="9071640" cy="7023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sp>
        <p:nvSpPr>
          <p:cNvPr id="750" name="Google Shape;750;p122"/>
          <p:cNvSpPr txBox="1"/>
          <p:nvPr/>
        </p:nvSpPr>
        <p:spPr>
          <a:xfrm>
            <a:off x="431640" y="992520"/>
            <a:ext cx="9144000" cy="557496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Find a function, whose constant multiple, is worse than the given function</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f(x) = O(g(x)) if and only if there exists a positive real number C and a real number x0 such that</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 f ( x ) | ≤ C | g ( x ) |  for all  x ≥ x 0</a:t>
            </a:r>
            <a:endParaRPr b="0" i="0" sz="2400" u="none" cap="none" strike="noStrike">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2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sp>
        <p:nvSpPr>
          <p:cNvPr id="756" name="Google Shape;756;p123"/>
          <p:cNvSpPr txBox="1"/>
          <p:nvPr/>
        </p:nvSpPr>
        <p:spPr>
          <a:xfrm>
            <a:off x="503280" y="1768320"/>
            <a:ext cx="9072720" cy="4384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For example</a:t>
            </a:r>
            <a:endParaRPr b="0" i="0" sz="24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3200" u="none" cap="none" strike="noStrike">
                <a:solidFill>
                  <a:srgbClr val="0000CC"/>
                </a:solidFill>
                <a:latin typeface="Arial"/>
                <a:ea typeface="Arial"/>
                <a:cs typeface="Arial"/>
                <a:sym typeface="Arial"/>
              </a:rPr>
              <a:t>If f(x) =  2x</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+ 10</a:t>
            </a:r>
            <a:endParaRPr b="0" i="0" sz="32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3200" u="none" cap="none" strike="noStrike">
                <a:solidFill>
                  <a:srgbClr val="0000CC"/>
                </a:solidFill>
                <a:latin typeface="Arial"/>
                <a:ea typeface="Arial"/>
                <a:cs typeface="Arial"/>
                <a:sym typeface="Arial"/>
              </a:rPr>
              <a:t>Then</a:t>
            </a:r>
            <a:endParaRPr b="0" i="0" sz="32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Since f(x) &lt;= 13x</a:t>
            </a:r>
            <a:r>
              <a:rPr b="1" baseline="30000" i="0" lang="en-IN" sz="2772" u="none" cap="none" strike="noStrike">
                <a:solidFill>
                  <a:srgbClr val="0000CC"/>
                </a:solidFill>
                <a:latin typeface="Arial"/>
                <a:ea typeface="Arial"/>
                <a:cs typeface="Arial"/>
                <a:sym typeface="Arial"/>
              </a:rPr>
              <a:t>2   </a:t>
            </a:r>
            <a:r>
              <a:rPr b="1" i="0" lang="en-IN" sz="2400" u="none" cap="none" strike="noStrike">
                <a:solidFill>
                  <a:srgbClr val="0000CC"/>
                </a:solidFill>
                <a:latin typeface="Arial"/>
                <a:ea typeface="Arial"/>
                <a:cs typeface="Arial"/>
                <a:sym typeface="Arial"/>
              </a:rPr>
              <a:t>whenever x&gt;=1</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800000"/>
                </a:solidFill>
                <a:latin typeface="Arial"/>
                <a:ea typeface="Arial"/>
                <a:cs typeface="Arial"/>
                <a:sym typeface="Arial"/>
              </a:rPr>
              <a:t>f(x) = O(x</a:t>
            </a:r>
            <a:r>
              <a:rPr b="1" baseline="30000" i="0" lang="en-IN" sz="2772" u="none" cap="none" strike="noStrike">
                <a:solidFill>
                  <a:srgbClr val="800000"/>
                </a:solidFill>
                <a:latin typeface="Arial"/>
                <a:ea typeface="Arial"/>
                <a:cs typeface="Arial"/>
                <a:sym typeface="Arial"/>
              </a:rPr>
              <a:t>2</a:t>
            </a:r>
            <a:r>
              <a:rPr b="1" i="0" lang="en-IN" sz="2400" u="none" cap="none" strike="noStrike">
                <a:solidFill>
                  <a:srgbClr val="800000"/>
                </a:solidFill>
                <a:latin typeface="Arial"/>
                <a:ea typeface="Arial"/>
                <a:cs typeface="Arial"/>
                <a:sym typeface="Arial"/>
              </a:rPr>
              <a:t>)</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800000"/>
                </a:solidFill>
                <a:latin typeface="Arial"/>
                <a:ea typeface="Arial"/>
                <a:cs typeface="Arial"/>
                <a:sym typeface="Arial"/>
              </a:rPr>
              <a:t> </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here c = 13 and x0 = 1,  and g(x) = x</a:t>
            </a:r>
            <a:r>
              <a:rPr b="1" baseline="30000" i="0" lang="en-IN" sz="2772" u="none" cap="none" strike="noStrike">
                <a:solidFill>
                  <a:srgbClr val="0000CC"/>
                </a:solidFill>
                <a:latin typeface="Arial"/>
                <a:ea typeface="Arial"/>
                <a:cs typeface="Arial"/>
                <a:sym typeface="Arial"/>
              </a:rPr>
              <a:t>2</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2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762" name="Google Shape;762;p124"/>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Also, we can say</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f(x) &lt;= 3x</a:t>
            </a:r>
            <a:r>
              <a:rPr b="1" baseline="30000" i="0" lang="en-IN" sz="2772" u="none" cap="none" strike="noStrike">
                <a:solidFill>
                  <a:srgbClr val="0000CC"/>
                </a:solidFill>
                <a:latin typeface="Arial"/>
                <a:ea typeface="Arial"/>
                <a:cs typeface="Arial"/>
                <a:sym typeface="Arial"/>
              </a:rPr>
              <a:t>3</a:t>
            </a:r>
            <a:r>
              <a:rPr b="1" i="0" lang="en-IN" sz="2400" u="none" cap="none" strike="noStrike">
                <a:solidFill>
                  <a:srgbClr val="0000CC"/>
                </a:solidFill>
                <a:latin typeface="Arial"/>
                <a:ea typeface="Arial"/>
                <a:cs typeface="Arial"/>
                <a:sym typeface="Arial"/>
              </a:rPr>
              <a:t>, whenever x &gt;=10</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So f(x) = O(x</a:t>
            </a:r>
            <a:r>
              <a:rPr b="1" baseline="30000" i="0" lang="en-IN" sz="2772" u="none" cap="none" strike="noStrike">
                <a:solidFill>
                  <a:srgbClr val="0000CC"/>
                </a:solidFill>
                <a:latin typeface="Arial"/>
                <a:ea typeface="Arial"/>
                <a:cs typeface="Arial"/>
                <a:sym typeface="Arial"/>
              </a:rPr>
              <a:t>3</a:t>
            </a:r>
            <a:r>
              <a:rPr b="1" i="0" lang="en-IN" sz="2400" u="none" cap="none" strike="noStrike">
                <a:solidFill>
                  <a:srgbClr val="0000CC"/>
                </a:solidFill>
                <a:latin typeface="Arial"/>
                <a:ea typeface="Arial"/>
                <a:cs typeface="Arial"/>
                <a:sym typeface="Arial"/>
              </a:rPr>
              <a:t>) is also true</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Here c = 3, x0 = 10, g(x) = x</a:t>
            </a:r>
            <a:r>
              <a:rPr b="1" baseline="30000" i="0" lang="en-IN" sz="2772" u="none" cap="none" strike="noStrike">
                <a:solidFill>
                  <a:srgbClr val="0000CC"/>
                </a:solidFill>
                <a:latin typeface="Arial"/>
                <a:ea typeface="Arial"/>
                <a:cs typeface="Arial"/>
                <a:sym typeface="Arial"/>
              </a:rPr>
              <a:t>3</a:t>
            </a:r>
            <a:endParaRPr b="0" i="0" sz="24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Finding the  c, x0 and g(x) can be done by trial/error, intelligent guess, or using algebra</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25"/>
          <p:cNvSpPr txBox="1"/>
          <p:nvPr/>
        </p:nvSpPr>
        <p:spPr>
          <a:xfrm>
            <a:off x="504000" y="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O notation</a:t>
            </a:r>
            <a:endParaRPr b="0" i="0" sz="3600" u="none" cap="none" strike="noStrike">
              <a:latin typeface="Arial"/>
              <a:ea typeface="Arial"/>
              <a:cs typeface="Arial"/>
              <a:sym typeface="Arial"/>
            </a:endParaRPr>
          </a:p>
        </p:txBody>
      </p:sp>
      <p:sp>
        <p:nvSpPr>
          <p:cNvPr id="769" name="Google Shape;769;p125"/>
          <p:cNvSpPr txBox="1"/>
          <p:nvPr/>
        </p:nvSpPr>
        <p:spPr>
          <a:xfrm>
            <a:off x="504000" y="1262160"/>
            <a:ext cx="9144000" cy="557496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 notation is called “upper bound”</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We always try to find an upper bound which is as </a:t>
            </a:r>
            <a:r>
              <a:rPr b="1" i="1" lang="en-IN" sz="2400" u="none" cap="none" strike="noStrike">
                <a:solidFill>
                  <a:srgbClr val="0000CC"/>
                </a:solidFill>
                <a:latin typeface="Arial"/>
                <a:ea typeface="Arial"/>
                <a:cs typeface="Arial"/>
                <a:sym typeface="Arial"/>
              </a:rPr>
              <a:t>low</a:t>
            </a:r>
            <a:r>
              <a:rPr b="1" i="0" lang="en-IN" sz="2400" u="none" cap="none" strike="noStrike">
                <a:solidFill>
                  <a:srgbClr val="0000CC"/>
                </a:solidFill>
                <a:latin typeface="Arial"/>
                <a:ea typeface="Arial"/>
                <a:cs typeface="Arial"/>
                <a:sym typeface="Arial"/>
              </a:rPr>
              <a:t> as possible</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In the earlier example we have shown that f(x) = O(x</a:t>
            </a:r>
            <a:r>
              <a:rPr b="1" baseline="30000" i="0" lang="en-IN" sz="2772" u="none" cap="none" strike="noStrike">
                <a:solidFill>
                  <a:srgbClr val="0000CC"/>
                </a:solidFill>
                <a:latin typeface="Arial"/>
                <a:ea typeface="Arial"/>
                <a:cs typeface="Arial"/>
                <a:sym typeface="Arial"/>
              </a:rPr>
              <a:t>2</a:t>
            </a:r>
            <a:r>
              <a:rPr b="1" i="0" lang="en-IN" sz="2400" u="none" cap="none" strike="noStrike">
                <a:solidFill>
                  <a:srgbClr val="0000CC"/>
                </a:solidFill>
                <a:latin typeface="Arial"/>
                <a:ea typeface="Arial"/>
                <a:cs typeface="Arial"/>
                <a:sym typeface="Arial"/>
              </a:rPr>
              <a:t>)</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Can we show f(x) = O(x)?</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Let’s try. Suppose f(x) = O(x)</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Then it means f(x) &lt;= cx  for some c and when x&gt;=x0</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2x</a:t>
            </a:r>
            <a:r>
              <a:rPr b="1" baseline="30000" i="0" lang="en-IN" sz="2772" u="none" cap="none" strike="noStrike">
                <a:solidFill>
                  <a:srgbClr val="0000CC"/>
                </a:solidFill>
                <a:latin typeface="Arial"/>
                <a:ea typeface="Arial"/>
                <a:cs typeface="Arial"/>
                <a:sym typeface="Arial"/>
              </a:rPr>
              <a:t>2</a:t>
            </a:r>
            <a:r>
              <a:rPr b="1" i="0" lang="en-IN" sz="2400" u="none" cap="none" strike="noStrike">
                <a:solidFill>
                  <a:srgbClr val="0000CC"/>
                </a:solidFill>
                <a:latin typeface="Arial"/>
                <a:ea typeface="Arial"/>
                <a:cs typeface="Arial"/>
                <a:sym typeface="Arial"/>
              </a:rPr>
              <a:t> + 1 &lt;= cx</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2x</a:t>
            </a:r>
            <a:r>
              <a:rPr b="1" baseline="30000" i="0" lang="en-IN" sz="2772" u="none" cap="none" strike="noStrike">
                <a:solidFill>
                  <a:srgbClr val="0000CC"/>
                </a:solidFill>
                <a:latin typeface="Arial"/>
                <a:ea typeface="Arial"/>
                <a:cs typeface="Arial"/>
                <a:sym typeface="Arial"/>
              </a:rPr>
              <a:t>2</a:t>
            </a:r>
            <a:r>
              <a:rPr b="1" i="0" lang="en-IN" sz="2400" u="none" cap="none" strike="noStrike">
                <a:solidFill>
                  <a:srgbClr val="0000CC"/>
                </a:solidFill>
                <a:latin typeface="Arial"/>
                <a:ea typeface="Arial"/>
                <a:cs typeface="Arial"/>
                <a:sym typeface="Arial"/>
              </a:rPr>
              <a:t> -cx + 1 &lt;= 0</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x (2x - c) + 1 &lt;=0</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x &lt;=  -1/(2x-c)</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Now as x grows,  -1/(2x-c) can only get smaller so above condition is impossible</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Which means f(x) = O(x) is not possible</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So the lowest upper bound we can get is f(x) = x</a:t>
            </a:r>
            <a:r>
              <a:rPr b="1" baseline="30000" i="0" lang="en-IN" sz="2772" u="none" cap="none" strike="noStrike">
                <a:solidFill>
                  <a:srgbClr val="0000CC"/>
                </a:solidFill>
                <a:latin typeface="Arial"/>
                <a:ea typeface="Arial"/>
                <a:cs typeface="Arial"/>
                <a:sym typeface="Arial"/>
              </a:rPr>
              <a:t>2</a:t>
            </a:r>
            <a:endParaRPr b="0" i="0" sz="2400" u="none" cap="none" strike="noStrike">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2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775" name="Google Shape;775;p12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3n + 2</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f(n)  = O(n)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3n+2  &lt;=  4n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100n + 200  &lt;=  301n  =&gt; O(n)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10n</a:t>
            </a:r>
            <a:r>
              <a:rPr b="1" baseline="30000" i="0" lang="en-IN" sz="3696" u="none" cap="none" strike="noStrike">
                <a:solidFill>
                  <a:srgbClr val="0000CC"/>
                </a:solidFill>
                <a:latin typeface="Arial"/>
                <a:ea typeface="Arial"/>
                <a:cs typeface="Arial"/>
                <a:sym typeface="Arial"/>
              </a:rPr>
              <a:t>2 </a:t>
            </a:r>
            <a:r>
              <a:rPr b="1" i="0" lang="en-IN" sz="3200" u="none" cap="none" strike="noStrike">
                <a:solidFill>
                  <a:srgbClr val="0000CC"/>
                </a:solidFill>
                <a:latin typeface="Arial"/>
                <a:ea typeface="Arial"/>
                <a:cs typeface="Arial"/>
                <a:sym typeface="Arial"/>
              </a:rPr>
              <a:t> + n + 50  &lt;= 61n</a:t>
            </a:r>
            <a:r>
              <a:rPr b="1" baseline="30000" i="0" lang="en-IN" sz="3696" u="none" cap="none" strike="noStrike">
                <a:solidFill>
                  <a:srgbClr val="0000CC"/>
                </a:solidFill>
                <a:latin typeface="Arial"/>
                <a:ea typeface="Arial"/>
                <a:cs typeface="Arial"/>
                <a:sym typeface="Arial"/>
              </a:rPr>
              <a:t>2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baseline="30000" i="0" lang="en-IN" sz="3696" u="none" cap="none" strike="noStrike">
                <a:solidFill>
                  <a:srgbClr val="0000CC"/>
                </a:solidFill>
                <a:latin typeface="Arial"/>
                <a:ea typeface="Arial"/>
                <a:cs typeface="Arial"/>
                <a:sym typeface="Arial"/>
              </a:rPr>
              <a:t> </a:t>
            </a:r>
            <a:r>
              <a:rPr b="1" i="0" lang="en-IN" sz="3200" u="none" cap="none" strike="noStrike">
                <a:solidFill>
                  <a:srgbClr val="0000CC"/>
                </a:solidFill>
                <a:latin typeface="Arial"/>
                <a:ea typeface="Arial"/>
                <a:cs typeface="Arial"/>
                <a:sym typeface="Arial"/>
              </a:rPr>
              <a:t> O(n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2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781" name="Google Shape;781;p127"/>
          <p:cNvSpPr txBox="1"/>
          <p:nvPr/>
        </p:nvSpPr>
        <p:spPr>
          <a:xfrm>
            <a:off x="1177560" y="1838520"/>
            <a:ext cx="9071640" cy="4384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IN" sz="2700" u="none" cap="none" strike="noStrike">
                <a:solidFill>
                  <a:srgbClr val="0000CC"/>
                </a:solidFill>
                <a:latin typeface="Arial"/>
                <a:ea typeface="Arial"/>
                <a:cs typeface="Arial"/>
                <a:sym typeface="Arial"/>
              </a:rPr>
              <a:t>f(n) = 2n+3</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g(n) = 3n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O(g(n)) = n</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g(n) = n</a:t>
            </a:r>
            <a:r>
              <a:rPr b="1" baseline="30000" i="0" lang="en-IN" sz="3118" u="none" cap="none" strike="noStrike">
                <a:solidFill>
                  <a:srgbClr val="0000CC"/>
                </a:solidFill>
                <a:latin typeface="Arial"/>
                <a:ea typeface="Arial"/>
                <a:cs typeface="Arial"/>
                <a:sym typeface="Arial"/>
              </a:rPr>
              <a:t>2  </a:t>
            </a:r>
            <a:r>
              <a:rPr b="1" i="0" lang="en-IN" sz="2700" u="none" cap="none" strike="noStrike">
                <a:solidFill>
                  <a:srgbClr val="0000CC"/>
                </a:solidFill>
                <a:latin typeface="Arial"/>
                <a:ea typeface="Arial"/>
                <a:cs typeface="Arial"/>
                <a:sym typeface="Arial"/>
              </a:rPr>
              <a:t> + n</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O(g(n)) =  n</a:t>
            </a:r>
            <a:r>
              <a:rPr b="1" baseline="30000" i="0" lang="en-IN" sz="3118" u="none" cap="none" strike="noStrike">
                <a:solidFill>
                  <a:srgbClr val="0000CC"/>
                </a:solidFill>
                <a:latin typeface="Arial"/>
                <a:ea typeface="Arial"/>
                <a:cs typeface="Arial"/>
                <a:sym typeface="Arial"/>
              </a:rPr>
              <a:t>2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baseline="30000" i="0" lang="en-IN" sz="3118" u="none" cap="none" strike="noStrike">
                <a:solidFill>
                  <a:srgbClr val="0000CC"/>
                </a:solidFill>
                <a:latin typeface="Arial"/>
                <a:ea typeface="Arial"/>
                <a:cs typeface="Arial"/>
                <a:sym typeface="Arial"/>
              </a:rPr>
              <a:t>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baseline="30000" i="0" lang="en-IN" sz="3118" u="none" cap="none" strike="noStrike">
                <a:solidFill>
                  <a:srgbClr val="0000CC"/>
                </a:solidFill>
                <a:latin typeface="Arial"/>
                <a:ea typeface="Arial"/>
                <a:cs typeface="Arial"/>
                <a:sym typeface="Arial"/>
              </a:rPr>
              <a:t>//This is not the tightest / closest upper bound</a:t>
            </a:r>
            <a:endParaRPr b="0" i="0" sz="2700" u="none" cap="none" strike="noStrike">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2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Omega Notation, Ω</a:t>
            </a:r>
            <a:br>
              <a:rPr b="0" i="0" lang="en-IN" sz="1800" u="none" cap="none" strike="noStrike"/>
            </a:br>
            <a:endParaRPr b="0" i="0" sz="4400" u="none" cap="none" strike="noStrike">
              <a:latin typeface="Arial"/>
              <a:ea typeface="Arial"/>
              <a:cs typeface="Arial"/>
              <a:sym typeface="Arial"/>
            </a:endParaRPr>
          </a:p>
        </p:txBody>
      </p:sp>
      <p:sp>
        <p:nvSpPr>
          <p:cNvPr id="787" name="Google Shape;787;p128"/>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The notation Ω(n) is the formal way to express the lower bound of an algorithm's running time. It measures the best case time complexity or the best amount of time an algorithm can possibly take to complete.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2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793" name="Google Shape;793;p129"/>
          <p:cNvPicPr preferRelativeResize="0"/>
          <p:nvPr/>
        </p:nvPicPr>
        <p:blipFill rotWithShape="1">
          <a:blip r:embed="rId3">
            <a:alphaModFix/>
          </a:blip>
          <a:srcRect b="0" l="0" r="0" t="0"/>
          <a:stretch/>
        </p:blipFill>
        <p:spPr>
          <a:xfrm>
            <a:off x="2310120" y="2201040"/>
            <a:ext cx="5935320" cy="4140720"/>
          </a:xfrm>
          <a:prstGeom prst="rect">
            <a:avLst/>
          </a:prstGeom>
          <a:noFill/>
          <a:ln>
            <a:noFill/>
          </a:ln>
        </p:spPr>
      </p:pic>
      <p:pic>
        <p:nvPicPr>
          <p:cNvPr id="794" name="Google Shape;794;p129"/>
          <p:cNvPicPr preferRelativeResize="0"/>
          <p:nvPr/>
        </p:nvPicPr>
        <p:blipFill rotWithShape="1">
          <a:blip r:embed="rId4">
            <a:alphaModFix/>
          </a:blip>
          <a:srcRect b="0" l="0" r="0" t="0"/>
          <a:stretch/>
        </p:blipFill>
        <p:spPr>
          <a:xfrm>
            <a:off x="8030160" y="2764800"/>
            <a:ext cx="360" cy="360"/>
          </a:xfrm>
          <a:prstGeom prst="rect">
            <a:avLst/>
          </a:prstGeom>
          <a:noFill/>
          <a:ln>
            <a:noFill/>
          </a:ln>
        </p:spPr>
      </p:pic>
      <p:pic>
        <p:nvPicPr>
          <p:cNvPr id="795" name="Google Shape;795;p129"/>
          <p:cNvPicPr preferRelativeResize="0"/>
          <p:nvPr/>
        </p:nvPicPr>
        <p:blipFill rotWithShape="1">
          <a:blip r:embed="rId5">
            <a:alphaModFix/>
          </a:blip>
          <a:srcRect b="0" l="0" r="0" t="0"/>
          <a:stretch/>
        </p:blipFill>
        <p:spPr>
          <a:xfrm>
            <a:off x="7752600" y="3293640"/>
            <a:ext cx="477000" cy="86760"/>
          </a:xfrm>
          <a:prstGeom prst="rect">
            <a:avLst/>
          </a:prstGeom>
          <a:noFill/>
          <a:ln>
            <a:noFill/>
          </a:ln>
        </p:spPr>
      </p:pic>
      <p:pic>
        <p:nvPicPr>
          <p:cNvPr id="796" name="Google Shape;796;p129"/>
          <p:cNvPicPr preferRelativeResize="0"/>
          <p:nvPr/>
        </p:nvPicPr>
        <p:blipFill rotWithShape="1">
          <a:blip r:embed="rId6">
            <a:alphaModFix/>
          </a:blip>
          <a:srcRect b="0" l="0" r="0" t="0"/>
          <a:stretch/>
        </p:blipFill>
        <p:spPr>
          <a:xfrm>
            <a:off x="7825680" y="4047840"/>
            <a:ext cx="514440" cy="137160"/>
          </a:xfrm>
          <a:prstGeom prst="rect">
            <a:avLst/>
          </a:prstGeom>
          <a:noFill/>
          <a:ln>
            <a:noFill/>
          </a:ln>
        </p:spPr>
      </p:pic>
      <p:pic>
        <p:nvPicPr>
          <p:cNvPr id="797" name="Google Shape;797;p129"/>
          <p:cNvPicPr preferRelativeResize="0"/>
          <p:nvPr/>
        </p:nvPicPr>
        <p:blipFill rotWithShape="1">
          <a:blip r:embed="rId7">
            <a:alphaModFix/>
          </a:blip>
          <a:srcRect b="0" l="0" r="0" t="0"/>
          <a:stretch/>
        </p:blipFill>
        <p:spPr>
          <a:xfrm>
            <a:off x="4225680" y="5076720"/>
            <a:ext cx="54000" cy="3888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3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03" name="Google Shape;803;p130"/>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For example, for a function f(n)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Ω(f(n)) ≥ { g(n) : there exists c &gt; 0 and n0 such that g(n) ≤ c.f(n) for all n &gt; n0. }</a:t>
            </a:r>
            <a:endParaRPr b="0" i="0" sz="3200" u="none" cap="none" strike="noStrike">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3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Ώ notation</a:t>
            </a:r>
            <a:endParaRPr b="0" i="0" sz="4400" u="none" cap="none" strike="noStrike">
              <a:latin typeface="Arial"/>
              <a:ea typeface="Arial"/>
              <a:cs typeface="Arial"/>
              <a:sym typeface="Arial"/>
            </a:endParaRPr>
          </a:p>
        </p:txBody>
      </p:sp>
      <p:sp>
        <p:nvSpPr>
          <p:cNvPr id="810" name="Google Shape;810;p131"/>
          <p:cNvSpPr txBox="1"/>
          <p:nvPr/>
        </p:nvSpPr>
        <p:spPr>
          <a:xfrm>
            <a:off x="615600" y="1244880"/>
            <a:ext cx="907164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Find a function, whose constant multiple, is worse than the given function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 f(x) = Ώ (g(x)) if and only if there exists a positive real number C and a real number x0 such that</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  f ( x )  &gt;= C  g ( x )   for all  x ≥ x 0</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For example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If f(x) =  2x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+ 10</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Then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Since f(x) &gt;= x</a:t>
            </a:r>
            <a:r>
              <a:rPr b="1" baseline="30000" i="0" lang="en-IN" sz="2310" u="none" cap="none" strike="noStrike">
                <a:solidFill>
                  <a:srgbClr val="0000CC"/>
                </a:solidFill>
                <a:latin typeface="Arial"/>
                <a:ea typeface="Arial"/>
                <a:cs typeface="Arial"/>
                <a:sym typeface="Arial"/>
              </a:rPr>
              <a:t>2   </a:t>
            </a:r>
            <a:r>
              <a:rPr b="1" i="0" lang="en-IN" sz="2000" u="none" cap="none" strike="noStrike">
                <a:solidFill>
                  <a:srgbClr val="0000CC"/>
                </a:solidFill>
                <a:latin typeface="Arial"/>
                <a:ea typeface="Arial"/>
                <a:cs typeface="Arial"/>
                <a:sym typeface="Arial"/>
              </a:rPr>
              <a:t>whenever x&gt;=1</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800000"/>
                </a:solidFill>
                <a:latin typeface="Arial"/>
                <a:ea typeface="Arial"/>
                <a:cs typeface="Arial"/>
                <a:sym typeface="Arial"/>
              </a:rPr>
              <a:t>f(x) = Ώ(x</a:t>
            </a:r>
            <a:r>
              <a:rPr b="1" baseline="30000" i="0" lang="en-IN" sz="2310" u="none" cap="none" strike="noStrike">
                <a:solidFill>
                  <a:srgbClr val="800000"/>
                </a:solidFill>
                <a:latin typeface="Arial"/>
                <a:ea typeface="Arial"/>
                <a:cs typeface="Arial"/>
                <a:sym typeface="Arial"/>
              </a:rPr>
              <a:t>2</a:t>
            </a:r>
            <a:r>
              <a:rPr b="1" i="0" lang="en-IN" sz="2000" u="none" cap="none" strike="noStrike">
                <a:solidFill>
                  <a:srgbClr val="800000"/>
                </a:solidFill>
                <a:latin typeface="Arial"/>
                <a:ea typeface="Arial"/>
                <a:cs typeface="Arial"/>
                <a:sym typeface="Arial"/>
              </a:rPr>
              <a:t>)</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here c = 1 and x0 = 1,  and g(x) = x</a:t>
            </a:r>
            <a:r>
              <a:rPr b="1" baseline="30000" i="0" lang="en-IN" sz="2310" u="none" cap="none" strike="noStrike">
                <a:solidFill>
                  <a:srgbClr val="0000CC"/>
                </a:solidFill>
                <a:latin typeface="Arial"/>
                <a:ea typeface="Arial"/>
                <a:cs typeface="Arial"/>
                <a:sym typeface="Arial"/>
              </a:rPr>
              <a:t>2</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Also, we can say</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f(x) &gt;= 3x, whenever x &gt;=0</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 f(x) = Ώ(x) is also true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Here c = 3, x0 = 0, g(x) = x</a:t>
            </a:r>
            <a:endParaRPr b="0" i="0" sz="2000" u="none" cap="none" strike="noStrike">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32"/>
          <p:cNvSpPr txBox="1"/>
          <p:nvPr/>
        </p:nvSpPr>
        <p:spPr>
          <a:xfrm>
            <a:off x="504000" y="0"/>
            <a:ext cx="9071640" cy="8697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Ώ notation</a:t>
            </a:r>
            <a:endParaRPr b="0" i="0" sz="3600" u="none" cap="none" strike="noStrike">
              <a:latin typeface="Arial"/>
              <a:ea typeface="Arial"/>
              <a:cs typeface="Arial"/>
              <a:sym typeface="Arial"/>
            </a:endParaRPr>
          </a:p>
        </p:txBody>
      </p:sp>
      <p:sp>
        <p:nvSpPr>
          <p:cNvPr id="817" name="Google Shape;817;p132"/>
          <p:cNvSpPr txBox="1"/>
          <p:nvPr/>
        </p:nvSpPr>
        <p:spPr>
          <a:xfrm>
            <a:off x="504000" y="676080"/>
            <a:ext cx="907164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Ώ notation is called “lower bound”</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We always try to find a lower bound which is as </a:t>
            </a:r>
            <a:r>
              <a:rPr b="1" i="1" lang="en-IN" sz="2000" u="none" cap="none" strike="noStrike">
                <a:solidFill>
                  <a:srgbClr val="0000CC"/>
                </a:solidFill>
                <a:latin typeface="Arial"/>
                <a:ea typeface="Arial"/>
                <a:cs typeface="Arial"/>
                <a:sym typeface="Arial"/>
              </a:rPr>
              <a:t>high</a:t>
            </a:r>
            <a:r>
              <a:rPr b="1" i="0" lang="en-IN" sz="2000" u="none" cap="none" strike="noStrike">
                <a:solidFill>
                  <a:srgbClr val="0000CC"/>
                </a:solidFill>
                <a:latin typeface="Arial"/>
                <a:ea typeface="Arial"/>
                <a:cs typeface="Arial"/>
                <a:sym typeface="Arial"/>
              </a:rPr>
              <a:t> as possible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In the earlier example we have shown that f(x) = Ώ(x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and f(x) = Ώ(x) also</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Can we show f(x) = Ώ(x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Let’s try. Suppose f(x) = Ώ(x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Then it means f(x) &gt;= cx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  for some c and when x&gt;=x0</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2x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+ 1 &gt;= cx</a:t>
            </a:r>
            <a:r>
              <a:rPr b="1" baseline="30000" i="0" lang="en-IN" sz="2310" u="none" cap="none" strike="noStrike">
                <a:solidFill>
                  <a:srgbClr val="0000CC"/>
                </a:solidFill>
                <a:latin typeface="Arial"/>
                <a:ea typeface="Arial"/>
                <a:cs typeface="Arial"/>
                <a:sym typeface="Arial"/>
              </a:rPr>
              <a:t>3</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0 &gt;= cx</a:t>
            </a:r>
            <a:r>
              <a:rPr b="1" baseline="30000" i="0" lang="en-IN" sz="2310" u="none" cap="none" strike="noStrike">
                <a:solidFill>
                  <a:srgbClr val="0000CC"/>
                </a:solidFill>
                <a:latin typeface="Arial"/>
                <a:ea typeface="Arial"/>
                <a:cs typeface="Arial"/>
                <a:sym typeface="Arial"/>
              </a:rPr>
              <a:t>3 – </a:t>
            </a:r>
            <a:r>
              <a:rPr b="1" i="0" lang="en-IN" sz="2000" u="none" cap="none" strike="noStrike">
                <a:solidFill>
                  <a:srgbClr val="0000CC"/>
                </a:solidFill>
                <a:latin typeface="Arial"/>
                <a:ea typeface="Arial"/>
                <a:cs typeface="Arial"/>
                <a:sym typeface="Arial"/>
              </a:rPr>
              <a:t>2x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1</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1 &gt;= 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(cx - 2)</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1/(cx-2) &gt;= x</a:t>
            </a:r>
            <a:r>
              <a:rPr b="1" baseline="30000" i="0" lang="en-IN" sz="2310" u="none" cap="none" strike="noStrike">
                <a:solidFill>
                  <a:srgbClr val="0000CC"/>
                </a:solidFill>
                <a:latin typeface="Arial"/>
                <a:ea typeface="Arial"/>
                <a:cs typeface="Arial"/>
                <a:sym typeface="Arial"/>
              </a:rPr>
              <a:t>2</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Now as x grows,  1/(cx-2) can only get smaller so above condition is impossible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Which means f(x) = Ώ(x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 is not possible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So the highest lower bound we can get is f(x) = Ώ(x</a:t>
            </a:r>
            <a:r>
              <a:rPr b="1" baseline="30000" i="0" lang="en-IN" sz="2310" u="none" cap="none" strike="noStrike">
                <a:solidFill>
                  <a:srgbClr val="0000CC"/>
                </a:solidFill>
                <a:latin typeface="Arial"/>
                <a:ea typeface="Arial"/>
                <a:cs typeface="Arial"/>
                <a:sym typeface="Arial"/>
              </a:rPr>
              <a:t>2)</a:t>
            </a:r>
            <a:endParaRPr b="0" i="0" sz="20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0" st="0"/>
                                            </p:txEl>
                                          </p:spTgt>
                                        </p:tgtEl>
                                        <p:attrNameLst>
                                          <p:attrName>style.visibility</p:attrName>
                                        </p:attrNameLst>
                                      </p:cBhvr>
                                      <p:to>
                                        <p:strVal val="visible"/>
                                      </p:to>
                                    </p:set>
                                    <p:animEffect filter="fade" transition="in">
                                      <p:cBhvr>
                                        <p:cTn dur="1"/>
                                        <p:tgtEl>
                                          <p:spTgt spid="8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 st="1"/>
                                            </p:txEl>
                                          </p:spTgt>
                                        </p:tgtEl>
                                        <p:attrNameLst>
                                          <p:attrName>style.visibility</p:attrName>
                                        </p:attrNameLst>
                                      </p:cBhvr>
                                      <p:to>
                                        <p:strVal val="visible"/>
                                      </p:to>
                                    </p:set>
                                    <p:animEffect filter="fade" transition="in">
                                      <p:cBhvr>
                                        <p:cTn dur="1"/>
                                        <p:tgtEl>
                                          <p:spTgt spid="8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2" st="2"/>
                                            </p:txEl>
                                          </p:spTgt>
                                        </p:tgtEl>
                                        <p:attrNameLst>
                                          <p:attrName>style.visibility</p:attrName>
                                        </p:attrNameLst>
                                      </p:cBhvr>
                                      <p:to>
                                        <p:strVal val="visible"/>
                                      </p:to>
                                    </p:set>
                                    <p:animEffect filter="fade" transition="in">
                                      <p:cBhvr>
                                        <p:cTn dur="1"/>
                                        <p:tgtEl>
                                          <p:spTgt spid="8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3" st="3"/>
                                            </p:txEl>
                                          </p:spTgt>
                                        </p:tgtEl>
                                        <p:attrNameLst>
                                          <p:attrName>style.visibility</p:attrName>
                                        </p:attrNameLst>
                                      </p:cBhvr>
                                      <p:to>
                                        <p:strVal val="visible"/>
                                      </p:to>
                                    </p:set>
                                    <p:animEffect filter="fade" transition="in">
                                      <p:cBhvr>
                                        <p:cTn dur="1"/>
                                        <p:tgtEl>
                                          <p:spTgt spid="8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4" st="4"/>
                                            </p:txEl>
                                          </p:spTgt>
                                        </p:tgtEl>
                                        <p:attrNameLst>
                                          <p:attrName>style.visibility</p:attrName>
                                        </p:attrNameLst>
                                      </p:cBhvr>
                                      <p:to>
                                        <p:strVal val="visible"/>
                                      </p:to>
                                    </p:set>
                                    <p:animEffect filter="fade" transition="in">
                                      <p:cBhvr>
                                        <p:cTn dur="1"/>
                                        <p:tgtEl>
                                          <p:spTgt spid="8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5" st="5"/>
                                            </p:txEl>
                                          </p:spTgt>
                                        </p:tgtEl>
                                        <p:attrNameLst>
                                          <p:attrName>style.visibility</p:attrName>
                                        </p:attrNameLst>
                                      </p:cBhvr>
                                      <p:to>
                                        <p:strVal val="visible"/>
                                      </p:to>
                                    </p:set>
                                    <p:animEffect filter="fade" transition="in">
                                      <p:cBhvr>
                                        <p:cTn dur="1"/>
                                        <p:tgtEl>
                                          <p:spTgt spid="8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6" st="6"/>
                                            </p:txEl>
                                          </p:spTgt>
                                        </p:tgtEl>
                                        <p:attrNameLst>
                                          <p:attrName>style.visibility</p:attrName>
                                        </p:attrNameLst>
                                      </p:cBhvr>
                                      <p:to>
                                        <p:strVal val="visible"/>
                                      </p:to>
                                    </p:set>
                                    <p:animEffect filter="fade" transition="in">
                                      <p:cBhvr>
                                        <p:cTn dur="1"/>
                                        <p:tgtEl>
                                          <p:spTgt spid="81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7" st="7"/>
                                            </p:txEl>
                                          </p:spTgt>
                                        </p:tgtEl>
                                        <p:attrNameLst>
                                          <p:attrName>style.visibility</p:attrName>
                                        </p:attrNameLst>
                                      </p:cBhvr>
                                      <p:to>
                                        <p:strVal val="visible"/>
                                      </p:to>
                                    </p:set>
                                    <p:animEffect filter="fade" transition="in">
                                      <p:cBhvr>
                                        <p:cTn dur="1"/>
                                        <p:tgtEl>
                                          <p:spTgt spid="81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8" st="8"/>
                                            </p:txEl>
                                          </p:spTgt>
                                        </p:tgtEl>
                                        <p:attrNameLst>
                                          <p:attrName>style.visibility</p:attrName>
                                        </p:attrNameLst>
                                      </p:cBhvr>
                                      <p:to>
                                        <p:strVal val="visible"/>
                                      </p:to>
                                    </p:set>
                                    <p:animEffect filter="fade" transition="in">
                                      <p:cBhvr>
                                        <p:cTn dur="1"/>
                                        <p:tgtEl>
                                          <p:spTgt spid="81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9" st="9"/>
                                            </p:txEl>
                                          </p:spTgt>
                                        </p:tgtEl>
                                        <p:attrNameLst>
                                          <p:attrName>style.visibility</p:attrName>
                                        </p:attrNameLst>
                                      </p:cBhvr>
                                      <p:to>
                                        <p:strVal val="visible"/>
                                      </p:to>
                                    </p:set>
                                    <p:animEffect filter="fade" transition="in">
                                      <p:cBhvr>
                                        <p:cTn dur="1"/>
                                        <p:tgtEl>
                                          <p:spTgt spid="81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0" st="10"/>
                                            </p:txEl>
                                          </p:spTgt>
                                        </p:tgtEl>
                                        <p:attrNameLst>
                                          <p:attrName>style.visibility</p:attrName>
                                        </p:attrNameLst>
                                      </p:cBhvr>
                                      <p:to>
                                        <p:strVal val="visible"/>
                                      </p:to>
                                    </p:set>
                                    <p:animEffect filter="fade" transition="in">
                                      <p:cBhvr>
                                        <p:cTn dur="1"/>
                                        <p:tgtEl>
                                          <p:spTgt spid="81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1" st="11"/>
                                            </p:txEl>
                                          </p:spTgt>
                                        </p:tgtEl>
                                        <p:attrNameLst>
                                          <p:attrName>style.visibility</p:attrName>
                                        </p:attrNameLst>
                                      </p:cBhvr>
                                      <p:to>
                                        <p:strVal val="visible"/>
                                      </p:to>
                                    </p:set>
                                    <p:animEffect filter="fade" transition="in">
                                      <p:cBhvr>
                                        <p:cTn dur="1"/>
                                        <p:tgtEl>
                                          <p:spTgt spid="81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2" st="12"/>
                                            </p:txEl>
                                          </p:spTgt>
                                        </p:tgtEl>
                                        <p:attrNameLst>
                                          <p:attrName>style.visibility</p:attrName>
                                        </p:attrNameLst>
                                      </p:cBhvr>
                                      <p:to>
                                        <p:strVal val="visible"/>
                                      </p:to>
                                    </p:set>
                                    <p:animEffect filter="fade" transition="in">
                                      <p:cBhvr>
                                        <p:cTn dur="1"/>
                                        <p:tgtEl>
                                          <p:spTgt spid="817">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3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Big Omega  : Ω</a:t>
            </a:r>
            <a:endParaRPr b="0" i="0" sz="4400" u="none" cap="none" strike="noStrike">
              <a:latin typeface="Arial"/>
              <a:ea typeface="Arial"/>
              <a:cs typeface="Arial"/>
              <a:sym typeface="Arial"/>
            </a:endParaRPr>
          </a:p>
        </p:txBody>
      </p:sp>
      <p:sp>
        <p:nvSpPr>
          <p:cNvPr id="823" name="Google Shape;823;p133"/>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IN" sz="2500" u="none" cap="none" strike="noStrike">
                <a:solidFill>
                  <a:srgbClr val="0000CC"/>
                </a:solidFill>
                <a:latin typeface="Arial"/>
                <a:ea typeface="Arial"/>
                <a:cs typeface="Arial"/>
                <a:sym typeface="Arial"/>
              </a:rPr>
              <a:t>f(n) = 3n+2</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g(n) = n</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f(n) = </a:t>
            </a:r>
            <a:r>
              <a:rPr b="1" i="0" lang="en-IN" sz="2800" u="none" cap="none" strike="noStrike">
                <a:solidFill>
                  <a:srgbClr val="0000CC"/>
                </a:solidFill>
                <a:latin typeface="Arial"/>
                <a:ea typeface="Arial"/>
                <a:cs typeface="Arial"/>
                <a:sym typeface="Arial"/>
              </a:rPr>
              <a:t>Ω</a:t>
            </a:r>
            <a:r>
              <a:rPr b="1" i="0" lang="en-IN" sz="2500" u="none" cap="none" strike="noStrike">
                <a:solidFill>
                  <a:srgbClr val="0000CC"/>
                </a:solidFill>
                <a:latin typeface="Arial"/>
                <a:ea typeface="Arial"/>
                <a:cs typeface="Arial"/>
                <a:sym typeface="Arial"/>
              </a:rPr>
              <a:t> g(n)</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f(n) &gt;= c g(n)   { c&gt;=1  and n0 &gt;=1}</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3n+2 = </a:t>
            </a:r>
            <a:r>
              <a:rPr b="1" i="0" lang="en-IN" sz="2800" u="none" cap="none" strike="noStrike">
                <a:solidFill>
                  <a:srgbClr val="0000CC"/>
                </a:solidFill>
                <a:latin typeface="Arial"/>
                <a:ea typeface="Arial"/>
                <a:cs typeface="Arial"/>
                <a:sym typeface="Arial"/>
              </a:rPr>
              <a:t>Ω</a:t>
            </a:r>
            <a:r>
              <a:rPr b="1" i="0" lang="en-IN" sz="2500" u="none" cap="none" strike="noStrike">
                <a:solidFill>
                  <a:srgbClr val="0000CC"/>
                </a:solidFill>
                <a:latin typeface="Arial"/>
                <a:ea typeface="Arial"/>
                <a:cs typeface="Arial"/>
                <a:sym typeface="Arial"/>
              </a:rPr>
              <a:t>(n)</a:t>
            </a:r>
            <a:endParaRPr b="0" i="0" sz="2500" u="none" cap="none" strike="noStrike">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34"/>
          <p:cNvSpPr txBox="1"/>
          <p:nvPr/>
        </p:nvSpPr>
        <p:spPr>
          <a:xfrm>
            <a:off x="605160" y="39096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29" name="Google Shape;829;p134"/>
          <p:cNvSpPr txBox="1"/>
          <p:nvPr/>
        </p:nvSpPr>
        <p:spPr>
          <a:xfrm>
            <a:off x="286920" y="182592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=3n +2</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g(n) = n</a:t>
            </a:r>
            <a:r>
              <a:rPr b="1" baseline="30000" i="0" lang="en-IN" sz="3696" u="none" cap="none" strike="noStrike">
                <a:solidFill>
                  <a:srgbClr val="0000CC"/>
                </a:solidFill>
                <a:latin typeface="Arial"/>
                <a:ea typeface="Arial"/>
                <a:cs typeface="Arial"/>
                <a:sym typeface="Arial"/>
              </a:rPr>
              <a:t> 2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baseline="30000" i="0" lang="en-IN" sz="3696"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3n +2 = Ω(n</a:t>
            </a:r>
            <a:r>
              <a:rPr b="1" baseline="30000" i="0" lang="en-IN" sz="3696" u="none" cap="none" strike="noStrike">
                <a:solidFill>
                  <a:srgbClr val="0000CC"/>
                </a:solidFill>
                <a:latin typeface="Arial"/>
                <a:ea typeface="Arial"/>
                <a:cs typeface="Arial"/>
                <a:sym typeface="Arial"/>
              </a:rPr>
              <a:t> 2</a:t>
            </a:r>
            <a:r>
              <a:rPr b="1" i="0" lang="en-IN" sz="3200" u="none" cap="none" strike="noStrike">
                <a:solidFill>
                  <a:srgbClr val="0000CC"/>
                </a:solidFill>
                <a:latin typeface="Arial"/>
                <a:ea typeface="Arial"/>
                <a:cs typeface="Arial"/>
                <a:sym typeface="Arial"/>
              </a:rPr>
              <a:t>)    (Is this true?)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35"/>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35" name="Google Shape;835;p135"/>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3n +2 &gt;= cn</a:t>
            </a:r>
            <a:r>
              <a:rPr b="1" baseline="30000" i="0" lang="en-IN" sz="3696" u="none" cap="none" strike="noStrike">
                <a:solidFill>
                  <a:srgbClr val="0000CC"/>
                </a:solidFill>
                <a:latin typeface="Arial"/>
                <a:ea typeface="Arial"/>
                <a:cs typeface="Arial"/>
                <a:sym typeface="Arial"/>
              </a:rPr>
              <a:t> 2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(Not possible)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3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41" name="Google Shape;841;p13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+n +2 = Omega(n)   ??</a:t>
            </a:r>
            <a:endParaRPr b="0" i="0" sz="3200" u="none" cap="none" strike="noStrike">
              <a:latin typeface="Arial"/>
              <a:ea typeface="Arial"/>
              <a:cs typeface="Arial"/>
              <a:sym typeface="Arial"/>
            </a:endParaRPr>
          </a:p>
        </p:txBody>
      </p:sp>
      <p:pic>
        <p:nvPicPr>
          <p:cNvPr id="842" name="Google Shape;842;p136"/>
          <p:cNvPicPr preferRelativeResize="0"/>
          <p:nvPr/>
        </p:nvPicPr>
        <p:blipFill rotWithShape="1">
          <a:blip r:embed="rId3">
            <a:alphaModFix/>
          </a:blip>
          <a:srcRect b="0" l="0" r="0" t="0"/>
          <a:stretch/>
        </p:blipFill>
        <p:spPr>
          <a:xfrm>
            <a:off x="7075080" y="4838760"/>
            <a:ext cx="360" cy="504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3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Theta Notation, θ</a:t>
            </a:r>
            <a:br>
              <a:rPr b="0" i="0" lang="en-IN" sz="1800" u="none" cap="none" strike="noStrike"/>
            </a:br>
            <a:endParaRPr b="0" i="0" sz="4400" u="none" cap="none" strike="noStrike">
              <a:latin typeface="Arial"/>
              <a:ea typeface="Arial"/>
              <a:cs typeface="Arial"/>
              <a:sym typeface="Arial"/>
            </a:endParaRPr>
          </a:p>
        </p:txBody>
      </p:sp>
      <p:sp>
        <p:nvSpPr>
          <p:cNvPr id="848" name="Google Shape;848;p13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The notation θ(n) is the formal way to express both the lower bound and the upper bound of an algorithm's running time. It is represented as follows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3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854" name="Google Shape;854;p138"/>
          <p:cNvPicPr preferRelativeResize="0"/>
          <p:nvPr/>
        </p:nvPicPr>
        <p:blipFill rotWithShape="1">
          <a:blip r:embed="rId3">
            <a:alphaModFix/>
          </a:blip>
          <a:srcRect b="0" l="0" r="0" t="0"/>
          <a:stretch/>
        </p:blipFill>
        <p:spPr>
          <a:xfrm>
            <a:off x="2430360" y="1910160"/>
            <a:ext cx="5864040" cy="422208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3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60" name="Google Shape;860;p139"/>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θ(f(n)) = { g(n) if and only if g(n) =  Ο(f(n)) and g(n) = Ω(f(n)) for all n &gt; n0. }</a:t>
            </a:r>
            <a:endParaRPr b="0" i="0" sz="3200" u="none" cap="none" strike="noStrike">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4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66" name="Google Shape;866;p140"/>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3n + 2</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g(n) = 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f(n) &lt;= c g(n)  {  c &gt;3}   :  f(n) = O(g(n))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f(n) &gt;= c g(n)  { c&lt;3 }    :  f(n) = Ω(g(n))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4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Ɵ notation</a:t>
            </a:r>
            <a:endParaRPr b="0" i="0" sz="4400" u="none" cap="none" strike="noStrike">
              <a:latin typeface="Arial"/>
              <a:ea typeface="Arial"/>
              <a:cs typeface="Arial"/>
              <a:sym typeface="Arial"/>
            </a:endParaRPr>
          </a:p>
        </p:txBody>
      </p:sp>
      <p:sp>
        <p:nvSpPr>
          <p:cNvPr id="873" name="Google Shape;873;p141"/>
          <p:cNvSpPr txBox="1"/>
          <p:nvPr/>
        </p:nvSpPr>
        <p:spPr>
          <a:xfrm>
            <a:off x="504000" y="135648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Ɵ ( 	g(n))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If</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k 1 ⋅ g ( n ) ≤ f ( n ) ≤ k 2 ⋅ g ( n )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for some positive k1, k2</a:t>
            </a:r>
            <a:br>
              <a:rPr b="0" i="0" lang="en-IN" sz="1800" u="none" cap="none" strike="noStrike"/>
            </a:b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In short we can say that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if       f(x) = O(g(x))</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and  f(x) = Ώ(g(x))</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then f(x) = Ɵ(g(x))</a:t>
            </a:r>
            <a:endParaRPr b="0" i="0" sz="3200" u="none" cap="none" strike="noStrike">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4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General rule for polynomials</a:t>
            </a:r>
            <a:endParaRPr b="0" i="0" sz="4400" u="none" cap="none" strike="noStrike">
              <a:latin typeface="Arial"/>
              <a:ea typeface="Arial"/>
              <a:cs typeface="Arial"/>
              <a:sym typeface="Arial"/>
            </a:endParaRPr>
          </a:p>
        </p:txBody>
      </p:sp>
      <p:sp>
        <p:nvSpPr>
          <p:cNvPr id="880" name="Google Shape;880;p142"/>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If</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a</a:t>
            </a:r>
            <a:r>
              <a:rPr b="1" baseline="-25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 a</a:t>
            </a:r>
            <a:r>
              <a:rPr b="1" baseline="-25000" i="0" lang="en-IN" sz="3696" u="none" cap="none" strike="noStrike">
                <a:solidFill>
                  <a:srgbClr val="0000CC"/>
                </a:solidFill>
                <a:latin typeface="Arial"/>
                <a:ea typeface="Arial"/>
                <a:cs typeface="Arial"/>
                <a:sym typeface="Arial"/>
              </a:rPr>
              <a:t>n-1</a:t>
            </a:r>
            <a:r>
              <a:rPr b="1" i="0" lang="en-IN" sz="3200" u="none" cap="none" strike="noStrike">
                <a:solidFill>
                  <a:srgbClr val="0000CC"/>
                </a:solidFill>
                <a:latin typeface="Arial"/>
                <a:ea typeface="Arial"/>
                <a:cs typeface="Arial"/>
                <a:sym typeface="Arial"/>
              </a:rPr>
              <a:t> x</a:t>
            </a:r>
            <a:r>
              <a:rPr b="1" baseline="30000" i="0" lang="en-IN" sz="3696" u="none" cap="none" strike="noStrike">
                <a:solidFill>
                  <a:srgbClr val="0000CC"/>
                </a:solidFill>
                <a:latin typeface="Arial"/>
                <a:ea typeface="Arial"/>
                <a:cs typeface="Arial"/>
                <a:sym typeface="Arial"/>
              </a:rPr>
              <a:t>n-1</a:t>
            </a:r>
            <a:r>
              <a:rPr b="1" i="0" lang="en-IN" sz="3200" u="none" cap="none" strike="noStrike">
                <a:solidFill>
                  <a:srgbClr val="0000CC"/>
                </a:solidFill>
                <a:latin typeface="Arial"/>
                <a:ea typeface="Arial"/>
                <a:cs typeface="Arial"/>
                <a:sym typeface="Arial"/>
              </a:rPr>
              <a:t> + .... + a</a:t>
            </a:r>
            <a:r>
              <a:rPr b="1" baseline="-25000" i="0" lang="en-IN" sz="3696" u="none" cap="none" strike="noStrike">
                <a:solidFill>
                  <a:srgbClr val="0000CC"/>
                </a:solidFill>
                <a:latin typeface="Arial"/>
                <a:ea typeface="Arial"/>
                <a:cs typeface="Arial"/>
                <a:sym typeface="Arial"/>
              </a:rPr>
              <a:t>1</a:t>
            </a:r>
            <a:r>
              <a:rPr b="1" i="0" lang="en-IN" sz="3200" u="none" cap="none" strike="noStrike">
                <a:solidFill>
                  <a:srgbClr val="0000CC"/>
                </a:solidFill>
                <a:latin typeface="Arial"/>
                <a:ea typeface="Arial"/>
                <a:cs typeface="Arial"/>
                <a:sym typeface="Arial"/>
              </a:rPr>
              <a:t>x + a</a:t>
            </a:r>
            <a:r>
              <a:rPr b="1" baseline="-25000" i="0" lang="en-IN" sz="3696" u="none" cap="none" strike="noStrike">
                <a:solidFill>
                  <a:srgbClr val="0000CC"/>
                </a:solidFill>
                <a:latin typeface="Arial"/>
                <a:ea typeface="Arial"/>
                <a:cs typeface="Arial"/>
                <a:sym typeface="Arial"/>
              </a:rPr>
              <a:t>0</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Then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O(x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Ώ (x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And P(x) = Ɵ(x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
        <p:nvSpPr>
          <p:cNvPr id="881" name="Google Shape;881;p142"/>
          <p:cNvSpPr txBox="1"/>
          <p:nvPr/>
        </p:nvSpPr>
        <p:spPr>
          <a:xfrm>
            <a:off x="2088000" y="1224000"/>
            <a:ext cx="5688000" cy="4334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Try proving this</a:t>
            </a:r>
            <a:endParaRPr b="0" i="0" sz="2400" u="none" cap="none" strike="noStrike">
              <a:latin typeface="Arial"/>
              <a:ea typeface="Arial"/>
              <a:cs typeface="Arial"/>
              <a:sym typeface="Arial"/>
            </a:endParaRPr>
          </a:p>
        </p:txBody>
      </p:sp>
      <p:sp>
        <p:nvSpPr>
          <p:cNvPr id="882" name="Google Shape;882;p142"/>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So if</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2x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+3x</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+10</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then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O(x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Ώ (x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Ɵ(x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43"/>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IN" sz="3200" u="none" cap="none" strike="noStrike">
                <a:solidFill>
                  <a:srgbClr val="0000CC"/>
                </a:solidFill>
                <a:latin typeface="Arial"/>
                <a:ea typeface="Arial"/>
                <a:cs typeface="Arial"/>
                <a:sym typeface="Arial"/>
              </a:rPr>
              <a:t>Time complexity analysis of some algorithms</a:t>
            </a:r>
            <a:endParaRPr b="0" i="0" sz="3200" u="none" cap="none" strike="noStrike">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4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Consider the factorial function</a:t>
            </a:r>
            <a:endParaRPr b="0" i="0" sz="4400" u="none" cap="none" strike="noStrike">
              <a:latin typeface="Arial"/>
              <a:ea typeface="Arial"/>
              <a:cs typeface="Arial"/>
              <a:sym typeface="Arial"/>
            </a:endParaRPr>
          </a:p>
        </p:txBody>
      </p:sp>
      <p:sp>
        <p:nvSpPr>
          <p:cNvPr id="895" name="Google Shape;895;p144"/>
          <p:cNvSpPr txBox="1"/>
          <p:nvPr/>
        </p:nvSpPr>
        <p:spPr>
          <a:xfrm>
            <a:off x="274320" y="1896840"/>
            <a:ext cx="510516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unsigned int fact(unsigned int n)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int i, sum = 1;</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for(i = 1; i &lt;= n ; i++)</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    sum *= i;</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return sum;</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896" name="Google Shape;896;p144"/>
          <p:cNvSpPr txBox="1"/>
          <p:nvPr/>
        </p:nvSpPr>
        <p:spPr>
          <a:xfrm>
            <a:off x="5379480" y="128556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The time taken by this code is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T(n) = An + B</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As the loop runs n times, and loop body has constant time A</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B = constant time required for non-loop code &amp; i=1</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Since this is polynomial equation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T(n) = O(n)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T(n)  = Ɵ(n) also</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means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The factorial function always runs tightly bound by the linear function</a:t>
            </a:r>
            <a:endParaRPr b="0" i="0" sz="2000" u="none" cap="none" strike="noStrike">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45"/>
          <p:cNvSpPr txBox="1"/>
          <p:nvPr/>
        </p:nvSpPr>
        <p:spPr>
          <a:xfrm>
            <a:off x="504000" y="10620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br>
              <a:rPr b="0" i="0" lang="en-IN" sz="1800" u="none" cap="none" strike="noStrike"/>
            </a:br>
            <a:endParaRPr b="0" i="0" sz="4000" u="none" cap="none" strike="noStrike">
              <a:latin typeface="Arial"/>
              <a:ea typeface="Arial"/>
              <a:cs typeface="Arial"/>
              <a:sym typeface="Arial"/>
            </a:endParaRPr>
          </a:p>
        </p:txBody>
      </p:sp>
      <p:sp>
        <p:nvSpPr>
          <p:cNvPr id="903" name="Google Shape;903;p145"/>
          <p:cNvSpPr txBox="1"/>
          <p:nvPr/>
        </p:nvSpPr>
        <p:spPr>
          <a:xfrm>
            <a:off x="253080" y="871560"/>
            <a:ext cx="4858920" cy="5752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1600" u="none" cap="none" strike="noStrike">
                <a:solidFill>
                  <a:srgbClr val="0000CC"/>
                </a:solidFill>
                <a:latin typeface="Courier"/>
                <a:ea typeface="Courier"/>
                <a:cs typeface="Courier"/>
                <a:sym typeface="Courier"/>
              </a:rPr>
              <a:t>int linearsearch(int *a, int n, int x ) {</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int h, l;</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l = 0;</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h = n - 1;</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while(l &lt;= h) {</a:t>
            </a:r>
            <a:endParaRPr b="0" i="0" sz="1600" u="none" cap="none" strike="noStrike">
              <a:latin typeface="Arial"/>
              <a:ea typeface="Arial"/>
              <a:cs typeface="Arial"/>
              <a:sym typeface="Arial"/>
            </a:endParaRPr>
          </a:p>
          <a:p>
            <a:pPr indent="0" lvl="0" marL="180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if(a[l] == x)</a:t>
            </a:r>
            <a:endParaRPr b="0" i="0" sz="1600" u="none" cap="none" strike="noStrike">
              <a:latin typeface="Arial"/>
              <a:ea typeface="Arial"/>
              <a:cs typeface="Arial"/>
              <a:sym typeface="Arial"/>
            </a:endParaRPr>
          </a:p>
          <a:p>
            <a:pPr indent="0" lvl="0" marL="252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return l;</a:t>
            </a:r>
            <a:endParaRPr b="0" i="0" sz="1600" u="none" cap="none" strike="noStrike">
              <a:latin typeface="Arial"/>
              <a:ea typeface="Arial"/>
              <a:cs typeface="Arial"/>
              <a:sym typeface="Arial"/>
            </a:endParaRPr>
          </a:p>
          <a:p>
            <a:pPr indent="0" lvl="0" marL="180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if(a[l] &gt; x)</a:t>
            </a:r>
            <a:endParaRPr b="0" i="0" sz="1600" u="none" cap="none" strike="noStrike">
              <a:latin typeface="Arial"/>
              <a:ea typeface="Arial"/>
              <a:cs typeface="Arial"/>
              <a:sym typeface="Arial"/>
            </a:endParaRPr>
          </a:p>
          <a:p>
            <a:pPr indent="0" lvl="0" marL="252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return -1;</a:t>
            </a:r>
            <a:endParaRPr b="0" i="0" sz="1600" u="none" cap="none" strike="noStrike">
              <a:latin typeface="Arial"/>
              <a:ea typeface="Arial"/>
              <a:cs typeface="Arial"/>
              <a:sym typeface="Arial"/>
            </a:endParaRPr>
          </a:p>
          <a:p>
            <a:pPr indent="0" lvl="0" marL="180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l++;</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return -1;</a:t>
            </a:r>
            <a:endParaRPr b="0" i="0" sz="16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a:t>
            </a:r>
            <a:endParaRPr b="0" i="0" sz="16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 </a:t>
            </a:r>
            <a:endParaRPr b="0" i="0" sz="1600" u="none" cap="none" strike="noStrike">
              <a:latin typeface="Arial"/>
              <a:ea typeface="Arial"/>
              <a:cs typeface="Arial"/>
              <a:sym typeface="Arial"/>
            </a:endParaRPr>
          </a:p>
        </p:txBody>
      </p:sp>
      <p:sp>
        <p:nvSpPr>
          <p:cNvPr id="904" name="Google Shape;904;p145"/>
          <p:cNvSpPr txBox="1"/>
          <p:nvPr/>
        </p:nvSpPr>
        <p:spPr>
          <a:xfrm>
            <a:off x="5152680" y="936000"/>
            <a:ext cx="4567320" cy="540000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code does not always run in the same fashion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Depending on the input the code may run some steps and skip some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For example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x was a[0], then then code will only enter the loop and return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x was a[3], then the code will run 3 loops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x was not in the array, then the  code may return from the return -1 inside the loop</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Etc.</a:t>
            </a:r>
            <a:endParaRPr b="0" i="0" sz="2000" u="none" cap="none" strike="noStrike">
              <a:latin typeface="Arial"/>
              <a:ea typeface="Arial"/>
              <a:cs typeface="Arial"/>
              <a:sym typeface="Arial"/>
            </a:endParaRPr>
          </a:p>
        </p:txBody>
      </p:sp>
      <p:sp>
        <p:nvSpPr>
          <p:cNvPr id="905" name="Google Shape;905;p145"/>
          <p:cNvSpPr txBox="1"/>
          <p:nvPr/>
        </p:nvSpPr>
        <p:spPr>
          <a:xfrm>
            <a:off x="720000" y="6218280"/>
            <a:ext cx="8798040" cy="170172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000" u="none" cap="none" strike="noStrike">
                <a:solidFill>
                  <a:srgbClr val="006600"/>
                </a:solidFill>
                <a:latin typeface="Arial"/>
                <a:ea typeface="Arial"/>
                <a:cs typeface="Arial"/>
                <a:sym typeface="Arial"/>
              </a:rPr>
              <a:t>Problem: given a sorted array a, array length n, and a search element x, find the location of x in the array, return -1 otherwise</a:t>
            </a:r>
            <a:endParaRPr b="0" i="0" sz="2000" u="none" cap="none" strike="noStrike">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4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12" name="Google Shape;912;p146"/>
          <p:cNvSpPr txBox="1"/>
          <p:nvPr/>
        </p:nvSpPr>
        <p:spPr>
          <a:xfrm>
            <a:off x="501120" y="130068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linearsearch(int *a, int n, int x ) {</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int h, l;</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if(a[l] == x)</a:t>
            </a:r>
            <a:endParaRPr b="0" i="0" sz="24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return l;</a:t>
            </a:r>
            <a:endParaRPr b="0" i="0" sz="24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if(a[l] &gt; x)</a:t>
            </a:r>
            <a:endParaRPr b="0" i="0" sz="24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l++;</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13" name="Google Shape;913;p146"/>
          <p:cNvSpPr txBox="1"/>
          <p:nvPr/>
        </p:nvSpPr>
        <p:spPr>
          <a:xfrm>
            <a:off x="5152680" y="130068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For such code we find three different equations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Worst case</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is the equation for the case when code runs maximum number of steps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Best Case</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is the equation for the case when code runs minimum number of steps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Average case</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is the equation representing average time  considering all possible ways in  which the code  can run</a:t>
            </a:r>
            <a:endParaRPr b="0" i="0" sz="2000" u="none" cap="none" strike="noStrike">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14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20" name="Google Shape;920;p147"/>
          <p:cNvSpPr txBox="1"/>
          <p:nvPr/>
        </p:nvSpPr>
        <p:spPr>
          <a:xfrm>
            <a:off x="612720" y="135648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1800" u="none" cap="none" strike="noStrike">
                <a:solidFill>
                  <a:srgbClr val="0000CC"/>
                </a:solidFill>
                <a:latin typeface="Courier"/>
                <a:ea typeface="Courier"/>
                <a:cs typeface="Courier"/>
                <a:sym typeface="Courier"/>
              </a:rPr>
              <a:t>int linearsearch(int *a, int n, int x ) {</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int h, l;</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l = 0;</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h = n - 1;</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while(l &lt;= h) {</a:t>
            </a:r>
            <a:endParaRPr b="0" i="0" sz="18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if(a[l] == x)</a:t>
            </a:r>
            <a:endParaRPr b="0" i="0" sz="18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return l;</a:t>
            </a:r>
            <a:endParaRPr b="0" i="0" sz="18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if(a[l] &gt; x)</a:t>
            </a:r>
            <a:endParaRPr b="0" i="0" sz="18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return -1;</a:t>
            </a:r>
            <a:endParaRPr b="0" i="0" sz="18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l++;</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return -1;</a:t>
            </a:r>
            <a:endParaRPr b="0" i="0" sz="18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a:t>
            </a:r>
            <a:endParaRPr b="0" i="0" sz="18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 </a:t>
            </a:r>
            <a:endParaRPr b="0" i="0" sz="1800" u="none" cap="none" strike="noStrike">
              <a:latin typeface="Arial"/>
              <a:ea typeface="Arial"/>
              <a:cs typeface="Arial"/>
              <a:sym typeface="Arial"/>
            </a:endParaRPr>
          </a:p>
        </p:txBody>
      </p:sp>
      <p:sp>
        <p:nvSpPr>
          <p:cNvPr id="921" name="Google Shape;921;p147"/>
          <p:cNvSpPr txBox="1"/>
          <p:nvPr/>
        </p:nvSpPr>
        <p:spPr>
          <a:xfrm>
            <a:off x="5094360" y="113328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Worst case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Worst case has to be found by observing the code.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Here, worst case occurs when x &gt; a[n-1]</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In worst case, the loop runs n times and finally the last “return -1” is executed</a:t>
            </a:r>
            <a:endParaRPr b="0" i="0" sz="3200" u="none" cap="none" strike="noStrike">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4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28" name="Google Shape;928;p148"/>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int linearsearch(int *a, int n, int x ) {</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int h, l;</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l = 0;</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h = n - 1;</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while(l &lt;= h) {</a:t>
            </a:r>
            <a:endParaRPr b="0" i="0" sz="20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if(a[l] == x)</a:t>
            </a:r>
            <a:endParaRPr b="0" i="0" sz="20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return l;</a:t>
            </a:r>
            <a:endParaRPr b="0" i="0" sz="20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if(a[l] &gt; x)</a:t>
            </a:r>
            <a:endParaRPr b="0" i="0" sz="20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l++;</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 </a:t>
            </a:r>
            <a:endParaRPr b="0" i="0" sz="2000" u="none" cap="none" strike="noStrike">
              <a:latin typeface="Arial"/>
              <a:ea typeface="Arial"/>
              <a:cs typeface="Arial"/>
              <a:sym typeface="Arial"/>
            </a:endParaRPr>
          </a:p>
        </p:txBody>
      </p:sp>
      <p:sp>
        <p:nvSpPr>
          <p:cNvPr id="929" name="Google Shape;929;p148"/>
          <p:cNvSpPr txBox="1"/>
          <p:nvPr/>
        </p:nvSpPr>
        <p:spPr>
          <a:xfrm>
            <a:off x="5039640" y="123372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Worst case</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The time taken in worst case, therefore, is</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a:t>
            </a:r>
            <a:r>
              <a:rPr b="1" baseline="-25000" i="0" lang="en-IN" sz="3234" u="none" cap="none" strike="noStrike">
                <a:solidFill>
                  <a:srgbClr val="0000CC"/>
                </a:solidFill>
                <a:latin typeface="Arial"/>
                <a:ea typeface="Arial"/>
                <a:cs typeface="Arial"/>
                <a:sym typeface="Arial"/>
              </a:rPr>
              <a:t>w</a:t>
            </a:r>
            <a:r>
              <a:rPr b="1" i="0" lang="en-IN" sz="2800" u="none" cap="none" strike="noStrike">
                <a:solidFill>
                  <a:srgbClr val="0000CC"/>
                </a:solidFill>
                <a:latin typeface="Arial"/>
                <a:ea typeface="Arial"/>
                <a:cs typeface="Arial"/>
                <a:sym typeface="Arial"/>
              </a:rPr>
              <a:t>(n) = An + B</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Where A = time taken inside loop</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B = time taken outside loop</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So</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a:t>
            </a:r>
            <a:r>
              <a:rPr b="1" baseline="-25000" i="0" lang="en-IN" sz="3234" u="none" cap="none" strike="noStrike">
                <a:solidFill>
                  <a:srgbClr val="0000CC"/>
                </a:solidFill>
                <a:latin typeface="Arial"/>
                <a:ea typeface="Arial"/>
                <a:cs typeface="Arial"/>
                <a:sym typeface="Arial"/>
              </a:rPr>
              <a:t>w</a:t>
            </a:r>
            <a:r>
              <a:rPr b="1" i="0" lang="en-IN" sz="2800" u="none" cap="none" strike="noStrike">
                <a:solidFill>
                  <a:srgbClr val="0000CC"/>
                </a:solidFill>
                <a:latin typeface="Arial"/>
                <a:ea typeface="Arial"/>
                <a:cs typeface="Arial"/>
                <a:sym typeface="Arial"/>
              </a:rPr>
              <a:t>(n) = Ɵ(n)</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 </a:t>
            </a:r>
            <a:endParaRPr b="0" i="0" sz="2800" u="none" cap="none" strike="noStrike">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4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36" name="Google Shape;936;p149"/>
          <p:cNvSpPr txBox="1"/>
          <p:nvPr/>
        </p:nvSpPr>
        <p:spPr>
          <a:xfrm>
            <a:off x="501120" y="140112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linearsearch(int *a, int n, int x )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h, 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l;</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&gt;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37" name="Google Shape;937;p149"/>
          <p:cNvSpPr txBox="1"/>
          <p:nvPr/>
        </p:nvSpPr>
        <p:spPr>
          <a:xfrm>
            <a:off x="5241960" y="1077840"/>
            <a:ext cx="442692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Best case</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Best case has to be found by observing the code.</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Here, best case occurs when x is a[0]</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In best case, we only run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l = 0;</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h = n – 1;</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l &lt;=h condition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a[0 ] == x condition and</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return 0 ;</a:t>
            </a:r>
            <a:endParaRPr b="0" i="0" sz="2400" u="none" cap="none" strike="noStrike">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5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44" name="Google Shape;944;p150"/>
          <p:cNvSpPr txBox="1"/>
          <p:nvPr/>
        </p:nvSpPr>
        <p:spPr>
          <a:xfrm>
            <a:off x="504000" y="1300680"/>
            <a:ext cx="936468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int linearsearch(int *a, int n, int x ) {</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int h, l;</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l = 0;</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h = n - 1;</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while(l &lt;= h) {</a:t>
            </a:r>
            <a:endParaRPr b="0" i="0" sz="28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if(a[l] == x)</a:t>
            </a:r>
            <a:endParaRPr b="0" i="0" sz="28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return l;</a:t>
            </a:r>
            <a:endParaRPr b="0" i="0" sz="28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if(a[l] &gt; x)</a:t>
            </a:r>
            <a:endParaRPr b="0" i="0" sz="28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return -1;</a:t>
            </a:r>
            <a:endParaRPr b="0" i="0" sz="28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l++;</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return -1;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 </a:t>
            </a:r>
            <a:endParaRPr b="0" i="0" sz="2800" u="none" cap="none" strike="noStrike">
              <a:latin typeface="Arial"/>
              <a:ea typeface="Arial"/>
              <a:cs typeface="Arial"/>
              <a:sym typeface="Arial"/>
            </a:endParaRPr>
          </a:p>
        </p:txBody>
      </p:sp>
      <p:sp>
        <p:nvSpPr>
          <p:cNvPr id="945" name="Google Shape;945;p150"/>
          <p:cNvSpPr txBox="1"/>
          <p:nvPr/>
        </p:nvSpPr>
        <p:spPr>
          <a:xfrm>
            <a:off x="5977080" y="217908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Best  case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taken in best case, therefore, is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a:t>
            </a:r>
            <a:r>
              <a:rPr b="1" baseline="-25000" i="0" lang="en-IN" sz="3696" u="none" cap="none" strike="noStrike">
                <a:solidFill>
                  <a:srgbClr val="0000CC"/>
                </a:solidFill>
                <a:latin typeface="Arial"/>
                <a:ea typeface="Arial"/>
                <a:cs typeface="Arial"/>
                <a:sym typeface="Arial"/>
              </a:rPr>
              <a:t>b</a:t>
            </a:r>
            <a:r>
              <a:rPr b="1" i="0" lang="en-IN" sz="3200" u="none" cap="none" strike="noStrike">
                <a:solidFill>
                  <a:srgbClr val="0000CC"/>
                </a:solidFill>
                <a:latin typeface="Arial"/>
                <a:ea typeface="Arial"/>
                <a:cs typeface="Arial"/>
                <a:sym typeface="Arial"/>
              </a:rPr>
              <a:t>(n) = C</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Where C = Constant</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a:t>
            </a:r>
            <a:r>
              <a:rPr b="1" baseline="-25000" i="0" lang="en-IN" sz="3696" u="none" cap="none" strike="noStrike">
                <a:solidFill>
                  <a:srgbClr val="0000CC"/>
                </a:solidFill>
                <a:latin typeface="Arial"/>
                <a:ea typeface="Arial"/>
                <a:cs typeface="Arial"/>
                <a:sym typeface="Arial"/>
              </a:rPr>
              <a:t>b</a:t>
            </a:r>
            <a:r>
              <a:rPr b="1" i="0" lang="en-IN" sz="3200" u="none" cap="none" strike="noStrike">
                <a:solidFill>
                  <a:srgbClr val="0000CC"/>
                </a:solidFill>
                <a:latin typeface="Arial"/>
                <a:ea typeface="Arial"/>
                <a:cs typeface="Arial"/>
                <a:sym typeface="Arial"/>
              </a:rPr>
              <a:t>(n) = Ɵ(1)</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5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52" name="Google Shape;952;p151"/>
          <p:cNvSpPr txBox="1"/>
          <p:nvPr/>
        </p:nvSpPr>
        <p:spPr>
          <a:xfrm>
            <a:off x="612720" y="1345320"/>
            <a:ext cx="83527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linearsearch(int *a, int n, int x )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h, 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l;</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&gt;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53" name="Google Shape;953;p151"/>
          <p:cNvSpPr txBox="1"/>
          <p:nvPr/>
        </p:nvSpPr>
        <p:spPr>
          <a:xfrm>
            <a:off x="5470920" y="296208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Average case</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Average case analysis is often quite complicated  as it involves finding out all possible ways in which the code runs</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In how many possible ways the given code runs?</a:t>
            </a:r>
            <a:endParaRPr b="0" i="0" sz="2800" u="none" cap="none" strike="noStrike">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5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60" name="Google Shape;960;p152"/>
          <p:cNvSpPr txBox="1"/>
          <p:nvPr/>
        </p:nvSpPr>
        <p:spPr>
          <a:xfrm>
            <a:off x="612720" y="1992240"/>
            <a:ext cx="524160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int linearsearch(int *a, int n, int x ) {</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int h, l;</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l = 0;</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h = n - 1;</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while(l &lt;= h) {</a:t>
            </a:r>
            <a:endParaRPr b="0" i="0" sz="20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if(a[l] == x)</a:t>
            </a:r>
            <a:endParaRPr b="0" i="0" sz="20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return l;</a:t>
            </a:r>
            <a:endParaRPr b="0" i="0" sz="20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if(a[l] &gt; x)</a:t>
            </a:r>
            <a:endParaRPr b="0" i="0" sz="20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l++;</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a:t>
            </a:r>
            <a:endParaRPr b="0" i="0" sz="2000" u="none" cap="none" strike="noStrike">
              <a:latin typeface="Arial"/>
              <a:ea typeface="Arial"/>
              <a:cs typeface="Arial"/>
              <a:sym typeface="Arial"/>
            </a:endParaRPr>
          </a:p>
        </p:txBody>
      </p:sp>
      <p:sp>
        <p:nvSpPr>
          <p:cNvPr id="961" name="Google Shape;961;p152"/>
          <p:cNvSpPr txBox="1"/>
          <p:nvPr/>
        </p:nvSpPr>
        <p:spPr>
          <a:xfrm>
            <a:off x="5039640" y="138996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Average case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we focus on the fact that the function has to return, then it returns in following possible ways</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n ways to return with a[l] == x true</a:t>
            </a:r>
            <a:endParaRPr b="0" i="0" sz="20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That is x found  </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n ways to return with</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 &gt; x  true</a:t>
            </a:r>
            <a:endParaRPr b="0" i="0" sz="20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That is x not found</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1 way to return with -1 in the end (x not found)</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Total 2n+ 1 ways to return</a:t>
            </a:r>
            <a:endParaRPr b="0" i="0" sz="2000" u="none" cap="none" strike="noStrike">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53"/>
          <p:cNvSpPr txBox="1"/>
          <p:nvPr/>
        </p:nvSpPr>
        <p:spPr>
          <a:xfrm>
            <a:off x="392400" y="24300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Consider the linear search function</a:t>
            </a:r>
            <a:endParaRPr b="0" i="0" sz="3600" u="none" cap="none" strike="noStrike">
              <a:latin typeface="Arial"/>
              <a:ea typeface="Arial"/>
              <a:cs typeface="Arial"/>
              <a:sym typeface="Arial"/>
            </a:endParaRPr>
          </a:p>
        </p:txBody>
      </p:sp>
      <p:sp>
        <p:nvSpPr>
          <p:cNvPr id="968" name="Google Shape;968;p153"/>
          <p:cNvSpPr txBox="1"/>
          <p:nvPr/>
        </p:nvSpPr>
        <p:spPr>
          <a:xfrm>
            <a:off x="392400" y="995760"/>
            <a:ext cx="9071640" cy="6064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Average time for linear search = (sum of time required for 2n+1 ways in which code can run) / (2n + 1)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Total time taken in returning with a[l] ==x true: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(c) + (c + b) + (c + 2b)  +... (c+(n-1)b)</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Here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c: </a:t>
            </a:r>
            <a:r>
              <a:rPr b="0" i="0" lang="en-IN" sz="2800" u="none" cap="none" strike="noStrike">
                <a:solidFill>
                  <a:srgbClr val="0000CC"/>
                </a:solidFill>
                <a:latin typeface="Arial"/>
                <a:ea typeface="Arial"/>
                <a:cs typeface="Arial"/>
                <a:sym typeface="Arial"/>
              </a:rPr>
              <a:t>time required to run  l=0; h = n -1; condition l&lt;=h; condition a[l] == x (on success) and return x (on success)</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b:</a:t>
            </a:r>
            <a:r>
              <a:rPr b="0" i="0" lang="en-IN" sz="2800" u="none" cap="none" strike="noStrike">
                <a:solidFill>
                  <a:srgbClr val="0000CC"/>
                </a:solidFill>
                <a:latin typeface="Arial"/>
                <a:ea typeface="Arial"/>
                <a:cs typeface="Arial"/>
                <a:sym typeface="Arial"/>
              </a:rPr>
              <a:t> time required to run if(a[l] &gt; x) condition; l++; condition l&lt;=h on unsuccessful run of loop</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Here c: time required when a[0] == x</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c + b: time required when a[1] == x</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and so on  </a:t>
            </a:r>
            <a:endParaRPr b="0" i="0" sz="2800" u="none" cap="none" strike="noStrike">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5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75" name="Google Shape;975;p154"/>
          <p:cNvSpPr txBox="1"/>
          <p:nvPr/>
        </p:nvSpPr>
        <p:spPr>
          <a:xfrm>
            <a:off x="504000" y="1551600"/>
            <a:ext cx="9071640" cy="4816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Total time taken in returning with a[l] &gt; x as true: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(e) + (e + d) + (e + 2d)  +... (e+(n-1)d)</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Here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e: </a:t>
            </a:r>
            <a:r>
              <a:rPr b="0" i="0" lang="en-IN" sz="2800" u="none" cap="none" strike="noStrike">
                <a:solidFill>
                  <a:srgbClr val="0000CC"/>
                </a:solidFill>
                <a:latin typeface="Arial"/>
                <a:ea typeface="Arial"/>
                <a:cs typeface="Arial"/>
                <a:sym typeface="Arial"/>
              </a:rPr>
              <a:t>time required to run  l=0; h = n -1; condition l&lt;=h; condition a[l] &gt; x  and return -1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d:</a:t>
            </a:r>
            <a:r>
              <a:rPr b="0" i="0" lang="en-IN" sz="2800" u="none" cap="none" strike="noStrike">
                <a:solidFill>
                  <a:srgbClr val="0000CC"/>
                </a:solidFill>
                <a:latin typeface="Arial"/>
                <a:ea typeface="Arial"/>
                <a:cs typeface="Arial"/>
                <a:sym typeface="Arial"/>
              </a:rPr>
              <a:t> time required to run (a[l] == x) condition; (a[l] &gt; x) condition; l++; condition l&lt;=h on unsuccessful run of loop</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Time taken when x &gt; a[n-1]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An + B</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55"/>
          <p:cNvSpPr txBox="1"/>
          <p:nvPr/>
        </p:nvSpPr>
        <p:spPr>
          <a:xfrm>
            <a:off x="370080" y="82800"/>
            <a:ext cx="9071640" cy="7134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Average time for linear search = (sum of time required for 2n+1 ways in which code can run) / (2n + 1)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(c+(c+b)+(c+2b)+...(c+(n-1)b)</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(e+ (e+d)+(e+2d)...(e+(n-1)d)</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An + B )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(2n+1)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n (c + e + A) + (b + d) (1 + 2 + ... (n-1)) + B )/ (2n + 1)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(Pn + Q(n-1)n/2 + B ) / (2n + 1)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Here the numerator is a quadratic equation in ‘n’ and denominator is linear equation in ‘n’ so the equation is nearly same as</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Xn + Y + Z/n</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Which is a linear equation.  </a:t>
            </a:r>
            <a:endParaRPr b="0" i="0" sz="2400" u="none" cap="none" strike="noStrike">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5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88" name="Google Shape;988;p156"/>
          <p:cNvSpPr txBox="1"/>
          <p:nvPr/>
        </p:nvSpPr>
        <p:spPr>
          <a:xfrm>
            <a:off x="504000" y="1767240"/>
            <a:ext cx="9071640" cy="43844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So average case time for linear search is</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0" i="0" lang="en-IN" sz="2800" u="none" cap="none" strike="noStrike">
                <a:solidFill>
                  <a:srgbClr val="800000"/>
                </a:solidFill>
                <a:latin typeface="Arial"/>
                <a:ea typeface="Arial"/>
                <a:cs typeface="Arial"/>
                <a:sym typeface="Arial"/>
              </a:rPr>
              <a:t>T</a:t>
            </a:r>
            <a:r>
              <a:rPr b="0" baseline="-25000" i="0" lang="en-IN" sz="3234" u="none" cap="none" strike="noStrike">
                <a:solidFill>
                  <a:srgbClr val="800000"/>
                </a:solidFill>
                <a:latin typeface="Arial"/>
                <a:ea typeface="Arial"/>
                <a:cs typeface="Arial"/>
                <a:sym typeface="Arial"/>
              </a:rPr>
              <a:t>a</a:t>
            </a:r>
            <a:r>
              <a:rPr b="0" i="0" lang="en-IN" sz="2800" u="none" cap="none" strike="noStrike">
                <a:solidFill>
                  <a:srgbClr val="800000"/>
                </a:solidFill>
                <a:latin typeface="Arial"/>
                <a:ea typeface="Arial"/>
                <a:cs typeface="Arial"/>
                <a:sym typeface="Arial"/>
              </a:rPr>
              <a:t>(n) = Xn + Y + Z/n</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0" i="0" lang="en-IN" sz="2800" u="none" cap="none" strike="noStrike">
                <a:solidFill>
                  <a:srgbClr val="800000"/>
                </a:solidFill>
                <a:latin typeface="Arial"/>
                <a:ea typeface="Arial"/>
                <a:cs typeface="Arial"/>
                <a:sym typeface="Arial"/>
              </a:rPr>
              <a:t>          =  Ɵ(n)</a:t>
            </a:r>
            <a:endParaRPr b="0" i="0" sz="2800" u="none" cap="none" strike="noStrike">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157"/>
          <p:cNvSpPr txBox="1"/>
          <p:nvPr/>
        </p:nvSpPr>
        <p:spPr>
          <a:xfrm>
            <a:off x="314280" y="138960"/>
            <a:ext cx="8561880" cy="372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800000"/>
                </a:solidFill>
                <a:latin typeface="Arial"/>
                <a:ea typeface="Arial"/>
                <a:cs typeface="Arial"/>
                <a:sym typeface="Arial"/>
              </a:rPr>
              <a:t>Consider sine(x) code</a:t>
            </a:r>
            <a:endParaRPr b="0" i="0" sz="3200" u="none" cap="none" strike="noStrike">
              <a:latin typeface="Arial"/>
              <a:ea typeface="Arial"/>
              <a:cs typeface="Arial"/>
              <a:sym typeface="Arial"/>
            </a:endParaRPr>
          </a:p>
        </p:txBody>
      </p:sp>
      <p:sp>
        <p:nvSpPr>
          <p:cNvPr id="995" name="Google Shape;995;p157"/>
          <p:cNvSpPr txBox="1"/>
          <p:nvPr/>
        </p:nvSpPr>
        <p:spPr>
          <a:xfrm>
            <a:off x="314280" y="664920"/>
            <a:ext cx="10279080" cy="564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double sine(double x)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int n;</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double sum, term;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n = 3;</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sum = x;</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term = x;</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while(isgreater(fabs(term), 0.0000000001))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term = (term * x * x) / ( n * (n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if(n % 4 == 3)</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sum -= term;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else</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sum += term;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n = n + 2;</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return sum;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96" name="Google Shape;996;p157"/>
          <p:cNvSpPr txBox="1"/>
          <p:nvPr/>
        </p:nvSpPr>
        <p:spPr>
          <a:xfrm>
            <a:off x="5365080" y="453600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Here although we have an if-else code, both the if and else parts take same time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So we don’t have a worst/average/best case scenario here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We only need to find one equation</a:t>
            </a:r>
            <a:endParaRPr b="0" i="0" sz="2000" u="none" cap="none" strike="noStrike">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58"/>
          <p:cNvSpPr txBox="1"/>
          <p:nvPr/>
        </p:nvSpPr>
        <p:spPr>
          <a:xfrm>
            <a:off x="504000" y="301320"/>
            <a:ext cx="9071640" cy="3567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800000"/>
                </a:solidFill>
                <a:latin typeface="Arial"/>
                <a:ea typeface="Arial"/>
                <a:cs typeface="Arial"/>
                <a:sym typeface="Arial"/>
              </a:rPr>
              <a:t>Consider sine(x) code</a:t>
            </a:r>
            <a:endParaRPr b="0" i="0" sz="3200" u="none" cap="none" strike="noStrike">
              <a:latin typeface="Arial"/>
              <a:ea typeface="Arial"/>
              <a:cs typeface="Arial"/>
              <a:sym typeface="Arial"/>
            </a:endParaRPr>
          </a:p>
        </p:txBody>
      </p:sp>
      <p:sp>
        <p:nvSpPr>
          <p:cNvPr id="1003" name="Google Shape;1003;p158"/>
          <p:cNvSpPr txBox="1"/>
          <p:nvPr/>
        </p:nvSpPr>
        <p:spPr>
          <a:xfrm>
            <a:off x="504000" y="787680"/>
            <a:ext cx="7759080" cy="564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double sine(double x)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int n;</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double sum, term;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n = 3;</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sum = x;</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term = x;</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while(isgreater(fabs(term), 0.0000000001))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term = (term * x * x) / ( n * (n -1));</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if(n % 4 == 3)</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sum -= term;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else</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sum += term;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n = n + 2;</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return sum;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a:t>
            </a:r>
            <a:endParaRPr b="0" i="0" sz="2000" u="none" cap="none" strike="noStrike">
              <a:latin typeface="Arial"/>
              <a:ea typeface="Arial"/>
              <a:cs typeface="Arial"/>
              <a:sym typeface="Arial"/>
            </a:endParaRPr>
          </a:p>
        </p:txBody>
      </p:sp>
      <p:sp>
        <p:nvSpPr>
          <p:cNvPr id="1004" name="Google Shape;1004;p158"/>
          <p:cNvSpPr txBox="1"/>
          <p:nvPr/>
        </p:nvSpPr>
        <p:spPr>
          <a:xfrm>
            <a:off x="5365080" y="453600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Here the crucial question is how many times does the loop run?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This is not so easy to answer and will involve analysing the Taylor’s series and the loop conditions</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Take this as a homework</a:t>
            </a:r>
            <a:endParaRPr b="0" i="0" sz="2000" u="none" cap="none" strike="noStrike">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5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Homework: Binary search</a:t>
            </a:r>
            <a:endParaRPr b="0" i="0" sz="4400" u="none" cap="none" strike="noStrike">
              <a:latin typeface="Arial"/>
              <a:ea typeface="Arial"/>
              <a:cs typeface="Arial"/>
              <a:sym typeface="Arial"/>
            </a:endParaRPr>
          </a:p>
        </p:txBody>
      </p:sp>
      <p:sp>
        <p:nvSpPr>
          <p:cNvPr id="1011" name="Google Shape;1011;p159"/>
          <p:cNvSpPr txBox="1"/>
          <p:nvPr/>
        </p:nvSpPr>
        <p:spPr>
          <a:xfrm>
            <a:off x="414720" y="1222560"/>
            <a:ext cx="6984000" cy="564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binarysearch(int *a, int n, int x )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 h, m;</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m = (l + h) / 2;</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if(a[m] == x)</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return m;</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else if(a[m] &lt; x)</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l = m + 1;</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else</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h = m - 1;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1012" name="Google Shape;1012;p159"/>
          <p:cNvSpPr txBox="1"/>
          <p:nvPr/>
        </p:nvSpPr>
        <p:spPr>
          <a:xfrm>
            <a:off x="5365080" y="453600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Do the worst, best, average case analysis of binary search.</a:t>
            </a:r>
            <a:endParaRPr b="0" i="0" sz="2000" u="none" cap="none"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
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3"/>
    <p:sldMasterId id="2147483709" r:id="rId4"/>
    <p:sldMasterId id="2147483710" r:id="rId5"/>
    <p:sldMasterId id="2147483711" r:id="rId6"/>
    <p:sldMasterId id="214748371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</p:sldIdLst>
  <p:sldSz cy="7559675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:notes"/>
          <p:cNvSpPr/>
          <p:nvPr>
            <p:ph idx="2" type="sldImg"/>
          </p:nvPr>
        </p:nvSpPr>
        <p:spPr>
          <a:xfrm>
            <a:off x="1106640" y="81288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:notes"/>
          <p:cNvSpPr/>
          <p:nvPr>
            <p:ph idx="2" type="sldImg"/>
          </p:nvPr>
        </p:nvSpPr>
        <p:spPr>
          <a:xfrm>
            <a:off x="1106640" y="81288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:notes"/>
          <p:cNvSpPr/>
          <p:nvPr>
            <p:ph idx="2" type="sldImg"/>
          </p:nvPr>
        </p:nvSpPr>
        <p:spPr>
          <a:xfrm>
            <a:off x="1106640" y="81288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6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7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8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9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9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0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0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1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1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p1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2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2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3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3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5" name="Google Shape;445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4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4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5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5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p1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6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6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1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7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7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1" name="Google Shape;521;p1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8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8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0" name="Google Shape;540;p1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9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9:notes"/>
          <p:cNvSpPr/>
          <p:nvPr>
            <p:ph idx="2" type="sldImg"/>
          </p:nvPr>
        </p:nvSpPr>
        <p:spPr>
          <a:xfrm>
            <a:off x="1107000" y="81252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8" name="Google Shape;558;p1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0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0:notes"/>
          <p:cNvSpPr/>
          <p:nvPr>
            <p:ph idx="2" type="sldImg"/>
          </p:nvPr>
        </p:nvSpPr>
        <p:spPr>
          <a:xfrm>
            <a:off x="1106640" y="81288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6" name="Google Shape;576;p2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1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1:notes"/>
          <p:cNvSpPr/>
          <p:nvPr>
            <p:ph idx="2" type="sldImg"/>
          </p:nvPr>
        </p:nvSpPr>
        <p:spPr>
          <a:xfrm>
            <a:off x="1106640" y="81288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2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2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2:notes"/>
          <p:cNvSpPr/>
          <p:nvPr>
            <p:ph idx="2" type="sldImg"/>
          </p:nvPr>
        </p:nvSpPr>
        <p:spPr>
          <a:xfrm>
            <a:off x="1106640" y="81288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3" name="Google Shape;603;p2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3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3:notes"/>
          <p:cNvSpPr/>
          <p:nvPr>
            <p:ph idx="2" type="sldImg"/>
          </p:nvPr>
        </p:nvSpPr>
        <p:spPr>
          <a:xfrm>
            <a:off x="1106640" y="81288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9" name="Google Shape;609;p2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4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4:notes"/>
          <p:cNvSpPr/>
          <p:nvPr>
            <p:ph idx="2" type="sldImg"/>
          </p:nvPr>
        </p:nvSpPr>
        <p:spPr>
          <a:xfrm>
            <a:off x="1106640" y="81288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6" name="Google Shape;616;p2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5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5:notes"/>
          <p:cNvSpPr/>
          <p:nvPr>
            <p:ph idx="2" type="sldImg"/>
          </p:nvPr>
        </p:nvSpPr>
        <p:spPr>
          <a:xfrm>
            <a:off x="1106640" y="81288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3" name="Google Shape;623;p2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6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6:notes"/>
          <p:cNvSpPr/>
          <p:nvPr>
            <p:ph idx="2" type="sldImg"/>
          </p:nvPr>
        </p:nvSpPr>
        <p:spPr>
          <a:xfrm>
            <a:off x="1106640" y="81288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4" name="Google Shape;634;p2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7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7:notes"/>
          <p:cNvSpPr/>
          <p:nvPr>
            <p:ph idx="2" type="sldImg"/>
          </p:nvPr>
        </p:nvSpPr>
        <p:spPr>
          <a:xfrm>
            <a:off x="1106640" y="81288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4" name="Google Shape;644;p2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8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8:notes"/>
          <p:cNvSpPr/>
          <p:nvPr>
            <p:ph idx="2" type="sldImg"/>
          </p:nvPr>
        </p:nvSpPr>
        <p:spPr>
          <a:xfrm>
            <a:off x="1106640" y="81288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2" name="Google Shape;652;p2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9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9:notes"/>
          <p:cNvSpPr/>
          <p:nvPr>
            <p:ph idx="2" type="sldImg"/>
          </p:nvPr>
        </p:nvSpPr>
        <p:spPr>
          <a:xfrm>
            <a:off x="1106640" y="81288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9" name="Google Shape;659;p2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idx="1"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3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4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4"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5"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6"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idx="1"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3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3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"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2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4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"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2"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3"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4"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5"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6"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"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0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1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1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/>
          <p:nvPr>
            <p:ph idx="1"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4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5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5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5"/>
          <p:cNvSpPr txBox="1"/>
          <p:nvPr>
            <p:ph idx="3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6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6"/>
          <p:cNvSpPr txBox="1"/>
          <p:nvPr>
            <p:ph idx="3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7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7"/>
          <p:cNvSpPr txBox="1"/>
          <p:nvPr>
            <p:ph idx="1"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2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8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8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8"/>
          <p:cNvSpPr txBox="1"/>
          <p:nvPr>
            <p:ph idx="4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9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9"/>
          <p:cNvSpPr txBox="1"/>
          <p:nvPr>
            <p:ph idx="1"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9"/>
          <p:cNvSpPr txBox="1"/>
          <p:nvPr>
            <p:ph idx="2"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9"/>
          <p:cNvSpPr txBox="1"/>
          <p:nvPr>
            <p:ph idx="3"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9"/>
          <p:cNvSpPr txBox="1"/>
          <p:nvPr>
            <p:ph idx="4"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9"/>
          <p:cNvSpPr txBox="1"/>
          <p:nvPr>
            <p:ph idx="5"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9"/>
          <p:cNvSpPr txBox="1"/>
          <p:nvPr>
            <p:ph idx="6"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42"/>
          <p:cNvSpPr txBox="1"/>
          <p:nvPr>
            <p:ph idx="1"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3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4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3" name="Google Shape;183;p44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6"/>
          <p:cNvSpPr txBox="1"/>
          <p:nvPr>
            <p:ph idx="1"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7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7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1" name="Google Shape;191;p47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2" name="Google Shape;192;p47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8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8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6" name="Google Shape;196;p48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7" name="Google Shape;197;p48"/>
          <p:cNvSpPr txBox="1"/>
          <p:nvPr>
            <p:ph idx="3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9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9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1" name="Google Shape;201;p49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2" name="Google Shape;202;p49"/>
          <p:cNvSpPr txBox="1"/>
          <p:nvPr>
            <p:ph idx="3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0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50"/>
          <p:cNvSpPr txBox="1"/>
          <p:nvPr>
            <p:ph idx="1"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6" name="Google Shape;206;p50"/>
          <p:cNvSpPr txBox="1"/>
          <p:nvPr>
            <p:ph idx="2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51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0" name="Google Shape;210;p51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1" name="Google Shape;211;p51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2" name="Google Shape;212;p51"/>
          <p:cNvSpPr txBox="1"/>
          <p:nvPr>
            <p:ph idx="4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52"/>
          <p:cNvSpPr txBox="1"/>
          <p:nvPr>
            <p:ph idx="1"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6" name="Google Shape;216;p52"/>
          <p:cNvSpPr txBox="1"/>
          <p:nvPr>
            <p:ph idx="2"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7" name="Google Shape;217;p52"/>
          <p:cNvSpPr txBox="1"/>
          <p:nvPr>
            <p:ph idx="3"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8" name="Google Shape;218;p52"/>
          <p:cNvSpPr txBox="1"/>
          <p:nvPr>
            <p:ph idx="4"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9" name="Google Shape;219;p52"/>
          <p:cNvSpPr txBox="1"/>
          <p:nvPr>
            <p:ph idx="5"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0" name="Google Shape;220;p52"/>
          <p:cNvSpPr txBox="1"/>
          <p:nvPr>
            <p:ph idx="6"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55"/>
          <p:cNvSpPr txBox="1"/>
          <p:nvPr>
            <p:ph idx="1"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6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56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7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57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7" name="Google Shape;237;p57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8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9"/>
          <p:cNvSpPr txBox="1"/>
          <p:nvPr>
            <p:ph idx="1"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0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60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5" name="Google Shape;245;p60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6" name="Google Shape;246;p60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61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0" name="Google Shape;250;p61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1" name="Google Shape;251;p61"/>
          <p:cNvSpPr txBox="1"/>
          <p:nvPr>
            <p:ph idx="3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62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5" name="Google Shape;255;p62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6" name="Google Shape;256;p62"/>
          <p:cNvSpPr txBox="1"/>
          <p:nvPr>
            <p:ph idx="3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3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63"/>
          <p:cNvSpPr txBox="1"/>
          <p:nvPr>
            <p:ph idx="1"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0" name="Google Shape;260;p63"/>
          <p:cNvSpPr txBox="1"/>
          <p:nvPr>
            <p:ph idx="2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64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4" name="Google Shape;264;p64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5" name="Google Shape;265;p64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6" name="Google Shape;266;p64"/>
          <p:cNvSpPr txBox="1"/>
          <p:nvPr>
            <p:ph idx="4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65"/>
          <p:cNvSpPr txBox="1"/>
          <p:nvPr>
            <p:ph idx="1"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0" name="Google Shape;270;p65"/>
          <p:cNvSpPr txBox="1"/>
          <p:nvPr>
            <p:ph idx="2"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1" name="Google Shape;271;p65"/>
          <p:cNvSpPr txBox="1"/>
          <p:nvPr>
            <p:ph idx="3"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2" name="Google Shape;272;p65"/>
          <p:cNvSpPr txBox="1"/>
          <p:nvPr>
            <p:ph idx="4"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3" name="Google Shape;273;p65"/>
          <p:cNvSpPr txBox="1"/>
          <p:nvPr>
            <p:ph idx="5"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4" name="Google Shape;274;p65"/>
          <p:cNvSpPr txBox="1"/>
          <p:nvPr>
            <p:ph idx="6"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" name="Google Shape;13;p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1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7" name="Google Shape;117;p27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8" name="Google Shape;118;p27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0"/>
          <p:cNvSpPr txBox="1"/>
          <p:nvPr>
            <p:ph type="title"/>
          </p:nvPr>
        </p:nvSpPr>
        <p:spPr>
          <a:xfrm>
            <a:off x="1260360" y="1236600"/>
            <a:ext cx="7559640" cy="2631960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0" name="Google Shape;170;p40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1" name="Google Shape;171;p40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2" name="Google Shape;172;p40"/>
          <p:cNvSpPr txBox="1"/>
          <p:nvPr>
            <p:ph idx="12"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3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3" name="Google Shape;223;p53"/>
          <p:cNvSpPr txBox="1"/>
          <p:nvPr>
            <p:ph idx="2" type="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4" name="Google Shape;224;p53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5" name="Google Shape;225;p53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6" name="Google Shape;226;p53"/>
          <p:cNvSpPr txBox="1"/>
          <p:nvPr>
            <p:ph idx="12"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6"/>
          <p:cNvSpPr txBox="1"/>
          <p:nvPr/>
        </p:nvSpPr>
        <p:spPr>
          <a:xfrm>
            <a:off x="504000" y="301320"/>
            <a:ext cx="9071640" cy="585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2 Common Problems involving Pointers: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(Dereferencing) Dangling Pointers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Garbage Memory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7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67"/>
          <p:cNvSpPr txBox="1"/>
          <p:nvPr/>
        </p:nvSpPr>
        <p:spPr>
          <a:xfrm>
            <a:off x="423720" y="1563480"/>
            <a:ext cx="93560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8001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 pointer is dangling when declared &amp; not initialized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8001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 pointer becomes non dangling, when assigned to a “good” memory location like local variables, global variables, malloc-ed memory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8001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 pointer can become dangling again due to mistakes in pointer arithmetic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8001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Mistakes in manipulation of dynamically allocated memory, e.g. Linked list pointers 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8001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On deallocation of malloced memory using free()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8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etc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8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8"/>
          <p:cNvSpPr txBox="1"/>
          <p:nvPr/>
        </p:nvSpPr>
        <p:spPr>
          <a:xfrm>
            <a:off x="504000" y="128520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⮚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Total 3 Possibilities for a pointer value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34308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⮚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Points to memory owned by program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2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     Local variables, Global Variables, Malloced Memory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34308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⮚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= NULL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34308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⮚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Dangling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2" marL="34308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Some texts differentiate between ‘wild’ (uninitialized) and ‘dangling’ pointers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⮚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Dereferencing (that is * ) a dangling (or NULL) pointer is NOT to be done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34308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⮚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Even if you find that dereferencing a dangling pointer “</a:t>
            </a:r>
            <a:r>
              <a:rPr b="0" i="1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does not create problem” </a:t>
            </a: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in your code, it is still not to be done!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1" marL="34308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⮚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Result: The OS terminates the code giving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                        </a:t>
            </a: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“Segmentation Fault”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9"/>
          <p:cNvSpPr txBox="1"/>
          <p:nvPr/>
        </p:nvSpPr>
        <p:spPr>
          <a:xfrm>
            <a:off x="720000" y="360000"/>
            <a:ext cx="8580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int *p, i, j, *q;// p,q are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69"/>
          <p:cNvGrpSpPr/>
          <p:nvPr/>
        </p:nvGrpSpPr>
        <p:grpSpPr>
          <a:xfrm>
            <a:off x="766656" y="4745160"/>
            <a:ext cx="6073344" cy="1554840"/>
            <a:chOff x="766656" y="4745160"/>
            <a:chExt cx="6073344" cy="1554840"/>
          </a:xfrm>
        </p:grpSpPr>
        <p:sp>
          <p:nvSpPr>
            <p:cNvPr id="302" name="Google Shape;302;p69"/>
            <p:cNvSpPr/>
            <p:nvPr/>
          </p:nvSpPr>
          <p:spPr>
            <a:xfrm>
              <a:off x="1440000" y="576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69"/>
            <p:cNvSpPr/>
            <p:nvPr/>
          </p:nvSpPr>
          <p:spPr>
            <a:xfrm>
              <a:off x="3060000" y="576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69"/>
            <p:cNvSpPr/>
            <p:nvPr/>
          </p:nvSpPr>
          <p:spPr>
            <a:xfrm>
              <a:off x="4680000" y="576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69"/>
            <p:cNvSpPr/>
            <p:nvPr/>
          </p:nvSpPr>
          <p:spPr>
            <a:xfrm>
              <a:off x="6300000" y="576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69"/>
            <p:cNvSpPr/>
            <p:nvPr/>
          </p:nvSpPr>
          <p:spPr>
            <a:xfrm>
              <a:off x="4475160" y="4745160"/>
              <a:ext cx="775440" cy="1143720"/>
            </a:xfrm>
            <a:custGeom>
              <a:rect b="b" l="l" r="r" t="t"/>
              <a:pathLst>
                <a:path extrusionOk="0" h="3253" w="3296">
                  <a:moveTo>
                    <a:pt x="1231" y="3175"/>
                  </a:moveTo>
                  <a:cubicBezTo>
                    <a:pt x="2020" y="3253"/>
                    <a:pt x="2862" y="1864"/>
                    <a:pt x="1183" y="1876"/>
                  </a:cubicBezTo>
                  <a:cubicBezTo>
                    <a:pt x="719" y="1879"/>
                    <a:pt x="-434" y="1770"/>
                    <a:pt x="173" y="914"/>
                  </a:cubicBezTo>
                  <a:lnTo>
                    <a:pt x="1183" y="385"/>
                  </a:lnTo>
                  <a:lnTo>
                    <a:pt x="1472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69"/>
            <p:cNvSpPr/>
            <p:nvPr/>
          </p:nvSpPr>
          <p:spPr>
            <a:xfrm rot="8776800">
              <a:off x="902880" y="5421240"/>
              <a:ext cx="744480" cy="716400"/>
            </a:xfrm>
            <a:custGeom>
              <a:rect b="b" l="l" r="r" t="t"/>
              <a:pathLst>
                <a:path extrusionOk="0" h="2690" w="2901">
                  <a:moveTo>
                    <a:pt x="0" y="0"/>
                  </a:moveTo>
                  <a:cubicBezTo>
                    <a:pt x="381" y="163"/>
                    <a:pt x="2195" y="-208"/>
                    <a:pt x="1055" y="627"/>
                  </a:cubicBezTo>
                  <a:cubicBezTo>
                    <a:pt x="570" y="982"/>
                    <a:pt x="-706" y="2482"/>
                    <a:pt x="1162" y="1827"/>
                  </a:cubicBezTo>
                  <a:lnTo>
                    <a:pt x="1615" y="1640"/>
                  </a:lnTo>
                  <a:lnTo>
                    <a:pt x="2069" y="18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8" name="Google Shape;308;p69"/>
          <p:cNvSpPr txBox="1"/>
          <p:nvPr/>
        </p:nvSpPr>
        <p:spPr>
          <a:xfrm>
            <a:off x="900000" y="6660000"/>
            <a:ext cx="8100000" cy="433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 Example: 1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0"/>
          <p:cNvSpPr txBox="1"/>
          <p:nvPr/>
        </p:nvSpPr>
        <p:spPr>
          <a:xfrm>
            <a:off x="720000" y="360000"/>
            <a:ext cx="8580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int *p, i, j, *q;// p,q are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p = &amp;i; // p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" name="Google Shape;315;p70"/>
          <p:cNvGrpSpPr/>
          <p:nvPr/>
        </p:nvGrpSpPr>
        <p:grpSpPr>
          <a:xfrm>
            <a:off x="1440000" y="4745520"/>
            <a:ext cx="5400000" cy="1554840"/>
            <a:chOff x="1440000" y="4745520"/>
            <a:chExt cx="5400000" cy="1554840"/>
          </a:xfrm>
        </p:grpSpPr>
        <p:sp>
          <p:nvSpPr>
            <p:cNvPr id="316" name="Google Shape;316;p70"/>
            <p:cNvSpPr/>
            <p:nvPr/>
          </p:nvSpPr>
          <p:spPr>
            <a:xfrm>
              <a:off x="1440000" y="576036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70"/>
            <p:cNvSpPr/>
            <p:nvPr/>
          </p:nvSpPr>
          <p:spPr>
            <a:xfrm>
              <a:off x="3060000" y="576036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70"/>
            <p:cNvSpPr/>
            <p:nvPr/>
          </p:nvSpPr>
          <p:spPr>
            <a:xfrm>
              <a:off x="4680000" y="576036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70"/>
            <p:cNvSpPr/>
            <p:nvPr/>
          </p:nvSpPr>
          <p:spPr>
            <a:xfrm>
              <a:off x="6300000" y="576036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70"/>
            <p:cNvSpPr/>
            <p:nvPr/>
          </p:nvSpPr>
          <p:spPr>
            <a:xfrm>
              <a:off x="4475160" y="4745520"/>
              <a:ext cx="775440" cy="1143720"/>
            </a:xfrm>
            <a:custGeom>
              <a:rect b="b" l="l" r="r" t="t"/>
              <a:pathLst>
                <a:path extrusionOk="0" h="3253" w="3296">
                  <a:moveTo>
                    <a:pt x="1231" y="3175"/>
                  </a:moveTo>
                  <a:cubicBezTo>
                    <a:pt x="2020" y="3253"/>
                    <a:pt x="2862" y="1864"/>
                    <a:pt x="1183" y="1876"/>
                  </a:cubicBezTo>
                  <a:cubicBezTo>
                    <a:pt x="719" y="1879"/>
                    <a:pt x="-434" y="1770"/>
                    <a:pt x="173" y="914"/>
                  </a:cubicBezTo>
                  <a:lnTo>
                    <a:pt x="1183" y="385"/>
                  </a:lnTo>
                  <a:lnTo>
                    <a:pt x="1472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70"/>
            <p:cNvSpPr/>
            <p:nvPr/>
          </p:nvSpPr>
          <p:spPr>
            <a:xfrm>
              <a:off x="1980000" y="5940000"/>
              <a:ext cx="1080000" cy="360"/>
            </a:xfrm>
            <a:custGeom>
              <a:rect b="b" l="l" r="r" t="t"/>
              <a:pathLst>
                <a:path extrusionOk="0" h="21600" w="32410800">
                  <a:moveTo>
                    <a:pt x="0" y="0"/>
                  </a:moveTo>
                  <a:lnTo>
                    <a:pt x="32410800" y="21600"/>
                  </a:lnTo>
                </a:path>
              </a:pathLst>
            </a:custGeom>
            <a:noFill/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med" w="med" type="triangle"/>
            </a:ln>
          </p:spPr>
        </p:sp>
      </p:grpSp>
      <p:sp>
        <p:nvSpPr>
          <p:cNvPr id="322" name="Google Shape;322;p70"/>
          <p:cNvSpPr txBox="1"/>
          <p:nvPr/>
        </p:nvSpPr>
        <p:spPr>
          <a:xfrm>
            <a:off x="900000" y="6660360"/>
            <a:ext cx="8100000" cy="433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 Example: 1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71"/>
          <p:cNvSpPr txBox="1"/>
          <p:nvPr/>
        </p:nvSpPr>
        <p:spPr>
          <a:xfrm>
            <a:off x="720000" y="360000"/>
            <a:ext cx="8580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int *p, i, j, *q;// p,q are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p = &amp;i; // p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i = 10; // *p = 10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9" name="Google Shape;329;p71"/>
          <p:cNvGrpSpPr/>
          <p:nvPr/>
        </p:nvGrpSpPr>
        <p:grpSpPr>
          <a:xfrm>
            <a:off x="1440000" y="4745880"/>
            <a:ext cx="5400000" cy="1554840"/>
            <a:chOff x="1440000" y="4745880"/>
            <a:chExt cx="5400000" cy="1554840"/>
          </a:xfrm>
        </p:grpSpPr>
        <p:sp>
          <p:nvSpPr>
            <p:cNvPr id="330" name="Google Shape;330;p71"/>
            <p:cNvSpPr/>
            <p:nvPr/>
          </p:nvSpPr>
          <p:spPr>
            <a:xfrm>
              <a:off x="1440000" y="576072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71"/>
            <p:cNvSpPr/>
            <p:nvPr/>
          </p:nvSpPr>
          <p:spPr>
            <a:xfrm>
              <a:off x="3060000" y="5760720"/>
              <a:ext cx="90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 = 10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71"/>
            <p:cNvSpPr/>
            <p:nvPr/>
          </p:nvSpPr>
          <p:spPr>
            <a:xfrm>
              <a:off x="4680000" y="576072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71"/>
            <p:cNvSpPr/>
            <p:nvPr/>
          </p:nvSpPr>
          <p:spPr>
            <a:xfrm>
              <a:off x="6300000" y="576072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71"/>
            <p:cNvSpPr/>
            <p:nvPr/>
          </p:nvSpPr>
          <p:spPr>
            <a:xfrm>
              <a:off x="4475160" y="4745880"/>
              <a:ext cx="775440" cy="1143720"/>
            </a:xfrm>
            <a:custGeom>
              <a:rect b="b" l="l" r="r" t="t"/>
              <a:pathLst>
                <a:path extrusionOk="0" h="3253" w="3296">
                  <a:moveTo>
                    <a:pt x="1231" y="3175"/>
                  </a:moveTo>
                  <a:cubicBezTo>
                    <a:pt x="2020" y="3253"/>
                    <a:pt x="2862" y="1864"/>
                    <a:pt x="1183" y="1876"/>
                  </a:cubicBezTo>
                  <a:cubicBezTo>
                    <a:pt x="719" y="1879"/>
                    <a:pt x="-434" y="1770"/>
                    <a:pt x="173" y="914"/>
                  </a:cubicBezTo>
                  <a:lnTo>
                    <a:pt x="1183" y="385"/>
                  </a:lnTo>
                  <a:lnTo>
                    <a:pt x="1472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71"/>
            <p:cNvSpPr/>
            <p:nvPr/>
          </p:nvSpPr>
          <p:spPr>
            <a:xfrm>
              <a:off x="1980000" y="5940360"/>
              <a:ext cx="1080000" cy="360"/>
            </a:xfrm>
            <a:custGeom>
              <a:rect b="b" l="l" r="r" t="t"/>
              <a:pathLst>
                <a:path extrusionOk="0" h="21600" w="32410800">
                  <a:moveTo>
                    <a:pt x="0" y="0"/>
                  </a:moveTo>
                  <a:lnTo>
                    <a:pt x="32410800" y="21600"/>
                  </a:lnTo>
                </a:path>
              </a:pathLst>
            </a:custGeom>
            <a:noFill/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med" w="med" type="triangle"/>
            </a:ln>
          </p:spPr>
        </p:sp>
      </p:grpSp>
      <p:sp>
        <p:nvSpPr>
          <p:cNvPr id="336" name="Google Shape;336;p71"/>
          <p:cNvSpPr txBox="1"/>
          <p:nvPr/>
        </p:nvSpPr>
        <p:spPr>
          <a:xfrm>
            <a:off x="900000" y="6660360"/>
            <a:ext cx="8100000" cy="433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 Example: 1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72"/>
          <p:cNvSpPr txBox="1"/>
          <p:nvPr/>
        </p:nvSpPr>
        <p:spPr>
          <a:xfrm>
            <a:off x="720000" y="360000"/>
            <a:ext cx="8580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int *p, i, j, *q;// p,q are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p = &amp;i; // p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i = 10; // *p = 10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q = &amp;j; // q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3" name="Google Shape;343;p72"/>
          <p:cNvGrpSpPr/>
          <p:nvPr/>
        </p:nvGrpSpPr>
        <p:grpSpPr>
          <a:xfrm>
            <a:off x="1440000" y="5761080"/>
            <a:ext cx="5400000" cy="540000"/>
            <a:chOff x="1440000" y="5761080"/>
            <a:chExt cx="5400000" cy="540000"/>
          </a:xfrm>
        </p:grpSpPr>
        <p:sp>
          <p:nvSpPr>
            <p:cNvPr id="344" name="Google Shape;344;p72"/>
            <p:cNvSpPr/>
            <p:nvPr/>
          </p:nvSpPr>
          <p:spPr>
            <a:xfrm>
              <a:off x="1440000" y="576108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72"/>
            <p:cNvSpPr/>
            <p:nvPr/>
          </p:nvSpPr>
          <p:spPr>
            <a:xfrm>
              <a:off x="3060000" y="5761080"/>
              <a:ext cx="90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 = 10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72"/>
            <p:cNvSpPr/>
            <p:nvPr/>
          </p:nvSpPr>
          <p:spPr>
            <a:xfrm>
              <a:off x="4680000" y="576108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72"/>
            <p:cNvSpPr/>
            <p:nvPr/>
          </p:nvSpPr>
          <p:spPr>
            <a:xfrm>
              <a:off x="6300000" y="576108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72"/>
            <p:cNvSpPr/>
            <p:nvPr/>
          </p:nvSpPr>
          <p:spPr>
            <a:xfrm>
              <a:off x="1980000" y="5940720"/>
              <a:ext cx="1080000" cy="360"/>
            </a:xfrm>
            <a:custGeom>
              <a:rect b="b" l="l" r="r" t="t"/>
              <a:pathLst>
                <a:path extrusionOk="0" h="21600" w="32410800">
                  <a:moveTo>
                    <a:pt x="0" y="0"/>
                  </a:moveTo>
                  <a:lnTo>
                    <a:pt x="32410800" y="216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349" name="Google Shape;349;p72"/>
            <p:cNvSpPr/>
            <p:nvPr/>
          </p:nvSpPr>
          <p:spPr>
            <a:xfrm>
              <a:off x="5220000" y="5940000"/>
              <a:ext cx="1080000" cy="360"/>
            </a:xfrm>
            <a:custGeom>
              <a:rect b="b" l="l" r="r" t="t"/>
              <a:pathLst>
                <a:path extrusionOk="0" h="21600" w="32410800">
                  <a:moveTo>
                    <a:pt x="0" y="0"/>
                  </a:moveTo>
                  <a:lnTo>
                    <a:pt x="32410800" y="216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</p:grpSp>
      <p:sp>
        <p:nvSpPr>
          <p:cNvPr id="350" name="Google Shape;350;p72"/>
          <p:cNvSpPr txBox="1"/>
          <p:nvPr/>
        </p:nvSpPr>
        <p:spPr>
          <a:xfrm>
            <a:off x="900000" y="6660360"/>
            <a:ext cx="8100000" cy="433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 Example: 1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3"/>
          <p:cNvSpPr txBox="1"/>
          <p:nvPr/>
        </p:nvSpPr>
        <p:spPr>
          <a:xfrm>
            <a:off x="720000" y="360000"/>
            <a:ext cx="8580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int *p, i, j, *q;// p,q are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p = &amp;i; // p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i = 10; // *p = 10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q = &amp;j; // q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q = (int *)malloc(sizeof(int) * 4);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				// q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7" name="Google Shape;357;p73"/>
          <p:cNvGrpSpPr/>
          <p:nvPr/>
        </p:nvGrpSpPr>
        <p:grpSpPr>
          <a:xfrm>
            <a:off x="1440000" y="4320000"/>
            <a:ext cx="5688000" cy="1981080"/>
            <a:chOff x="1440000" y="4320000"/>
            <a:chExt cx="5688000" cy="1981080"/>
          </a:xfrm>
        </p:grpSpPr>
        <p:sp>
          <p:nvSpPr>
            <p:cNvPr id="358" name="Google Shape;358;p73"/>
            <p:cNvSpPr/>
            <p:nvPr/>
          </p:nvSpPr>
          <p:spPr>
            <a:xfrm>
              <a:off x="1440000" y="576108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73"/>
            <p:cNvSpPr/>
            <p:nvPr/>
          </p:nvSpPr>
          <p:spPr>
            <a:xfrm>
              <a:off x="3060000" y="5761080"/>
              <a:ext cx="90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 = 10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73"/>
            <p:cNvSpPr/>
            <p:nvPr/>
          </p:nvSpPr>
          <p:spPr>
            <a:xfrm>
              <a:off x="4680000" y="576108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73"/>
            <p:cNvSpPr/>
            <p:nvPr/>
          </p:nvSpPr>
          <p:spPr>
            <a:xfrm>
              <a:off x="6300000" y="576108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73"/>
            <p:cNvSpPr/>
            <p:nvPr/>
          </p:nvSpPr>
          <p:spPr>
            <a:xfrm>
              <a:off x="1980000" y="5940720"/>
              <a:ext cx="1080000" cy="360"/>
            </a:xfrm>
            <a:custGeom>
              <a:rect b="b" l="l" r="r" t="t"/>
              <a:pathLst>
                <a:path extrusionOk="0" h="21600" w="32410800">
                  <a:moveTo>
                    <a:pt x="0" y="0"/>
                  </a:moveTo>
                  <a:lnTo>
                    <a:pt x="32410800" y="216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363" name="Google Shape;363;p73"/>
            <p:cNvSpPr/>
            <p:nvPr/>
          </p:nvSpPr>
          <p:spPr>
            <a:xfrm>
              <a:off x="4968000" y="450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64" name="Google Shape;364;p73"/>
            <p:cNvSpPr/>
            <p:nvPr/>
          </p:nvSpPr>
          <p:spPr>
            <a:xfrm>
              <a:off x="5508000" y="450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65" name="Google Shape;365;p73"/>
            <p:cNvSpPr/>
            <p:nvPr/>
          </p:nvSpPr>
          <p:spPr>
            <a:xfrm>
              <a:off x="6048000" y="450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66" name="Google Shape;366;p73"/>
            <p:cNvSpPr/>
            <p:nvPr/>
          </p:nvSpPr>
          <p:spPr>
            <a:xfrm>
              <a:off x="6588000" y="450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67" name="Google Shape;367;p73"/>
            <p:cNvSpPr/>
            <p:nvPr/>
          </p:nvSpPr>
          <p:spPr>
            <a:xfrm flipH="1" rot="10800000">
              <a:off x="4860000" y="4320000"/>
              <a:ext cx="180000" cy="720000"/>
            </a:xfrm>
            <a:custGeom>
              <a:rect b="b" l="l" r="r" t="t"/>
              <a:pathLst>
                <a:path extrusionOk="0" h="86271" w="21600">
                  <a:moveTo>
                    <a:pt x="0" y="0"/>
                  </a:moveTo>
                  <a:lnTo>
                    <a:pt x="21600" y="8627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</p:grpSp>
      <p:sp>
        <p:nvSpPr>
          <p:cNvPr id="368" name="Google Shape;368;p73"/>
          <p:cNvSpPr txBox="1"/>
          <p:nvPr/>
        </p:nvSpPr>
        <p:spPr>
          <a:xfrm>
            <a:off x="900000" y="6660360"/>
            <a:ext cx="8100000" cy="433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 Example: 1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4"/>
          <p:cNvSpPr txBox="1"/>
          <p:nvPr/>
        </p:nvSpPr>
        <p:spPr>
          <a:xfrm>
            <a:off x="720000" y="360000"/>
            <a:ext cx="8580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int *p, i, j, *q;// p,q are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p = &amp;i; // p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i = 10; // *p = 10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q = &amp;j; // q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q = (int *)malloc(sizeof(int) * 4);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				// q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q = q + 3; // q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5" name="Google Shape;375;p74"/>
          <p:cNvGrpSpPr/>
          <p:nvPr/>
        </p:nvGrpSpPr>
        <p:grpSpPr>
          <a:xfrm>
            <a:off x="1440000" y="4318920"/>
            <a:ext cx="5688000" cy="1982520"/>
            <a:chOff x="1440000" y="4318920"/>
            <a:chExt cx="5688000" cy="1982520"/>
          </a:xfrm>
        </p:grpSpPr>
        <p:sp>
          <p:nvSpPr>
            <p:cNvPr id="376" name="Google Shape;376;p74"/>
            <p:cNvSpPr/>
            <p:nvPr/>
          </p:nvSpPr>
          <p:spPr>
            <a:xfrm>
              <a:off x="1440000" y="576144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74"/>
            <p:cNvSpPr/>
            <p:nvPr/>
          </p:nvSpPr>
          <p:spPr>
            <a:xfrm>
              <a:off x="3060000" y="5761440"/>
              <a:ext cx="90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 = 10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74"/>
            <p:cNvSpPr/>
            <p:nvPr/>
          </p:nvSpPr>
          <p:spPr>
            <a:xfrm>
              <a:off x="4680000" y="576144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74"/>
            <p:cNvSpPr/>
            <p:nvPr/>
          </p:nvSpPr>
          <p:spPr>
            <a:xfrm>
              <a:off x="6300000" y="576144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74"/>
            <p:cNvSpPr/>
            <p:nvPr/>
          </p:nvSpPr>
          <p:spPr>
            <a:xfrm>
              <a:off x="1980000" y="5941080"/>
              <a:ext cx="1080000" cy="360"/>
            </a:xfrm>
            <a:custGeom>
              <a:rect b="b" l="l" r="r" t="t"/>
              <a:pathLst>
                <a:path extrusionOk="0" h="21600" w="32410800">
                  <a:moveTo>
                    <a:pt x="0" y="0"/>
                  </a:moveTo>
                  <a:lnTo>
                    <a:pt x="32410800" y="216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381" name="Google Shape;381;p74"/>
            <p:cNvSpPr/>
            <p:nvPr/>
          </p:nvSpPr>
          <p:spPr>
            <a:xfrm>
              <a:off x="4968000" y="450036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2" name="Google Shape;382;p74"/>
            <p:cNvSpPr/>
            <p:nvPr/>
          </p:nvSpPr>
          <p:spPr>
            <a:xfrm>
              <a:off x="5508000" y="450036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3" name="Google Shape;383;p74"/>
            <p:cNvSpPr/>
            <p:nvPr/>
          </p:nvSpPr>
          <p:spPr>
            <a:xfrm>
              <a:off x="6048000" y="450036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4" name="Google Shape;384;p74"/>
            <p:cNvSpPr/>
            <p:nvPr/>
          </p:nvSpPr>
          <p:spPr>
            <a:xfrm>
              <a:off x="6588000" y="450036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5" name="Google Shape;385;p74"/>
            <p:cNvSpPr/>
            <p:nvPr/>
          </p:nvSpPr>
          <p:spPr>
            <a:xfrm flipH="1" rot="10800000">
              <a:off x="4860000" y="4318920"/>
              <a:ext cx="1800000" cy="720360"/>
            </a:xfrm>
            <a:custGeom>
              <a:rect b="b" l="l" r="r" t="t"/>
              <a:pathLst>
                <a:path extrusionOk="0" h="21600" w="53957">
                  <a:moveTo>
                    <a:pt x="0" y="0"/>
                  </a:moveTo>
                  <a:lnTo>
                    <a:pt x="53957" y="216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</p:grpSp>
      <p:sp>
        <p:nvSpPr>
          <p:cNvPr id="386" name="Google Shape;386;p74"/>
          <p:cNvSpPr txBox="1"/>
          <p:nvPr/>
        </p:nvSpPr>
        <p:spPr>
          <a:xfrm>
            <a:off x="900000" y="6660360"/>
            <a:ext cx="8100000" cy="433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 Example: 1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75"/>
          <p:cNvSpPr txBox="1"/>
          <p:nvPr/>
        </p:nvSpPr>
        <p:spPr>
          <a:xfrm>
            <a:off x="720000" y="360000"/>
            <a:ext cx="8580600" cy="366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int *p, i, j, *q;// p,q are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p = &amp;i; // p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i = 10; // *p = 10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q = &amp;j; // q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q = (int *)malloc(sizeof(int) * 4);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				// q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q = q + 3; // q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q = q + 1; // q IS dangling now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3" name="Google Shape;393;p75"/>
          <p:cNvGrpSpPr/>
          <p:nvPr/>
        </p:nvGrpSpPr>
        <p:grpSpPr>
          <a:xfrm>
            <a:off x="1440000" y="4319280"/>
            <a:ext cx="5760000" cy="1982520"/>
            <a:chOff x="1440000" y="4319280"/>
            <a:chExt cx="5760000" cy="1982520"/>
          </a:xfrm>
        </p:grpSpPr>
        <p:sp>
          <p:nvSpPr>
            <p:cNvPr id="394" name="Google Shape;394;p75"/>
            <p:cNvSpPr/>
            <p:nvPr/>
          </p:nvSpPr>
          <p:spPr>
            <a:xfrm>
              <a:off x="1440000" y="57618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75"/>
            <p:cNvSpPr/>
            <p:nvPr/>
          </p:nvSpPr>
          <p:spPr>
            <a:xfrm>
              <a:off x="3060000" y="5761800"/>
              <a:ext cx="90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 = 10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75"/>
            <p:cNvSpPr/>
            <p:nvPr/>
          </p:nvSpPr>
          <p:spPr>
            <a:xfrm>
              <a:off x="4680000" y="57618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75"/>
            <p:cNvSpPr/>
            <p:nvPr/>
          </p:nvSpPr>
          <p:spPr>
            <a:xfrm>
              <a:off x="6300000" y="57618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 b="0" i="0" sz="22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75"/>
            <p:cNvSpPr/>
            <p:nvPr/>
          </p:nvSpPr>
          <p:spPr>
            <a:xfrm>
              <a:off x="1980000" y="5941440"/>
              <a:ext cx="1080000" cy="360"/>
            </a:xfrm>
            <a:custGeom>
              <a:rect b="b" l="l" r="r" t="t"/>
              <a:pathLst>
                <a:path extrusionOk="0" h="21600" w="32410800">
                  <a:moveTo>
                    <a:pt x="0" y="0"/>
                  </a:moveTo>
                  <a:lnTo>
                    <a:pt x="32410800" y="216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399" name="Google Shape;399;p75"/>
            <p:cNvSpPr/>
            <p:nvPr/>
          </p:nvSpPr>
          <p:spPr>
            <a:xfrm>
              <a:off x="4968000" y="450072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00" name="Google Shape;400;p75"/>
            <p:cNvSpPr/>
            <p:nvPr/>
          </p:nvSpPr>
          <p:spPr>
            <a:xfrm>
              <a:off x="5508000" y="450072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01" name="Google Shape;401;p75"/>
            <p:cNvSpPr/>
            <p:nvPr/>
          </p:nvSpPr>
          <p:spPr>
            <a:xfrm>
              <a:off x="6048000" y="450072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02" name="Google Shape;402;p75"/>
            <p:cNvSpPr/>
            <p:nvPr/>
          </p:nvSpPr>
          <p:spPr>
            <a:xfrm>
              <a:off x="6588000" y="450072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03" name="Google Shape;403;p75"/>
            <p:cNvSpPr/>
            <p:nvPr/>
          </p:nvSpPr>
          <p:spPr>
            <a:xfrm flipH="1" rot="10800000">
              <a:off x="4860000" y="4319280"/>
              <a:ext cx="2340000" cy="720720"/>
            </a:xfrm>
            <a:custGeom>
              <a:rect b="b" l="l" r="r" t="t"/>
              <a:pathLst>
                <a:path extrusionOk="0" h="21600" w="70106">
                  <a:moveTo>
                    <a:pt x="0" y="0"/>
                  </a:moveTo>
                  <a:lnTo>
                    <a:pt x="70106" y="216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</p:grpSp>
      <p:sp>
        <p:nvSpPr>
          <p:cNvPr id="404" name="Google Shape;404;p75"/>
          <p:cNvSpPr txBox="1"/>
          <p:nvPr/>
        </p:nvSpPr>
        <p:spPr>
          <a:xfrm>
            <a:off x="900000" y="6660360"/>
            <a:ext cx="8100000" cy="433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 Example: 1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6"/>
          <p:cNvSpPr txBox="1"/>
          <p:nvPr/>
        </p:nvSpPr>
        <p:spPr>
          <a:xfrm>
            <a:off x="720000" y="360000"/>
            <a:ext cx="8580600" cy="366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int *p, i, j, *q;// p,q are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p = &amp;i; // p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i = 10; // *p = 10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q = &amp;j; // q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q = (int *)malloc(sizeof(int) * 4);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				// q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q = q + 3; // q not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q = q + 1; // q IS dangling now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p = q - 6; // p IS also dangling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76"/>
          <p:cNvSpPr/>
          <p:nvPr/>
        </p:nvSpPr>
        <p:spPr>
          <a:xfrm>
            <a:off x="1440000" y="5762160"/>
            <a:ext cx="540000" cy="54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76"/>
          <p:cNvSpPr/>
          <p:nvPr/>
        </p:nvSpPr>
        <p:spPr>
          <a:xfrm>
            <a:off x="3060000" y="5762160"/>
            <a:ext cx="900000" cy="54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= 10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76"/>
          <p:cNvSpPr/>
          <p:nvPr/>
        </p:nvSpPr>
        <p:spPr>
          <a:xfrm>
            <a:off x="4680000" y="5762160"/>
            <a:ext cx="540000" cy="54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76"/>
          <p:cNvSpPr/>
          <p:nvPr/>
        </p:nvSpPr>
        <p:spPr>
          <a:xfrm>
            <a:off x="6300000" y="5762160"/>
            <a:ext cx="540000" cy="54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76"/>
          <p:cNvSpPr/>
          <p:nvPr/>
        </p:nvSpPr>
        <p:spPr>
          <a:xfrm flipH="1" rot="10800000">
            <a:off x="1980000" y="4137480"/>
            <a:ext cx="1980000" cy="901800"/>
          </a:xfrm>
          <a:custGeom>
            <a:rect b="b" l="l" r="r" t="t"/>
            <a:pathLst>
              <a:path extrusionOk="0" h="21600" w="47415">
                <a:moveTo>
                  <a:pt x="0" y="0"/>
                </a:moveTo>
                <a:lnTo>
                  <a:pt x="47415" y="21600"/>
                </a:lnTo>
              </a:path>
            </a:pathLst>
          </a:custGeom>
          <a:noFill/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med" w="med" type="triangle"/>
          </a:ln>
        </p:spPr>
      </p:sp>
      <p:sp>
        <p:nvSpPr>
          <p:cNvPr id="416" name="Google Shape;416;p76"/>
          <p:cNvSpPr/>
          <p:nvPr/>
        </p:nvSpPr>
        <p:spPr>
          <a:xfrm>
            <a:off x="4968000" y="4501080"/>
            <a:ext cx="540000" cy="54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76"/>
          <p:cNvSpPr/>
          <p:nvPr/>
        </p:nvSpPr>
        <p:spPr>
          <a:xfrm>
            <a:off x="5508000" y="4501080"/>
            <a:ext cx="540000" cy="54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76"/>
          <p:cNvSpPr/>
          <p:nvPr/>
        </p:nvSpPr>
        <p:spPr>
          <a:xfrm>
            <a:off x="6048000" y="4501080"/>
            <a:ext cx="540000" cy="54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76"/>
          <p:cNvSpPr/>
          <p:nvPr/>
        </p:nvSpPr>
        <p:spPr>
          <a:xfrm>
            <a:off x="6588000" y="4501080"/>
            <a:ext cx="540000" cy="54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76"/>
          <p:cNvSpPr/>
          <p:nvPr/>
        </p:nvSpPr>
        <p:spPr>
          <a:xfrm flipH="1" rot="10800000">
            <a:off x="4860000" y="4319640"/>
            <a:ext cx="2340000" cy="720720"/>
          </a:xfrm>
          <a:custGeom>
            <a:rect b="b" l="l" r="r" t="t"/>
            <a:pathLst>
              <a:path extrusionOk="0" h="21600" w="70106">
                <a:moveTo>
                  <a:pt x="0" y="0"/>
                </a:moveTo>
                <a:lnTo>
                  <a:pt x="70106" y="21600"/>
                </a:lnTo>
              </a:path>
            </a:pathLst>
          </a:custGeom>
          <a:noFill/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med" w="med" type="triangle"/>
          </a:ln>
        </p:spPr>
      </p:sp>
      <p:sp>
        <p:nvSpPr>
          <p:cNvPr id="421" name="Google Shape;421;p76"/>
          <p:cNvSpPr/>
          <p:nvPr/>
        </p:nvSpPr>
        <p:spPr>
          <a:xfrm>
            <a:off x="4428000" y="4500000"/>
            <a:ext cx="540000" cy="54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3465A4"/>
            </a:solidFill>
            <a:prstDash val="dashDot"/>
            <a:round/>
            <a:headEnd len="sm" w="sm" type="none"/>
            <a:tailEnd len="sm" w="sm" type="none"/>
          </a:ln>
        </p:spPr>
      </p:sp>
      <p:sp>
        <p:nvSpPr>
          <p:cNvPr id="422" name="Google Shape;422;p76"/>
          <p:cNvSpPr/>
          <p:nvPr/>
        </p:nvSpPr>
        <p:spPr>
          <a:xfrm>
            <a:off x="3888000" y="4500000"/>
            <a:ext cx="540000" cy="54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3465A4"/>
            </a:solidFill>
            <a:prstDash val="dashDot"/>
            <a:round/>
            <a:headEnd len="sm" w="sm" type="none"/>
            <a:tailEnd len="sm" w="sm" type="none"/>
          </a:ln>
        </p:spPr>
      </p:sp>
      <p:sp>
        <p:nvSpPr>
          <p:cNvPr id="423" name="Google Shape;423;p76"/>
          <p:cNvSpPr txBox="1"/>
          <p:nvPr/>
        </p:nvSpPr>
        <p:spPr>
          <a:xfrm>
            <a:off x="900000" y="6660360"/>
            <a:ext cx="8100000" cy="433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 Example: 1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7"/>
          <p:cNvSpPr txBox="1"/>
          <p:nvPr/>
        </p:nvSpPr>
        <p:spPr>
          <a:xfrm>
            <a:off x="525240" y="180000"/>
            <a:ext cx="5594760" cy="444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typedef struct node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int val;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struct node *next;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}node;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node *p, *q;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node a;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p77"/>
          <p:cNvGrpSpPr/>
          <p:nvPr/>
        </p:nvGrpSpPr>
        <p:grpSpPr>
          <a:xfrm>
            <a:off x="6352920" y="180000"/>
            <a:ext cx="2198612" cy="3089010"/>
            <a:chOff x="6352920" y="180000"/>
            <a:chExt cx="2198612" cy="3089010"/>
          </a:xfrm>
        </p:grpSpPr>
        <p:sp>
          <p:nvSpPr>
            <p:cNvPr id="431" name="Google Shape;431;p77"/>
            <p:cNvSpPr/>
            <p:nvPr/>
          </p:nvSpPr>
          <p:spPr>
            <a:xfrm>
              <a:off x="6840000" y="54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32" name="Google Shape;432;p77"/>
            <p:cNvSpPr/>
            <p:nvPr/>
          </p:nvSpPr>
          <p:spPr>
            <a:xfrm>
              <a:off x="8006760" y="54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33" name="Google Shape;433;p77"/>
            <p:cNvSpPr txBox="1"/>
            <p:nvPr/>
          </p:nvSpPr>
          <p:spPr>
            <a:xfrm>
              <a:off x="6948000" y="180000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77"/>
            <p:cNvSpPr txBox="1"/>
            <p:nvPr/>
          </p:nvSpPr>
          <p:spPr>
            <a:xfrm>
              <a:off x="8152920" y="180000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77"/>
            <p:cNvSpPr/>
            <p:nvPr/>
          </p:nvSpPr>
          <p:spPr>
            <a:xfrm>
              <a:off x="6840000" y="1620000"/>
              <a:ext cx="1080000" cy="126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77"/>
            <p:cNvSpPr/>
            <p:nvPr/>
          </p:nvSpPr>
          <p:spPr>
            <a:xfrm>
              <a:off x="6840000" y="2160000"/>
              <a:ext cx="1080000" cy="360"/>
            </a:xfrm>
            <a:custGeom>
              <a:rect b="b" l="l" r="r" t="t"/>
              <a:pathLst>
                <a:path extrusionOk="0" h="21600" w="32410800">
                  <a:moveTo>
                    <a:pt x="0" y="0"/>
                  </a:moveTo>
                  <a:lnTo>
                    <a:pt x="32410800" y="21600"/>
                  </a:lnTo>
                </a:path>
              </a:pathLst>
            </a:custGeom>
            <a:noFill/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37" name="Google Shape;437;p77"/>
            <p:cNvSpPr txBox="1"/>
            <p:nvPr/>
          </p:nvSpPr>
          <p:spPr>
            <a:xfrm>
              <a:off x="6352920" y="1440000"/>
              <a:ext cx="307080" cy="5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77"/>
            <p:cNvSpPr/>
            <p:nvPr/>
          </p:nvSpPr>
          <p:spPr>
            <a:xfrm rot="7423200">
              <a:off x="6924240" y="1117440"/>
              <a:ext cx="379080" cy="201240"/>
            </a:xfrm>
            <a:custGeom>
              <a:rect b="b" l="l" r="r" t="t"/>
              <a:pathLst>
                <a:path extrusionOk="0" h="560" w="1054">
                  <a:moveTo>
                    <a:pt x="0" y="560"/>
                  </a:moveTo>
                  <a:lnTo>
                    <a:pt x="561" y="533"/>
                  </a:lnTo>
                  <a:lnTo>
                    <a:pt x="493" y="0"/>
                  </a:lnTo>
                  <a:lnTo>
                    <a:pt x="1054" y="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439" name="Google Shape;439;p77"/>
            <p:cNvSpPr/>
            <p:nvPr/>
          </p:nvSpPr>
          <p:spPr>
            <a:xfrm rot="7423200">
              <a:off x="8173080" y="1154880"/>
              <a:ext cx="379080" cy="201240"/>
            </a:xfrm>
            <a:custGeom>
              <a:rect b="b" l="l" r="r" t="t"/>
              <a:pathLst>
                <a:path extrusionOk="0" h="560" w="1054">
                  <a:moveTo>
                    <a:pt x="0" y="560"/>
                  </a:moveTo>
                  <a:lnTo>
                    <a:pt x="561" y="533"/>
                  </a:lnTo>
                  <a:lnTo>
                    <a:pt x="493" y="0"/>
                  </a:lnTo>
                  <a:lnTo>
                    <a:pt x="1054" y="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440" name="Google Shape;440;p77"/>
            <p:cNvSpPr/>
            <p:nvPr/>
          </p:nvSpPr>
          <p:spPr>
            <a:xfrm rot="7423200">
              <a:off x="6919920" y="2954880"/>
              <a:ext cx="379080" cy="201240"/>
            </a:xfrm>
            <a:custGeom>
              <a:rect b="b" l="l" r="r" t="t"/>
              <a:pathLst>
                <a:path extrusionOk="0" h="560" w="1054">
                  <a:moveTo>
                    <a:pt x="0" y="560"/>
                  </a:moveTo>
                  <a:lnTo>
                    <a:pt x="561" y="533"/>
                  </a:lnTo>
                  <a:lnTo>
                    <a:pt x="493" y="0"/>
                  </a:lnTo>
                  <a:lnTo>
                    <a:pt x="1054" y="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</p:grpSp>
      <p:sp>
        <p:nvSpPr>
          <p:cNvPr id="441" name="Google Shape;441;p77"/>
          <p:cNvSpPr txBox="1"/>
          <p:nvPr/>
        </p:nvSpPr>
        <p:spPr>
          <a:xfrm>
            <a:off x="2880000" y="6769440"/>
            <a:ext cx="4484520" cy="433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 Example: 2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8"/>
          <p:cNvSpPr txBox="1"/>
          <p:nvPr/>
        </p:nvSpPr>
        <p:spPr>
          <a:xfrm>
            <a:off x="525240" y="180000"/>
            <a:ext cx="5594760" cy="444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typedef struct node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int val;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struct node *next;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}node;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node *p, *q;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node a;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a.val = 20;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8" name="Google Shape;448;p78"/>
          <p:cNvGrpSpPr/>
          <p:nvPr/>
        </p:nvGrpSpPr>
        <p:grpSpPr>
          <a:xfrm>
            <a:off x="6352920" y="180000"/>
            <a:ext cx="2198612" cy="3089010"/>
            <a:chOff x="6352920" y="180000"/>
            <a:chExt cx="2198612" cy="3089010"/>
          </a:xfrm>
        </p:grpSpPr>
        <p:sp>
          <p:nvSpPr>
            <p:cNvPr id="449" name="Google Shape;449;p78"/>
            <p:cNvSpPr/>
            <p:nvPr/>
          </p:nvSpPr>
          <p:spPr>
            <a:xfrm>
              <a:off x="6840000" y="54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50" name="Google Shape;450;p78"/>
            <p:cNvSpPr/>
            <p:nvPr/>
          </p:nvSpPr>
          <p:spPr>
            <a:xfrm>
              <a:off x="8006760" y="54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51" name="Google Shape;451;p78"/>
            <p:cNvSpPr txBox="1"/>
            <p:nvPr/>
          </p:nvSpPr>
          <p:spPr>
            <a:xfrm>
              <a:off x="6948000" y="180000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78"/>
            <p:cNvSpPr txBox="1"/>
            <p:nvPr/>
          </p:nvSpPr>
          <p:spPr>
            <a:xfrm>
              <a:off x="8152920" y="180000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78"/>
            <p:cNvSpPr/>
            <p:nvPr/>
          </p:nvSpPr>
          <p:spPr>
            <a:xfrm>
              <a:off x="6840000" y="1620000"/>
              <a:ext cx="1080000" cy="126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 =20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78"/>
            <p:cNvSpPr/>
            <p:nvPr/>
          </p:nvSpPr>
          <p:spPr>
            <a:xfrm>
              <a:off x="6840000" y="2160000"/>
              <a:ext cx="1080000" cy="360"/>
            </a:xfrm>
            <a:custGeom>
              <a:rect b="b" l="l" r="r" t="t"/>
              <a:pathLst>
                <a:path extrusionOk="0" h="21600" w="32410800">
                  <a:moveTo>
                    <a:pt x="0" y="0"/>
                  </a:moveTo>
                  <a:lnTo>
                    <a:pt x="32410800" y="21600"/>
                  </a:lnTo>
                </a:path>
              </a:pathLst>
            </a:custGeom>
            <a:noFill/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55" name="Google Shape;455;p78"/>
            <p:cNvSpPr txBox="1"/>
            <p:nvPr/>
          </p:nvSpPr>
          <p:spPr>
            <a:xfrm>
              <a:off x="6352920" y="1440000"/>
              <a:ext cx="307080" cy="5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78"/>
            <p:cNvSpPr/>
            <p:nvPr/>
          </p:nvSpPr>
          <p:spPr>
            <a:xfrm rot="7423200">
              <a:off x="6924240" y="1117440"/>
              <a:ext cx="379080" cy="201240"/>
            </a:xfrm>
            <a:custGeom>
              <a:rect b="b" l="l" r="r" t="t"/>
              <a:pathLst>
                <a:path extrusionOk="0" h="560" w="1054">
                  <a:moveTo>
                    <a:pt x="0" y="560"/>
                  </a:moveTo>
                  <a:lnTo>
                    <a:pt x="561" y="533"/>
                  </a:lnTo>
                  <a:lnTo>
                    <a:pt x="493" y="0"/>
                  </a:lnTo>
                  <a:lnTo>
                    <a:pt x="1054" y="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457" name="Google Shape;457;p78"/>
            <p:cNvSpPr/>
            <p:nvPr/>
          </p:nvSpPr>
          <p:spPr>
            <a:xfrm rot="7423200">
              <a:off x="8173080" y="1154880"/>
              <a:ext cx="379080" cy="201240"/>
            </a:xfrm>
            <a:custGeom>
              <a:rect b="b" l="l" r="r" t="t"/>
              <a:pathLst>
                <a:path extrusionOk="0" h="560" w="1054">
                  <a:moveTo>
                    <a:pt x="0" y="560"/>
                  </a:moveTo>
                  <a:lnTo>
                    <a:pt x="561" y="533"/>
                  </a:lnTo>
                  <a:lnTo>
                    <a:pt x="493" y="0"/>
                  </a:lnTo>
                  <a:lnTo>
                    <a:pt x="1054" y="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458" name="Google Shape;458;p78"/>
            <p:cNvSpPr/>
            <p:nvPr/>
          </p:nvSpPr>
          <p:spPr>
            <a:xfrm rot="7423200">
              <a:off x="6919920" y="2954880"/>
              <a:ext cx="379080" cy="201240"/>
            </a:xfrm>
            <a:custGeom>
              <a:rect b="b" l="l" r="r" t="t"/>
              <a:pathLst>
                <a:path extrusionOk="0" h="560" w="1054">
                  <a:moveTo>
                    <a:pt x="0" y="560"/>
                  </a:moveTo>
                  <a:lnTo>
                    <a:pt x="561" y="533"/>
                  </a:lnTo>
                  <a:lnTo>
                    <a:pt x="493" y="0"/>
                  </a:lnTo>
                  <a:lnTo>
                    <a:pt x="1054" y="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</p:grpSp>
      <p:sp>
        <p:nvSpPr>
          <p:cNvPr id="459" name="Google Shape;459;p78"/>
          <p:cNvSpPr txBox="1"/>
          <p:nvPr/>
        </p:nvSpPr>
        <p:spPr>
          <a:xfrm>
            <a:off x="2880360" y="6769440"/>
            <a:ext cx="4484520" cy="433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 Example: 2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9"/>
          <p:cNvSpPr txBox="1"/>
          <p:nvPr/>
        </p:nvSpPr>
        <p:spPr>
          <a:xfrm>
            <a:off x="525240" y="180000"/>
            <a:ext cx="5594760" cy="444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typedef struct node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int val;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struct node *next;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}node;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node *p, *q;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node a;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a.val = 20;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p = &amp;a;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6" name="Google Shape;466;p79"/>
          <p:cNvGrpSpPr/>
          <p:nvPr/>
        </p:nvGrpSpPr>
        <p:grpSpPr>
          <a:xfrm>
            <a:off x="6352920" y="180000"/>
            <a:ext cx="2198612" cy="3089010"/>
            <a:chOff x="6352920" y="180000"/>
            <a:chExt cx="2198612" cy="3089010"/>
          </a:xfrm>
        </p:grpSpPr>
        <p:sp>
          <p:nvSpPr>
            <p:cNvPr id="467" name="Google Shape;467;p79"/>
            <p:cNvSpPr/>
            <p:nvPr/>
          </p:nvSpPr>
          <p:spPr>
            <a:xfrm>
              <a:off x="6840000" y="54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68" name="Google Shape;468;p79"/>
            <p:cNvSpPr/>
            <p:nvPr/>
          </p:nvSpPr>
          <p:spPr>
            <a:xfrm>
              <a:off x="8006760" y="54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69" name="Google Shape;469;p79"/>
            <p:cNvSpPr txBox="1"/>
            <p:nvPr/>
          </p:nvSpPr>
          <p:spPr>
            <a:xfrm>
              <a:off x="6948000" y="180000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79"/>
            <p:cNvSpPr txBox="1"/>
            <p:nvPr/>
          </p:nvSpPr>
          <p:spPr>
            <a:xfrm>
              <a:off x="8152920" y="180000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79"/>
            <p:cNvSpPr/>
            <p:nvPr/>
          </p:nvSpPr>
          <p:spPr>
            <a:xfrm>
              <a:off x="6840000" y="1620000"/>
              <a:ext cx="1080000" cy="126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 =20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79"/>
            <p:cNvSpPr/>
            <p:nvPr/>
          </p:nvSpPr>
          <p:spPr>
            <a:xfrm>
              <a:off x="6840000" y="2160000"/>
              <a:ext cx="1080000" cy="360"/>
            </a:xfrm>
            <a:custGeom>
              <a:rect b="b" l="l" r="r" t="t"/>
              <a:pathLst>
                <a:path extrusionOk="0" h="21600" w="32410800">
                  <a:moveTo>
                    <a:pt x="0" y="0"/>
                  </a:moveTo>
                  <a:lnTo>
                    <a:pt x="32410800" y="21600"/>
                  </a:lnTo>
                </a:path>
              </a:pathLst>
            </a:custGeom>
            <a:noFill/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73" name="Google Shape;473;p79"/>
            <p:cNvSpPr txBox="1"/>
            <p:nvPr/>
          </p:nvSpPr>
          <p:spPr>
            <a:xfrm>
              <a:off x="6352920" y="1440000"/>
              <a:ext cx="307080" cy="5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79"/>
            <p:cNvSpPr/>
            <p:nvPr/>
          </p:nvSpPr>
          <p:spPr>
            <a:xfrm rot="7423200">
              <a:off x="8173080" y="1154880"/>
              <a:ext cx="379080" cy="201240"/>
            </a:xfrm>
            <a:custGeom>
              <a:rect b="b" l="l" r="r" t="t"/>
              <a:pathLst>
                <a:path extrusionOk="0" h="560" w="1054">
                  <a:moveTo>
                    <a:pt x="0" y="560"/>
                  </a:moveTo>
                  <a:lnTo>
                    <a:pt x="561" y="533"/>
                  </a:lnTo>
                  <a:lnTo>
                    <a:pt x="493" y="0"/>
                  </a:lnTo>
                  <a:lnTo>
                    <a:pt x="1054" y="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475" name="Google Shape;475;p79"/>
            <p:cNvSpPr/>
            <p:nvPr/>
          </p:nvSpPr>
          <p:spPr>
            <a:xfrm rot="7423200">
              <a:off x="6919920" y="2954880"/>
              <a:ext cx="379080" cy="201240"/>
            </a:xfrm>
            <a:custGeom>
              <a:rect b="b" l="l" r="r" t="t"/>
              <a:pathLst>
                <a:path extrusionOk="0" h="560" w="1054">
                  <a:moveTo>
                    <a:pt x="0" y="560"/>
                  </a:moveTo>
                  <a:lnTo>
                    <a:pt x="561" y="533"/>
                  </a:lnTo>
                  <a:lnTo>
                    <a:pt x="493" y="0"/>
                  </a:lnTo>
                  <a:lnTo>
                    <a:pt x="1054" y="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476" name="Google Shape;476;p79"/>
            <p:cNvSpPr/>
            <p:nvPr/>
          </p:nvSpPr>
          <p:spPr>
            <a:xfrm>
              <a:off x="7020000" y="900000"/>
              <a:ext cx="180000" cy="720000"/>
            </a:xfrm>
            <a:custGeom>
              <a:rect b="b" l="l" r="r" t="t"/>
              <a:pathLst>
                <a:path extrusionOk="0" h="86271" w="21600">
                  <a:moveTo>
                    <a:pt x="0" y="0"/>
                  </a:moveTo>
                  <a:lnTo>
                    <a:pt x="21600" y="86271"/>
                  </a:lnTo>
                </a:path>
              </a:pathLst>
            </a:custGeom>
            <a:noFill/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med" w="med" type="triangle"/>
            </a:ln>
          </p:spPr>
        </p:sp>
      </p:grpSp>
      <p:sp>
        <p:nvSpPr>
          <p:cNvPr id="477" name="Google Shape;477;p79"/>
          <p:cNvSpPr txBox="1"/>
          <p:nvPr/>
        </p:nvSpPr>
        <p:spPr>
          <a:xfrm>
            <a:off x="2880360" y="6769440"/>
            <a:ext cx="4484520" cy="433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 Example: 2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0"/>
          <p:cNvSpPr txBox="1"/>
          <p:nvPr/>
        </p:nvSpPr>
        <p:spPr>
          <a:xfrm>
            <a:off x="525240" y="180000"/>
            <a:ext cx="5594760" cy="444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typedef struct node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int val;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struct node *next;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}node;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node *p, *q;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node a;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a.val = 20;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p = &amp;a;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a.next = (node *)malloc(sizeof(node));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4" name="Google Shape;484;p80"/>
          <p:cNvGrpSpPr/>
          <p:nvPr/>
        </p:nvGrpSpPr>
        <p:grpSpPr>
          <a:xfrm>
            <a:off x="6352920" y="180000"/>
            <a:ext cx="2198612" cy="4500000"/>
            <a:chOff x="6352920" y="180000"/>
            <a:chExt cx="2198612" cy="4500000"/>
          </a:xfrm>
        </p:grpSpPr>
        <p:sp>
          <p:nvSpPr>
            <p:cNvPr id="485" name="Google Shape;485;p80"/>
            <p:cNvSpPr/>
            <p:nvPr/>
          </p:nvSpPr>
          <p:spPr>
            <a:xfrm>
              <a:off x="6840000" y="54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86" name="Google Shape;486;p80"/>
            <p:cNvSpPr/>
            <p:nvPr/>
          </p:nvSpPr>
          <p:spPr>
            <a:xfrm>
              <a:off x="8006760" y="54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87" name="Google Shape;487;p80"/>
            <p:cNvSpPr txBox="1"/>
            <p:nvPr/>
          </p:nvSpPr>
          <p:spPr>
            <a:xfrm>
              <a:off x="6948000" y="180000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80"/>
            <p:cNvSpPr txBox="1"/>
            <p:nvPr/>
          </p:nvSpPr>
          <p:spPr>
            <a:xfrm>
              <a:off x="8152920" y="180000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80"/>
            <p:cNvSpPr/>
            <p:nvPr/>
          </p:nvSpPr>
          <p:spPr>
            <a:xfrm>
              <a:off x="6840000" y="1620000"/>
              <a:ext cx="1080000" cy="126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 =20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80"/>
            <p:cNvSpPr/>
            <p:nvPr/>
          </p:nvSpPr>
          <p:spPr>
            <a:xfrm>
              <a:off x="6840000" y="2160000"/>
              <a:ext cx="1080000" cy="360"/>
            </a:xfrm>
            <a:custGeom>
              <a:rect b="b" l="l" r="r" t="t"/>
              <a:pathLst>
                <a:path extrusionOk="0" h="21600" w="32410800">
                  <a:moveTo>
                    <a:pt x="0" y="0"/>
                  </a:moveTo>
                  <a:lnTo>
                    <a:pt x="32410800" y="21600"/>
                  </a:lnTo>
                </a:path>
              </a:pathLst>
            </a:custGeom>
            <a:noFill/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91" name="Google Shape;491;p80"/>
            <p:cNvSpPr txBox="1"/>
            <p:nvPr/>
          </p:nvSpPr>
          <p:spPr>
            <a:xfrm>
              <a:off x="6352920" y="1440000"/>
              <a:ext cx="307080" cy="5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80"/>
            <p:cNvSpPr/>
            <p:nvPr/>
          </p:nvSpPr>
          <p:spPr>
            <a:xfrm rot="7423200">
              <a:off x="8173080" y="1154880"/>
              <a:ext cx="379080" cy="201240"/>
            </a:xfrm>
            <a:custGeom>
              <a:rect b="b" l="l" r="r" t="t"/>
              <a:pathLst>
                <a:path extrusionOk="0" h="560" w="1054">
                  <a:moveTo>
                    <a:pt x="0" y="560"/>
                  </a:moveTo>
                  <a:lnTo>
                    <a:pt x="561" y="533"/>
                  </a:lnTo>
                  <a:lnTo>
                    <a:pt x="493" y="0"/>
                  </a:lnTo>
                  <a:lnTo>
                    <a:pt x="1054" y="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493" name="Google Shape;493;p80"/>
            <p:cNvSpPr/>
            <p:nvPr/>
          </p:nvSpPr>
          <p:spPr>
            <a:xfrm>
              <a:off x="7020000" y="900000"/>
              <a:ext cx="180000" cy="720000"/>
            </a:xfrm>
            <a:custGeom>
              <a:rect b="b" l="l" r="r" t="t"/>
              <a:pathLst>
                <a:path extrusionOk="0" h="86271" w="21600">
                  <a:moveTo>
                    <a:pt x="0" y="0"/>
                  </a:moveTo>
                  <a:lnTo>
                    <a:pt x="21600" y="86271"/>
                  </a:lnTo>
                </a:path>
              </a:pathLst>
            </a:custGeom>
            <a:noFill/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494" name="Google Shape;494;p80"/>
            <p:cNvSpPr/>
            <p:nvPr/>
          </p:nvSpPr>
          <p:spPr>
            <a:xfrm>
              <a:off x="6787080" y="3420000"/>
              <a:ext cx="1080000" cy="126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80"/>
            <p:cNvSpPr/>
            <p:nvPr/>
          </p:nvSpPr>
          <p:spPr>
            <a:xfrm>
              <a:off x="6787080" y="3960000"/>
              <a:ext cx="1080000" cy="360"/>
            </a:xfrm>
            <a:custGeom>
              <a:rect b="b" l="l" r="r" t="t"/>
              <a:pathLst>
                <a:path extrusionOk="0" h="21600" w="32410800">
                  <a:moveTo>
                    <a:pt x="0" y="0"/>
                  </a:moveTo>
                  <a:lnTo>
                    <a:pt x="32410800" y="21600"/>
                  </a:lnTo>
                </a:path>
              </a:pathLst>
            </a:custGeom>
            <a:noFill/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96" name="Google Shape;496;p80"/>
            <p:cNvSpPr/>
            <p:nvPr/>
          </p:nvSpPr>
          <p:spPr>
            <a:xfrm>
              <a:off x="7380000" y="2700000"/>
              <a:ext cx="360" cy="720000"/>
            </a:xfrm>
            <a:custGeom>
              <a:rect b="b" l="l" r="r" t="t"/>
              <a:pathLst>
                <a:path extrusionOk="0" h="21610800" w="21600">
                  <a:moveTo>
                    <a:pt x="0" y="0"/>
                  </a:moveTo>
                  <a:lnTo>
                    <a:pt x="21600" y="21610800"/>
                  </a:lnTo>
                </a:path>
              </a:pathLst>
            </a:custGeom>
            <a:noFill/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med" w="med" type="triangle"/>
            </a:ln>
          </p:spPr>
        </p:sp>
      </p:grpSp>
      <p:sp>
        <p:nvSpPr>
          <p:cNvPr id="497" name="Google Shape;497;p80"/>
          <p:cNvSpPr txBox="1"/>
          <p:nvPr/>
        </p:nvSpPr>
        <p:spPr>
          <a:xfrm>
            <a:off x="2880360" y="6769440"/>
            <a:ext cx="4484520" cy="433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 Example: 2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1"/>
          <p:cNvSpPr txBox="1"/>
          <p:nvPr/>
        </p:nvSpPr>
        <p:spPr>
          <a:xfrm>
            <a:off x="525240" y="180000"/>
            <a:ext cx="5594760" cy="444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typedef struct node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int val;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struct node *next;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}node;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node *p, *q;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node a;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a.val = 20;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p = &amp;a;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a.next = (node *)malloc(sizeof(node));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a.next-&gt;val = 50;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4" name="Google Shape;504;p81"/>
          <p:cNvGrpSpPr/>
          <p:nvPr/>
        </p:nvGrpSpPr>
        <p:grpSpPr>
          <a:xfrm>
            <a:off x="6352920" y="180000"/>
            <a:ext cx="2198612" cy="4500000"/>
            <a:chOff x="6352920" y="180000"/>
            <a:chExt cx="2198612" cy="4500000"/>
          </a:xfrm>
        </p:grpSpPr>
        <p:sp>
          <p:nvSpPr>
            <p:cNvPr id="505" name="Google Shape;505;p81"/>
            <p:cNvSpPr/>
            <p:nvPr/>
          </p:nvSpPr>
          <p:spPr>
            <a:xfrm>
              <a:off x="6840000" y="54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06" name="Google Shape;506;p81"/>
            <p:cNvSpPr/>
            <p:nvPr/>
          </p:nvSpPr>
          <p:spPr>
            <a:xfrm>
              <a:off x="8006760" y="540000"/>
              <a:ext cx="540000" cy="54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07" name="Google Shape;507;p81"/>
            <p:cNvSpPr txBox="1"/>
            <p:nvPr/>
          </p:nvSpPr>
          <p:spPr>
            <a:xfrm>
              <a:off x="6948000" y="180000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81"/>
            <p:cNvSpPr txBox="1"/>
            <p:nvPr/>
          </p:nvSpPr>
          <p:spPr>
            <a:xfrm>
              <a:off x="8152920" y="180000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81"/>
            <p:cNvSpPr/>
            <p:nvPr/>
          </p:nvSpPr>
          <p:spPr>
            <a:xfrm>
              <a:off x="6840000" y="1620000"/>
              <a:ext cx="1080000" cy="126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 =20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81"/>
            <p:cNvSpPr/>
            <p:nvPr/>
          </p:nvSpPr>
          <p:spPr>
            <a:xfrm>
              <a:off x="6840000" y="2160000"/>
              <a:ext cx="1080000" cy="360"/>
            </a:xfrm>
            <a:custGeom>
              <a:rect b="b" l="l" r="r" t="t"/>
              <a:pathLst>
                <a:path extrusionOk="0" h="21600" w="32410800">
                  <a:moveTo>
                    <a:pt x="0" y="0"/>
                  </a:moveTo>
                  <a:lnTo>
                    <a:pt x="32410800" y="21600"/>
                  </a:lnTo>
                </a:path>
              </a:pathLst>
            </a:custGeom>
            <a:noFill/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11" name="Google Shape;511;p81"/>
            <p:cNvSpPr txBox="1"/>
            <p:nvPr/>
          </p:nvSpPr>
          <p:spPr>
            <a:xfrm>
              <a:off x="6352920" y="1440000"/>
              <a:ext cx="307080" cy="5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81"/>
            <p:cNvSpPr/>
            <p:nvPr/>
          </p:nvSpPr>
          <p:spPr>
            <a:xfrm rot="7423200">
              <a:off x="8173080" y="1154880"/>
              <a:ext cx="379080" cy="201240"/>
            </a:xfrm>
            <a:custGeom>
              <a:rect b="b" l="l" r="r" t="t"/>
              <a:pathLst>
                <a:path extrusionOk="0" h="560" w="1054">
                  <a:moveTo>
                    <a:pt x="0" y="560"/>
                  </a:moveTo>
                  <a:lnTo>
                    <a:pt x="561" y="533"/>
                  </a:lnTo>
                  <a:lnTo>
                    <a:pt x="493" y="0"/>
                  </a:lnTo>
                  <a:lnTo>
                    <a:pt x="1054" y="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513" name="Google Shape;513;p81"/>
            <p:cNvSpPr/>
            <p:nvPr/>
          </p:nvSpPr>
          <p:spPr>
            <a:xfrm>
              <a:off x="7020000" y="900000"/>
              <a:ext cx="180000" cy="720000"/>
            </a:xfrm>
            <a:custGeom>
              <a:rect b="b" l="l" r="r" t="t"/>
              <a:pathLst>
                <a:path extrusionOk="0" h="86271" w="21600">
                  <a:moveTo>
                    <a:pt x="0" y="0"/>
                  </a:moveTo>
                  <a:lnTo>
                    <a:pt x="21600" y="86271"/>
                  </a:lnTo>
                </a:path>
              </a:pathLst>
            </a:custGeom>
            <a:noFill/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514" name="Google Shape;514;p81"/>
            <p:cNvSpPr/>
            <p:nvPr/>
          </p:nvSpPr>
          <p:spPr>
            <a:xfrm>
              <a:off x="6787080" y="3420000"/>
              <a:ext cx="1080000" cy="126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FCF"/>
            </a:solidFill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Val=50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  <a:endParaRPr b="0" i="0" sz="18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81"/>
            <p:cNvSpPr/>
            <p:nvPr/>
          </p:nvSpPr>
          <p:spPr>
            <a:xfrm>
              <a:off x="6787080" y="3960000"/>
              <a:ext cx="1080000" cy="360"/>
            </a:xfrm>
            <a:custGeom>
              <a:rect b="b" l="l" r="r" t="t"/>
              <a:pathLst>
                <a:path extrusionOk="0" h="21600" w="32410800">
                  <a:moveTo>
                    <a:pt x="0" y="0"/>
                  </a:moveTo>
                  <a:lnTo>
                    <a:pt x="32410800" y="21600"/>
                  </a:lnTo>
                </a:path>
              </a:pathLst>
            </a:custGeom>
            <a:noFill/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16" name="Google Shape;516;p81"/>
            <p:cNvSpPr/>
            <p:nvPr/>
          </p:nvSpPr>
          <p:spPr>
            <a:xfrm>
              <a:off x="7380000" y="2700000"/>
              <a:ext cx="360" cy="720000"/>
            </a:xfrm>
            <a:custGeom>
              <a:rect b="b" l="l" r="r" t="t"/>
              <a:pathLst>
                <a:path extrusionOk="0" h="21610800" w="21600">
                  <a:moveTo>
                    <a:pt x="0" y="0"/>
                  </a:moveTo>
                  <a:lnTo>
                    <a:pt x="21600" y="21610800"/>
                  </a:lnTo>
                </a:path>
              </a:pathLst>
            </a:custGeom>
            <a:noFill/>
            <a:ln cap="flat" cmpd="sng" w="9525">
              <a:solidFill>
                <a:srgbClr val="3465A4"/>
              </a:solidFill>
              <a:prstDash val="solid"/>
              <a:round/>
              <a:headEnd len="sm" w="sm" type="none"/>
              <a:tailEnd len="med" w="med" type="triangle"/>
            </a:ln>
          </p:spPr>
        </p:sp>
      </p:grpSp>
      <p:sp>
        <p:nvSpPr>
          <p:cNvPr id="517" name="Google Shape;517;p81"/>
          <p:cNvSpPr txBox="1"/>
          <p:nvPr/>
        </p:nvSpPr>
        <p:spPr>
          <a:xfrm>
            <a:off x="2880360" y="6769440"/>
            <a:ext cx="4484520" cy="433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 Example: 2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2"/>
          <p:cNvSpPr txBox="1"/>
          <p:nvPr/>
        </p:nvSpPr>
        <p:spPr>
          <a:xfrm>
            <a:off x="525240" y="180000"/>
            <a:ext cx="5594760" cy="4465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typedef struct node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int val;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struct node *next;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}node;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node *p, *q;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node a;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a.val = 20;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p = &amp;a;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a.next = (node *)malloc(sizeof(node));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a.next-&gt;val = 50;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q = a.next;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82"/>
          <p:cNvSpPr/>
          <p:nvPr/>
        </p:nvSpPr>
        <p:spPr>
          <a:xfrm>
            <a:off x="6840000" y="540000"/>
            <a:ext cx="540000" cy="54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82"/>
          <p:cNvSpPr/>
          <p:nvPr/>
        </p:nvSpPr>
        <p:spPr>
          <a:xfrm>
            <a:off x="8006760" y="540000"/>
            <a:ext cx="540000" cy="54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82"/>
          <p:cNvSpPr txBox="1"/>
          <p:nvPr/>
        </p:nvSpPr>
        <p:spPr>
          <a:xfrm>
            <a:off x="6948000" y="180000"/>
            <a:ext cx="3070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82"/>
          <p:cNvSpPr txBox="1"/>
          <p:nvPr/>
        </p:nvSpPr>
        <p:spPr>
          <a:xfrm>
            <a:off x="8152920" y="180000"/>
            <a:ext cx="3070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82"/>
          <p:cNvSpPr/>
          <p:nvPr/>
        </p:nvSpPr>
        <p:spPr>
          <a:xfrm>
            <a:off x="6840000" y="1620000"/>
            <a:ext cx="1080000" cy="126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 =20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82"/>
          <p:cNvSpPr/>
          <p:nvPr/>
        </p:nvSpPr>
        <p:spPr>
          <a:xfrm>
            <a:off x="6840000" y="2160000"/>
            <a:ext cx="1080000" cy="360"/>
          </a:xfrm>
          <a:custGeom>
            <a:rect b="b" l="l" r="r" t="t"/>
            <a:pathLst>
              <a:path extrusionOk="0" h="21600" w="32410800">
                <a:moveTo>
                  <a:pt x="0" y="0"/>
                </a:moveTo>
                <a:lnTo>
                  <a:pt x="32410800" y="21600"/>
                </a:lnTo>
              </a:path>
            </a:pathLst>
          </a:custGeom>
          <a:noFill/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82"/>
          <p:cNvSpPr txBox="1"/>
          <p:nvPr/>
        </p:nvSpPr>
        <p:spPr>
          <a:xfrm>
            <a:off x="6352920" y="1440000"/>
            <a:ext cx="30708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82"/>
          <p:cNvSpPr/>
          <p:nvPr/>
        </p:nvSpPr>
        <p:spPr>
          <a:xfrm>
            <a:off x="7020000" y="900000"/>
            <a:ext cx="180000" cy="720000"/>
          </a:xfrm>
          <a:custGeom>
            <a:rect b="b" l="l" r="r" t="t"/>
            <a:pathLst>
              <a:path extrusionOk="0" h="86271" w="21600">
                <a:moveTo>
                  <a:pt x="0" y="0"/>
                </a:moveTo>
                <a:lnTo>
                  <a:pt x="21600" y="86271"/>
                </a:lnTo>
              </a:path>
            </a:pathLst>
          </a:custGeom>
          <a:noFill/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med" w="med" type="triangle"/>
          </a:ln>
        </p:spPr>
      </p:sp>
      <p:sp>
        <p:nvSpPr>
          <p:cNvPr id="532" name="Google Shape;532;p82"/>
          <p:cNvSpPr/>
          <p:nvPr/>
        </p:nvSpPr>
        <p:spPr>
          <a:xfrm>
            <a:off x="6787080" y="3420000"/>
            <a:ext cx="1080000" cy="126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Val=50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82"/>
          <p:cNvSpPr/>
          <p:nvPr/>
        </p:nvSpPr>
        <p:spPr>
          <a:xfrm>
            <a:off x="6787080" y="3960000"/>
            <a:ext cx="1080000" cy="360"/>
          </a:xfrm>
          <a:custGeom>
            <a:rect b="b" l="l" r="r" t="t"/>
            <a:pathLst>
              <a:path extrusionOk="0" h="21600" w="32410800">
                <a:moveTo>
                  <a:pt x="0" y="0"/>
                </a:moveTo>
                <a:lnTo>
                  <a:pt x="32410800" y="21600"/>
                </a:lnTo>
              </a:path>
            </a:pathLst>
          </a:custGeom>
          <a:noFill/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82"/>
          <p:cNvSpPr/>
          <p:nvPr/>
        </p:nvSpPr>
        <p:spPr>
          <a:xfrm>
            <a:off x="7380000" y="2700000"/>
            <a:ext cx="360" cy="720000"/>
          </a:xfrm>
          <a:custGeom>
            <a:rect b="b" l="l" r="r" t="t"/>
            <a:pathLst>
              <a:path extrusionOk="0" h="21610800" w="21600">
                <a:moveTo>
                  <a:pt x="0" y="0"/>
                </a:moveTo>
                <a:lnTo>
                  <a:pt x="21600" y="21610800"/>
                </a:lnTo>
              </a:path>
            </a:pathLst>
          </a:custGeom>
          <a:noFill/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med" w="med" type="triangle"/>
          </a:ln>
        </p:spPr>
      </p:sp>
      <p:sp>
        <p:nvSpPr>
          <p:cNvPr id="535" name="Google Shape;535;p82"/>
          <p:cNvSpPr/>
          <p:nvPr/>
        </p:nvSpPr>
        <p:spPr>
          <a:xfrm flipH="1">
            <a:off x="7920000" y="900000"/>
            <a:ext cx="540000" cy="2520000"/>
          </a:xfrm>
          <a:custGeom>
            <a:rect b="b" l="l" r="r" t="t"/>
            <a:pathLst>
              <a:path extrusionOk="0" h="100747" w="21600">
                <a:moveTo>
                  <a:pt x="0" y="0"/>
                </a:moveTo>
                <a:lnTo>
                  <a:pt x="21600" y="100747"/>
                </a:lnTo>
              </a:path>
            </a:pathLst>
          </a:custGeom>
          <a:noFill/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med" w="med" type="triangle"/>
          </a:ln>
        </p:spPr>
      </p:sp>
      <p:sp>
        <p:nvSpPr>
          <p:cNvPr id="536" name="Google Shape;536;p82"/>
          <p:cNvSpPr txBox="1"/>
          <p:nvPr/>
        </p:nvSpPr>
        <p:spPr>
          <a:xfrm>
            <a:off x="2880360" y="6769440"/>
            <a:ext cx="4484520" cy="433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 Example: 2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83"/>
          <p:cNvSpPr txBox="1"/>
          <p:nvPr/>
        </p:nvSpPr>
        <p:spPr>
          <a:xfrm>
            <a:off x="525240" y="180000"/>
            <a:ext cx="5594760" cy="477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typedef struct node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int val;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struct node *next;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}node;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node *p, *q;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node a;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a.val = 20;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p = &amp;a;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a.next = (node *)malloc(sizeof(node));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a.next-&gt;val = 50;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q = a.next;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free(a.next);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83"/>
          <p:cNvSpPr/>
          <p:nvPr/>
        </p:nvSpPr>
        <p:spPr>
          <a:xfrm>
            <a:off x="6840000" y="540000"/>
            <a:ext cx="540000" cy="54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83"/>
          <p:cNvSpPr/>
          <p:nvPr/>
        </p:nvSpPr>
        <p:spPr>
          <a:xfrm>
            <a:off x="8006760" y="540000"/>
            <a:ext cx="540000" cy="54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83"/>
          <p:cNvSpPr txBox="1"/>
          <p:nvPr/>
        </p:nvSpPr>
        <p:spPr>
          <a:xfrm>
            <a:off x="6948000" y="180000"/>
            <a:ext cx="3070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83"/>
          <p:cNvSpPr txBox="1"/>
          <p:nvPr/>
        </p:nvSpPr>
        <p:spPr>
          <a:xfrm>
            <a:off x="8152920" y="180000"/>
            <a:ext cx="3070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83"/>
          <p:cNvSpPr/>
          <p:nvPr/>
        </p:nvSpPr>
        <p:spPr>
          <a:xfrm>
            <a:off x="6840000" y="1620000"/>
            <a:ext cx="1080000" cy="126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 =20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83"/>
          <p:cNvSpPr/>
          <p:nvPr/>
        </p:nvSpPr>
        <p:spPr>
          <a:xfrm>
            <a:off x="6840000" y="2160000"/>
            <a:ext cx="1080000" cy="360"/>
          </a:xfrm>
          <a:custGeom>
            <a:rect b="b" l="l" r="r" t="t"/>
            <a:pathLst>
              <a:path extrusionOk="0" h="21600" w="32410800">
                <a:moveTo>
                  <a:pt x="0" y="0"/>
                </a:moveTo>
                <a:lnTo>
                  <a:pt x="32410800" y="21600"/>
                </a:lnTo>
              </a:path>
            </a:pathLst>
          </a:custGeom>
          <a:noFill/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83"/>
          <p:cNvSpPr txBox="1"/>
          <p:nvPr/>
        </p:nvSpPr>
        <p:spPr>
          <a:xfrm>
            <a:off x="6352920" y="1440000"/>
            <a:ext cx="30708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83"/>
          <p:cNvSpPr/>
          <p:nvPr/>
        </p:nvSpPr>
        <p:spPr>
          <a:xfrm>
            <a:off x="7020000" y="900000"/>
            <a:ext cx="180000" cy="720000"/>
          </a:xfrm>
          <a:custGeom>
            <a:rect b="b" l="l" r="r" t="t"/>
            <a:pathLst>
              <a:path extrusionOk="0" h="86271" w="21600">
                <a:moveTo>
                  <a:pt x="0" y="0"/>
                </a:moveTo>
                <a:lnTo>
                  <a:pt x="21600" y="86271"/>
                </a:lnTo>
              </a:path>
            </a:pathLst>
          </a:custGeom>
          <a:noFill/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med" w="med" type="triangle"/>
          </a:ln>
        </p:spPr>
      </p:sp>
      <p:sp>
        <p:nvSpPr>
          <p:cNvPr id="551" name="Google Shape;551;p83"/>
          <p:cNvSpPr/>
          <p:nvPr/>
        </p:nvSpPr>
        <p:spPr>
          <a:xfrm>
            <a:off x="6787080" y="3420000"/>
            <a:ext cx="1080000" cy="126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3465A4"/>
            </a:solidFill>
            <a:prstDash val="dashDot"/>
            <a:round/>
            <a:headEnd len="sm" w="sm" type="none"/>
            <a:tailEnd len="sm" w="sm" type="none"/>
          </a:ln>
        </p:spPr>
      </p:sp>
      <p:sp>
        <p:nvSpPr>
          <p:cNvPr id="552" name="Google Shape;552;p83"/>
          <p:cNvSpPr/>
          <p:nvPr/>
        </p:nvSpPr>
        <p:spPr>
          <a:xfrm rot="10420200">
            <a:off x="7133400" y="2715840"/>
            <a:ext cx="313920" cy="687600"/>
          </a:xfrm>
          <a:custGeom>
            <a:rect b="b" l="l" r="r" t="t"/>
            <a:pathLst>
              <a:path extrusionOk="0" h="2234" w="1283">
                <a:moveTo>
                  <a:pt x="144" y="1827"/>
                </a:moveTo>
                <a:cubicBezTo>
                  <a:pt x="739" y="2234"/>
                  <a:pt x="1283" y="1026"/>
                  <a:pt x="436" y="940"/>
                </a:cubicBezTo>
                <a:lnTo>
                  <a:pt x="0" y="505"/>
                </a:lnTo>
                <a:lnTo>
                  <a:pt x="5" y="22"/>
                </a:lnTo>
                <a:lnTo>
                  <a:pt x="25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83"/>
          <p:cNvSpPr/>
          <p:nvPr/>
        </p:nvSpPr>
        <p:spPr>
          <a:xfrm>
            <a:off x="7793280" y="1038960"/>
            <a:ext cx="977040" cy="2320200"/>
          </a:xfrm>
          <a:custGeom>
            <a:rect b="b" l="l" r="r" t="t"/>
            <a:pathLst>
              <a:path extrusionOk="0" h="6446" w="3103">
                <a:moveTo>
                  <a:pt x="1443" y="0"/>
                </a:moveTo>
                <a:cubicBezTo>
                  <a:pt x="1695" y="664"/>
                  <a:pt x="900" y="1875"/>
                  <a:pt x="1683" y="2117"/>
                </a:cubicBezTo>
                <a:cubicBezTo>
                  <a:pt x="2311" y="2311"/>
                  <a:pt x="3103" y="2918"/>
                  <a:pt x="2501" y="3271"/>
                </a:cubicBezTo>
                <a:cubicBezTo>
                  <a:pt x="1684" y="3750"/>
                  <a:pt x="1586" y="4541"/>
                  <a:pt x="1443" y="5292"/>
                </a:cubicBezTo>
                <a:lnTo>
                  <a:pt x="1106" y="5869"/>
                </a:lnTo>
                <a:lnTo>
                  <a:pt x="384" y="6206"/>
                </a:lnTo>
                <a:lnTo>
                  <a:pt x="0" y="6446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83"/>
          <p:cNvSpPr txBox="1"/>
          <p:nvPr/>
        </p:nvSpPr>
        <p:spPr>
          <a:xfrm>
            <a:off x="2880360" y="6769440"/>
            <a:ext cx="4484520" cy="433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 Example: 2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84"/>
          <p:cNvSpPr txBox="1"/>
          <p:nvPr/>
        </p:nvSpPr>
        <p:spPr>
          <a:xfrm>
            <a:off x="525240" y="180000"/>
            <a:ext cx="5594760" cy="509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typedef struct node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int val;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struct node *next;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}node;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node *p, *q;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node a;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a.val = 20;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p = &amp;a;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a.next = (node *)malloc(sizeof(node));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a.next-&gt;val = 50;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q = a.next;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free(a.next);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IN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q-&gt;val = 100; // segfault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84"/>
          <p:cNvSpPr/>
          <p:nvPr/>
        </p:nvSpPr>
        <p:spPr>
          <a:xfrm>
            <a:off x="6840000" y="540000"/>
            <a:ext cx="540000" cy="54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84"/>
          <p:cNvSpPr/>
          <p:nvPr/>
        </p:nvSpPr>
        <p:spPr>
          <a:xfrm>
            <a:off x="8006760" y="540000"/>
            <a:ext cx="540000" cy="54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84"/>
          <p:cNvSpPr txBox="1"/>
          <p:nvPr/>
        </p:nvSpPr>
        <p:spPr>
          <a:xfrm>
            <a:off x="6948000" y="180000"/>
            <a:ext cx="3070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84"/>
          <p:cNvSpPr txBox="1"/>
          <p:nvPr/>
        </p:nvSpPr>
        <p:spPr>
          <a:xfrm>
            <a:off x="8152920" y="180000"/>
            <a:ext cx="3070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84"/>
          <p:cNvSpPr/>
          <p:nvPr/>
        </p:nvSpPr>
        <p:spPr>
          <a:xfrm>
            <a:off x="6840000" y="1620000"/>
            <a:ext cx="1080000" cy="126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 =20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84"/>
          <p:cNvSpPr/>
          <p:nvPr/>
        </p:nvSpPr>
        <p:spPr>
          <a:xfrm>
            <a:off x="6840000" y="2160000"/>
            <a:ext cx="1080000" cy="360"/>
          </a:xfrm>
          <a:custGeom>
            <a:rect b="b" l="l" r="r" t="t"/>
            <a:pathLst>
              <a:path extrusionOk="0" h="21600" w="32410800">
                <a:moveTo>
                  <a:pt x="0" y="0"/>
                </a:moveTo>
                <a:lnTo>
                  <a:pt x="32410800" y="21600"/>
                </a:lnTo>
              </a:path>
            </a:pathLst>
          </a:custGeom>
          <a:noFill/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84"/>
          <p:cNvSpPr txBox="1"/>
          <p:nvPr/>
        </p:nvSpPr>
        <p:spPr>
          <a:xfrm>
            <a:off x="6352920" y="1440000"/>
            <a:ext cx="30708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84"/>
          <p:cNvSpPr/>
          <p:nvPr/>
        </p:nvSpPr>
        <p:spPr>
          <a:xfrm>
            <a:off x="7020000" y="900000"/>
            <a:ext cx="180000" cy="720000"/>
          </a:xfrm>
          <a:custGeom>
            <a:rect b="b" l="l" r="r" t="t"/>
            <a:pathLst>
              <a:path extrusionOk="0" h="86271" w="21600">
                <a:moveTo>
                  <a:pt x="0" y="0"/>
                </a:moveTo>
                <a:lnTo>
                  <a:pt x="21600" y="86271"/>
                </a:lnTo>
              </a:path>
            </a:pathLst>
          </a:custGeom>
          <a:noFill/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med" w="med" type="triangle"/>
          </a:ln>
        </p:spPr>
      </p:sp>
      <p:sp>
        <p:nvSpPr>
          <p:cNvPr id="569" name="Google Shape;569;p84"/>
          <p:cNvSpPr/>
          <p:nvPr/>
        </p:nvSpPr>
        <p:spPr>
          <a:xfrm>
            <a:off x="6787080" y="3420000"/>
            <a:ext cx="1080000" cy="126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3465A4"/>
            </a:solidFill>
            <a:prstDash val="dashDot"/>
            <a:round/>
            <a:headEnd len="sm" w="sm" type="none"/>
            <a:tailEnd len="sm" w="sm" type="none"/>
          </a:ln>
        </p:spPr>
      </p:sp>
      <p:sp>
        <p:nvSpPr>
          <p:cNvPr id="570" name="Google Shape;570;p84"/>
          <p:cNvSpPr/>
          <p:nvPr/>
        </p:nvSpPr>
        <p:spPr>
          <a:xfrm rot="10420200">
            <a:off x="7133400" y="2715840"/>
            <a:ext cx="313920" cy="687600"/>
          </a:xfrm>
          <a:custGeom>
            <a:rect b="b" l="l" r="r" t="t"/>
            <a:pathLst>
              <a:path extrusionOk="0" h="2234" w="1283">
                <a:moveTo>
                  <a:pt x="144" y="1827"/>
                </a:moveTo>
                <a:cubicBezTo>
                  <a:pt x="739" y="2234"/>
                  <a:pt x="1283" y="1026"/>
                  <a:pt x="436" y="940"/>
                </a:cubicBezTo>
                <a:lnTo>
                  <a:pt x="0" y="505"/>
                </a:lnTo>
                <a:lnTo>
                  <a:pt x="5" y="22"/>
                </a:lnTo>
                <a:lnTo>
                  <a:pt x="25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84"/>
          <p:cNvSpPr/>
          <p:nvPr/>
        </p:nvSpPr>
        <p:spPr>
          <a:xfrm>
            <a:off x="7793280" y="1038960"/>
            <a:ext cx="977040" cy="2320200"/>
          </a:xfrm>
          <a:custGeom>
            <a:rect b="b" l="l" r="r" t="t"/>
            <a:pathLst>
              <a:path extrusionOk="0" h="6446" w="3103">
                <a:moveTo>
                  <a:pt x="1443" y="0"/>
                </a:moveTo>
                <a:cubicBezTo>
                  <a:pt x="1695" y="664"/>
                  <a:pt x="900" y="1875"/>
                  <a:pt x="1683" y="2117"/>
                </a:cubicBezTo>
                <a:cubicBezTo>
                  <a:pt x="2311" y="2311"/>
                  <a:pt x="3103" y="2918"/>
                  <a:pt x="2501" y="3271"/>
                </a:cubicBezTo>
                <a:cubicBezTo>
                  <a:pt x="1684" y="3750"/>
                  <a:pt x="1586" y="4541"/>
                  <a:pt x="1443" y="5292"/>
                </a:cubicBezTo>
                <a:lnTo>
                  <a:pt x="1106" y="5869"/>
                </a:lnTo>
                <a:lnTo>
                  <a:pt x="384" y="6206"/>
                </a:lnTo>
                <a:lnTo>
                  <a:pt x="0" y="6446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84"/>
          <p:cNvSpPr txBox="1"/>
          <p:nvPr/>
        </p:nvSpPr>
        <p:spPr>
          <a:xfrm>
            <a:off x="2880360" y="6769440"/>
            <a:ext cx="4484520" cy="43344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Pointers Example: 2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85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Remember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85"/>
          <p:cNvSpPr txBox="1"/>
          <p:nvPr/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9144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Dereferencing a dangling pointer is a cause of segmentation fault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9144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Dereferencing can occur using *  or  [ ]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9144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Having a dangling pointer does not cause segmentation fault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9144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Dereferencing it causes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9144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Having dangling pointers is not wrong, but why have them?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6"/>
          <p:cNvSpPr txBox="1"/>
          <p:nvPr/>
        </p:nvSpPr>
        <p:spPr>
          <a:xfrm>
            <a:off x="72000" y="13320"/>
            <a:ext cx="4536000" cy="142668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Garbage Memory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86"/>
          <p:cNvSpPr txBox="1"/>
          <p:nvPr/>
        </p:nvSpPr>
        <p:spPr>
          <a:xfrm>
            <a:off x="504000" y="1769040"/>
            <a:ext cx="442692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int *p, i;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p = malloc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       (sizeof(int) * 4);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p = &amp;i;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86"/>
          <p:cNvSpPr txBox="1"/>
          <p:nvPr/>
        </p:nvSpPr>
        <p:spPr>
          <a:xfrm>
            <a:off x="4527360" y="185040"/>
            <a:ext cx="5336640" cy="730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1" i="0" lang="en-IN" sz="20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p was pointing to malloced memory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1" i="0" lang="en-IN" sz="20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In the end p points to i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1" i="0" lang="en-IN" sz="20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How to access the malloced memory now?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1" i="0" lang="en-IN" sz="20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No way! It's Lost!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1" i="0" lang="en-IN" sz="20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It became “garbage memory”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1" i="0" lang="en-IN" sz="20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Problems like this result in memory waste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1" i="0" lang="en-IN" sz="20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Also called as Memory leak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1" i="0" lang="en-IN" sz="20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1" i="0" lang="en-IN" sz="20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Keep another point pointing to malloced  memory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1" i="0" lang="en-IN" sz="20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p = malloc(sizeof(int) * 4);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1" i="0" lang="en-IN" sz="20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q  = p;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1" i="0" lang="en-IN" sz="20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p = &amp;i;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1" i="0" lang="en-IN" sz="20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Malloced memory is available through pointer q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86"/>
          <p:cNvSpPr/>
          <p:nvPr/>
        </p:nvSpPr>
        <p:spPr>
          <a:xfrm>
            <a:off x="216000" y="6372000"/>
            <a:ext cx="720000" cy="72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86"/>
          <p:cNvSpPr txBox="1"/>
          <p:nvPr/>
        </p:nvSpPr>
        <p:spPr>
          <a:xfrm>
            <a:off x="288000" y="5760000"/>
            <a:ext cx="3600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86"/>
          <p:cNvSpPr/>
          <p:nvPr/>
        </p:nvSpPr>
        <p:spPr>
          <a:xfrm>
            <a:off x="1440000" y="6444000"/>
            <a:ext cx="720000" cy="72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p86"/>
          <p:cNvSpPr/>
          <p:nvPr/>
        </p:nvSpPr>
        <p:spPr>
          <a:xfrm>
            <a:off x="2160000" y="6444000"/>
            <a:ext cx="720000" cy="72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86"/>
          <p:cNvSpPr/>
          <p:nvPr/>
        </p:nvSpPr>
        <p:spPr>
          <a:xfrm>
            <a:off x="2880000" y="6444000"/>
            <a:ext cx="720000" cy="72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86"/>
          <p:cNvSpPr/>
          <p:nvPr/>
        </p:nvSpPr>
        <p:spPr>
          <a:xfrm>
            <a:off x="3600000" y="6444000"/>
            <a:ext cx="720000" cy="72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86"/>
          <p:cNvSpPr/>
          <p:nvPr/>
        </p:nvSpPr>
        <p:spPr>
          <a:xfrm>
            <a:off x="792000" y="6624000"/>
            <a:ext cx="647640" cy="71640"/>
          </a:xfrm>
          <a:custGeom>
            <a:rect b="b" l="l" r="r" t="t"/>
            <a:pathLst>
              <a:path extrusionOk="0" h="200" w="1800">
                <a:moveTo>
                  <a:pt x="0" y="0"/>
                </a:moveTo>
                <a:lnTo>
                  <a:pt x="1800" y="20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sp>
      <p:sp>
        <p:nvSpPr>
          <p:cNvPr id="595" name="Google Shape;595;p86"/>
          <p:cNvSpPr txBox="1"/>
          <p:nvPr/>
        </p:nvSpPr>
        <p:spPr>
          <a:xfrm>
            <a:off x="1440000" y="6153480"/>
            <a:ext cx="3312000" cy="715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0        1        2        3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86"/>
          <p:cNvSpPr/>
          <p:nvPr/>
        </p:nvSpPr>
        <p:spPr>
          <a:xfrm>
            <a:off x="1512000" y="4896000"/>
            <a:ext cx="720000" cy="720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86"/>
          <p:cNvSpPr txBox="1"/>
          <p:nvPr/>
        </p:nvSpPr>
        <p:spPr>
          <a:xfrm>
            <a:off x="1656000" y="4464000"/>
            <a:ext cx="3600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86"/>
          <p:cNvSpPr/>
          <p:nvPr/>
        </p:nvSpPr>
        <p:spPr>
          <a:xfrm rot="4161600">
            <a:off x="689400" y="6934320"/>
            <a:ext cx="446040" cy="392040"/>
          </a:xfrm>
          <a:custGeom>
            <a:rect b="b" l="l" r="r" t="t"/>
            <a:pathLst>
              <a:path extrusionOk="0" h="1245" w="1240">
                <a:moveTo>
                  <a:pt x="0" y="1041"/>
                </a:moveTo>
                <a:cubicBezTo>
                  <a:pt x="530" y="1245"/>
                  <a:pt x="1110" y="778"/>
                  <a:pt x="1147" y="247"/>
                </a:cubicBezTo>
                <a:lnTo>
                  <a:pt x="1240" y="0"/>
                </a:lnTo>
              </a:path>
            </a:pathLst>
          </a:custGeom>
          <a:noFill/>
          <a:ln cap="flat" cmpd="sng" w="9525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86"/>
          <p:cNvSpPr/>
          <p:nvPr/>
        </p:nvSpPr>
        <p:spPr>
          <a:xfrm>
            <a:off x="648000" y="5544000"/>
            <a:ext cx="863640" cy="935640"/>
          </a:xfrm>
          <a:custGeom>
            <a:rect b="b" l="l" r="r" t="t"/>
            <a:pathLst>
              <a:path extrusionOk="0" h="2600" w="2400">
                <a:moveTo>
                  <a:pt x="0" y="2600"/>
                </a:moveTo>
                <a:lnTo>
                  <a:pt x="24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8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87"/>
          <p:cNvSpPr txBox="1"/>
          <p:nvPr/>
        </p:nvSpPr>
        <p:spPr>
          <a:xfrm>
            <a:off x="504000" y="301320"/>
            <a:ext cx="9071640" cy="585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8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Segmentation Fault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88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What is segmentation fault?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88"/>
          <p:cNvSpPr txBox="1"/>
          <p:nvPr/>
        </p:nvSpPr>
        <p:spPr>
          <a:xfrm>
            <a:off x="504000" y="140112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6858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 program accessing an “illegal” memory location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Is punished by the operating system for doing so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program gets “terminated” (killed)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“segmentation” comes from “memory management”  concepts in operating systems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It is </a:t>
            </a:r>
            <a:r>
              <a:rPr b="0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ALWAYS</a:t>
            </a: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a fault of the programmer!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Beware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Bad compilers may generate machine code which hide some memory violations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If a programmer does  illegal memory access, segmentation fault may not occur sometimes!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14300" lvl="2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OS may “forgive” your program :-;  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89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Some Typical Reasons for Seg-fault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89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32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Dereferencing Dangling Pointers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491"/>
              </a:spcBef>
              <a:spcAft>
                <a:spcPts val="0"/>
              </a:spcAft>
              <a:buNone/>
            </a:pPr>
            <a:r>
              <a:rPr b="0" i="0" lang="en-IN" sz="32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Array Index Violation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491"/>
              </a:spcBef>
              <a:spcAft>
                <a:spcPts val="0"/>
              </a:spcAft>
              <a:buNone/>
            </a:pPr>
            <a:r>
              <a:rPr b="0" i="0" lang="en-IN" sz="32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Incorrect Function Arguments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90"/>
          <p:cNvSpPr txBox="1"/>
          <p:nvPr/>
        </p:nvSpPr>
        <p:spPr>
          <a:xfrm>
            <a:off x="504000" y="-106920"/>
            <a:ext cx="9071640" cy="110808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Dangling Pointer Dereference: Some examples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90"/>
          <p:cNvSpPr txBox="1"/>
          <p:nvPr/>
        </p:nvSpPr>
        <p:spPr>
          <a:xfrm>
            <a:off x="504000" y="1157050"/>
            <a:ext cx="4464000" cy="9669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int *p, i;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*p = 20;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90"/>
          <p:cNvSpPr txBox="1"/>
          <p:nvPr/>
        </p:nvSpPr>
        <p:spPr>
          <a:xfrm>
            <a:off x="5256000" y="792720"/>
            <a:ext cx="4536000" cy="5396400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	int *f(int *p) {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     		int x = *p + 2;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     		return &amp;x;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	int main() {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    		int i, *q;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    		scanf(“%d”, &amp;i);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    		q = f(&amp;i);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     		*q = 20;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90"/>
          <p:cNvSpPr txBox="1"/>
          <p:nvPr/>
        </p:nvSpPr>
        <p:spPr>
          <a:xfrm>
            <a:off x="432000" y="2218680"/>
            <a:ext cx="4536000" cy="2649600"/>
          </a:xfrm>
          <a:prstGeom prst="rect">
            <a:avLst/>
          </a:prstGeom>
          <a:solidFill>
            <a:srgbClr val="99FF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	int *p, i;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	p = malloc( sizeof(int)*2);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	free(p);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	p[2] = 20;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90"/>
          <p:cNvSpPr txBox="1"/>
          <p:nvPr/>
        </p:nvSpPr>
        <p:spPr>
          <a:xfrm>
            <a:off x="144000" y="6197760"/>
            <a:ext cx="9648000" cy="136224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Don't return address of a local variable! The variable disappears after function call, and the returned address is a dangling pointer.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90"/>
          <p:cNvSpPr txBox="1"/>
          <p:nvPr/>
        </p:nvSpPr>
        <p:spPr>
          <a:xfrm>
            <a:off x="432000" y="5064825"/>
            <a:ext cx="4536000" cy="11082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rgbClr val="000080"/>
                </a:solidFill>
              </a:rPr>
              <a:t>int *p, i;</a:t>
            </a:r>
            <a:endParaRPr b="1" i="0" sz="1600" u="none" cap="none" strike="noStrike"/>
          </a:p>
          <a:p>
            <a:pPr indent="0" lvl="0" marL="0" marR="0" rtl="0" algn="ctr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rgbClr val="000080"/>
                </a:solidFill>
              </a:rPr>
              <a:t>p = &amp;i;</a:t>
            </a:r>
            <a:endParaRPr b="1" i="0" sz="1600" u="none" cap="none" strike="noStrike"/>
          </a:p>
          <a:p>
            <a:pPr indent="0" lvl="0" marL="0" marR="0" rtl="0" algn="ctr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rgbClr val="000080"/>
                </a:solidFill>
              </a:rPr>
              <a:t>p[1] = 20</a:t>
            </a:r>
            <a:r>
              <a:rPr b="1" i="0" lang="en-IN" sz="1500" u="none" cap="none" strike="noStrike">
                <a:solidFill>
                  <a:srgbClr val="000080"/>
                </a:solidFill>
              </a:rPr>
              <a:t>;</a:t>
            </a:r>
            <a:endParaRPr b="1" i="0" sz="1500" u="none" cap="none" strike="noStrike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91"/>
          <p:cNvSpPr txBox="1"/>
          <p:nvPr/>
        </p:nvSpPr>
        <p:spPr>
          <a:xfrm>
            <a:off x="504000" y="301320"/>
            <a:ext cx="9071640" cy="3679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Array Index Violation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91"/>
          <p:cNvSpPr txBox="1"/>
          <p:nvPr/>
        </p:nvSpPr>
        <p:spPr>
          <a:xfrm>
            <a:off x="504000" y="1337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Valid indices for an array of size n</a:t>
            </a: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 0 .. n-1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Accessing any </a:t>
            </a:r>
            <a:r>
              <a:rPr b="0" i="0" lang="en-IN" sz="20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&lt;= -1 </a:t>
            </a: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&gt;= n</a:t>
            </a: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may</a:t>
            </a: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result in seg-fault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(it may not result in some cases, but it is STILL WRONG to do it!)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Try this code: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91"/>
          <p:cNvSpPr txBox="1"/>
          <p:nvPr/>
        </p:nvSpPr>
        <p:spPr>
          <a:xfrm>
            <a:off x="3933000" y="2795760"/>
            <a:ext cx="6225840" cy="3012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#include &lt;stdio.h&gt;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int a[16], i = 0;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while(1)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	a[i] = i;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	printf("%d\n", a[i]);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	i++;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91"/>
          <p:cNvSpPr txBox="1"/>
          <p:nvPr/>
        </p:nvSpPr>
        <p:spPr>
          <a:xfrm>
            <a:off x="914400" y="3339360"/>
            <a:ext cx="2481120" cy="15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At what value of i does the code seg-fault? Try 2-3 times.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91"/>
          <p:cNvSpPr txBox="1"/>
          <p:nvPr/>
        </p:nvSpPr>
        <p:spPr>
          <a:xfrm>
            <a:off x="605520" y="5808600"/>
            <a:ext cx="8640000" cy="14497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Reason: OS may allocate more than 16-integer size memory for the program. So the seg fault </a:t>
            </a:r>
            <a:r>
              <a:rPr b="1" i="1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may not</a:t>
            </a:r>
            <a:r>
              <a:rPr b="1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occur at index 16 or slightely higher indices also.</a:t>
            </a: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Rule:</a:t>
            </a:r>
            <a:r>
              <a:rPr b="1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IN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wrong to access index &gt;=n 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92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Functions: Pointer Arguments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92"/>
          <p:cNvSpPr txBox="1"/>
          <p:nvPr/>
        </p:nvSpPr>
        <p:spPr>
          <a:xfrm>
            <a:off x="504000" y="1769040"/>
            <a:ext cx="93092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6858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Rule: When you want a function to change ACTUAL arguments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Function takes pointer arguments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Call passes address of “actual argument”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Example: Swap function (correct code)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8001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IN" sz="28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92"/>
          <p:cNvSpPr txBox="1"/>
          <p:nvPr/>
        </p:nvSpPr>
        <p:spPr>
          <a:xfrm>
            <a:off x="504000" y="3920760"/>
            <a:ext cx="796860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void swap(int *a, int *b 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	int temp;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	temp = *a;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	*a = * b;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	*b = temp;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int m = 20, n = 30;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swap(&amp;m, &amp;n);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93"/>
          <p:cNvSpPr txBox="1"/>
          <p:nvPr/>
        </p:nvSpPr>
        <p:spPr>
          <a:xfrm>
            <a:off x="504000" y="262080"/>
            <a:ext cx="9071640" cy="1341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Incorrect Pointer Arguments - Segfault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93"/>
          <p:cNvSpPr txBox="1"/>
          <p:nvPr/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rgbClr val="0D0D0D"/>
                </a:solidFill>
                <a:latin typeface="Courier"/>
                <a:ea typeface="Courier"/>
                <a:cs typeface="Courier"/>
                <a:sym typeface="Courier"/>
              </a:rPr>
              <a:t>int i;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rgbClr val="0D0D0D"/>
                </a:solidFill>
                <a:latin typeface="Courier"/>
                <a:ea typeface="Courier"/>
                <a:cs typeface="Courier"/>
                <a:sym typeface="Courier"/>
              </a:rPr>
              <a:t>scanf(“%d”, i);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32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Scanf  tries to do something like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*i = value // seg fault here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en-IN" sz="32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Segfault occurs in scanf, although the reason is call to scanf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9144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IN" sz="32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Note that this is basically a dangling pointer dereference which took place inside scanf()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94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Guidelines to avoid segfaults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94"/>
          <p:cNvSpPr txBox="1"/>
          <p:nvPr/>
        </p:nvSpPr>
        <p:spPr>
          <a:xfrm>
            <a:off x="381240" y="14234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6858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Always initialize pointers to NULL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This will not avoid segfaults, but may lead to early detection of a problem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While accessing arrays, make sure that array index is valid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Never return address of local variable of a function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DO NOT IGNORE compiler's warnings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Compilers often warn about potential dangling references, type conversions which have a potential for segfaults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Make sure that you rewrite code to remove all warnings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Use “-Wall” option with gcc &gt; cc -Wall program.c -o program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68580" lvl="1" marL="0" marR="0" rtl="0" algn="l">
              <a:lnSpc>
                <a:spcPct val="90000"/>
              </a:lnSpc>
              <a:spcBef>
                <a:spcPts val="141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IN" sz="2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gcc -Wall enables all compiler's warning messages. This option should always be used, in order to generate better code.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
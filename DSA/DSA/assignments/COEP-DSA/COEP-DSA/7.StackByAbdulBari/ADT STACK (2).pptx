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89" r:id="rId4"/>
    <p:sldId id="258" r:id="rId5"/>
    <p:sldId id="384" r:id="rId6"/>
    <p:sldId id="385" r:id="rId7"/>
    <p:sldId id="259" r:id="rId8"/>
    <p:sldId id="260" r:id="rId9"/>
    <p:sldId id="287" r:id="rId10"/>
    <p:sldId id="288" r:id="rId11"/>
    <p:sldId id="261" r:id="rId12"/>
    <p:sldId id="297" r:id="rId13"/>
    <p:sldId id="318" r:id="rId14"/>
    <p:sldId id="308" r:id="rId15"/>
    <p:sldId id="325" r:id="rId16"/>
    <p:sldId id="320" r:id="rId17"/>
    <p:sldId id="321" r:id="rId18"/>
    <p:sldId id="322" r:id="rId19"/>
    <p:sldId id="323" r:id="rId20"/>
    <p:sldId id="324" r:id="rId21"/>
    <p:sldId id="331" r:id="rId22"/>
    <p:sldId id="326" r:id="rId23"/>
    <p:sldId id="330" r:id="rId24"/>
    <p:sldId id="332" r:id="rId25"/>
    <p:sldId id="327" r:id="rId26"/>
    <p:sldId id="328" r:id="rId27"/>
    <p:sldId id="333" r:id="rId28"/>
    <p:sldId id="335" r:id="rId29"/>
    <p:sldId id="334" r:id="rId30"/>
    <p:sldId id="336" r:id="rId31"/>
    <p:sldId id="339" r:id="rId32"/>
    <p:sldId id="337" r:id="rId33"/>
    <p:sldId id="338" r:id="rId34"/>
    <p:sldId id="340" r:id="rId35"/>
    <p:sldId id="382" r:id="rId36"/>
    <p:sldId id="355" r:id="rId37"/>
    <p:sldId id="361" r:id="rId38"/>
    <p:sldId id="391" r:id="rId39"/>
    <p:sldId id="387" r:id="rId40"/>
    <p:sldId id="388" r:id="rId41"/>
    <p:sldId id="389" r:id="rId42"/>
    <p:sldId id="390" r:id="rId43"/>
    <p:sldId id="348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7159F7-2A3E-437B-8BA1-E4A0E649045A}" type="datetimeFigureOut">
              <a:rPr lang="en-IN" smtClean="0"/>
              <a:t>03/10/24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30316B-D6F0-4433-BF91-F5F759BF99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3491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167DCA2-E8BF-4CAB-BE9E-10E365FC3504}" type="slidenum"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pPr/>
              <a:t>11</a:t>
            </a:fld>
            <a:endParaRPr lang="en-US" altLang="en-US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9625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08A782E-222A-49A7-A62C-6C0DC66504A9}" type="slidenum"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pPr/>
              <a:t>35</a:t>
            </a:fld>
            <a:endParaRPr lang="en-US" altLang="en-US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7156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4A51ED-13FB-4A17-A327-7FF75BAAF26B}" type="slidenum"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pPr/>
              <a:t>43</a:t>
            </a:fld>
            <a:endParaRPr lang="en-US" altLang="en-US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459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204F2-21FA-4016-86AF-80B5B76CC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D18536-1967-45DA-8099-0F6F62F3C6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8F5BA-ABE9-4648-BF60-9D38EEADA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3A95F-1D90-4177-AE07-A77991C7693F}" type="datetimeFigureOut">
              <a:rPr lang="en-IN" smtClean="0"/>
              <a:t>03/10/24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DC827-CFC1-42E6-B853-75D62C385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BBAE3-F48E-423A-900A-DC4B28530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341C-E7DD-4DB0-B2F9-61B484A4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846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D89A8-7905-49F2-A1E3-D1E39BA6B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0240B-A7C4-4C06-8F12-938A7BA28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0E276-4902-431F-8C3D-E8C0D4336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3A95F-1D90-4177-AE07-A77991C7693F}" type="datetimeFigureOut">
              <a:rPr lang="en-IN" smtClean="0"/>
              <a:t>03/10/24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79A98-2EF7-49AB-94EE-9F5E2B730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E6A3F-1DBE-49FD-A021-BFAA06B76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341C-E7DD-4DB0-B2F9-61B484A4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320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D2CF4-9C1B-4734-A250-2D8DE9E9B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69145-5F8B-4A36-9CF3-F2015769B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4966A-0877-4E31-8E2E-02A1F35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3A95F-1D90-4177-AE07-A77991C7693F}" type="datetimeFigureOut">
              <a:rPr lang="en-IN" smtClean="0"/>
              <a:t>03/10/24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FFC81-A5B7-49F7-981E-6B5005B02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F6438-9903-41FA-ACC7-29DBECD67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341C-E7DD-4DB0-B2F9-61B484A4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814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5791-30CA-48DF-8A2B-70581AED8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B6EAB-381F-4D6C-ADA9-15CF6C0556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79F432-1641-4BDF-88B8-520225BAE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B2FA5-5EA2-4530-9009-3F860B350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3A95F-1D90-4177-AE07-A77991C7693F}" type="datetimeFigureOut">
              <a:rPr lang="en-IN" smtClean="0"/>
              <a:t>03/10/24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21364-F4F5-496E-BD3E-3E60C72CB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A20F0-136D-4BC1-B3A1-2BD2A4D73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341C-E7DD-4DB0-B2F9-61B484A4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741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40A8E-0276-48E0-B7A3-40AAE5447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1B680-5721-4840-B0C0-A903157FC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9D64CE-D7BF-46A1-BBD2-C5E4151A4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4386E5-C1BC-4664-B69E-9A6B66F9C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3D1C82-40C9-4BEA-8FEB-8E80C0C7F7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23C6C7-86D5-4A7D-841B-0C707FA4C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3A95F-1D90-4177-AE07-A77991C7693F}" type="datetimeFigureOut">
              <a:rPr lang="en-IN" smtClean="0"/>
              <a:t>03/10/24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211EA-D768-420B-BAA3-1E86C0835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C195C4-93BD-4A9F-8696-708558527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341C-E7DD-4DB0-B2F9-61B484A4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239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3B8E4-A821-486E-B3CC-A4495C7AF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2E4D9C-5EAB-476D-8E94-143379FE3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3A95F-1D90-4177-AE07-A77991C7693F}" type="datetimeFigureOut">
              <a:rPr lang="en-IN" smtClean="0"/>
              <a:t>03/10/24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E62ED-4646-47EC-B020-2A6E7F1C3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6B8D6C-E48D-42DD-BB16-ADA07AF68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341C-E7DD-4DB0-B2F9-61B484A4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144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0C2F71-D58E-4C2C-AC2D-A2B4F886D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3A95F-1D90-4177-AE07-A77991C7693F}" type="datetimeFigureOut">
              <a:rPr lang="en-IN" smtClean="0"/>
              <a:t>03/10/24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64A6ED-0204-4AAF-81E2-0FF4ECEF5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731AE-6E98-4F14-877C-C038BD31B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341C-E7DD-4DB0-B2F9-61B484A4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41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9FB05-53AB-48C5-9C8B-6AA885C09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03ACE-839F-42CD-B430-9D3978878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9CD3D-FD62-4035-85BA-9EB04A8AA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EDF72-907A-4FC6-933A-6DD104D63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3A95F-1D90-4177-AE07-A77991C7693F}" type="datetimeFigureOut">
              <a:rPr lang="en-IN" smtClean="0"/>
              <a:t>03/10/24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AB586-C428-4C90-9723-7469BD726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6AE97-0F5B-48FF-89F0-E5528E092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341C-E7DD-4DB0-B2F9-61B484A4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169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911BC-9ED8-494A-8A22-A60E76587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852D33-16A4-4FD0-AD5D-0BE118E8F7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56B84-EBB1-40CC-B6BD-73E13DC9B7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011FC-28FF-4F44-903F-83B6E1B1E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3A95F-1D90-4177-AE07-A77991C7693F}" type="datetimeFigureOut">
              <a:rPr lang="en-IN" smtClean="0"/>
              <a:t>03/10/24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462AB-2B11-422C-B476-4C10E700E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2DB67-5C6E-4EE0-B4D1-9597D5F13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341C-E7DD-4DB0-B2F9-61B484A4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735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AFEC6-AB52-49B4-8126-5DC55FF1A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848F67-77F1-4433-992C-684C67C05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E0D9C-63A4-4693-AC65-81A515EF0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3A95F-1D90-4177-AE07-A77991C7693F}" type="datetimeFigureOut">
              <a:rPr lang="en-IN" smtClean="0"/>
              <a:t>03/10/24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70765-45D9-4CD4-8C80-3918EE0F1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6FBBB-F96A-4487-ACE4-73F63EF2D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341C-E7DD-4DB0-B2F9-61B484A4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91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E57915-BF7F-49A4-A67A-9AFF361173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D2EE0-2F2C-4845-8AA2-A28758E09D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A269E-D53F-4215-9B67-EFCEF78D7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3A95F-1D90-4177-AE07-A77991C7693F}" type="datetimeFigureOut">
              <a:rPr lang="en-IN" smtClean="0"/>
              <a:t>03/10/24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572CE-DAE0-4FD0-A19F-A72F6D28F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38250-C3E9-44CB-95B4-5981AA36A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341C-E7DD-4DB0-B2F9-61B484A4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105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C17BC0-1D87-4585-9586-2EEA188B6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C709D-D0FD-4D93-A13C-41D16C718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58B20-1617-4109-8EAB-91BC2897CE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A3A95F-1D90-4177-AE07-A77991C7693F}" type="datetimeFigureOut">
              <a:rPr lang="en-IN" smtClean="0"/>
              <a:t>03/10/24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F1CD5-2F9D-469C-8E24-82B22E3339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F05E9-6911-48F2-B57E-0D7E42AB2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D341C-E7DD-4DB0-B2F9-61B484A4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044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2DDF-D919-49F1-BE4D-A9B6DEE0D8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AD03D6-6692-4B97-AF96-C4FF15EE07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5667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B7969-291E-4C0E-AD89-DF9DE6115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 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9D4CC-F463-4EDD-9A33-0BE25F740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Data type</a:t>
            </a:r>
          </a:p>
          <a:p>
            <a:pPr marL="0" indent="0">
              <a:buNone/>
            </a:pPr>
            <a:r>
              <a:rPr lang="en-US" dirty="0"/>
              <a:t>Abstract Data Type(ADT)</a:t>
            </a:r>
          </a:p>
          <a:p>
            <a:pPr marL="0" indent="0">
              <a:buNone/>
            </a:pPr>
            <a:r>
              <a:rPr lang="en-US" dirty="0"/>
              <a:t>Stack Data Structure</a:t>
            </a:r>
          </a:p>
          <a:p>
            <a:pPr marL="0" indent="0">
              <a:buNone/>
            </a:pPr>
            <a:r>
              <a:rPr lang="en-US" dirty="0"/>
              <a:t>Stack ADT</a:t>
            </a:r>
          </a:p>
          <a:p>
            <a:pPr marL="0" indent="0">
              <a:buNone/>
            </a:pPr>
            <a:r>
              <a:rPr lang="en-IN" dirty="0"/>
              <a:t>Postfix evaluation algorithm and code using Stack ADT</a:t>
            </a:r>
          </a:p>
          <a:p>
            <a:pPr marL="0" indent="0">
              <a:buNone/>
            </a:pPr>
            <a:r>
              <a:rPr lang="en-IN" dirty="0"/>
              <a:t>Algorithm and code for Evaluation of Infix expression</a:t>
            </a:r>
          </a:p>
        </p:txBody>
      </p:sp>
    </p:spTree>
    <p:extLst>
      <p:ext uri="{BB962C8B-B14F-4D97-AF65-F5344CB8AC3E}">
        <p14:creationId xmlns:p14="http://schemas.microsoft.com/office/powerpoint/2010/main" val="947113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07" y="698345"/>
            <a:ext cx="10363200" cy="41148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Recall…..</a:t>
            </a:r>
          </a:p>
          <a:p>
            <a:r>
              <a:rPr lang="en-US" dirty="0"/>
              <a:t>The way to write arithmetic expression is known as a </a:t>
            </a:r>
            <a:r>
              <a:rPr lang="en-US" b="1" dirty="0"/>
              <a:t>notation</a:t>
            </a:r>
            <a:r>
              <a:rPr lang="en-US" dirty="0"/>
              <a:t>. An arithmetic expression can be written in three different but equivalent notations, i.e., without changing the essence or output of an expression. These notations are −</a:t>
            </a:r>
          </a:p>
          <a:p>
            <a:r>
              <a:rPr lang="en-US" dirty="0"/>
              <a:t>Infix Notation</a:t>
            </a:r>
          </a:p>
          <a:p>
            <a:r>
              <a:rPr lang="en-US" dirty="0"/>
              <a:t>Prefix (Polish) Notation</a:t>
            </a:r>
          </a:p>
          <a:p>
            <a:r>
              <a:rPr lang="en-US" dirty="0"/>
              <a:t>Postfix (Reverse-Polish) Notation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These notations are named as how they use operator in expression.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044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8EE58-323A-46B3-8CE6-3E4DEEF5D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8861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b="1" dirty="0"/>
              <a:t>Data Type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1C11F-343E-4808-A839-EE3E78BB4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Data type is most primitive classification of data. It represents its Storage, Interpretation, Operations.</a:t>
            </a:r>
          </a:p>
          <a:p>
            <a:pPr marL="0" indent="0">
              <a:buNone/>
            </a:pPr>
            <a:r>
              <a:rPr lang="en-US" dirty="0"/>
              <a:t>Every single value is an entity.</a:t>
            </a:r>
          </a:p>
          <a:p>
            <a:pPr marL="0" indent="0">
              <a:buNone/>
            </a:pPr>
            <a:r>
              <a:rPr lang="en-US" dirty="0" err="1"/>
              <a:t>Eg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int num = 0;</a:t>
            </a:r>
          </a:p>
          <a:p>
            <a:pPr marL="0" indent="0">
              <a:buNone/>
            </a:pPr>
            <a:r>
              <a:rPr lang="en-US" dirty="0"/>
              <a:t>4 Bytes ( as defined by the complier)</a:t>
            </a:r>
          </a:p>
          <a:p>
            <a:pPr marL="0" indent="0">
              <a:buNone/>
            </a:pPr>
            <a:r>
              <a:rPr lang="en-US" dirty="0"/>
              <a:t>Interpretation :  2’s Complement rep /  (float)IEEE standards 754</a:t>
            </a:r>
          </a:p>
          <a:p>
            <a:pPr marL="0" indent="0">
              <a:buNone/>
            </a:pPr>
            <a:r>
              <a:rPr lang="en-US" dirty="0"/>
              <a:t>Operations:  + - * / % &gt;&gt;,&lt;&lt;  </a:t>
            </a:r>
            <a:r>
              <a:rPr lang="en-US" dirty="0" err="1"/>
              <a:t>etc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Num = Num *10 + dig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8319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39D2E-2B1A-4890-A1A1-7D3525991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structure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79298-B16F-4337-9842-241B37F88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data structure</a:t>
            </a:r>
            <a:r>
              <a:rPr lang="en-US" dirty="0"/>
              <a:t> is a </a:t>
            </a:r>
            <a:r>
              <a:rPr lang="en-US" dirty="0">
                <a:solidFill>
                  <a:srgbClr val="FF0000"/>
                </a:solidFill>
              </a:rPr>
              <a:t>set of data </a:t>
            </a:r>
            <a:r>
              <a:rPr lang="en-US" dirty="0"/>
              <a:t>considered as one entity (thing). 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 err="1"/>
              <a:t>Eg</a:t>
            </a:r>
            <a:r>
              <a:rPr lang="en-US" dirty="0"/>
              <a:t>: Array, linked list, stack, queue </a:t>
            </a:r>
            <a:r>
              <a:rPr lang="en-US" dirty="0" err="1"/>
              <a:t>etc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It is a collection of data types. It is a collection of organizing the items in terms of memory and also the way of accessing each item through some defined logic.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882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6BFDA-995E-4C9D-B498-684DA881D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abstract data type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88606-DD3E-4324-A820-88DA27552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 </a:t>
            </a:r>
            <a:r>
              <a:rPr lang="en-US" b="1" dirty="0"/>
              <a:t>abstract data type</a:t>
            </a:r>
            <a:r>
              <a:rPr lang="en-US" dirty="0"/>
              <a:t> is a mathematical model of a data structure and operations on them. In other words, an ADT is an interface to what a DS is the implementation.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2696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BFB7F-CB2D-4EF3-9AC1-162FE651B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B012C-4185-4C55-8536-31ADB9BFC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Int </a:t>
            </a:r>
            <a:r>
              <a:rPr lang="en-US" dirty="0" err="1"/>
              <a:t>x,y,z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X= y*z;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What?   KNOWN</a:t>
            </a:r>
          </a:p>
          <a:p>
            <a:pPr marL="0" indent="0">
              <a:buNone/>
            </a:pPr>
            <a:r>
              <a:rPr lang="en-US" dirty="0"/>
              <a:t>How?  UNKNOWN (abstract)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5484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EAAD-4CC7-462B-BEF7-90ABD68AA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ADT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C727F-2BE5-412F-AD8D-75EC2CBEF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Collection of elements with two principal operations :</a:t>
            </a:r>
            <a:endParaRPr lang="en-US" sz="4000" dirty="0">
              <a:solidFill>
                <a:srgbClr val="FF0000"/>
              </a:solidFill>
            </a:endParaRPr>
          </a:p>
          <a:p>
            <a:r>
              <a:rPr lang="en-US" b="1" dirty="0"/>
              <a:t>push</a:t>
            </a:r>
            <a:r>
              <a:rPr lang="en-US" dirty="0"/>
              <a:t>, which adds an element to the collection, and</a:t>
            </a:r>
          </a:p>
          <a:p>
            <a:r>
              <a:rPr lang="en-US" b="1" dirty="0"/>
              <a:t>pop</a:t>
            </a:r>
            <a:r>
              <a:rPr lang="en-US" dirty="0"/>
              <a:t>, which removes the most recently added element that was not yet removed.</a:t>
            </a:r>
          </a:p>
          <a:p>
            <a:pPr marL="0" indent="0">
              <a:buNone/>
            </a:pPr>
            <a:endParaRPr lang="en-IN" sz="4000" dirty="0"/>
          </a:p>
          <a:p>
            <a:pPr marL="0" indent="0">
              <a:buNone/>
            </a:pPr>
            <a:r>
              <a:rPr lang="en-US" sz="4000" dirty="0"/>
              <a:t>Stack is a Last in First Out list</a:t>
            </a:r>
          </a:p>
          <a:p>
            <a:pPr marL="0" indent="0">
              <a:buNone/>
            </a:pP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63925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5448" t="36358" r="27747" b="20524"/>
          <a:stretch/>
        </p:blipFill>
        <p:spPr>
          <a:xfrm>
            <a:off x="518614" y="859809"/>
            <a:ext cx="9934205" cy="514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934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4890" t="20126" r="27745" b="34435"/>
          <a:stretch/>
        </p:blipFill>
        <p:spPr>
          <a:xfrm>
            <a:off x="627797" y="750627"/>
            <a:ext cx="9362364" cy="504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727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Last In First Out</a:t>
            </a:r>
          </a:p>
        </p:txBody>
      </p:sp>
      <p:sp>
        <p:nvSpPr>
          <p:cNvPr id="11267" name="Text Box 4"/>
          <p:cNvSpPr txBox="1">
            <a:spLocks noChangeArrowheads="1"/>
          </p:cNvSpPr>
          <p:nvPr/>
        </p:nvSpPr>
        <p:spPr bwMode="auto">
          <a:xfrm>
            <a:off x="156845" y="3084195"/>
            <a:ext cx="946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TW" altLang="zh-TW">
                <a:solidFill>
                  <a:srgbClr val="000000"/>
                </a:solidFill>
                <a:ea typeface="PMingLiU" panose="02020500000000000000" pitchFamily="18" charset="-120"/>
              </a:rPr>
              <a:t>          </a:t>
            </a:r>
          </a:p>
        </p:txBody>
      </p:sp>
      <p:sp>
        <p:nvSpPr>
          <p:cNvPr id="11268" name="Rectangle 5"/>
          <p:cNvSpPr>
            <a:spLocks noChangeArrowheads="1"/>
          </p:cNvSpPr>
          <p:nvPr/>
        </p:nvSpPr>
        <p:spPr bwMode="auto">
          <a:xfrm>
            <a:off x="1327786" y="1662549"/>
            <a:ext cx="4572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1269" name="Rectangle 6"/>
          <p:cNvSpPr>
            <a:spLocks noChangeArrowheads="1"/>
          </p:cNvSpPr>
          <p:nvPr/>
        </p:nvSpPr>
        <p:spPr bwMode="auto">
          <a:xfrm>
            <a:off x="2699386" y="1662549"/>
            <a:ext cx="4572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TW" altLang="zh-TW">
              <a:solidFill>
                <a:srgbClr val="000000"/>
              </a:solidFill>
              <a:ea typeface="PMingLiU" panose="02020500000000000000" pitchFamily="18" charset="-12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TW" altLang="zh-TW">
              <a:solidFill>
                <a:srgbClr val="000000"/>
              </a:solidFill>
              <a:ea typeface="PMingLiU" panose="02020500000000000000" pitchFamily="18" charset="-12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TW" altLang="zh-TW">
              <a:solidFill>
                <a:srgbClr val="000000"/>
              </a:solidFill>
              <a:ea typeface="PMingLiU" panose="02020500000000000000" pitchFamily="18" charset="-12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>
                <a:solidFill>
                  <a:srgbClr val="000000"/>
                </a:solidFill>
                <a:ea typeface="PMingLiU" panose="02020500000000000000" pitchFamily="18" charset="-120"/>
              </a:rPr>
              <a:t>B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>
                <a:solidFill>
                  <a:srgbClr val="000000"/>
                </a:solidFill>
                <a:ea typeface="PMingLiU" panose="02020500000000000000" pitchFamily="18" charset="-120"/>
              </a:rPr>
              <a:t>A</a:t>
            </a:r>
          </a:p>
        </p:txBody>
      </p:sp>
      <p:sp>
        <p:nvSpPr>
          <p:cNvPr id="11270" name="Rectangle 7"/>
          <p:cNvSpPr>
            <a:spLocks noChangeArrowheads="1"/>
          </p:cNvSpPr>
          <p:nvPr/>
        </p:nvSpPr>
        <p:spPr bwMode="auto">
          <a:xfrm>
            <a:off x="5213986" y="1662549"/>
            <a:ext cx="4572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TW" altLang="zh-TW" dirty="0">
              <a:solidFill>
                <a:srgbClr val="000000"/>
              </a:solidFill>
              <a:ea typeface="PMingLiU" panose="02020500000000000000" pitchFamily="18" charset="-12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altLang="zh-TW" dirty="0">
              <a:solidFill>
                <a:srgbClr val="000000"/>
              </a:solidFill>
              <a:ea typeface="PMingLiU" panose="02020500000000000000" pitchFamily="18" charset="-12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altLang="zh-TW" dirty="0">
              <a:solidFill>
                <a:srgbClr val="000000"/>
              </a:solidFill>
              <a:ea typeface="PMingLiU" panose="02020500000000000000" pitchFamily="18" charset="-12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dirty="0">
                <a:solidFill>
                  <a:srgbClr val="000000"/>
                </a:solidFill>
                <a:ea typeface="PMingLiU" panose="02020500000000000000" pitchFamily="18" charset="-120"/>
              </a:rPr>
              <a:t>B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dirty="0">
                <a:solidFill>
                  <a:srgbClr val="000000"/>
                </a:solidFill>
                <a:ea typeface="PMingLiU" panose="02020500000000000000" pitchFamily="18" charset="-120"/>
              </a:rPr>
              <a:t>A</a:t>
            </a:r>
          </a:p>
        </p:txBody>
      </p:sp>
      <p:sp>
        <p:nvSpPr>
          <p:cNvPr id="11271" name="Rectangle 8"/>
          <p:cNvSpPr>
            <a:spLocks noChangeArrowheads="1"/>
          </p:cNvSpPr>
          <p:nvPr/>
        </p:nvSpPr>
        <p:spPr bwMode="auto">
          <a:xfrm>
            <a:off x="3994786" y="1662549"/>
            <a:ext cx="5334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TW" altLang="zh-TW">
              <a:solidFill>
                <a:srgbClr val="000000"/>
              </a:solidFill>
              <a:ea typeface="PMingLiU" panose="02020500000000000000" pitchFamily="18" charset="-12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TW" altLang="zh-TW">
              <a:solidFill>
                <a:srgbClr val="000000"/>
              </a:solidFill>
              <a:ea typeface="PMingLiU" panose="02020500000000000000" pitchFamily="18" charset="-12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>
                <a:solidFill>
                  <a:srgbClr val="000000"/>
                </a:solidFill>
                <a:ea typeface="PMingLiU" panose="02020500000000000000" pitchFamily="18" charset="-120"/>
              </a:rPr>
              <a:t>C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>
                <a:solidFill>
                  <a:srgbClr val="000000"/>
                </a:solidFill>
                <a:ea typeface="PMingLiU" panose="02020500000000000000" pitchFamily="18" charset="-120"/>
              </a:rPr>
              <a:t>B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>
                <a:solidFill>
                  <a:srgbClr val="000000"/>
                </a:solidFill>
                <a:ea typeface="PMingLiU" panose="02020500000000000000" pitchFamily="18" charset="-120"/>
              </a:rPr>
              <a:t>A</a:t>
            </a:r>
          </a:p>
        </p:txBody>
      </p:sp>
      <p:sp>
        <p:nvSpPr>
          <p:cNvPr id="11272" name="Rectangle 9"/>
          <p:cNvSpPr>
            <a:spLocks noChangeArrowheads="1"/>
          </p:cNvSpPr>
          <p:nvPr/>
        </p:nvSpPr>
        <p:spPr bwMode="auto">
          <a:xfrm>
            <a:off x="7728586" y="1662549"/>
            <a:ext cx="4572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TW" altLang="zh-TW" dirty="0">
              <a:solidFill>
                <a:srgbClr val="000000"/>
              </a:solidFill>
              <a:ea typeface="PMingLiU" panose="02020500000000000000" pitchFamily="18" charset="-12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altLang="zh-TW" dirty="0">
              <a:solidFill>
                <a:srgbClr val="000000"/>
              </a:solidFill>
              <a:ea typeface="PMingLiU" panose="02020500000000000000" pitchFamily="18" charset="-12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altLang="zh-TW" dirty="0">
              <a:solidFill>
                <a:srgbClr val="000000"/>
              </a:solidFill>
              <a:ea typeface="PMingLiU" panose="02020500000000000000" pitchFamily="18" charset="-12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altLang="zh-TW" dirty="0">
              <a:solidFill>
                <a:srgbClr val="000000"/>
              </a:solidFill>
              <a:ea typeface="PMingLiU" panose="02020500000000000000" pitchFamily="18" charset="-12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dirty="0">
                <a:solidFill>
                  <a:srgbClr val="000000"/>
                </a:solidFill>
                <a:ea typeface="PMingLiU" panose="02020500000000000000" pitchFamily="18" charset="-120"/>
              </a:rPr>
              <a:t>A</a:t>
            </a:r>
          </a:p>
        </p:txBody>
      </p:sp>
      <p:sp>
        <p:nvSpPr>
          <p:cNvPr id="11273" name="Rectangle 10"/>
          <p:cNvSpPr>
            <a:spLocks noChangeArrowheads="1"/>
          </p:cNvSpPr>
          <p:nvPr/>
        </p:nvSpPr>
        <p:spPr bwMode="auto">
          <a:xfrm>
            <a:off x="6509386" y="1662549"/>
            <a:ext cx="4572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altLang="zh-TW" dirty="0">
              <a:solidFill>
                <a:srgbClr val="000000"/>
              </a:solidFill>
              <a:ea typeface="PMingLiU" panose="02020500000000000000" pitchFamily="18" charset="-12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dirty="0">
                <a:solidFill>
                  <a:srgbClr val="000000"/>
                </a:solidFill>
                <a:ea typeface="PMingLiU" panose="02020500000000000000" pitchFamily="18" charset="-120"/>
              </a:rPr>
              <a:t>D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dirty="0">
                <a:solidFill>
                  <a:srgbClr val="000000"/>
                </a:solidFill>
                <a:ea typeface="PMingLiU" panose="02020500000000000000" pitchFamily="18" charset="-120"/>
              </a:rPr>
              <a:t>B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dirty="0">
                <a:solidFill>
                  <a:srgbClr val="000000"/>
                </a:solidFill>
                <a:ea typeface="PMingLiU" panose="02020500000000000000" pitchFamily="18" charset="-120"/>
              </a:rPr>
              <a:t>A</a:t>
            </a:r>
          </a:p>
        </p:txBody>
      </p:sp>
      <p:sp>
        <p:nvSpPr>
          <p:cNvPr id="11274" name="Line 11"/>
          <p:cNvSpPr>
            <a:spLocks noChangeShapeType="1"/>
          </p:cNvSpPr>
          <p:nvPr/>
        </p:nvSpPr>
        <p:spPr bwMode="auto">
          <a:xfrm flipH="1">
            <a:off x="1861186" y="3338949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75" name="Text Box 12"/>
          <p:cNvSpPr txBox="1">
            <a:spLocks noChangeArrowheads="1"/>
          </p:cNvSpPr>
          <p:nvPr/>
        </p:nvSpPr>
        <p:spPr bwMode="auto">
          <a:xfrm>
            <a:off x="2089786" y="3110349"/>
            <a:ext cx="573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>
                <a:solidFill>
                  <a:srgbClr val="000000"/>
                </a:solidFill>
                <a:ea typeface="PMingLiU" panose="02020500000000000000" pitchFamily="18" charset="-120"/>
              </a:rPr>
              <a:t>top</a:t>
            </a:r>
          </a:p>
        </p:txBody>
      </p:sp>
      <p:sp>
        <p:nvSpPr>
          <p:cNvPr id="11276" name="Line 13"/>
          <p:cNvSpPr>
            <a:spLocks noChangeShapeType="1"/>
          </p:cNvSpPr>
          <p:nvPr/>
        </p:nvSpPr>
        <p:spPr bwMode="auto">
          <a:xfrm>
            <a:off x="1327786" y="1662549"/>
            <a:ext cx="4572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77" name="Line 14"/>
          <p:cNvSpPr>
            <a:spLocks noChangeShapeType="1"/>
          </p:cNvSpPr>
          <p:nvPr/>
        </p:nvSpPr>
        <p:spPr bwMode="auto">
          <a:xfrm>
            <a:off x="2699386" y="1662549"/>
            <a:ext cx="4572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78" name="Line 15"/>
          <p:cNvSpPr>
            <a:spLocks noChangeShapeType="1"/>
          </p:cNvSpPr>
          <p:nvPr/>
        </p:nvSpPr>
        <p:spPr bwMode="auto">
          <a:xfrm>
            <a:off x="3994786" y="1662549"/>
            <a:ext cx="533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79" name="Line 16"/>
          <p:cNvSpPr>
            <a:spLocks noChangeShapeType="1"/>
          </p:cNvSpPr>
          <p:nvPr/>
        </p:nvSpPr>
        <p:spPr bwMode="auto">
          <a:xfrm>
            <a:off x="5213986" y="1662549"/>
            <a:ext cx="4572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80" name="Line 17"/>
          <p:cNvSpPr>
            <a:spLocks noChangeShapeType="1"/>
          </p:cNvSpPr>
          <p:nvPr/>
        </p:nvSpPr>
        <p:spPr bwMode="auto">
          <a:xfrm>
            <a:off x="6509386" y="1662549"/>
            <a:ext cx="4572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81" name="Line 18"/>
          <p:cNvSpPr>
            <a:spLocks noChangeShapeType="1"/>
          </p:cNvSpPr>
          <p:nvPr/>
        </p:nvSpPr>
        <p:spPr bwMode="auto">
          <a:xfrm>
            <a:off x="7728586" y="1662549"/>
            <a:ext cx="4572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82" name="Line 19"/>
          <p:cNvSpPr>
            <a:spLocks noChangeShapeType="1"/>
          </p:cNvSpPr>
          <p:nvPr/>
        </p:nvSpPr>
        <p:spPr bwMode="auto">
          <a:xfrm flipH="1">
            <a:off x="3156586" y="3034149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83" name="Line 20"/>
          <p:cNvSpPr>
            <a:spLocks noChangeShapeType="1"/>
          </p:cNvSpPr>
          <p:nvPr/>
        </p:nvSpPr>
        <p:spPr bwMode="auto">
          <a:xfrm flipH="1">
            <a:off x="4528186" y="2576949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84" name="Line 21"/>
          <p:cNvSpPr>
            <a:spLocks noChangeShapeType="1"/>
          </p:cNvSpPr>
          <p:nvPr/>
        </p:nvSpPr>
        <p:spPr bwMode="auto">
          <a:xfrm flipH="1">
            <a:off x="5671186" y="3034149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85" name="Line 22"/>
          <p:cNvSpPr>
            <a:spLocks noChangeShapeType="1"/>
          </p:cNvSpPr>
          <p:nvPr/>
        </p:nvSpPr>
        <p:spPr bwMode="auto">
          <a:xfrm flipH="1">
            <a:off x="7016751" y="2389624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86" name="Line 23"/>
          <p:cNvSpPr>
            <a:spLocks noChangeShapeType="1"/>
          </p:cNvSpPr>
          <p:nvPr/>
        </p:nvSpPr>
        <p:spPr bwMode="auto">
          <a:xfrm flipH="1">
            <a:off x="8185786" y="3369429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87" name="Text Box 24"/>
          <p:cNvSpPr txBox="1">
            <a:spLocks noChangeArrowheads="1"/>
          </p:cNvSpPr>
          <p:nvPr/>
        </p:nvSpPr>
        <p:spPr bwMode="auto">
          <a:xfrm>
            <a:off x="3369311" y="2770624"/>
            <a:ext cx="573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>
                <a:solidFill>
                  <a:srgbClr val="000000"/>
                </a:solidFill>
                <a:ea typeface="PMingLiU" panose="02020500000000000000" pitchFamily="18" charset="-120"/>
              </a:rPr>
              <a:t>top</a:t>
            </a:r>
          </a:p>
        </p:txBody>
      </p:sp>
      <p:sp>
        <p:nvSpPr>
          <p:cNvPr id="11288" name="Text Box 25"/>
          <p:cNvSpPr txBox="1">
            <a:spLocks noChangeArrowheads="1"/>
          </p:cNvSpPr>
          <p:nvPr/>
        </p:nvSpPr>
        <p:spPr bwMode="auto">
          <a:xfrm>
            <a:off x="4664711" y="2389624"/>
            <a:ext cx="573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>
                <a:solidFill>
                  <a:srgbClr val="000000"/>
                </a:solidFill>
                <a:ea typeface="PMingLiU" panose="02020500000000000000" pitchFamily="18" charset="-120"/>
              </a:rPr>
              <a:t>top</a:t>
            </a:r>
          </a:p>
        </p:txBody>
      </p:sp>
      <p:sp>
        <p:nvSpPr>
          <p:cNvPr id="11289" name="Text Box 26"/>
          <p:cNvSpPr txBox="1">
            <a:spLocks noChangeArrowheads="1"/>
          </p:cNvSpPr>
          <p:nvPr/>
        </p:nvSpPr>
        <p:spPr bwMode="auto">
          <a:xfrm>
            <a:off x="5803742" y="2729508"/>
            <a:ext cx="573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dirty="0">
                <a:solidFill>
                  <a:srgbClr val="000000"/>
                </a:solidFill>
                <a:ea typeface="PMingLiU" panose="02020500000000000000" pitchFamily="18" charset="-120"/>
              </a:rPr>
              <a:t>top</a:t>
            </a:r>
          </a:p>
        </p:txBody>
      </p:sp>
      <p:sp>
        <p:nvSpPr>
          <p:cNvPr id="11290" name="Text Box 27"/>
          <p:cNvSpPr txBox="1">
            <a:spLocks noChangeArrowheads="1"/>
          </p:cNvSpPr>
          <p:nvPr/>
        </p:nvSpPr>
        <p:spPr bwMode="auto">
          <a:xfrm>
            <a:off x="7178676" y="2101016"/>
            <a:ext cx="573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dirty="0">
                <a:solidFill>
                  <a:srgbClr val="000000"/>
                </a:solidFill>
                <a:ea typeface="PMingLiU" panose="02020500000000000000" pitchFamily="18" charset="-120"/>
              </a:rPr>
              <a:t>top</a:t>
            </a:r>
          </a:p>
        </p:txBody>
      </p:sp>
      <p:sp>
        <p:nvSpPr>
          <p:cNvPr id="11291" name="Text Box 29"/>
          <p:cNvSpPr txBox="1">
            <a:spLocks noChangeArrowheads="1"/>
          </p:cNvSpPr>
          <p:nvPr/>
        </p:nvSpPr>
        <p:spPr bwMode="auto">
          <a:xfrm>
            <a:off x="1388112" y="3151624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29" name="Rectangle 9">
            <a:extLst>
              <a:ext uri="{FF2B5EF4-FFF2-40B4-BE49-F238E27FC236}">
                <a16:creationId xmlns:a16="http://schemas.microsoft.com/office/drawing/2014/main" id="{F5D81F99-B9A4-4B1D-AA3A-4ED0622A1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6640" y="1662549"/>
            <a:ext cx="4572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TW" altLang="zh-TW" dirty="0">
              <a:solidFill>
                <a:srgbClr val="000000"/>
              </a:solidFill>
              <a:ea typeface="PMingLiU" panose="02020500000000000000" pitchFamily="18" charset="-120"/>
            </a:endParaRPr>
          </a:p>
        </p:txBody>
      </p:sp>
      <p:sp>
        <p:nvSpPr>
          <p:cNvPr id="30" name="Line 18">
            <a:extLst>
              <a:ext uri="{FF2B5EF4-FFF2-40B4-BE49-F238E27FC236}">
                <a16:creationId xmlns:a16="http://schemas.microsoft.com/office/drawing/2014/main" id="{BEEBAC9E-0D41-4AAB-AAD2-5E0CF3A95C60}"/>
              </a:ext>
            </a:extLst>
          </p:cNvPr>
          <p:cNvSpPr>
            <a:spLocks noChangeShapeType="1"/>
          </p:cNvSpPr>
          <p:nvPr/>
        </p:nvSpPr>
        <p:spPr bwMode="auto">
          <a:xfrm>
            <a:off x="8676640" y="1662549"/>
            <a:ext cx="4572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" name="Line 23">
            <a:extLst>
              <a:ext uri="{FF2B5EF4-FFF2-40B4-BE49-F238E27FC236}">
                <a16:creationId xmlns:a16="http://schemas.microsoft.com/office/drawing/2014/main" id="{3134708D-8798-4446-ABE4-8F9603B71F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42673" y="3608824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Line 18">
            <a:extLst>
              <a:ext uri="{FF2B5EF4-FFF2-40B4-BE49-F238E27FC236}">
                <a16:creationId xmlns:a16="http://schemas.microsoft.com/office/drawing/2014/main" id="{54975CEC-99EE-4716-8CE2-7A53E96BF453}"/>
              </a:ext>
            </a:extLst>
          </p:cNvPr>
          <p:cNvSpPr>
            <a:spLocks noChangeShapeType="1"/>
          </p:cNvSpPr>
          <p:nvPr/>
        </p:nvSpPr>
        <p:spPr bwMode="auto">
          <a:xfrm>
            <a:off x="8676640" y="2017395"/>
            <a:ext cx="4572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382E16-191D-45C1-A3DD-584C20E418B3}"/>
              </a:ext>
            </a:extLst>
          </p:cNvPr>
          <p:cNvSpPr txBox="1"/>
          <p:nvPr/>
        </p:nvSpPr>
        <p:spPr>
          <a:xfrm flipH="1">
            <a:off x="1156973" y="3865483"/>
            <a:ext cx="1066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push A</a:t>
            </a:r>
          </a:p>
          <a:p>
            <a:endParaRPr lang="en-IN" sz="2000" dirty="0"/>
          </a:p>
        </p:txBody>
      </p:sp>
      <p:sp>
        <p:nvSpPr>
          <p:cNvPr id="36" name="Rectangle 9">
            <a:extLst>
              <a:ext uri="{FF2B5EF4-FFF2-40B4-BE49-F238E27FC236}">
                <a16:creationId xmlns:a16="http://schemas.microsoft.com/office/drawing/2014/main" id="{00F5566F-2F00-4EA7-BB02-81F59FADD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473" y="1686559"/>
            <a:ext cx="457200" cy="189505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TW" altLang="zh-TW" dirty="0">
              <a:solidFill>
                <a:srgbClr val="000000"/>
              </a:solidFill>
              <a:ea typeface="PMingLiU" panose="02020500000000000000" pitchFamily="18" charset="-12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10F9EA-2278-40F4-B802-737DF42A2204}"/>
              </a:ext>
            </a:extLst>
          </p:cNvPr>
          <p:cNvSpPr txBox="1"/>
          <p:nvPr/>
        </p:nvSpPr>
        <p:spPr>
          <a:xfrm flipH="1">
            <a:off x="2589053" y="3831074"/>
            <a:ext cx="1066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push B</a:t>
            </a:r>
          </a:p>
          <a:p>
            <a:endParaRPr lang="en-IN" sz="2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4A7B46-3335-434E-A456-6C5E861859B7}"/>
              </a:ext>
            </a:extLst>
          </p:cNvPr>
          <p:cNvSpPr txBox="1"/>
          <p:nvPr/>
        </p:nvSpPr>
        <p:spPr>
          <a:xfrm flipH="1">
            <a:off x="3884453" y="3822322"/>
            <a:ext cx="1066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push C</a:t>
            </a:r>
          </a:p>
          <a:p>
            <a:endParaRPr lang="en-IN" sz="2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6DC0F4-0434-45C7-AB8B-5486EA9CA9DF}"/>
              </a:ext>
            </a:extLst>
          </p:cNvPr>
          <p:cNvSpPr txBox="1"/>
          <p:nvPr/>
        </p:nvSpPr>
        <p:spPr>
          <a:xfrm flipH="1">
            <a:off x="5010941" y="3820498"/>
            <a:ext cx="12698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x = pop()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52E0863-B3EC-432D-AF4C-70CEB32A42A5}"/>
              </a:ext>
            </a:extLst>
          </p:cNvPr>
          <p:cNvSpPr txBox="1"/>
          <p:nvPr/>
        </p:nvSpPr>
        <p:spPr>
          <a:xfrm flipH="1">
            <a:off x="6398418" y="3819316"/>
            <a:ext cx="10668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push 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502805F-1DBD-43C4-A645-9A76A86BBD73}"/>
              </a:ext>
            </a:extLst>
          </p:cNvPr>
          <p:cNvSpPr txBox="1"/>
          <p:nvPr/>
        </p:nvSpPr>
        <p:spPr>
          <a:xfrm flipH="1">
            <a:off x="7523792" y="3767574"/>
            <a:ext cx="1093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x = pop()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5A5FEC-21DD-4E21-946D-30F708312BB3}"/>
              </a:ext>
            </a:extLst>
          </p:cNvPr>
          <p:cNvSpPr txBox="1"/>
          <p:nvPr/>
        </p:nvSpPr>
        <p:spPr>
          <a:xfrm flipH="1">
            <a:off x="7478876" y="4220161"/>
            <a:ext cx="12098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x = pop()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0F2A42-789D-4CC8-A544-C14F49A72EC2}"/>
              </a:ext>
            </a:extLst>
          </p:cNvPr>
          <p:cNvSpPr txBox="1"/>
          <p:nvPr/>
        </p:nvSpPr>
        <p:spPr>
          <a:xfrm flipH="1">
            <a:off x="7465220" y="4672748"/>
            <a:ext cx="1223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x = pop()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C8DF8F7-06D8-4561-859D-52AB91F796B2}"/>
              </a:ext>
            </a:extLst>
          </p:cNvPr>
          <p:cNvSpPr txBox="1"/>
          <p:nvPr/>
        </p:nvSpPr>
        <p:spPr>
          <a:xfrm flipH="1">
            <a:off x="8663308" y="3768070"/>
            <a:ext cx="20453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x = pop()</a:t>
            </a:r>
          </a:p>
          <a:p>
            <a:endParaRPr lang="en-US" sz="2400" b="1" dirty="0"/>
          </a:p>
          <a:p>
            <a:r>
              <a:rPr lang="en-US" sz="2400" b="1" dirty="0"/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1519119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EAAD-4CC7-462B-BEF7-90ABD68AA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ADT (extension)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C727F-2BE5-412F-AD8D-75EC2CBEF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4000" dirty="0"/>
              <a:t>Collection of elements with the operations:</a:t>
            </a:r>
          </a:p>
          <a:p>
            <a:pPr marL="0" indent="0">
              <a:buNone/>
            </a:pPr>
            <a:r>
              <a:rPr lang="en-US" sz="4000" dirty="0">
                <a:solidFill>
                  <a:srgbClr val="FF0000"/>
                </a:solidFill>
              </a:rPr>
              <a:t>Push</a:t>
            </a:r>
            <a:r>
              <a:rPr lang="en-US" sz="4000" dirty="0"/>
              <a:t>(element)</a:t>
            </a:r>
          </a:p>
          <a:p>
            <a:pPr marL="0" indent="0">
              <a:buNone/>
            </a:pPr>
            <a:r>
              <a:rPr lang="en-US" sz="4000" dirty="0"/>
              <a:t>Element </a:t>
            </a:r>
            <a:r>
              <a:rPr lang="en-US" sz="4000" dirty="0">
                <a:solidFill>
                  <a:srgbClr val="FF0000"/>
                </a:solidFill>
              </a:rPr>
              <a:t>pop() </a:t>
            </a:r>
          </a:p>
          <a:p>
            <a:pPr marL="0" indent="0">
              <a:buNone/>
            </a:pPr>
            <a:r>
              <a:rPr lang="en-US" sz="4000" dirty="0"/>
              <a:t>Bool </a:t>
            </a:r>
            <a:r>
              <a:rPr lang="en-US" sz="4000" dirty="0" err="1"/>
              <a:t>isempty</a:t>
            </a:r>
            <a:r>
              <a:rPr lang="en-US" sz="4000" dirty="0"/>
              <a:t>()</a:t>
            </a:r>
          </a:p>
          <a:p>
            <a:pPr marL="0" indent="0">
              <a:buNone/>
            </a:pPr>
            <a:r>
              <a:rPr lang="en-US" sz="4000" dirty="0"/>
              <a:t>Bool </a:t>
            </a:r>
            <a:r>
              <a:rPr lang="en-US" sz="4000" dirty="0" err="1"/>
              <a:t>isfull</a:t>
            </a:r>
            <a:r>
              <a:rPr lang="en-US" sz="4000" dirty="0"/>
              <a:t>()</a:t>
            </a:r>
          </a:p>
          <a:p>
            <a:pPr marL="0" indent="0">
              <a:buNone/>
            </a:pPr>
            <a:r>
              <a:rPr lang="en-US" sz="4000" dirty="0"/>
              <a:t>Element peek()</a:t>
            </a:r>
          </a:p>
          <a:p>
            <a:pPr marL="0" indent="0">
              <a:buNone/>
            </a:pPr>
            <a:r>
              <a:rPr lang="en-US" sz="4000" dirty="0"/>
              <a:t>Initialize()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714206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28558-B298-403E-BB3B-404771D95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254000"/>
            <a:ext cx="3591560" cy="23368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/>
              <a:t>#define MAX 32</a:t>
            </a:r>
          </a:p>
          <a:p>
            <a:pPr marL="0" indent="0">
              <a:buNone/>
            </a:pPr>
            <a:r>
              <a:rPr lang="en-IN" sz="2400" dirty="0"/>
              <a:t>typedef struct stack {	</a:t>
            </a:r>
          </a:p>
          <a:p>
            <a:pPr marL="0" indent="0">
              <a:buNone/>
            </a:pPr>
            <a:r>
              <a:rPr lang="en-IN" sz="2400" dirty="0"/>
              <a:t>int a[MAX];</a:t>
            </a:r>
          </a:p>
          <a:p>
            <a:pPr marL="0" indent="0">
              <a:buNone/>
            </a:pPr>
            <a:r>
              <a:rPr lang="en-IN" sz="2400" dirty="0"/>
              <a:t>int </a:t>
            </a:r>
            <a:r>
              <a:rPr lang="en-IN" sz="2400" dirty="0" err="1"/>
              <a:t>i</a:t>
            </a:r>
            <a:r>
              <a:rPr lang="en-IN" sz="2400" dirty="0"/>
              <a:t>;</a:t>
            </a:r>
          </a:p>
          <a:p>
            <a:pPr marL="0" indent="0">
              <a:buNone/>
            </a:pPr>
            <a:r>
              <a:rPr lang="en-IN" sz="2400" dirty="0"/>
              <a:t>}stack;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55D99F-8C56-4625-93B4-29B67486EA3F}"/>
              </a:ext>
            </a:extLst>
          </p:cNvPr>
          <p:cNvSpPr txBox="1">
            <a:spLocks/>
          </p:cNvSpPr>
          <p:nvPr/>
        </p:nvSpPr>
        <p:spPr>
          <a:xfrm>
            <a:off x="5687060" y="56042"/>
            <a:ext cx="3591560" cy="15443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void push(stack *s, int x)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	s-&gt;a[s-&gt;</a:t>
            </a:r>
            <a:r>
              <a:rPr lang="en-IN" sz="2400" dirty="0" err="1"/>
              <a:t>i</a:t>
            </a:r>
            <a:r>
              <a:rPr lang="en-IN" sz="2400" dirty="0"/>
              <a:t>++] = x;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C1EBF2E-39C5-4689-B4D9-3D7F75AF4854}"/>
              </a:ext>
            </a:extLst>
          </p:cNvPr>
          <p:cNvSpPr txBox="1">
            <a:spLocks/>
          </p:cNvSpPr>
          <p:nvPr/>
        </p:nvSpPr>
        <p:spPr>
          <a:xfrm>
            <a:off x="5687060" y="1600362"/>
            <a:ext cx="3591560" cy="1574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void </a:t>
            </a:r>
            <a:r>
              <a:rPr lang="en-IN" sz="2400" dirty="0" err="1"/>
              <a:t>init</a:t>
            </a:r>
            <a:r>
              <a:rPr lang="en-IN" sz="2400" dirty="0"/>
              <a:t>(stack *s)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	s-&gt;</a:t>
            </a:r>
            <a:r>
              <a:rPr lang="en-IN" sz="2400" dirty="0" err="1"/>
              <a:t>i</a:t>
            </a:r>
            <a:r>
              <a:rPr lang="en-IN" sz="2400" dirty="0"/>
              <a:t> = 0;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4D29B1-8963-4351-BBF2-216FFC1B402C}"/>
              </a:ext>
            </a:extLst>
          </p:cNvPr>
          <p:cNvSpPr txBox="1">
            <a:spLocks/>
          </p:cNvSpPr>
          <p:nvPr/>
        </p:nvSpPr>
        <p:spPr>
          <a:xfrm>
            <a:off x="5687060" y="4553431"/>
            <a:ext cx="3591560" cy="191960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int </a:t>
            </a:r>
            <a:r>
              <a:rPr lang="en-IN" sz="2400" dirty="0" err="1"/>
              <a:t>isempty</a:t>
            </a:r>
            <a:r>
              <a:rPr lang="en-IN" sz="2400" dirty="0"/>
              <a:t>(stack *s)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	return s-&gt;</a:t>
            </a:r>
            <a:r>
              <a:rPr lang="en-IN" sz="2400" dirty="0" err="1"/>
              <a:t>i</a:t>
            </a:r>
            <a:r>
              <a:rPr lang="en-IN" sz="2400" dirty="0"/>
              <a:t> == 0;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FE03114-8A5D-43DC-B9F6-324B911C0E6C}"/>
              </a:ext>
            </a:extLst>
          </p:cNvPr>
          <p:cNvSpPr txBox="1">
            <a:spLocks/>
          </p:cNvSpPr>
          <p:nvPr/>
        </p:nvSpPr>
        <p:spPr>
          <a:xfrm>
            <a:off x="5687060" y="3144682"/>
            <a:ext cx="3591560" cy="14087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int </a:t>
            </a:r>
            <a:r>
              <a:rPr lang="en-IN" sz="2400" dirty="0" err="1"/>
              <a:t>isfull</a:t>
            </a:r>
            <a:r>
              <a:rPr lang="en-IN" sz="2400" dirty="0"/>
              <a:t>(stack *s)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	return s-&gt;</a:t>
            </a:r>
            <a:r>
              <a:rPr lang="en-IN" sz="2400" dirty="0" err="1"/>
              <a:t>i</a:t>
            </a:r>
            <a:r>
              <a:rPr lang="en-IN" sz="2400" dirty="0"/>
              <a:t> == MAX;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}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64CBC2D-B1A8-44C2-BCFF-84D818F35221}"/>
              </a:ext>
            </a:extLst>
          </p:cNvPr>
          <p:cNvSpPr txBox="1">
            <a:spLocks/>
          </p:cNvSpPr>
          <p:nvPr/>
        </p:nvSpPr>
        <p:spPr>
          <a:xfrm>
            <a:off x="342899" y="2590800"/>
            <a:ext cx="3591560" cy="423814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/* the caller should check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 * </a:t>
            </a:r>
            <a:r>
              <a:rPr lang="en-IN" sz="2400" dirty="0" err="1"/>
              <a:t>isempty</a:t>
            </a:r>
            <a:r>
              <a:rPr lang="en-IN" sz="2400" dirty="0"/>
              <a:t>() before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  * calling pop().. </a:t>
            </a:r>
          </a:p>
          <a:p>
            <a:pPr marL="0" indent="0">
              <a:buNone/>
            </a:pPr>
            <a:r>
              <a:rPr lang="en-IN" sz="2400" dirty="0"/>
              <a:t>*/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int pop(stack *s)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	int temp;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	temp = s-&gt;a[s-&gt;</a:t>
            </a:r>
            <a:r>
              <a:rPr lang="en-IN" sz="2400" dirty="0" err="1"/>
              <a:t>i</a:t>
            </a:r>
            <a:r>
              <a:rPr lang="en-IN" sz="2400" dirty="0"/>
              <a:t> - 1];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	s-&gt;</a:t>
            </a:r>
            <a:r>
              <a:rPr lang="en-IN" sz="2400" dirty="0" err="1"/>
              <a:t>i</a:t>
            </a:r>
            <a:r>
              <a:rPr lang="en-IN" sz="2400" dirty="0"/>
              <a:t>--;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                   return temp;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92542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780A1-F04E-4051-A19C-AC3FB3EF86AC}"/>
              </a:ext>
            </a:extLst>
          </p:cNvPr>
          <p:cNvSpPr/>
          <p:nvPr/>
        </p:nvSpPr>
        <p:spPr>
          <a:xfrm>
            <a:off x="4089399" y="510183"/>
            <a:ext cx="4013201" cy="53553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                   switch(</a:t>
            </a:r>
            <a:r>
              <a:rPr lang="en-IN" dirty="0" err="1"/>
              <a:t>t.data.op</a:t>
            </a:r>
            <a:r>
              <a:rPr lang="en-IN" dirty="0"/>
              <a:t>) {</a:t>
            </a:r>
          </a:p>
          <a:p>
            <a:r>
              <a:rPr lang="en-IN" dirty="0"/>
              <a:t>				</a:t>
            </a:r>
          </a:p>
          <a:p>
            <a:r>
              <a:rPr lang="en-IN" dirty="0"/>
              <a:t>		case '+':</a:t>
            </a:r>
          </a:p>
          <a:p>
            <a:r>
              <a:rPr lang="en-IN" dirty="0"/>
              <a:t>			res = x + y;</a:t>
            </a:r>
          </a:p>
          <a:p>
            <a:r>
              <a:rPr lang="en-IN" dirty="0"/>
              <a:t>			break;</a:t>
            </a:r>
          </a:p>
          <a:p>
            <a:r>
              <a:rPr lang="en-IN" dirty="0"/>
              <a:t>		case '-':</a:t>
            </a:r>
          </a:p>
          <a:p>
            <a:r>
              <a:rPr lang="en-IN" dirty="0"/>
              <a:t>			res = x –y ;</a:t>
            </a:r>
          </a:p>
          <a:p>
            <a:r>
              <a:rPr lang="en-IN" dirty="0"/>
              <a:t>			break;</a:t>
            </a:r>
          </a:p>
          <a:p>
            <a:r>
              <a:rPr lang="en-IN" dirty="0"/>
              <a:t>		case '*':</a:t>
            </a:r>
          </a:p>
          <a:p>
            <a:r>
              <a:rPr lang="en-IN" dirty="0"/>
              <a:t>			res = x* y;</a:t>
            </a:r>
          </a:p>
          <a:p>
            <a:r>
              <a:rPr lang="en-IN" dirty="0"/>
              <a:t>			break;</a:t>
            </a:r>
          </a:p>
          <a:p>
            <a:r>
              <a:rPr lang="en-IN" dirty="0"/>
              <a:t>		case '/':</a:t>
            </a:r>
          </a:p>
          <a:p>
            <a:r>
              <a:rPr lang="en-IN" dirty="0"/>
              <a:t>			res = x/ y;</a:t>
            </a:r>
          </a:p>
          <a:p>
            <a:r>
              <a:rPr lang="en-IN" dirty="0"/>
              <a:t>			break;</a:t>
            </a:r>
          </a:p>
          <a:p>
            <a:r>
              <a:rPr lang="en-IN" dirty="0"/>
              <a:t>		case '%':</a:t>
            </a:r>
          </a:p>
          <a:p>
            <a:r>
              <a:rPr lang="en-IN" dirty="0"/>
              <a:t>			res = x% y;</a:t>
            </a:r>
          </a:p>
          <a:p>
            <a:r>
              <a:rPr lang="en-IN" dirty="0"/>
              <a:t>			break;</a:t>
            </a:r>
          </a:p>
          <a:p>
            <a:r>
              <a:rPr lang="en-IN" dirty="0"/>
              <a:t>                   }</a:t>
            </a:r>
          </a:p>
          <a:p>
            <a:r>
              <a:rPr lang="en-IN" dirty="0"/>
              <a:t>			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7C918-591C-403A-82C2-34805D483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2795"/>
          </a:xfrm>
        </p:spPr>
        <p:txBody>
          <a:bodyPr>
            <a:normAutofit/>
          </a:bodyPr>
          <a:lstStyle/>
          <a:p>
            <a:r>
              <a:rPr lang="en-US" sz="3600" dirty="0"/>
              <a:t>Postfix() revisited..</a:t>
            </a:r>
            <a:endParaRPr lang="en-IN" sz="3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A62F89-4228-4CA2-9854-6D2B3EF5C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628" y="992505"/>
            <a:ext cx="4587240" cy="47336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600" dirty="0"/>
              <a:t>int postfix(char *str) {</a:t>
            </a:r>
          </a:p>
          <a:p>
            <a:pPr marL="0" indent="0">
              <a:buNone/>
            </a:pPr>
            <a:r>
              <a:rPr lang="en-IN" sz="1600" dirty="0"/>
              <a:t>	int a[32];</a:t>
            </a:r>
          </a:p>
          <a:p>
            <a:pPr marL="0" indent="0">
              <a:buNone/>
            </a:pPr>
            <a:r>
              <a:rPr lang="en-IN" sz="1600" dirty="0"/>
              <a:t>	int </a:t>
            </a:r>
            <a:r>
              <a:rPr lang="en-IN" sz="1600" dirty="0" err="1"/>
              <a:t>i</a:t>
            </a:r>
            <a:r>
              <a:rPr lang="en-IN" sz="1600" dirty="0"/>
              <a:t> = 0;</a:t>
            </a:r>
          </a:p>
          <a:p>
            <a:pPr marL="0" indent="0">
              <a:buNone/>
            </a:pPr>
            <a:r>
              <a:rPr lang="en-IN" sz="1600" dirty="0"/>
              <a:t>	int x, y, res;</a:t>
            </a:r>
          </a:p>
          <a:p>
            <a:pPr marL="0" indent="0">
              <a:buNone/>
            </a:pPr>
            <a:r>
              <a:rPr lang="en-IN" sz="1600" dirty="0"/>
              <a:t>	token t;</a:t>
            </a:r>
          </a:p>
          <a:p>
            <a:pPr marL="0" indent="0">
              <a:buNone/>
            </a:pPr>
            <a:r>
              <a:rPr lang="en-IN" sz="1600" dirty="0"/>
              <a:t>	while(1) {</a:t>
            </a:r>
          </a:p>
          <a:p>
            <a:pPr marL="0" indent="0">
              <a:buNone/>
            </a:pPr>
            <a:r>
              <a:rPr lang="en-IN" sz="1600" dirty="0"/>
              <a:t>		t = </a:t>
            </a:r>
            <a:r>
              <a:rPr lang="en-IN" sz="1600" dirty="0" err="1"/>
              <a:t>getnext</a:t>
            </a:r>
            <a:r>
              <a:rPr lang="en-IN" sz="1600" dirty="0"/>
              <a:t>(str);</a:t>
            </a:r>
          </a:p>
          <a:p>
            <a:pPr marL="0" indent="0">
              <a:buNone/>
            </a:pPr>
            <a:r>
              <a:rPr lang="en-IN" sz="1600" dirty="0"/>
              <a:t>		if(</a:t>
            </a:r>
            <a:r>
              <a:rPr lang="en-IN" sz="1600" dirty="0" err="1"/>
              <a:t>t.type</a:t>
            </a:r>
            <a:r>
              <a:rPr lang="en-IN" sz="1600" dirty="0"/>
              <a:t> == OPERAND) {</a:t>
            </a:r>
          </a:p>
          <a:p>
            <a:pPr marL="0" indent="0">
              <a:buNone/>
            </a:pPr>
            <a:r>
              <a:rPr lang="en-IN" sz="1600" dirty="0"/>
              <a:t>		</a:t>
            </a:r>
            <a:r>
              <a:rPr lang="en-IN" sz="1600" b="1" dirty="0"/>
              <a:t>a[</a:t>
            </a:r>
            <a:r>
              <a:rPr lang="en-IN" sz="1600" b="1" dirty="0" err="1"/>
              <a:t>i</a:t>
            </a:r>
            <a:r>
              <a:rPr lang="en-IN" sz="1600" b="1" dirty="0"/>
              <a:t>++] = </a:t>
            </a:r>
            <a:r>
              <a:rPr lang="en-IN" sz="1600" b="1" dirty="0" err="1"/>
              <a:t>t.data.num</a:t>
            </a:r>
            <a:r>
              <a:rPr lang="en-IN" sz="1600" b="1" dirty="0"/>
              <a:t>;</a:t>
            </a:r>
          </a:p>
          <a:p>
            <a:pPr marL="0" indent="0">
              <a:buNone/>
            </a:pPr>
            <a:r>
              <a:rPr lang="en-IN" sz="1600" dirty="0"/>
              <a:t>		}</a:t>
            </a:r>
          </a:p>
          <a:p>
            <a:pPr marL="0" indent="0">
              <a:buNone/>
            </a:pPr>
            <a:r>
              <a:rPr lang="en-IN" sz="1600" dirty="0"/>
              <a:t> else if(</a:t>
            </a:r>
            <a:r>
              <a:rPr lang="en-IN" sz="1600" dirty="0" err="1"/>
              <a:t>t.type</a:t>
            </a:r>
            <a:r>
              <a:rPr lang="en-IN" sz="1600" dirty="0"/>
              <a:t> == OPERATOR) {</a:t>
            </a:r>
          </a:p>
          <a:p>
            <a:pPr marL="0" indent="0">
              <a:buNone/>
            </a:pPr>
            <a:r>
              <a:rPr lang="en-IN" sz="1600" dirty="0"/>
              <a:t>                               </a:t>
            </a:r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x = a[</a:t>
            </a:r>
            <a:r>
              <a:rPr lang="en-IN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</a:t>
            </a:r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- 2];</a:t>
            </a:r>
          </a:p>
          <a:p>
            <a:pPr marL="0" indent="0">
              <a:buNone/>
            </a:pPr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             y = a[</a:t>
            </a:r>
            <a:r>
              <a:rPr lang="en-IN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</a:t>
            </a:r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- 1];</a:t>
            </a:r>
            <a:r>
              <a:rPr lang="en-IN" sz="1600" dirty="0"/>
              <a:t>			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3FD2BF1-A399-4855-9346-329A793241D6}"/>
              </a:ext>
            </a:extLst>
          </p:cNvPr>
          <p:cNvSpPr txBox="1">
            <a:spLocks/>
          </p:cNvSpPr>
          <p:nvPr/>
        </p:nvSpPr>
        <p:spPr>
          <a:xfrm>
            <a:off x="8102600" y="0"/>
            <a:ext cx="4013200" cy="59753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a[i-2] =(res);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</a:t>
            </a: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--;</a:t>
            </a:r>
            <a:r>
              <a:rPr lang="en-IN" sz="2000" dirty="0"/>
              <a:t>		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/>
              <a:t>	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/>
              <a:t> else </a:t>
            </a:r>
            <a:r>
              <a:rPr lang="en-IN" sz="2000" dirty="0">
                <a:solidFill>
                  <a:srgbClr val="FF0000"/>
                </a:solidFill>
              </a:rPr>
              <a:t>if(</a:t>
            </a:r>
            <a:r>
              <a:rPr lang="en-IN" sz="2000" dirty="0" err="1">
                <a:solidFill>
                  <a:srgbClr val="FF0000"/>
                </a:solidFill>
              </a:rPr>
              <a:t>t.type</a:t>
            </a:r>
            <a:r>
              <a:rPr lang="en-IN" sz="2000" dirty="0">
                <a:solidFill>
                  <a:srgbClr val="FF0000"/>
                </a:solidFill>
              </a:rPr>
              <a:t> == END) </a:t>
            </a:r>
            <a:r>
              <a:rPr lang="en-IN" sz="2000" dirty="0"/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/>
              <a:t>			break;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/>
              <a:t>	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/>
              <a:t> else if</a:t>
            </a:r>
            <a:r>
              <a:rPr lang="en-IN" sz="2000" dirty="0">
                <a:solidFill>
                  <a:srgbClr val="FF0000"/>
                </a:solidFill>
              </a:rPr>
              <a:t>(</a:t>
            </a:r>
            <a:r>
              <a:rPr lang="en-IN" sz="2000" dirty="0" err="1">
                <a:solidFill>
                  <a:srgbClr val="FF0000"/>
                </a:solidFill>
              </a:rPr>
              <a:t>t.type</a:t>
            </a:r>
            <a:r>
              <a:rPr lang="en-IN" sz="2000" dirty="0">
                <a:solidFill>
                  <a:srgbClr val="FF0000"/>
                </a:solidFill>
              </a:rPr>
              <a:t> == ERROR</a:t>
            </a:r>
            <a:r>
              <a:rPr lang="en-IN" sz="2000" dirty="0"/>
              <a:t>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/>
              <a:t>		return INT_MIN;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/>
              <a:t>	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/>
              <a:t>	if(</a:t>
            </a:r>
            <a:r>
              <a:rPr lang="en-IN" sz="2000" dirty="0" err="1"/>
              <a:t>i</a:t>
            </a:r>
            <a:r>
              <a:rPr lang="en-IN" sz="2000" dirty="0"/>
              <a:t> == 1)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/>
              <a:t>		</a:t>
            </a: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return a[0];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/>
              <a:t>	else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/>
              <a:t>		return INT_MIN;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20521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EB2EFD2-B587-41DB-BDAF-A0370719EF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6228" t="33346" r="33189" b="27077"/>
          <a:stretch/>
        </p:blipFill>
        <p:spPr>
          <a:xfrm>
            <a:off x="538479" y="294640"/>
            <a:ext cx="11057497" cy="606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706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3FCEE-93E3-4F52-A2E2-5059B8489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postfix() (modified)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1B90C-7129-4622-889D-E930C0538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890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dirty="0"/>
              <a:t>int postfix(char *str) {</a:t>
            </a:r>
          </a:p>
          <a:p>
            <a:pPr marL="0" indent="0">
              <a:buNone/>
            </a:pPr>
            <a:r>
              <a:rPr lang="en-IN" sz="3200" dirty="0"/>
              <a:t>	int x, y, res;</a:t>
            </a:r>
          </a:p>
          <a:p>
            <a:pPr marL="0" indent="0">
              <a:buNone/>
            </a:pPr>
            <a:r>
              <a:rPr lang="en-IN" sz="3200" dirty="0"/>
              <a:t>	token t;</a:t>
            </a:r>
          </a:p>
          <a:p>
            <a:pPr marL="0" indent="0">
              <a:buNone/>
            </a:pPr>
            <a:r>
              <a:rPr lang="en-IN" sz="3200" dirty="0"/>
              <a:t>	stack s;</a:t>
            </a:r>
          </a:p>
          <a:p>
            <a:pPr marL="0" indent="0">
              <a:buNone/>
            </a:pPr>
            <a:r>
              <a:rPr lang="en-IN" sz="3200" dirty="0"/>
              <a:t>	</a:t>
            </a:r>
            <a:r>
              <a:rPr lang="en-IN" sz="3200" dirty="0" err="1"/>
              <a:t>init</a:t>
            </a:r>
            <a:r>
              <a:rPr lang="en-IN" sz="3200" dirty="0"/>
              <a:t>(&amp;s);</a:t>
            </a:r>
          </a:p>
          <a:p>
            <a:pPr marL="0" indent="0">
              <a:buNone/>
            </a:pPr>
            <a:r>
              <a:rPr lang="en-IN" sz="3200" dirty="0"/>
              <a:t>	</a:t>
            </a:r>
          </a:p>
          <a:p>
            <a:pPr marL="0" indent="0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522410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F7C40-7099-456B-B01E-1FFD66DD8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2000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/>
              <a:t>while(1) {</a:t>
            </a:r>
          </a:p>
          <a:p>
            <a:pPr marL="0" indent="0">
              <a:buNone/>
            </a:pPr>
            <a:r>
              <a:rPr lang="en-IN" sz="2400" dirty="0"/>
              <a:t>		t = </a:t>
            </a:r>
            <a:r>
              <a:rPr lang="en-IN" sz="2400" dirty="0" err="1"/>
              <a:t>getnext</a:t>
            </a:r>
            <a:r>
              <a:rPr lang="en-IN" sz="2400" dirty="0"/>
              <a:t>(str);</a:t>
            </a:r>
          </a:p>
          <a:p>
            <a:pPr marL="0" indent="0">
              <a:buNone/>
            </a:pPr>
            <a:r>
              <a:rPr lang="en-IN" sz="2400" dirty="0"/>
              <a:t>		</a:t>
            </a:r>
            <a:r>
              <a:rPr lang="en-IN" sz="2400" dirty="0" err="1"/>
              <a:t>printf</a:t>
            </a:r>
            <a:r>
              <a:rPr lang="en-IN" sz="2400" dirty="0"/>
              <a:t>("</a:t>
            </a:r>
            <a:r>
              <a:rPr lang="en-IN" sz="2400" dirty="0" err="1"/>
              <a:t>t.type</a:t>
            </a:r>
            <a:r>
              <a:rPr lang="en-IN" sz="2400" dirty="0"/>
              <a:t> = %d </a:t>
            </a:r>
            <a:r>
              <a:rPr lang="en-IN" sz="2400" dirty="0" err="1"/>
              <a:t>t.num</a:t>
            </a:r>
            <a:r>
              <a:rPr lang="en-IN" sz="2400" dirty="0"/>
              <a:t> = %d </a:t>
            </a:r>
            <a:r>
              <a:rPr lang="en-IN" sz="2400" dirty="0" err="1"/>
              <a:t>t.op</a:t>
            </a:r>
            <a:r>
              <a:rPr lang="en-IN" sz="2400" dirty="0"/>
              <a:t> = %c\n",</a:t>
            </a:r>
          </a:p>
          <a:p>
            <a:pPr marL="0" indent="0">
              <a:buNone/>
            </a:pPr>
            <a:r>
              <a:rPr lang="en-IN" sz="2400" dirty="0"/>
              <a:t>				</a:t>
            </a:r>
            <a:r>
              <a:rPr lang="en-IN" sz="2400" dirty="0" err="1"/>
              <a:t>t.type</a:t>
            </a:r>
            <a:r>
              <a:rPr lang="en-IN" sz="2400" dirty="0"/>
              <a:t>, </a:t>
            </a:r>
            <a:r>
              <a:rPr lang="en-IN" sz="2400" dirty="0" err="1"/>
              <a:t>t.data.num</a:t>
            </a:r>
            <a:r>
              <a:rPr lang="en-IN" sz="2400" dirty="0"/>
              <a:t>, </a:t>
            </a:r>
            <a:r>
              <a:rPr lang="en-IN" sz="2400" dirty="0" err="1"/>
              <a:t>t.data.op</a:t>
            </a:r>
            <a:r>
              <a:rPr lang="en-IN" sz="2400" dirty="0"/>
              <a:t>);</a:t>
            </a:r>
          </a:p>
          <a:p>
            <a:pPr marL="0" indent="0">
              <a:buNone/>
            </a:pPr>
            <a:r>
              <a:rPr lang="en-IN" sz="2400" dirty="0"/>
              <a:t>		if(</a:t>
            </a:r>
            <a:r>
              <a:rPr lang="en-IN" sz="2400" dirty="0" err="1"/>
              <a:t>t.type</a:t>
            </a:r>
            <a:r>
              <a:rPr lang="en-IN" sz="2400" dirty="0"/>
              <a:t> == OPERAND) {</a:t>
            </a:r>
          </a:p>
          <a:p>
            <a:pPr marL="0" indent="0">
              <a:buNone/>
            </a:pPr>
            <a:r>
              <a:rPr lang="en-IN" sz="2400" dirty="0"/>
              <a:t>			</a:t>
            </a:r>
            <a:r>
              <a:rPr lang="en-IN" sz="2400" b="1" dirty="0"/>
              <a:t>if(!</a:t>
            </a:r>
            <a:r>
              <a:rPr lang="en-IN" sz="2400" b="1" dirty="0" err="1"/>
              <a:t>isfull</a:t>
            </a:r>
            <a:r>
              <a:rPr lang="en-IN" sz="2400" b="1" dirty="0"/>
              <a:t>(&amp;s))</a:t>
            </a:r>
          </a:p>
          <a:p>
            <a:pPr marL="0" indent="0">
              <a:buNone/>
            </a:pPr>
            <a:r>
              <a:rPr lang="en-IN" sz="2400" b="1" dirty="0"/>
              <a:t>				push(&amp;s, </a:t>
            </a:r>
            <a:r>
              <a:rPr lang="en-IN" sz="2400" b="1" dirty="0" err="1"/>
              <a:t>t.data.num</a:t>
            </a:r>
            <a:r>
              <a:rPr lang="en-IN" sz="2400" b="1" dirty="0"/>
              <a:t>);</a:t>
            </a:r>
          </a:p>
          <a:p>
            <a:pPr marL="0" indent="0">
              <a:buNone/>
            </a:pPr>
            <a:r>
              <a:rPr lang="en-IN" sz="2400" b="1" dirty="0"/>
              <a:t>			else</a:t>
            </a:r>
          </a:p>
          <a:p>
            <a:pPr marL="0" indent="0">
              <a:buNone/>
            </a:pPr>
            <a:r>
              <a:rPr lang="en-IN" sz="2400" b="1" dirty="0"/>
              <a:t>				return INT_MIN;</a:t>
            </a:r>
          </a:p>
          <a:p>
            <a:pPr marL="0" indent="0">
              <a:buNone/>
            </a:pPr>
            <a:r>
              <a:rPr lang="en-IN" sz="2400" dirty="0"/>
              <a:t>		} </a:t>
            </a:r>
          </a:p>
          <a:p>
            <a:pPr marL="0" indent="0">
              <a:buNone/>
            </a:pPr>
            <a:r>
              <a:rPr lang="en-IN" sz="2400" dirty="0"/>
              <a:t>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676290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E86AC-8D01-4FE0-9D1B-08B007C21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67754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/>
              <a:t>else if(</a:t>
            </a:r>
            <a:r>
              <a:rPr lang="en-IN" sz="2400" dirty="0" err="1"/>
              <a:t>t.type</a:t>
            </a:r>
            <a:r>
              <a:rPr lang="en-IN" sz="2400" dirty="0"/>
              <a:t> == OPERATOR) {</a:t>
            </a:r>
          </a:p>
          <a:p>
            <a:pPr marL="0" indent="0">
              <a:buNone/>
            </a:pPr>
            <a:r>
              <a:rPr lang="en-IN" sz="2400" dirty="0"/>
              <a:t>			</a:t>
            </a:r>
            <a:r>
              <a:rPr lang="en-IN" sz="2400" b="1" dirty="0"/>
              <a:t>if(!</a:t>
            </a:r>
            <a:r>
              <a:rPr lang="en-IN" sz="2400" b="1" dirty="0" err="1"/>
              <a:t>isempty</a:t>
            </a:r>
            <a:r>
              <a:rPr lang="en-IN" sz="2400" b="1" dirty="0"/>
              <a:t>(&amp;s))</a:t>
            </a:r>
          </a:p>
          <a:p>
            <a:pPr marL="0" indent="0">
              <a:buNone/>
            </a:pPr>
            <a:r>
              <a:rPr lang="en-IN" sz="2400" b="1" dirty="0"/>
              <a:t>				x = pop(&amp;s);</a:t>
            </a:r>
          </a:p>
          <a:p>
            <a:pPr marL="0" indent="0">
              <a:buNone/>
            </a:pPr>
            <a:r>
              <a:rPr lang="en-IN" sz="2400" dirty="0"/>
              <a:t>			</a:t>
            </a:r>
            <a:r>
              <a:rPr lang="en-IN" sz="2400" b="1" dirty="0"/>
              <a:t>else</a:t>
            </a:r>
          </a:p>
          <a:p>
            <a:pPr marL="0" indent="0">
              <a:buNone/>
            </a:pPr>
            <a:r>
              <a:rPr lang="en-IN" sz="2400" b="1" dirty="0"/>
              <a:t> 				return INT_MIN;</a:t>
            </a:r>
          </a:p>
          <a:p>
            <a:pPr marL="0" indent="0">
              <a:buNone/>
            </a:pPr>
            <a:r>
              <a:rPr lang="en-IN" sz="2400" dirty="0"/>
              <a:t>			</a:t>
            </a:r>
            <a:r>
              <a:rPr lang="en-IN" sz="2400" b="1" dirty="0"/>
              <a:t>if(!</a:t>
            </a:r>
            <a:r>
              <a:rPr lang="en-IN" sz="2400" b="1" dirty="0" err="1"/>
              <a:t>isempty</a:t>
            </a:r>
            <a:r>
              <a:rPr lang="en-IN" sz="2400" b="1" dirty="0"/>
              <a:t>(&amp;s))</a:t>
            </a:r>
          </a:p>
          <a:p>
            <a:pPr marL="0" indent="0">
              <a:buNone/>
            </a:pPr>
            <a:r>
              <a:rPr lang="en-IN" sz="2400" b="1" dirty="0"/>
              <a:t>				y = pop(&amp;s);</a:t>
            </a:r>
          </a:p>
          <a:p>
            <a:pPr marL="0" indent="0">
              <a:buNone/>
            </a:pPr>
            <a:r>
              <a:rPr lang="en-IN" sz="2400" b="1" dirty="0"/>
              <a:t>			else</a:t>
            </a:r>
          </a:p>
          <a:p>
            <a:pPr marL="0" indent="0">
              <a:buNone/>
            </a:pPr>
            <a:r>
              <a:rPr lang="en-IN" sz="2400" b="1" dirty="0"/>
              <a:t> 				return INT_MIN;</a:t>
            </a:r>
          </a:p>
          <a:p>
            <a:pPr marL="0" indent="0">
              <a:buNone/>
            </a:pPr>
            <a:r>
              <a:rPr lang="en-IN" sz="2400" dirty="0"/>
              <a:t>			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98266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B8E5D-F320-4F1A-AF18-E84E6FCD2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0" y="24066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switch(</a:t>
            </a:r>
            <a:r>
              <a:rPr lang="en-IN" sz="1800" dirty="0" err="1"/>
              <a:t>t.data.op</a:t>
            </a:r>
            <a:r>
              <a:rPr lang="en-IN" sz="1800" dirty="0"/>
              <a:t>) {</a:t>
            </a:r>
          </a:p>
          <a:p>
            <a:pPr marL="0" indent="0">
              <a:buNone/>
            </a:pPr>
            <a:r>
              <a:rPr lang="en-IN" sz="1800" dirty="0"/>
              <a:t>				case '+':</a:t>
            </a:r>
          </a:p>
          <a:p>
            <a:pPr marL="0" indent="0">
              <a:buNone/>
            </a:pPr>
            <a:r>
              <a:rPr lang="en-IN" sz="1800" dirty="0"/>
              <a:t>					res = y + x;</a:t>
            </a:r>
          </a:p>
          <a:p>
            <a:pPr marL="0" indent="0">
              <a:buNone/>
            </a:pPr>
            <a:r>
              <a:rPr lang="en-IN" sz="1800" dirty="0"/>
              <a:t>					break;</a:t>
            </a:r>
          </a:p>
          <a:p>
            <a:pPr marL="0" indent="0">
              <a:buNone/>
            </a:pPr>
            <a:r>
              <a:rPr lang="en-IN" sz="1800" dirty="0"/>
              <a:t>				case '-':</a:t>
            </a:r>
          </a:p>
          <a:p>
            <a:pPr marL="0" indent="0">
              <a:buNone/>
            </a:pPr>
            <a:r>
              <a:rPr lang="en-IN" sz="1800" dirty="0"/>
              <a:t>			                                     res = y - x;</a:t>
            </a:r>
          </a:p>
          <a:p>
            <a:pPr marL="0" indent="0">
              <a:buNone/>
            </a:pPr>
            <a:r>
              <a:rPr lang="en-IN" sz="1800" dirty="0"/>
              <a:t>					break;</a:t>
            </a:r>
          </a:p>
          <a:p>
            <a:pPr marL="0" indent="0">
              <a:buNone/>
            </a:pPr>
            <a:r>
              <a:rPr lang="en-IN" sz="1800" dirty="0"/>
              <a:t>				case '*':</a:t>
            </a:r>
          </a:p>
          <a:p>
            <a:pPr marL="0" indent="0">
              <a:buNone/>
            </a:pPr>
            <a:r>
              <a:rPr lang="en-IN" sz="1800" dirty="0"/>
              <a:t>					res = y * x;</a:t>
            </a:r>
          </a:p>
          <a:p>
            <a:pPr marL="0" indent="0">
              <a:buNone/>
            </a:pPr>
            <a:r>
              <a:rPr lang="en-IN" sz="1800" dirty="0"/>
              <a:t>					break;</a:t>
            </a:r>
          </a:p>
          <a:p>
            <a:pPr marL="0" indent="0">
              <a:buNone/>
            </a:pPr>
            <a:r>
              <a:rPr lang="en-IN" sz="1800" dirty="0"/>
              <a:t>				case '/':</a:t>
            </a:r>
          </a:p>
          <a:p>
            <a:pPr marL="0" indent="0">
              <a:buNone/>
            </a:pPr>
            <a:r>
              <a:rPr lang="en-IN" sz="1800" dirty="0"/>
              <a:t>					res = y / x;</a:t>
            </a:r>
          </a:p>
          <a:p>
            <a:pPr marL="0" indent="0">
              <a:buNone/>
            </a:pPr>
            <a:r>
              <a:rPr lang="en-IN" sz="1800" dirty="0"/>
              <a:t>					break;</a:t>
            </a:r>
          </a:p>
          <a:p>
            <a:pPr marL="0" indent="0">
              <a:buNone/>
            </a:pPr>
            <a:r>
              <a:rPr lang="en-IN" sz="1800" dirty="0"/>
              <a:t>				case '%':</a:t>
            </a:r>
          </a:p>
          <a:p>
            <a:pPr marL="0" indent="0">
              <a:buNone/>
            </a:pPr>
            <a:r>
              <a:rPr lang="en-IN" sz="1800" dirty="0"/>
              <a:t>					res = y % x;</a:t>
            </a:r>
          </a:p>
          <a:p>
            <a:pPr marL="0" indent="0">
              <a:buNone/>
            </a:pPr>
            <a:r>
              <a:rPr lang="en-IN" sz="1800" dirty="0"/>
              <a:t>					break;</a:t>
            </a:r>
          </a:p>
          <a:p>
            <a:pPr marL="0" indent="0">
              <a:buNone/>
            </a:pPr>
            <a:r>
              <a:rPr lang="en-IN" sz="1800" dirty="0"/>
              <a:t>			}</a:t>
            </a:r>
          </a:p>
          <a:p>
            <a:pPr marL="0" indent="0">
              <a:buNone/>
            </a:pPr>
            <a:r>
              <a:rPr lang="en-IN" sz="1800" dirty="0"/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13428893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759CB-3D88-44A2-BA72-B66169EDA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40" y="230504"/>
            <a:ext cx="10515600" cy="644461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/>
              <a:t>                                                                   </a:t>
            </a:r>
            <a:r>
              <a:rPr lang="en-IN" sz="2000" b="1" dirty="0"/>
              <a:t>if(!</a:t>
            </a:r>
            <a:r>
              <a:rPr lang="en-IN" sz="2000" b="1" dirty="0" err="1"/>
              <a:t>isfull</a:t>
            </a:r>
            <a:r>
              <a:rPr lang="en-IN" sz="2000" b="1" dirty="0"/>
              <a:t>(&amp;s))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2000" b="1" dirty="0"/>
              <a:t>				push(&amp;s, res);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/>
              <a:t>			else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/>
              <a:t>				return INT_MIN;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/>
              <a:t>			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/>
              <a:t>                                else if (</a:t>
            </a:r>
            <a:r>
              <a:rPr lang="en-IN" sz="1800" dirty="0" err="1"/>
              <a:t>t.type</a:t>
            </a:r>
            <a:r>
              <a:rPr lang="en-IN" sz="1800" dirty="0"/>
              <a:t> == END)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/>
              <a:t>			break;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/>
              <a:t>		}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/>
              <a:t>                              else if(</a:t>
            </a:r>
            <a:r>
              <a:rPr lang="en-IN" sz="1800" dirty="0" err="1"/>
              <a:t>t.type</a:t>
            </a:r>
            <a:r>
              <a:rPr lang="en-IN" sz="1800" dirty="0"/>
              <a:t> == ERROR)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/>
              <a:t>			return INT_MIN;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/>
              <a:t>		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/>
              <a:t>	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/>
              <a:t>	</a:t>
            </a:r>
            <a:r>
              <a:rPr lang="en-IN" sz="1800" b="1" dirty="0"/>
              <a:t>if(!</a:t>
            </a:r>
            <a:r>
              <a:rPr lang="en-IN" sz="1800" b="1" dirty="0" err="1"/>
              <a:t>isempty</a:t>
            </a:r>
            <a:r>
              <a:rPr lang="en-IN" sz="1800" b="1" dirty="0"/>
              <a:t>(&amp;s))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b="1" dirty="0"/>
              <a:t>		res = pop(&amp;s);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b="1" dirty="0"/>
              <a:t>	else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b="1" dirty="0"/>
              <a:t>		return INT_MIN;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b="1" dirty="0"/>
              <a:t>	if(</a:t>
            </a:r>
            <a:r>
              <a:rPr lang="en-IN" sz="1800" b="1" dirty="0" err="1"/>
              <a:t>isempty</a:t>
            </a:r>
            <a:r>
              <a:rPr lang="en-IN" sz="1800" b="1" dirty="0"/>
              <a:t>(&amp;s))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b="1" dirty="0"/>
              <a:t>		return res;	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b="1" dirty="0"/>
              <a:t>                  else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b="1" dirty="0"/>
              <a:t>		return INT_MIN;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/>
              <a:t>           }</a:t>
            </a:r>
          </a:p>
        </p:txBody>
      </p:sp>
    </p:spTree>
    <p:extLst>
      <p:ext uri="{BB962C8B-B14F-4D97-AF65-F5344CB8AC3E}">
        <p14:creationId xmlns:p14="http://schemas.microsoft.com/office/powerpoint/2010/main" val="3586536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F15F0-B227-45AC-9EA8-593260DD8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 STACK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54162-D27C-4A5A-8703-F0E9E94BD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275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A2436-76C7-4AC1-A5C9-76E84D953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321944"/>
            <a:ext cx="3835400" cy="5611495"/>
          </a:xfrm>
          <a:ln w="38100"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dirty="0" err="1"/>
              <a:t>Postfix.c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#include “</a:t>
            </a:r>
            <a:r>
              <a:rPr lang="en-US" dirty="0" err="1"/>
              <a:t>stack.h</a:t>
            </a:r>
            <a:r>
              <a:rPr lang="en-US" dirty="0"/>
              <a:t>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Compile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Link </a:t>
            </a:r>
            <a:r>
              <a:rPr lang="en-US" dirty="0" err="1"/>
              <a:t>postfix.o</a:t>
            </a:r>
            <a:r>
              <a:rPr lang="en-US" dirty="0"/>
              <a:t> and </a:t>
            </a:r>
            <a:r>
              <a:rPr lang="en-US" dirty="0" err="1"/>
              <a:t>stack.o</a:t>
            </a:r>
            <a:r>
              <a:rPr lang="en-US" dirty="0"/>
              <a:t> and run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9BCE6B-8DAA-4442-9E15-B6BE0410AFB6}"/>
              </a:ext>
            </a:extLst>
          </p:cNvPr>
          <p:cNvSpPr txBox="1">
            <a:spLocks/>
          </p:cNvSpPr>
          <p:nvPr/>
        </p:nvSpPr>
        <p:spPr>
          <a:xfrm>
            <a:off x="4452620" y="321944"/>
            <a:ext cx="3835400" cy="5611495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“</a:t>
            </a:r>
            <a:r>
              <a:rPr lang="en-US" dirty="0" err="1"/>
              <a:t>Stack.h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IN" dirty="0"/>
              <a:t>#define MAX 32</a:t>
            </a:r>
          </a:p>
          <a:p>
            <a:pPr marL="0" indent="0">
              <a:buNone/>
            </a:pPr>
            <a:r>
              <a:rPr lang="en-IN" dirty="0"/>
              <a:t>typedef struct stack {	</a:t>
            </a:r>
          </a:p>
          <a:p>
            <a:pPr marL="0" indent="0">
              <a:buNone/>
            </a:pPr>
            <a:r>
              <a:rPr lang="en-IN" dirty="0"/>
              <a:t>int a[MAX];</a:t>
            </a:r>
          </a:p>
          <a:p>
            <a:pPr marL="0" indent="0">
              <a:buNone/>
            </a:pPr>
            <a:r>
              <a:rPr lang="en-IN" dirty="0"/>
              <a:t>int </a:t>
            </a:r>
            <a:r>
              <a:rPr lang="en-IN" dirty="0" err="1"/>
              <a:t>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}stack;</a:t>
            </a:r>
          </a:p>
          <a:p>
            <a:pPr marL="0" indent="0">
              <a:buNone/>
            </a:pPr>
            <a:r>
              <a:rPr lang="en-IN" dirty="0"/>
              <a:t>int </a:t>
            </a:r>
            <a:r>
              <a:rPr lang="en-IN" dirty="0" err="1"/>
              <a:t>isempty</a:t>
            </a:r>
            <a:r>
              <a:rPr lang="en-IN" dirty="0"/>
              <a:t>(stack *);</a:t>
            </a:r>
          </a:p>
          <a:p>
            <a:pPr marL="0" indent="0">
              <a:buNone/>
            </a:pPr>
            <a:r>
              <a:rPr lang="en-IN" dirty="0"/>
              <a:t>int </a:t>
            </a:r>
            <a:r>
              <a:rPr lang="en-IN" dirty="0" err="1"/>
              <a:t>isfull</a:t>
            </a:r>
            <a:r>
              <a:rPr lang="en-IN" dirty="0"/>
              <a:t>(stack *);</a:t>
            </a:r>
          </a:p>
          <a:p>
            <a:pPr marL="0" indent="0">
              <a:buNone/>
            </a:pPr>
            <a:r>
              <a:rPr lang="en-IN" dirty="0"/>
              <a:t>void </a:t>
            </a:r>
            <a:r>
              <a:rPr lang="en-IN" dirty="0" err="1"/>
              <a:t>init</a:t>
            </a:r>
            <a:r>
              <a:rPr lang="en-IN" dirty="0"/>
              <a:t>(stack *);</a:t>
            </a:r>
          </a:p>
          <a:p>
            <a:pPr marL="0" indent="0">
              <a:buNone/>
            </a:pPr>
            <a:r>
              <a:rPr lang="en-IN" dirty="0"/>
              <a:t>Int pop(stack *);</a:t>
            </a:r>
          </a:p>
          <a:p>
            <a:pPr marL="0" indent="0">
              <a:buNone/>
            </a:pPr>
            <a:r>
              <a:rPr lang="en-IN" dirty="0"/>
              <a:t>void push(stack *, int );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890614-6C0C-4C43-A8B6-760C0FD04F35}"/>
              </a:ext>
            </a:extLst>
          </p:cNvPr>
          <p:cNvSpPr txBox="1">
            <a:spLocks/>
          </p:cNvSpPr>
          <p:nvPr/>
        </p:nvSpPr>
        <p:spPr>
          <a:xfrm>
            <a:off x="8356600" y="321943"/>
            <a:ext cx="3835400" cy="5611495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“</a:t>
            </a:r>
            <a:r>
              <a:rPr lang="en-US" dirty="0" err="1"/>
              <a:t>stack.c</a:t>
            </a:r>
            <a:r>
              <a:rPr lang="en-US" dirty="0"/>
              <a:t>”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#include “</a:t>
            </a:r>
            <a:r>
              <a:rPr lang="en-US" dirty="0" err="1"/>
              <a:t>stack.h</a:t>
            </a:r>
            <a:r>
              <a:rPr lang="en-US" dirty="0"/>
              <a:t>”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Code for all stack functions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Compile partially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9067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A2436-76C7-4AC1-A5C9-76E84D953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321944"/>
            <a:ext cx="3835400" cy="5611495"/>
          </a:xfrm>
          <a:ln w="38100"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dirty="0" err="1"/>
              <a:t>Postfix.c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#include “</a:t>
            </a:r>
            <a:r>
              <a:rPr lang="en-US" dirty="0" err="1"/>
              <a:t>Stack.h</a:t>
            </a:r>
            <a:r>
              <a:rPr lang="en-US" dirty="0"/>
              <a:t>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Compile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Link </a:t>
            </a:r>
            <a:r>
              <a:rPr lang="en-US" dirty="0" err="1"/>
              <a:t>postfix.o</a:t>
            </a:r>
            <a:r>
              <a:rPr lang="en-US" dirty="0"/>
              <a:t> and </a:t>
            </a:r>
            <a:r>
              <a:rPr lang="en-US" dirty="0" err="1"/>
              <a:t>stack.o</a:t>
            </a:r>
            <a:r>
              <a:rPr lang="en-US" dirty="0"/>
              <a:t> and run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**Usage**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9BCE6B-8DAA-4442-9E15-B6BE0410AFB6}"/>
              </a:ext>
            </a:extLst>
          </p:cNvPr>
          <p:cNvSpPr txBox="1">
            <a:spLocks/>
          </p:cNvSpPr>
          <p:nvPr/>
        </p:nvSpPr>
        <p:spPr>
          <a:xfrm>
            <a:off x="4452620" y="321944"/>
            <a:ext cx="3835400" cy="5611495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“</a:t>
            </a:r>
            <a:r>
              <a:rPr lang="en-US" dirty="0" err="1"/>
              <a:t>Stack.h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IN" dirty="0"/>
              <a:t>#define MAX 32</a:t>
            </a:r>
          </a:p>
          <a:p>
            <a:pPr marL="0" indent="0">
              <a:buNone/>
            </a:pPr>
            <a:r>
              <a:rPr lang="en-IN" dirty="0"/>
              <a:t>typedef struct stack {	</a:t>
            </a:r>
          </a:p>
          <a:p>
            <a:pPr marL="0" indent="0">
              <a:buNone/>
            </a:pPr>
            <a:r>
              <a:rPr lang="en-IN" dirty="0"/>
              <a:t>int a[MAX];</a:t>
            </a:r>
          </a:p>
          <a:p>
            <a:pPr marL="0" indent="0">
              <a:buNone/>
            </a:pPr>
            <a:r>
              <a:rPr lang="en-IN" dirty="0"/>
              <a:t>int </a:t>
            </a:r>
            <a:r>
              <a:rPr lang="en-IN" dirty="0" err="1"/>
              <a:t>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}stack;</a:t>
            </a:r>
          </a:p>
          <a:p>
            <a:pPr marL="0" indent="0">
              <a:buNone/>
            </a:pPr>
            <a:r>
              <a:rPr lang="en-IN" dirty="0"/>
              <a:t>int </a:t>
            </a:r>
            <a:r>
              <a:rPr lang="en-IN" dirty="0" err="1"/>
              <a:t>isempty</a:t>
            </a:r>
            <a:r>
              <a:rPr lang="en-IN" dirty="0"/>
              <a:t>(stack *);</a:t>
            </a:r>
          </a:p>
          <a:p>
            <a:pPr marL="0" indent="0">
              <a:buNone/>
            </a:pPr>
            <a:r>
              <a:rPr lang="en-IN" dirty="0"/>
              <a:t>int </a:t>
            </a:r>
            <a:r>
              <a:rPr lang="en-IN" dirty="0" err="1"/>
              <a:t>isfull</a:t>
            </a:r>
            <a:r>
              <a:rPr lang="en-IN" dirty="0"/>
              <a:t>(stack *);</a:t>
            </a:r>
          </a:p>
          <a:p>
            <a:pPr marL="0" indent="0">
              <a:buNone/>
            </a:pPr>
            <a:r>
              <a:rPr lang="en-IN" dirty="0"/>
              <a:t>void </a:t>
            </a:r>
            <a:r>
              <a:rPr lang="en-IN" dirty="0" err="1"/>
              <a:t>init</a:t>
            </a:r>
            <a:r>
              <a:rPr lang="en-IN" dirty="0"/>
              <a:t>(stack *);</a:t>
            </a:r>
          </a:p>
          <a:p>
            <a:pPr marL="0" indent="0">
              <a:buNone/>
            </a:pPr>
            <a:r>
              <a:rPr lang="en-IN" dirty="0"/>
              <a:t>Int pop(stack *);</a:t>
            </a:r>
          </a:p>
          <a:p>
            <a:pPr marL="0" indent="0">
              <a:buNone/>
            </a:pPr>
            <a:r>
              <a:rPr lang="en-IN" dirty="0"/>
              <a:t>void push(stack *, int );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rgbClr val="FF0000"/>
                </a:solidFill>
              </a:rPr>
              <a:t>**Interface**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890614-6C0C-4C43-A8B6-760C0FD04F35}"/>
              </a:ext>
            </a:extLst>
          </p:cNvPr>
          <p:cNvSpPr txBox="1">
            <a:spLocks/>
          </p:cNvSpPr>
          <p:nvPr/>
        </p:nvSpPr>
        <p:spPr>
          <a:xfrm>
            <a:off x="8356600" y="321943"/>
            <a:ext cx="3835400" cy="5611495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“</a:t>
            </a:r>
            <a:r>
              <a:rPr lang="en-US" dirty="0" err="1"/>
              <a:t>stack.c</a:t>
            </a:r>
            <a:r>
              <a:rPr lang="en-US" dirty="0"/>
              <a:t>”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#include “</a:t>
            </a:r>
            <a:r>
              <a:rPr lang="en-US" dirty="0" err="1"/>
              <a:t>stack.h</a:t>
            </a:r>
            <a:r>
              <a:rPr lang="en-US" dirty="0"/>
              <a:t>”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Code for all stack functions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Compile partially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**Implementation**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49609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5E527-278A-4D0D-A613-E73D7DDA6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AB903-4533-454E-8516-BC8B25004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cc  –c </a:t>
            </a:r>
            <a:r>
              <a:rPr lang="en-US" dirty="0" err="1"/>
              <a:t>postfix.c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cc –c </a:t>
            </a:r>
            <a:r>
              <a:rPr lang="en-US" dirty="0" err="1"/>
              <a:t>stack.c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cc </a:t>
            </a:r>
            <a:r>
              <a:rPr lang="en-US" dirty="0" err="1"/>
              <a:t>postfix.o</a:t>
            </a:r>
            <a:r>
              <a:rPr lang="en-US" dirty="0"/>
              <a:t> </a:t>
            </a:r>
            <a:r>
              <a:rPr lang="en-US" dirty="0" err="1"/>
              <a:t>stack.o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98514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99906-8FD7-4BFF-89B9-F46037EF2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of infix expression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16FE2-E3A3-4F05-AF5B-C24F646A6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48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getline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getnext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sz="3200" b="1" dirty="0" err="1"/>
              <a:t>infixtopostfix</a:t>
            </a:r>
            <a:r>
              <a:rPr lang="en-US" sz="3200" b="1" dirty="0"/>
              <a:t>()</a:t>
            </a:r>
          </a:p>
          <a:p>
            <a:pPr marL="0" indent="0">
              <a:buNone/>
            </a:pPr>
            <a:r>
              <a:rPr lang="en-US" dirty="0"/>
              <a:t>postfix()</a:t>
            </a:r>
          </a:p>
          <a:p>
            <a:pPr marL="0" indent="0">
              <a:buNone/>
            </a:pPr>
            <a:r>
              <a:rPr lang="en-US" dirty="0"/>
              <a:t>main()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27273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0E984-3490-40AF-B31A-455408F2F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89864"/>
            <a:ext cx="10515600" cy="63125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Let, X is an arithmetic expression written in infix notation. This algorithm finds the equivalent postfix expression Y.</a:t>
            </a:r>
          </a:p>
          <a:p>
            <a:r>
              <a:rPr lang="en-US" sz="2400" dirty="0"/>
              <a:t>Push “(“onto Stack, and add “)” to the end of X.</a:t>
            </a:r>
          </a:p>
          <a:p>
            <a:r>
              <a:rPr lang="en-US" sz="2400" dirty="0"/>
              <a:t>Scan X from left to right and repeat Step 3 to 6 for each element of X until the Stack is empty.</a:t>
            </a:r>
          </a:p>
          <a:p>
            <a:r>
              <a:rPr lang="en-US" sz="2400" dirty="0"/>
              <a:t>If an operand is encountered, add it to Y.</a:t>
            </a:r>
          </a:p>
          <a:p>
            <a:r>
              <a:rPr lang="en-US" sz="2400" dirty="0"/>
              <a:t>If a left parenthesis is encountered, push it onto Stack.</a:t>
            </a:r>
          </a:p>
          <a:p>
            <a:r>
              <a:rPr lang="en-US" sz="2400" dirty="0"/>
              <a:t>If an operator is encountered ,then: </a:t>
            </a:r>
          </a:p>
          <a:p>
            <a:pPr marL="457200" lvl="1" indent="0">
              <a:buNone/>
            </a:pPr>
            <a:r>
              <a:rPr lang="en-US" sz="1800" dirty="0"/>
              <a:t>Repeatedly pop from Stack and add to Y each operator (on the top of Stack) which has the same precedence as or higher precedence than operator.</a:t>
            </a:r>
          </a:p>
          <a:p>
            <a:pPr marL="457200" lvl="1" indent="0">
              <a:buNone/>
            </a:pPr>
            <a:r>
              <a:rPr lang="en-US" sz="1800" dirty="0"/>
              <a:t>Add operator to Stack.</a:t>
            </a:r>
            <a:br>
              <a:rPr lang="en-US" sz="1800" dirty="0"/>
            </a:br>
            <a:r>
              <a:rPr lang="en-US" sz="1800" dirty="0"/>
              <a:t>[End of If]</a:t>
            </a:r>
          </a:p>
          <a:p>
            <a:r>
              <a:rPr lang="en-US" sz="2400" dirty="0"/>
              <a:t>If a right parenthesis is encountered ,then: </a:t>
            </a:r>
          </a:p>
          <a:p>
            <a:pPr marL="457200" lvl="1" indent="0">
              <a:buNone/>
            </a:pPr>
            <a:r>
              <a:rPr lang="en-US" sz="1800" dirty="0"/>
              <a:t>Repeatedly pop from Stack and add to Y each operator (on the top of Stack) until a left parenthesis is encountered.</a:t>
            </a:r>
          </a:p>
          <a:p>
            <a:pPr marL="457200" lvl="1" indent="0">
              <a:buNone/>
            </a:pPr>
            <a:r>
              <a:rPr lang="en-US" sz="1800" dirty="0"/>
              <a:t>Remove the left Parenthesis.</a:t>
            </a:r>
            <a:br>
              <a:rPr lang="en-US" sz="1800" dirty="0"/>
            </a:br>
            <a:r>
              <a:rPr lang="en-US" sz="1800" dirty="0"/>
              <a:t>[End of If]</a:t>
            </a:r>
            <a:br>
              <a:rPr lang="en-US" sz="1800" dirty="0"/>
            </a:br>
            <a:r>
              <a:rPr lang="en-US" sz="1800" dirty="0"/>
              <a:t>[End of If]</a:t>
            </a:r>
          </a:p>
          <a:p>
            <a:r>
              <a:rPr lang="en-US" sz="2400" dirty="0"/>
              <a:t> END.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533277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ADEBD-3634-42A5-BD82-24154C278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infixtopostfix</a:t>
            </a:r>
            <a:r>
              <a:rPr lang="en-US" dirty="0"/>
              <a:t>()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8A692-F023-43D5-AC5B-117714BAE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requires:</a:t>
            </a:r>
          </a:p>
          <a:p>
            <a:pPr marL="0" indent="0">
              <a:buNone/>
            </a:pPr>
            <a:r>
              <a:rPr lang="en-US" dirty="0"/>
              <a:t>character stack’s  </a:t>
            </a:r>
            <a:r>
              <a:rPr lang="en-US" dirty="0" err="1"/>
              <a:t>stack.c</a:t>
            </a:r>
            <a:r>
              <a:rPr lang="en-US" dirty="0"/>
              <a:t> and </a:t>
            </a:r>
            <a:r>
              <a:rPr lang="en-US" dirty="0" err="1"/>
              <a:t>stack.h</a:t>
            </a:r>
            <a:r>
              <a:rPr lang="en-US" dirty="0"/>
              <a:t> files</a:t>
            </a:r>
          </a:p>
          <a:p>
            <a:pPr marL="0" indent="0">
              <a:buNone/>
            </a:pPr>
            <a:r>
              <a:rPr lang="en-US" dirty="0"/>
              <a:t>precedence resolution function</a:t>
            </a:r>
          </a:p>
          <a:p>
            <a:pPr marL="0" indent="0">
              <a:buNone/>
            </a:pPr>
            <a:r>
              <a:rPr lang="en-US" dirty="0" err="1"/>
              <a:t>infixtopostfix</a:t>
            </a:r>
            <a:r>
              <a:rPr lang="en-US" dirty="0"/>
              <a:t>() function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04285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768D0-892A-4F80-921A-0A6C2B740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342264"/>
            <a:ext cx="10515600" cy="621093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dirty="0"/>
              <a:t>//</a:t>
            </a:r>
            <a:r>
              <a:rPr lang="en-IN" sz="2400" dirty="0" err="1"/>
              <a:t>cstack.h</a:t>
            </a:r>
            <a:r>
              <a:rPr lang="en-IN" sz="2400" dirty="0"/>
              <a:t> </a:t>
            </a:r>
          </a:p>
          <a:p>
            <a:pPr marL="0" indent="0">
              <a:buNone/>
            </a:pPr>
            <a:r>
              <a:rPr lang="en-IN" sz="2400" dirty="0"/>
              <a:t>#define MAX 16</a:t>
            </a:r>
          </a:p>
          <a:p>
            <a:pPr marL="0" indent="0">
              <a:buNone/>
            </a:pPr>
            <a:r>
              <a:rPr lang="en-IN" sz="2400" dirty="0"/>
              <a:t>typedef struct </a:t>
            </a:r>
            <a:r>
              <a:rPr lang="en-IN" sz="2400" dirty="0" err="1"/>
              <a:t>cstack</a:t>
            </a:r>
            <a:r>
              <a:rPr lang="en-IN" sz="2400" dirty="0"/>
              <a:t>{</a:t>
            </a:r>
          </a:p>
          <a:p>
            <a:pPr marL="0" indent="0">
              <a:buNone/>
            </a:pPr>
            <a:r>
              <a:rPr lang="en-IN" sz="2400" dirty="0"/>
              <a:t>	char a[MAX];</a:t>
            </a:r>
          </a:p>
          <a:p>
            <a:pPr marL="0" indent="0">
              <a:buNone/>
            </a:pPr>
            <a:r>
              <a:rPr lang="en-IN" sz="2400" dirty="0"/>
              <a:t>	int </a:t>
            </a:r>
            <a:r>
              <a:rPr lang="en-IN" sz="2400" dirty="0" err="1"/>
              <a:t>i</a:t>
            </a:r>
            <a:r>
              <a:rPr lang="en-IN" sz="2400" dirty="0"/>
              <a:t>;;</a:t>
            </a:r>
          </a:p>
          <a:p>
            <a:pPr marL="0" indent="0">
              <a:buNone/>
            </a:pPr>
            <a:r>
              <a:rPr lang="en-IN" sz="2400" dirty="0"/>
              <a:t>}</a:t>
            </a:r>
            <a:r>
              <a:rPr lang="en-IN" sz="2400" dirty="0" err="1"/>
              <a:t>cstack</a:t>
            </a:r>
            <a:r>
              <a:rPr lang="en-IN" sz="2400" dirty="0"/>
              <a:t>;</a:t>
            </a:r>
          </a:p>
          <a:p>
            <a:pPr marL="0" indent="0">
              <a:buNone/>
            </a:pPr>
            <a:r>
              <a:rPr lang="en-IN" sz="2400" dirty="0"/>
              <a:t>/* User to call </a:t>
            </a:r>
            <a:r>
              <a:rPr lang="en-IN" sz="2400" dirty="0" err="1"/>
              <a:t>init</a:t>
            </a:r>
            <a:r>
              <a:rPr lang="en-IN" sz="2400" dirty="0"/>
              <a:t> before calling other functions.</a:t>
            </a:r>
          </a:p>
          <a:p>
            <a:pPr marL="0" indent="0">
              <a:buNone/>
            </a:pPr>
            <a:r>
              <a:rPr lang="en-IN" sz="2400" dirty="0"/>
              <a:t> * User to check </a:t>
            </a:r>
            <a:r>
              <a:rPr lang="en-IN" sz="2400" dirty="0" err="1"/>
              <a:t>isempty</a:t>
            </a:r>
            <a:r>
              <a:rPr lang="en-IN" sz="2400" dirty="0"/>
              <a:t>() before calling pop()</a:t>
            </a:r>
          </a:p>
          <a:p>
            <a:pPr marL="0" indent="0">
              <a:buNone/>
            </a:pPr>
            <a:r>
              <a:rPr lang="en-IN" sz="2400" dirty="0"/>
              <a:t> * User to check </a:t>
            </a:r>
            <a:r>
              <a:rPr lang="en-IN" sz="2400" dirty="0" err="1"/>
              <a:t>isfull</a:t>
            </a:r>
            <a:r>
              <a:rPr lang="en-IN" sz="2400" dirty="0"/>
              <a:t>() before calling push()</a:t>
            </a:r>
          </a:p>
          <a:p>
            <a:pPr marL="0" indent="0">
              <a:buNone/>
            </a:pPr>
            <a:r>
              <a:rPr lang="en-IN" sz="2400" dirty="0"/>
              <a:t>  */</a:t>
            </a:r>
          </a:p>
          <a:p>
            <a:pPr marL="0" indent="0">
              <a:buNone/>
            </a:pPr>
            <a:r>
              <a:rPr lang="en-IN" sz="2400" dirty="0"/>
              <a:t>void </a:t>
            </a:r>
            <a:r>
              <a:rPr lang="en-IN" sz="2400" dirty="0" err="1"/>
              <a:t>cinit</a:t>
            </a:r>
            <a:r>
              <a:rPr lang="en-IN" sz="2400" dirty="0"/>
              <a:t>(</a:t>
            </a:r>
            <a:r>
              <a:rPr lang="en-IN" sz="2400" dirty="0" err="1"/>
              <a:t>cstack</a:t>
            </a:r>
            <a:r>
              <a:rPr lang="en-IN" sz="2400" dirty="0"/>
              <a:t> *s);</a:t>
            </a:r>
          </a:p>
          <a:p>
            <a:pPr marL="0" indent="0">
              <a:buNone/>
            </a:pPr>
            <a:r>
              <a:rPr lang="en-IN" sz="2400" dirty="0"/>
              <a:t>void </a:t>
            </a:r>
            <a:r>
              <a:rPr lang="en-IN" sz="2400" dirty="0" err="1"/>
              <a:t>cpush</a:t>
            </a:r>
            <a:r>
              <a:rPr lang="en-IN" sz="2400" dirty="0"/>
              <a:t>(</a:t>
            </a:r>
            <a:r>
              <a:rPr lang="en-IN" sz="2400" dirty="0" err="1"/>
              <a:t>cstack</a:t>
            </a:r>
            <a:r>
              <a:rPr lang="en-IN" sz="2400" dirty="0"/>
              <a:t> *s, char no);</a:t>
            </a:r>
          </a:p>
          <a:p>
            <a:pPr marL="0" indent="0">
              <a:buNone/>
            </a:pPr>
            <a:r>
              <a:rPr lang="en-IN" sz="2400" dirty="0"/>
              <a:t>char </a:t>
            </a:r>
            <a:r>
              <a:rPr lang="en-IN" sz="2400" dirty="0" err="1"/>
              <a:t>cpop</a:t>
            </a:r>
            <a:r>
              <a:rPr lang="en-IN" sz="2400" dirty="0"/>
              <a:t>(</a:t>
            </a:r>
            <a:r>
              <a:rPr lang="en-IN" sz="2400" dirty="0" err="1"/>
              <a:t>cstack</a:t>
            </a:r>
            <a:r>
              <a:rPr lang="en-IN" sz="2400" dirty="0"/>
              <a:t> *s);</a:t>
            </a:r>
          </a:p>
          <a:p>
            <a:pPr marL="0" indent="0">
              <a:buNone/>
            </a:pPr>
            <a:r>
              <a:rPr lang="en-IN" sz="2400" dirty="0"/>
              <a:t>int </a:t>
            </a:r>
            <a:r>
              <a:rPr lang="en-IN" sz="2400" dirty="0" err="1"/>
              <a:t>cisempty</a:t>
            </a:r>
            <a:r>
              <a:rPr lang="en-IN" sz="2400" dirty="0"/>
              <a:t>(</a:t>
            </a:r>
            <a:r>
              <a:rPr lang="en-IN" sz="2400" dirty="0" err="1"/>
              <a:t>cstack</a:t>
            </a:r>
            <a:r>
              <a:rPr lang="en-IN" sz="2400" dirty="0"/>
              <a:t> *s);</a:t>
            </a:r>
          </a:p>
          <a:p>
            <a:pPr marL="0" indent="0">
              <a:buNone/>
            </a:pPr>
            <a:r>
              <a:rPr lang="en-IN" sz="2400" dirty="0"/>
              <a:t>int </a:t>
            </a:r>
            <a:r>
              <a:rPr lang="en-IN" sz="2400" dirty="0" err="1"/>
              <a:t>cisfull</a:t>
            </a:r>
            <a:r>
              <a:rPr lang="en-IN" sz="2400" dirty="0"/>
              <a:t>(</a:t>
            </a:r>
            <a:r>
              <a:rPr lang="en-IN" sz="2400" dirty="0" err="1"/>
              <a:t>cstack</a:t>
            </a:r>
            <a:r>
              <a:rPr lang="en-IN" sz="2400" dirty="0"/>
              <a:t> *s);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201398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7B3D5-7E98-4545-A140-27D550624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364172"/>
            <a:ext cx="10515600" cy="612965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2000" dirty="0"/>
              <a:t>//</a:t>
            </a:r>
            <a:r>
              <a:rPr lang="en-IN" sz="2000" dirty="0" err="1"/>
              <a:t>cstack.c</a:t>
            </a:r>
            <a:endParaRPr lang="en-IN" sz="20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2000" dirty="0"/>
              <a:t>#include "</a:t>
            </a:r>
            <a:r>
              <a:rPr lang="en-IN" sz="2000" dirty="0" err="1"/>
              <a:t>cstack.h</a:t>
            </a:r>
            <a:r>
              <a:rPr lang="en-IN" sz="2000" dirty="0"/>
              <a:t>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2000" b="1" dirty="0"/>
              <a:t>void </a:t>
            </a:r>
            <a:r>
              <a:rPr lang="en-IN" sz="2000" b="1" dirty="0" err="1"/>
              <a:t>cinit</a:t>
            </a:r>
            <a:r>
              <a:rPr lang="en-IN" sz="2000" dirty="0"/>
              <a:t>(</a:t>
            </a:r>
            <a:r>
              <a:rPr lang="en-IN" sz="2000" dirty="0" err="1"/>
              <a:t>cstack</a:t>
            </a:r>
            <a:r>
              <a:rPr lang="en-IN" sz="2000" dirty="0"/>
              <a:t> *s)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2000" dirty="0"/>
              <a:t>	s-&gt;</a:t>
            </a:r>
            <a:r>
              <a:rPr lang="en-IN" sz="2000" dirty="0" err="1"/>
              <a:t>i</a:t>
            </a:r>
            <a:r>
              <a:rPr lang="en-IN" sz="2000" dirty="0"/>
              <a:t> = 0;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2000" dirty="0"/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2000" b="1" dirty="0"/>
              <a:t>void </a:t>
            </a:r>
            <a:r>
              <a:rPr lang="en-IN" sz="2000" b="1" dirty="0" err="1"/>
              <a:t>cpush</a:t>
            </a:r>
            <a:r>
              <a:rPr lang="en-IN" sz="2000" dirty="0"/>
              <a:t>(</a:t>
            </a:r>
            <a:r>
              <a:rPr lang="en-IN" sz="2000" dirty="0" err="1"/>
              <a:t>cstack</a:t>
            </a:r>
            <a:r>
              <a:rPr lang="en-IN" sz="2000" dirty="0"/>
              <a:t> *s, char no)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2000" dirty="0"/>
              <a:t>	s-&gt;a[s-&gt;</a:t>
            </a:r>
            <a:r>
              <a:rPr lang="en-IN" sz="2000" dirty="0" err="1"/>
              <a:t>i</a:t>
            </a:r>
            <a:r>
              <a:rPr lang="en-IN" sz="2000" dirty="0"/>
              <a:t>++] = no;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2000" dirty="0"/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2000" b="1" dirty="0"/>
              <a:t>char </a:t>
            </a:r>
            <a:r>
              <a:rPr lang="en-IN" sz="2000" b="1" dirty="0" err="1"/>
              <a:t>cpop</a:t>
            </a:r>
            <a:r>
              <a:rPr lang="en-IN" sz="2000" dirty="0"/>
              <a:t>(</a:t>
            </a:r>
            <a:r>
              <a:rPr lang="en-IN" sz="2000" dirty="0" err="1"/>
              <a:t>cstack</a:t>
            </a:r>
            <a:r>
              <a:rPr lang="en-IN" sz="2000" dirty="0"/>
              <a:t> *s)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2000" dirty="0"/>
              <a:t>	char t;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2000" dirty="0"/>
              <a:t>	t = s-&gt;a[s-&gt;</a:t>
            </a:r>
            <a:r>
              <a:rPr lang="en-IN" sz="2000" dirty="0" err="1"/>
              <a:t>i</a:t>
            </a:r>
            <a:r>
              <a:rPr lang="en-IN" sz="2000" dirty="0"/>
              <a:t> - 1];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2000" dirty="0"/>
              <a:t>	s-&gt;</a:t>
            </a:r>
            <a:r>
              <a:rPr lang="en-IN" sz="2000" dirty="0" err="1"/>
              <a:t>i</a:t>
            </a:r>
            <a:r>
              <a:rPr lang="en-IN" sz="2000" dirty="0"/>
              <a:t>--;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2000" dirty="0"/>
              <a:t>	return t;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2000" dirty="0"/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2000" b="1" dirty="0"/>
              <a:t>int </a:t>
            </a:r>
            <a:r>
              <a:rPr lang="en-IN" sz="2000" b="1" dirty="0" err="1"/>
              <a:t>cisempty</a:t>
            </a:r>
            <a:r>
              <a:rPr lang="en-IN" sz="2000" dirty="0"/>
              <a:t>(</a:t>
            </a:r>
            <a:r>
              <a:rPr lang="en-IN" sz="2000" dirty="0" err="1"/>
              <a:t>cstack</a:t>
            </a:r>
            <a:r>
              <a:rPr lang="en-IN" sz="2000" dirty="0"/>
              <a:t> *s)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2000" dirty="0"/>
              <a:t>	return s-&gt;</a:t>
            </a:r>
            <a:r>
              <a:rPr lang="en-IN" sz="2000" dirty="0" err="1"/>
              <a:t>i</a:t>
            </a:r>
            <a:r>
              <a:rPr lang="en-IN" sz="2000" dirty="0"/>
              <a:t> == 0;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2000" dirty="0"/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2000" b="1" dirty="0"/>
              <a:t>int </a:t>
            </a:r>
            <a:r>
              <a:rPr lang="en-IN" sz="2000" b="1" dirty="0" err="1"/>
              <a:t>cisfull</a:t>
            </a:r>
            <a:r>
              <a:rPr lang="en-IN" sz="2000" dirty="0"/>
              <a:t>(</a:t>
            </a:r>
            <a:r>
              <a:rPr lang="en-IN" sz="2000" dirty="0" err="1"/>
              <a:t>cstack</a:t>
            </a:r>
            <a:r>
              <a:rPr lang="en-IN" sz="2000" dirty="0"/>
              <a:t> *s)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2000" dirty="0"/>
              <a:t>	return s-&gt;</a:t>
            </a:r>
            <a:r>
              <a:rPr lang="en-IN" sz="2000" dirty="0" err="1"/>
              <a:t>i</a:t>
            </a:r>
            <a:r>
              <a:rPr lang="en-IN" sz="2000" dirty="0"/>
              <a:t> == MAX;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787418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1F70E-DE70-47AB-899F-5489C04E5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311784"/>
            <a:ext cx="10515600" cy="63125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600" dirty="0"/>
              <a:t>char </a:t>
            </a:r>
            <a:r>
              <a:rPr lang="en-IN" sz="3600" dirty="0" err="1"/>
              <a:t>ctop</a:t>
            </a:r>
            <a:r>
              <a:rPr lang="en-IN" sz="3600" dirty="0"/>
              <a:t>(</a:t>
            </a:r>
            <a:r>
              <a:rPr lang="en-IN" sz="3600" dirty="0" err="1"/>
              <a:t>cstack</a:t>
            </a:r>
            <a:r>
              <a:rPr lang="en-IN" sz="3600" dirty="0"/>
              <a:t> *cs) {</a:t>
            </a:r>
          </a:p>
          <a:p>
            <a:pPr marL="0" indent="0">
              <a:buNone/>
            </a:pPr>
            <a:r>
              <a:rPr lang="en-IN" sz="3600" dirty="0"/>
              <a:t>	char </a:t>
            </a:r>
            <a:r>
              <a:rPr lang="en-IN" sz="3600" dirty="0" err="1"/>
              <a:t>ch</a:t>
            </a:r>
            <a:r>
              <a:rPr lang="en-IN" sz="3600" dirty="0"/>
              <a:t>;</a:t>
            </a:r>
          </a:p>
          <a:p>
            <a:pPr marL="0" indent="0">
              <a:buNone/>
            </a:pPr>
            <a:r>
              <a:rPr lang="en-IN" sz="3600" dirty="0"/>
              <a:t>	</a:t>
            </a:r>
            <a:r>
              <a:rPr lang="en-IN" sz="3600" dirty="0" err="1"/>
              <a:t>ch</a:t>
            </a:r>
            <a:r>
              <a:rPr lang="en-IN" sz="3600" dirty="0"/>
              <a:t> = </a:t>
            </a:r>
            <a:r>
              <a:rPr lang="en-IN" sz="3600" dirty="0" err="1"/>
              <a:t>cpop</a:t>
            </a:r>
            <a:r>
              <a:rPr lang="en-IN" sz="3600" dirty="0"/>
              <a:t>(cs);</a:t>
            </a:r>
          </a:p>
          <a:p>
            <a:pPr marL="0" indent="0">
              <a:buNone/>
            </a:pPr>
            <a:r>
              <a:rPr lang="en-IN" sz="3600" dirty="0"/>
              <a:t>	</a:t>
            </a:r>
            <a:r>
              <a:rPr lang="en-IN" sz="3600" dirty="0" err="1"/>
              <a:t>cpush</a:t>
            </a:r>
            <a:r>
              <a:rPr lang="en-IN" sz="3600" dirty="0"/>
              <a:t>(cs, </a:t>
            </a:r>
            <a:r>
              <a:rPr lang="en-IN" sz="3600" dirty="0" err="1"/>
              <a:t>ch</a:t>
            </a:r>
            <a:r>
              <a:rPr lang="en-IN" sz="3600" dirty="0"/>
              <a:t>);</a:t>
            </a:r>
          </a:p>
          <a:p>
            <a:pPr marL="0" indent="0">
              <a:buNone/>
            </a:pPr>
            <a:r>
              <a:rPr lang="en-IN" sz="3600" dirty="0"/>
              <a:t>	return </a:t>
            </a:r>
            <a:r>
              <a:rPr lang="en-IN" sz="3600" dirty="0" err="1"/>
              <a:t>ch</a:t>
            </a:r>
            <a:r>
              <a:rPr lang="en-IN" sz="3600" dirty="0"/>
              <a:t>;</a:t>
            </a:r>
          </a:p>
          <a:p>
            <a:pPr marL="0" indent="0">
              <a:buNone/>
            </a:pPr>
            <a:r>
              <a:rPr lang="en-IN" sz="3600" dirty="0"/>
              <a:t>}</a:t>
            </a:r>
          </a:p>
          <a:p>
            <a:pPr marL="0" indent="0">
              <a:buNone/>
            </a:pPr>
            <a:endParaRPr lang="en-IN" sz="3600" dirty="0"/>
          </a:p>
          <a:p>
            <a:pPr marL="0" indent="0">
              <a:buNone/>
            </a:pPr>
            <a:r>
              <a:rPr lang="en-IN" sz="3600" dirty="0"/>
              <a:t>//peek() function</a:t>
            </a:r>
          </a:p>
          <a:p>
            <a:pPr marL="0" indent="0">
              <a:buNone/>
            </a:pP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6747610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66BD5-0CE3-48AC-978D-38F52FE82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301624"/>
            <a:ext cx="10515600" cy="66274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int precedence(char op) {</a:t>
            </a:r>
          </a:p>
          <a:p>
            <a:pPr marL="0" indent="0">
              <a:buNone/>
            </a:pPr>
            <a:r>
              <a:rPr lang="en-IN" sz="1800" dirty="0"/>
              <a:t>	switch(op) {</a:t>
            </a:r>
          </a:p>
          <a:p>
            <a:pPr marL="0" indent="0">
              <a:buNone/>
            </a:pPr>
            <a:r>
              <a:rPr lang="en-IN" sz="1800" dirty="0"/>
              <a:t>		case '+': case '-':</a:t>
            </a:r>
          </a:p>
          <a:p>
            <a:pPr marL="0" indent="0">
              <a:buNone/>
            </a:pPr>
            <a:r>
              <a:rPr lang="en-IN" sz="1800" dirty="0"/>
              <a:t>			return 1;</a:t>
            </a:r>
          </a:p>
          <a:p>
            <a:pPr marL="0" indent="0">
              <a:buNone/>
            </a:pPr>
            <a:r>
              <a:rPr lang="en-IN" sz="1800" dirty="0"/>
              <a:t>			break;	</a:t>
            </a:r>
          </a:p>
          <a:p>
            <a:pPr marL="0" indent="0">
              <a:buNone/>
            </a:pPr>
            <a:r>
              <a:rPr lang="en-IN" sz="1800" dirty="0"/>
              <a:t>		case '*': case '/':</a:t>
            </a:r>
          </a:p>
          <a:p>
            <a:pPr marL="0" indent="0">
              <a:buNone/>
            </a:pPr>
            <a:r>
              <a:rPr lang="en-IN" sz="1800" dirty="0"/>
              <a:t>			return 2;</a:t>
            </a:r>
          </a:p>
          <a:p>
            <a:pPr marL="0" indent="0">
              <a:buNone/>
            </a:pPr>
            <a:r>
              <a:rPr lang="en-IN" sz="1800" dirty="0"/>
              <a:t>			break;	</a:t>
            </a:r>
          </a:p>
          <a:p>
            <a:pPr marL="0" indent="0">
              <a:buNone/>
            </a:pPr>
            <a:r>
              <a:rPr lang="en-IN" sz="1800" dirty="0"/>
              <a:t>		case '%': </a:t>
            </a:r>
          </a:p>
          <a:p>
            <a:pPr marL="0" indent="0">
              <a:buNone/>
            </a:pPr>
            <a:r>
              <a:rPr lang="en-IN" sz="1800" dirty="0"/>
              <a:t>			return 3;</a:t>
            </a:r>
          </a:p>
          <a:p>
            <a:pPr marL="0" indent="0">
              <a:buNone/>
            </a:pPr>
            <a:r>
              <a:rPr lang="en-IN" sz="1800" dirty="0"/>
              <a:t>			break;	</a:t>
            </a:r>
          </a:p>
          <a:p>
            <a:pPr marL="0" indent="0">
              <a:buNone/>
            </a:pPr>
            <a:r>
              <a:rPr lang="en-IN" sz="1800" dirty="0"/>
              <a:t>		default:</a:t>
            </a:r>
          </a:p>
          <a:p>
            <a:pPr marL="0" indent="0">
              <a:buNone/>
            </a:pPr>
            <a:r>
              <a:rPr lang="en-IN" sz="1800" dirty="0"/>
              <a:t>			return 4;</a:t>
            </a:r>
          </a:p>
          <a:p>
            <a:pPr marL="0" indent="0">
              <a:buNone/>
            </a:pPr>
            <a:r>
              <a:rPr lang="en-IN" sz="1800" dirty="0"/>
              <a:t>			break;</a:t>
            </a:r>
          </a:p>
          <a:p>
            <a:pPr marL="0" indent="0">
              <a:buNone/>
            </a:pPr>
            <a:r>
              <a:rPr lang="en-IN" sz="1800" dirty="0"/>
              <a:t>	}</a:t>
            </a:r>
          </a:p>
          <a:p>
            <a:pPr marL="0" indent="0">
              <a:buNone/>
            </a:pPr>
            <a:r>
              <a:rPr lang="en-IN" sz="1800" dirty="0"/>
              <a:t>	return 4;</a:t>
            </a:r>
          </a:p>
          <a:p>
            <a:pPr marL="0" indent="0">
              <a:buNone/>
            </a:pPr>
            <a:r>
              <a:rPr lang="en-IN" sz="1800" dirty="0"/>
              <a:t>}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9581773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DAAE7-EA59-40BB-9094-CC496E952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760" y="159384"/>
            <a:ext cx="10515600" cy="6332855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// </a:t>
            </a:r>
            <a:r>
              <a:rPr lang="en-IN" b="1" dirty="0"/>
              <a:t>assuming infix expression does not contain brackets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b="1" dirty="0"/>
              <a:t>char *</a:t>
            </a:r>
            <a:r>
              <a:rPr lang="en-IN" b="1" dirty="0" err="1"/>
              <a:t>infixtopostfix</a:t>
            </a:r>
            <a:r>
              <a:rPr lang="en-IN" b="1" dirty="0"/>
              <a:t>(char *infix)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token 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</a:t>
            </a:r>
            <a:r>
              <a:rPr lang="en-IN" dirty="0" err="1"/>
              <a:t>cstack</a:t>
            </a:r>
            <a:r>
              <a:rPr lang="en-IN" dirty="0"/>
              <a:t> cs;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char *postfix = malloc(</a:t>
            </a:r>
            <a:r>
              <a:rPr lang="en-IN" dirty="0" err="1"/>
              <a:t>strlen</a:t>
            </a:r>
            <a:r>
              <a:rPr lang="en-IN" dirty="0"/>
              <a:t>(infix) + 1), </a:t>
            </a:r>
            <a:r>
              <a:rPr lang="en-IN" dirty="0" err="1"/>
              <a:t>prevop</a:t>
            </a:r>
            <a:r>
              <a:rPr lang="en-IN" dirty="0"/>
              <a:t>, </a:t>
            </a:r>
            <a:r>
              <a:rPr lang="en-IN" dirty="0" err="1"/>
              <a:t>currop</a:t>
            </a:r>
            <a:r>
              <a:rPr lang="en-IN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char str[16];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if(!postfix)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	return NULL;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</a:t>
            </a:r>
            <a:r>
              <a:rPr lang="en-IN" dirty="0" err="1"/>
              <a:t>strcpy</a:t>
            </a:r>
            <a:r>
              <a:rPr lang="en-IN" dirty="0"/>
              <a:t>(postfix, "");	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</a:t>
            </a:r>
            <a:r>
              <a:rPr lang="en-IN" dirty="0" err="1"/>
              <a:t>cinit</a:t>
            </a:r>
            <a:r>
              <a:rPr lang="en-IN" dirty="0"/>
              <a:t>(&amp;cs);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while(1)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	t = </a:t>
            </a:r>
            <a:r>
              <a:rPr lang="en-IN" dirty="0" err="1"/>
              <a:t>gettoken</a:t>
            </a:r>
            <a:r>
              <a:rPr lang="en-IN" dirty="0"/>
              <a:t>(infix, &amp;reset);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	if(</a:t>
            </a:r>
            <a:r>
              <a:rPr lang="en-IN" dirty="0" err="1"/>
              <a:t>t.type</a:t>
            </a:r>
            <a:r>
              <a:rPr lang="en-IN" dirty="0"/>
              <a:t> == OPERAND)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		</a:t>
            </a:r>
            <a:r>
              <a:rPr lang="en-IN" dirty="0" err="1"/>
              <a:t>sprintf</a:t>
            </a:r>
            <a:r>
              <a:rPr lang="en-IN" dirty="0"/>
              <a:t>(str, "%d", </a:t>
            </a:r>
            <a:r>
              <a:rPr lang="en-IN" dirty="0" err="1"/>
              <a:t>t.data.num</a:t>
            </a:r>
            <a:r>
              <a:rPr lang="en-IN" dirty="0"/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		</a:t>
            </a:r>
            <a:r>
              <a:rPr lang="en-IN" dirty="0" err="1"/>
              <a:t>strcat</a:t>
            </a:r>
            <a:r>
              <a:rPr lang="en-IN" dirty="0"/>
              <a:t>(postfix, str);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		</a:t>
            </a:r>
            <a:r>
              <a:rPr lang="en-IN" dirty="0" err="1"/>
              <a:t>strcat</a:t>
            </a:r>
            <a:r>
              <a:rPr lang="en-IN" dirty="0"/>
              <a:t>(postfix, " 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	} else if(</a:t>
            </a:r>
            <a:r>
              <a:rPr lang="en-IN" dirty="0" err="1"/>
              <a:t>t.type</a:t>
            </a:r>
            <a:r>
              <a:rPr lang="en-IN" dirty="0"/>
              <a:t> == OPERATOR)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		if(!</a:t>
            </a:r>
            <a:r>
              <a:rPr lang="en-IN" dirty="0" err="1"/>
              <a:t>cisempty</a:t>
            </a:r>
            <a:r>
              <a:rPr lang="en-IN" dirty="0"/>
              <a:t>(&amp;cs))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			</a:t>
            </a:r>
            <a:r>
              <a:rPr lang="en-IN" dirty="0" err="1"/>
              <a:t>currop</a:t>
            </a:r>
            <a:r>
              <a:rPr lang="en-IN" dirty="0"/>
              <a:t> = </a:t>
            </a:r>
            <a:r>
              <a:rPr lang="en-IN" dirty="0" err="1"/>
              <a:t>t.data.op</a:t>
            </a:r>
            <a:r>
              <a:rPr lang="en-IN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			</a:t>
            </a:r>
          </a:p>
        </p:txBody>
      </p:sp>
    </p:spTree>
    <p:extLst>
      <p:ext uri="{BB962C8B-B14F-4D97-AF65-F5344CB8AC3E}">
        <p14:creationId xmlns:p14="http://schemas.microsoft.com/office/powerpoint/2010/main" val="5700243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9EC84-7847-40A5-ADC9-A20E68D1A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00" y="139064"/>
            <a:ext cx="10515600" cy="64547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                              </a:t>
            </a:r>
            <a:r>
              <a:rPr lang="en-IN" sz="2000" dirty="0" err="1"/>
              <a:t>prevop</a:t>
            </a:r>
            <a:r>
              <a:rPr lang="en-IN" sz="2000" dirty="0"/>
              <a:t> = </a:t>
            </a:r>
            <a:r>
              <a:rPr lang="en-IN" sz="2000" dirty="0" err="1"/>
              <a:t>ctop</a:t>
            </a:r>
            <a:r>
              <a:rPr lang="en-IN" sz="2000" dirty="0"/>
              <a:t>(&amp;cs);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				while (precedence(</a:t>
            </a:r>
            <a:r>
              <a:rPr lang="en-IN" sz="2000" dirty="0" err="1"/>
              <a:t>prevop</a:t>
            </a:r>
            <a:r>
              <a:rPr lang="en-IN" sz="2000" dirty="0"/>
              <a:t>) &gt;= precedence(</a:t>
            </a:r>
            <a:r>
              <a:rPr lang="en-IN" sz="2000" dirty="0" err="1"/>
              <a:t>currop</a:t>
            </a:r>
            <a:r>
              <a:rPr lang="en-IN" sz="2000" dirty="0"/>
              <a:t>))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					</a:t>
            </a:r>
            <a:r>
              <a:rPr lang="en-IN" sz="2000" dirty="0" err="1"/>
              <a:t>prevop</a:t>
            </a:r>
            <a:r>
              <a:rPr lang="en-IN" sz="2000" dirty="0"/>
              <a:t> = </a:t>
            </a:r>
            <a:r>
              <a:rPr lang="en-IN" sz="2000" dirty="0" err="1"/>
              <a:t>cpop</a:t>
            </a:r>
            <a:r>
              <a:rPr lang="en-IN" sz="2000" dirty="0"/>
              <a:t>(&amp;cs);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					str[0] = </a:t>
            </a:r>
            <a:r>
              <a:rPr lang="en-IN" sz="2000" dirty="0" err="1"/>
              <a:t>prevop</a:t>
            </a:r>
            <a:r>
              <a:rPr lang="en-IN" sz="2000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					str[1] = '\0';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					</a:t>
            </a:r>
            <a:r>
              <a:rPr lang="en-IN" sz="2000" dirty="0" err="1"/>
              <a:t>strcat</a:t>
            </a:r>
            <a:r>
              <a:rPr lang="en-IN" sz="2000" dirty="0"/>
              <a:t>(postfix, str);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					if(!</a:t>
            </a:r>
            <a:r>
              <a:rPr lang="en-IN" sz="2000" dirty="0" err="1"/>
              <a:t>cisempty</a:t>
            </a:r>
            <a:r>
              <a:rPr lang="en-IN" sz="2000" dirty="0"/>
              <a:t>(&amp;cs))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						</a:t>
            </a:r>
            <a:r>
              <a:rPr lang="en-IN" sz="2000" dirty="0" err="1"/>
              <a:t>prevop</a:t>
            </a:r>
            <a:r>
              <a:rPr lang="en-IN" sz="2000" dirty="0"/>
              <a:t> = </a:t>
            </a:r>
            <a:r>
              <a:rPr lang="en-IN" sz="2000" dirty="0" err="1"/>
              <a:t>ctop</a:t>
            </a:r>
            <a:r>
              <a:rPr lang="en-IN" sz="2000" dirty="0"/>
              <a:t>(&amp;cs);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					else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						break;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				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			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			if(!</a:t>
            </a:r>
            <a:r>
              <a:rPr lang="en-IN" sz="2000" dirty="0" err="1"/>
              <a:t>cisfull</a:t>
            </a:r>
            <a:r>
              <a:rPr lang="en-IN" sz="2000" dirty="0"/>
              <a:t>(&amp;cs))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				</a:t>
            </a:r>
            <a:r>
              <a:rPr lang="en-IN" sz="2000" dirty="0" err="1"/>
              <a:t>cpush</a:t>
            </a:r>
            <a:r>
              <a:rPr lang="en-IN" sz="2000" dirty="0"/>
              <a:t>(&amp;cs, </a:t>
            </a:r>
            <a:r>
              <a:rPr lang="en-IN" sz="2000" dirty="0" err="1"/>
              <a:t>t.data.op</a:t>
            </a:r>
            <a:r>
              <a:rPr lang="en-IN" sz="2000" dirty="0"/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			else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				free(postfix);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				return NULL;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			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		}</a:t>
            </a:r>
          </a:p>
        </p:txBody>
      </p:sp>
    </p:spTree>
    <p:extLst>
      <p:ext uri="{BB962C8B-B14F-4D97-AF65-F5344CB8AC3E}">
        <p14:creationId xmlns:p14="http://schemas.microsoft.com/office/powerpoint/2010/main" val="22439668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F44FE-C19E-4E1B-BFCB-A46F4B8DA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60" y="606425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else if(</a:t>
            </a:r>
            <a:r>
              <a:rPr lang="en-IN" dirty="0" err="1"/>
              <a:t>t.type</a:t>
            </a:r>
            <a:r>
              <a:rPr lang="en-IN" dirty="0"/>
              <a:t> == END)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		while (!</a:t>
            </a:r>
            <a:r>
              <a:rPr lang="en-IN" dirty="0" err="1"/>
              <a:t>cisempty</a:t>
            </a:r>
            <a:r>
              <a:rPr lang="en-IN" dirty="0"/>
              <a:t>(&amp;cs)) {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			</a:t>
            </a:r>
            <a:r>
              <a:rPr lang="en-IN" dirty="0" err="1"/>
              <a:t>prevop</a:t>
            </a:r>
            <a:r>
              <a:rPr lang="en-IN" dirty="0"/>
              <a:t> = </a:t>
            </a:r>
            <a:r>
              <a:rPr lang="en-IN" dirty="0" err="1"/>
              <a:t>cpop</a:t>
            </a:r>
            <a:r>
              <a:rPr lang="en-IN" dirty="0"/>
              <a:t>(&amp;cs);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			str[0] = </a:t>
            </a:r>
            <a:r>
              <a:rPr lang="en-IN" dirty="0" err="1"/>
              <a:t>prevop</a:t>
            </a:r>
            <a:r>
              <a:rPr lang="en-IN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			str[1] = '\0';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			</a:t>
            </a:r>
            <a:r>
              <a:rPr lang="en-IN" dirty="0" err="1"/>
              <a:t>strcat</a:t>
            </a:r>
            <a:r>
              <a:rPr lang="en-IN" dirty="0"/>
              <a:t>(postfix, str);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		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		break;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	} else if(</a:t>
            </a:r>
            <a:r>
              <a:rPr lang="en-IN" dirty="0" err="1"/>
              <a:t>t.type</a:t>
            </a:r>
            <a:r>
              <a:rPr lang="en-IN" dirty="0"/>
              <a:t> == ERR)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		free(postfix);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		return NULL;	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	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	return postfix;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01807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Algorithm Analysis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push	O(?)</a:t>
            </a:r>
          </a:p>
          <a:p>
            <a:pPr eaLnBrk="1" hangingPunct="1"/>
            <a:r>
              <a:rPr lang="en-US" altLang="en-US"/>
              <a:t>pop          O(?)</a:t>
            </a:r>
          </a:p>
          <a:p>
            <a:pPr eaLnBrk="1" hangingPunct="1"/>
            <a:r>
              <a:rPr lang="en-US" altLang="en-US"/>
              <a:t>isEmpty	O(?)</a:t>
            </a:r>
          </a:p>
          <a:p>
            <a:pPr eaLnBrk="1" hangingPunct="1"/>
            <a:r>
              <a:rPr lang="en-US" altLang="en-US"/>
              <a:t>isFull	O(?)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What if </a:t>
            </a:r>
            <a:r>
              <a:rPr lang="en-US" altLang="en-US" i="1"/>
              <a:t>top </a:t>
            </a:r>
            <a:r>
              <a:rPr lang="en-US" altLang="en-US"/>
              <a:t>is stored at the beginning of the array?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26489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Implementation:</a:t>
            </a:r>
            <a:br>
              <a:rPr lang="en-US" dirty="0"/>
            </a:br>
            <a:r>
              <a:rPr lang="en-US" dirty="0"/>
              <a:t>There are two ways to implement a stack:</a:t>
            </a:r>
          </a:p>
          <a:p>
            <a:r>
              <a:rPr lang="en-US" dirty="0"/>
              <a:t>Using array</a:t>
            </a:r>
          </a:p>
          <a:p>
            <a:r>
              <a:rPr lang="en-US" dirty="0"/>
              <a:t>Using linked list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2125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implementation of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Implementation using  </a:t>
            </a:r>
          </a:p>
          <a:p>
            <a:pPr marL="0" indent="0">
              <a:buNone/>
            </a:pPr>
            <a:r>
              <a:rPr lang="en-US" dirty="0"/>
              <a:t>Struct</a:t>
            </a:r>
          </a:p>
          <a:p>
            <a:pPr marL="0" indent="0">
              <a:buNone/>
            </a:pPr>
            <a:r>
              <a:rPr lang="en-US" dirty="0"/>
              <a:t>Malloc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4906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768D0-892A-4F80-921A-0A6C2B740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342264"/>
            <a:ext cx="10515600" cy="621093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dirty="0"/>
              <a:t>//</a:t>
            </a:r>
            <a:r>
              <a:rPr lang="en-IN" sz="2400" dirty="0" err="1"/>
              <a:t>stack.h</a:t>
            </a:r>
            <a:r>
              <a:rPr lang="en-IN" sz="2400" dirty="0"/>
              <a:t> </a:t>
            </a:r>
          </a:p>
          <a:p>
            <a:pPr marL="0" indent="0">
              <a:buNone/>
            </a:pPr>
            <a:r>
              <a:rPr lang="en-IN" sz="2400" dirty="0"/>
              <a:t>#define MAX 16</a:t>
            </a:r>
          </a:p>
          <a:p>
            <a:pPr marL="0" indent="0">
              <a:buNone/>
            </a:pPr>
            <a:r>
              <a:rPr lang="en-IN" sz="2400" dirty="0"/>
              <a:t>typedef struct stack{</a:t>
            </a:r>
          </a:p>
          <a:p>
            <a:pPr marL="0" indent="0">
              <a:buNone/>
            </a:pPr>
            <a:r>
              <a:rPr lang="en-IN" sz="2400" dirty="0"/>
              <a:t>	int a[MAX];</a:t>
            </a:r>
          </a:p>
          <a:p>
            <a:pPr marL="0" indent="0">
              <a:buNone/>
            </a:pPr>
            <a:r>
              <a:rPr lang="en-IN" sz="2400" dirty="0"/>
              <a:t>	int </a:t>
            </a:r>
            <a:r>
              <a:rPr lang="en-IN" sz="2400" dirty="0" err="1"/>
              <a:t>i</a:t>
            </a:r>
            <a:r>
              <a:rPr lang="en-IN" sz="2400" dirty="0"/>
              <a:t>;</a:t>
            </a:r>
          </a:p>
          <a:p>
            <a:pPr marL="0" indent="0">
              <a:buNone/>
            </a:pPr>
            <a:r>
              <a:rPr lang="en-IN" sz="2400" dirty="0"/>
              <a:t>}stack;</a:t>
            </a:r>
          </a:p>
          <a:p>
            <a:pPr marL="0" indent="0">
              <a:buNone/>
            </a:pPr>
            <a:r>
              <a:rPr lang="en-IN" sz="2400" dirty="0"/>
              <a:t>/* User to call </a:t>
            </a:r>
            <a:r>
              <a:rPr lang="en-IN" sz="2400" dirty="0" err="1"/>
              <a:t>init</a:t>
            </a:r>
            <a:r>
              <a:rPr lang="en-IN" sz="2400" dirty="0"/>
              <a:t> before calling other functions.</a:t>
            </a:r>
          </a:p>
          <a:p>
            <a:pPr marL="0" indent="0">
              <a:buNone/>
            </a:pPr>
            <a:r>
              <a:rPr lang="en-IN" sz="2400" dirty="0"/>
              <a:t> * User to check </a:t>
            </a:r>
            <a:r>
              <a:rPr lang="en-IN" sz="2400" dirty="0" err="1"/>
              <a:t>isempty</a:t>
            </a:r>
            <a:r>
              <a:rPr lang="en-IN" sz="2400" dirty="0"/>
              <a:t>() before calling pop()</a:t>
            </a:r>
          </a:p>
          <a:p>
            <a:pPr marL="0" indent="0">
              <a:buNone/>
            </a:pPr>
            <a:r>
              <a:rPr lang="en-IN" sz="2400" dirty="0"/>
              <a:t> * User to check </a:t>
            </a:r>
            <a:r>
              <a:rPr lang="en-IN" sz="2400" dirty="0" err="1"/>
              <a:t>isfull</a:t>
            </a:r>
            <a:r>
              <a:rPr lang="en-IN" sz="2400" dirty="0"/>
              <a:t>() before calling push()</a:t>
            </a:r>
          </a:p>
          <a:p>
            <a:pPr marL="0" indent="0">
              <a:buNone/>
            </a:pPr>
            <a:r>
              <a:rPr lang="en-IN" sz="2400" dirty="0"/>
              <a:t>  */</a:t>
            </a:r>
          </a:p>
          <a:p>
            <a:pPr marL="0" indent="0">
              <a:buNone/>
            </a:pPr>
            <a:r>
              <a:rPr lang="en-IN" sz="2400" dirty="0"/>
              <a:t>void </a:t>
            </a:r>
            <a:r>
              <a:rPr lang="en-IN" sz="2400" dirty="0" err="1"/>
              <a:t>init</a:t>
            </a:r>
            <a:r>
              <a:rPr lang="en-IN" sz="2400" dirty="0"/>
              <a:t>(</a:t>
            </a:r>
            <a:r>
              <a:rPr lang="en-IN" sz="2400" dirty="0" err="1"/>
              <a:t>cstack</a:t>
            </a:r>
            <a:r>
              <a:rPr lang="en-IN" sz="2400" dirty="0"/>
              <a:t> *s);</a:t>
            </a:r>
          </a:p>
          <a:p>
            <a:pPr marL="0" indent="0">
              <a:buNone/>
            </a:pPr>
            <a:r>
              <a:rPr lang="en-IN" sz="2400" dirty="0"/>
              <a:t>void push(</a:t>
            </a:r>
            <a:r>
              <a:rPr lang="en-IN" sz="2400" dirty="0" err="1"/>
              <a:t>cstack</a:t>
            </a:r>
            <a:r>
              <a:rPr lang="en-IN" sz="2400" dirty="0"/>
              <a:t> *s, char no);</a:t>
            </a:r>
          </a:p>
          <a:p>
            <a:pPr marL="0" indent="0">
              <a:buNone/>
            </a:pPr>
            <a:r>
              <a:rPr lang="en-IN" sz="2400" dirty="0"/>
              <a:t>char pop(</a:t>
            </a:r>
            <a:r>
              <a:rPr lang="en-IN" sz="2400" dirty="0" err="1"/>
              <a:t>cstack</a:t>
            </a:r>
            <a:r>
              <a:rPr lang="en-IN" sz="2400" dirty="0"/>
              <a:t> *s);</a:t>
            </a:r>
          </a:p>
          <a:p>
            <a:pPr marL="0" indent="0">
              <a:buNone/>
            </a:pPr>
            <a:r>
              <a:rPr lang="en-IN" sz="2400" dirty="0"/>
              <a:t>int </a:t>
            </a:r>
            <a:r>
              <a:rPr lang="en-IN" sz="2400" dirty="0" err="1"/>
              <a:t>isempty</a:t>
            </a:r>
            <a:r>
              <a:rPr lang="en-IN" sz="2400" dirty="0"/>
              <a:t>(</a:t>
            </a:r>
            <a:r>
              <a:rPr lang="en-IN" sz="2400" dirty="0" err="1"/>
              <a:t>cstack</a:t>
            </a:r>
            <a:r>
              <a:rPr lang="en-IN" sz="2400" dirty="0"/>
              <a:t> *s);</a:t>
            </a:r>
          </a:p>
          <a:p>
            <a:pPr marL="0" indent="0">
              <a:buNone/>
            </a:pPr>
            <a:r>
              <a:rPr lang="en-IN" sz="2400" dirty="0"/>
              <a:t>int </a:t>
            </a:r>
            <a:r>
              <a:rPr lang="en-IN" sz="2400" dirty="0" err="1"/>
              <a:t>isfull</a:t>
            </a:r>
            <a:r>
              <a:rPr lang="en-IN" sz="2400" dirty="0"/>
              <a:t>(</a:t>
            </a:r>
            <a:r>
              <a:rPr lang="en-IN" sz="2400" dirty="0" err="1"/>
              <a:t>cstack</a:t>
            </a:r>
            <a:r>
              <a:rPr lang="en-IN" sz="2400" dirty="0"/>
              <a:t> *s);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307792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28558-B298-403E-BB3B-404771D95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254000"/>
            <a:ext cx="3591560" cy="23368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/>
              <a:t>#define MAX 32</a:t>
            </a:r>
          </a:p>
          <a:p>
            <a:pPr marL="0" indent="0">
              <a:buNone/>
            </a:pPr>
            <a:r>
              <a:rPr lang="en-IN" sz="2400" dirty="0"/>
              <a:t>typedef struct stack {	</a:t>
            </a:r>
          </a:p>
          <a:p>
            <a:pPr marL="0" indent="0">
              <a:buNone/>
            </a:pPr>
            <a:r>
              <a:rPr lang="en-IN" sz="2400" dirty="0"/>
              <a:t>int a[MAX];</a:t>
            </a:r>
          </a:p>
          <a:p>
            <a:pPr marL="0" indent="0">
              <a:buNone/>
            </a:pPr>
            <a:r>
              <a:rPr lang="en-IN" sz="2400" dirty="0"/>
              <a:t>int </a:t>
            </a:r>
            <a:r>
              <a:rPr lang="en-IN" sz="2400" dirty="0" err="1"/>
              <a:t>i</a:t>
            </a:r>
            <a:r>
              <a:rPr lang="en-IN" sz="2400" dirty="0"/>
              <a:t>;</a:t>
            </a:r>
          </a:p>
          <a:p>
            <a:pPr marL="0" indent="0">
              <a:buNone/>
            </a:pPr>
            <a:r>
              <a:rPr lang="en-IN" sz="2400" dirty="0"/>
              <a:t>}stack;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55D99F-8C56-4625-93B4-29B67486EA3F}"/>
              </a:ext>
            </a:extLst>
          </p:cNvPr>
          <p:cNvSpPr txBox="1">
            <a:spLocks/>
          </p:cNvSpPr>
          <p:nvPr/>
        </p:nvSpPr>
        <p:spPr>
          <a:xfrm>
            <a:off x="5687060" y="56042"/>
            <a:ext cx="3591560" cy="15443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void push(stack *s, int x)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	s-&gt;a[s-&gt;</a:t>
            </a:r>
            <a:r>
              <a:rPr lang="en-IN" sz="2400" dirty="0" err="1"/>
              <a:t>i</a:t>
            </a:r>
            <a:r>
              <a:rPr lang="en-IN" sz="2400" dirty="0"/>
              <a:t>++] = x;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C1EBF2E-39C5-4689-B4D9-3D7F75AF4854}"/>
              </a:ext>
            </a:extLst>
          </p:cNvPr>
          <p:cNvSpPr txBox="1">
            <a:spLocks/>
          </p:cNvSpPr>
          <p:nvPr/>
        </p:nvSpPr>
        <p:spPr>
          <a:xfrm>
            <a:off x="5687060" y="1600362"/>
            <a:ext cx="3591560" cy="1574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void </a:t>
            </a:r>
            <a:r>
              <a:rPr lang="en-IN" sz="2400" dirty="0" err="1"/>
              <a:t>init</a:t>
            </a:r>
            <a:r>
              <a:rPr lang="en-IN" sz="2400" dirty="0"/>
              <a:t>(stack *s)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	s-&gt;</a:t>
            </a:r>
            <a:r>
              <a:rPr lang="en-IN" sz="2400" dirty="0" err="1"/>
              <a:t>i</a:t>
            </a:r>
            <a:r>
              <a:rPr lang="en-IN" sz="2400" dirty="0"/>
              <a:t> = 0;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4D29B1-8963-4351-BBF2-216FFC1B402C}"/>
              </a:ext>
            </a:extLst>
          </p:cNvPr>
          <p:cNvSpPr txBox="1">
            <a:spLocks/>
          </p:cNvSpPr>
          <p:nvPr/>
        </p:nvSpPr>
        <p:spPr>
          <a:xfrm>
            <a:off x="5687060" y="4553431"/>
            <a:ext cx="3591560" cy="191960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int </a:t>
            </a:r>
            <a:r>
              <a:rPr lang="en-IN" sz="2400" dirty="0" err="1"/>
              <a:t>isempty</a:t>
            </a:r>
            <a:r>
              <a:rPr lang="en-IN" sz="2400" dirty="0"/>
              <a:t>(stack *s)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	return s-&gt;</a:t>
            </a:r>
            <a:r>
              <a:rPr lang="en-IN" sz="2400" dirty="0" err="1"/>
              <a:t>i</a:t>
            </a:r>
            <a:r>
              <a:rPr lang="en-IN" sz="2400" dirty="0"/>
              <a:t> == 0;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FE03114-8A5D-43DC-B9F6-324B911C0E6C}"/>
              </a:ext>
            </a:extLst>
          </p:cNvPr>
          <p:cNvSpPr txBox="1">
            <a:spLocks/>
          </p:cNvSpPr>
          <p:nvPr/>
        </p:nvSpPr>
        <p:spPr>
          <a:xfrm>
            <a:off x="5687060" y="3144682"/>
            <a:ext cx="3591560" cy="14087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int </a:t>
            </a:r>
            <a:r>
              <a:rPr lang="en-IN" sz="2400" dirty="0" err="1"/>
              <a:t>isfull</a:t>
            </a:r>
            <a:r>
              <a:rPr lang="en-IN" sz="2400" dirty="0"/>
              <a:t>(stack *s)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	return s-&gt;</a:t>
            </a:r>
            <a:r>
              <a:rPr lang="en-IN" sz="2400" dirty="0" err="1"/>
              <a:t>i</a:t>
            </a:r>
            <a:r>
              <a:rPr lang="en-IN" sz="2400" dirty="0"/>
              <a:t> == MAX;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}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64CBC2D-B1A8-44C2-BCFF-84D818F35221}"/>
              </a:ext>
            </a:extLst>
          </p:cNvPr>
          <p:cNvSpPr txBox="1">
            <a:spLocks/>
          </p:cNvSpPr>
          <p:nvPr/>
        </p:nvSpPr>
        <p:spPr>
          <a:xfrm>
            <a:off x="342899" y="2590800"/>
            <a:ext cx="3591560" cy="423814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/* the caller should check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 * </a:t>
            </a:r>
            <a:r>
              <a:rPr lang="en-IN" sz="2400" dirty="0" err="1"/>
              <a:t>isempty</a:t>
            </a:r>
            <a:r>
              <a:rPr lang="en-IN" sz="2400" dirty="0"/>
              <a:t>() before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  * calling pop().. </a:t>
            </a:r>
          </a:p>
          <a:p>
            <a:pPr marL="0" indent="0">
              <a:buNone/>
            </a:pPr>
            <a:r>
              <a:rPr lang="en-IN" sz="2400" dirty="0"/>
              <a:t>*/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int pop(stack *s)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	int temp;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	temp = s-&gt;a[s-&gt;</a:t>
            </a:r>
            <a:r>
              <a:rPr lang="en-IN" sz="2400" dirty="0" err="1"/>
              <a:t>i</a:t>
            </a:r>
            <a:r>
              <a:rPr lang="en-IN" sz="2400" dirty="0"/>
              <a:t> - 1];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	s-&gt;</a:t>
            </a:r>
            <a:r>
              <a:rPr lang="en-IN" sz="2400" dirty="0" err="1"/>
              <a:t>i</a:t>
            </a:r>
            <a:r>
              <a:rPr lang="en-IN" sz="2400" dirty="0"/>
              <a:t>--;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                   return temp;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446172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DE455-2347-4645-92E0-FDBFAA4C2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520" y="311784"/>
            <a:ext cx="10515600" cy="639381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** Stack implementation using linked list*****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typedef struct node {</a:t>
            </a:r>
            <a:br>
              <a:rPr lang="en-IN" dirty="0">
                <a:solidFill>
                  <a:srgbClr val="FF0000"/>
                </a:solidFill>
              </a:rPr>
            </a:br>
            <a:r>
              <a:rPr lang="en-IN" dirty="0">
                <a:solidFill>
                  <a:srgbClr val="FF0000"/>
                </a:solidFill>
              </a:rPr>
              <a:t>    int </a:t>
            </a:r>
            <a:r>
              <a:rPr lang="en-IN" dirty="0" err="1">
                <a:solidFill>
                  <a:srgbClr val="FF0000"/>
                </a:solidFill>
              </a:rPr>
              <a:t>val</a:t>
            </a:r>
            <a:r>
              <a:rPr lang="en-IN" dirty="0">
                <a:solidFill>
                  <a:srgbClr val="FF0000"/>
                </a:solidFill>
              </a:rPr>
              <a:t>;</a:t>
            </a:r>
            <a:br>
              <a:rPr lang="en-IN" dirty="0">
                <a:solidFill>
                  <a:srgbClr val="FF0000"/>
                </a:solidFill>
              </a:rPr>
            </a:br>
            <a:r>
              <a:rPr lang="en-IN" dirty="0">
                <a:solidFill>
                  <a:srgbClr val="FF0000"/>
                </a:solidFill>
              </a:rPr>
              <a:t>    struct node *next;</a:t>
            </a:r>
            <a:br>
              <a:rPr lang="en-IN" dirty="0">
                <a:solidFill>
                  <a:srgbClr val="FF0000"/>
                </a:solidFill>
              </a:rPr>
            </a:br>
            <a:r>
              <a:rPr lang="en-IN" dirty="0">
                <a:solidFill>
                  <a:srgbClr val="FF0000"/>
                </a:solidFill>
              </a:rPr>
              <a:t>}node;</a:t>
            </a:r>
          </a:p>
          <a:p>
            <a:pPr marL="0" indent="0">
              <a:buNone/>
            </a:pPr>
            <a:br>
              <a:rPr lang="en-IN" dirty="0">
                <a:solidFill>
                  <a:srgbClr val="FF0000"/>
                </a:solidFill>
              </a:rPr>
            </a:br>
            <a:r>
              <a:rPr lang="en-IN" dirty="0">
                <a:solidFill>
                  <a:srgbClr val="FF0000"/>
                </a:solidFill>
              </a:rPr>
              <a:t>typedef node *stack;</a:t>
            </a:r>
            <a:br>
              <a:rPr lang="en-IN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/>
              <a:t>/* User to call </a:t>
            </a:r>
            <a:r>
              <a:rPr lang="en-IN" dirty="0" err="1"/>
              <a:t>init</a:t>
            </a:r>
            <a:r>
              <a:rPr lang="en-IN" dirty="0"/>
              <a:t> before calling other functions.</a:t>
            </a:r>
            <a:br>
              <a:rPr lang="en-IN" dirty="0"/>
            </a:br>
            <a:r>
              <a:rPr lang="en-IN" dirty="0"/>
              <a:t> * User to check </a:t>
            </a:r>
            <a:r>
              <a:rPr lang="en-IN" dirty="0" err="1"/>
              <a:t>isempty</a:t>
            </a:r>
            <a:r>
              <a:rPr lang="en-IN" dirty="0"/>
              <a:t>() before calling pop()</a:t>
            </a:r>
            <a:br>
              <a:rPr lang="en-IN" dirty="0"/>
            </a:br>
            <a:r>
              <a:rPr lang="en-IN" dirty="0"/>
              <a:t> * User to check </a:t>
            </a:r>
            <a:r>
              <a:rPr lang="en-IN" dirty="0" err="1"/>
              <a:t>isfull</a:t>
            </a:r>
            <a:r>
              <a:rPr lang="en-IN" dirty="0"/>
              <a:t>() before calling push()</a:t>
            </a:r>
            <a:br>
              <a:rPr lang="en-IN" dirty="0"/>
            </a:br>
            <a:r>
              <a:rPr lang="en-IN" dirty="0"/>
              <a:t> */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void </a:t>
            </a:r>
            <a:r>
              <a:rPr lang="en-IN" dirty="0" err="1">
                <a:solidFill>
                  <a:srgbClr val="00B050"/>
                </a:solidFill>
              </a:rPr>
              <a:t>init</a:t>
            </a:r>
            <a:r>
              <a:rPr lang="en-IN" dirty="0">
                <a:solidFill>
                  <a:srgbClr val="00B050"/>
                </a:solidFill>
              </a:rPr>
              <a:t>(stack *s);</a:t>
            </a:r>
            <a:br>
              <a:rPr lang="en-IN" dirty="0">
                <a:solidFill>
                  <a:srgbClr val="00B050"/>
                </a:solidFill>
              </a:rPr>
            </a:br>
            <a:r>
              <a:rPr lang="en-IN" dirty="0">
                <a:solidFill>
                  <a:srgbClr val="00B050"/>
                </a:solidFill>
              </a:rPr>
              <a:t>void push(stack *s, int no);</a:t>
            </a:r>
            <a:br>
              <a:rPr lang="en-IN" dirty="0">
                <a:solidFill>
                  <a:srgbClr val="00B050"/>
                </a:solidFill>
              </a:rPr>
            </a:br>
            <a:r>
              <a:rPr lang="en-IN" dirty="0">
                <a:solidFill>
                  <a:srgbClr val="00B050"/>
                </a:solidFill>
              </a:rPr>
              <a:t>int pop(stack *s);</a:t>
            </a:r>
            <a:br>
              <a:rPr lang="en-IN" dirty="0">
                <a:solidFill>
                  <a:srgbClr val="00B050"/>
                </a:solidFill>
              </a:rPr>
            </a:br>
            <a:r>
              <a:rPr lang="en-IN" dirty="0">
                <a:solidFill>
                  <a:srgbClr val="00B050"/>
                </a:solidFill>
              </a:rPr>
              <a:t>int </a:t>
            </a:r>
            <a:r>
              <a:rPr lang="en-IN" dirty="0" err="1">
                <a:solidFill>
                  <a:srgbClr val="00B050"/>
                </a:solidFill>
              </a:rPr>
              <a:t>isempty</a:t>
            </a:r>
            <a:r>
              <a:rPr lang="en-IN" dirty="0">
                <a:solidFill>
                  <a:srgbClr val="00B050"/>
                </a:solidFill>
              </a:rPr>
              <a:t>(stack *s);</a:t>
            </a:r>
            <a:br>
              <a:rPr lang="en-IN" dirty="0">
                <a:solidFill>
                  <a:srgbClr val="00B050"/>
                </a:solidFill>
              </a:rPr>
            </a:br>
            <a:r>
              <a:rPr lang="en-IN" dirty="0">
                <a:solidFill>
                  <a:srgbClr val="00B050"/>
                </a:solidFill>
              </a:rPr>
              <a:t>int </a:t>
            </a:r>
            <a:r>
              <a:rPr lang="en-IN" dirty="0" err="1">
                <a:solidFill>
                  <a:srgbClr val="00B050"/>
                </a:solidFill>
              </a:rPr>
              <a:t>isfull</a:t>
            </a:r>
            <a:r>
              <a:rPr lang="en-IN" dirty="0">
                <a:solidFill>
                  <a:srgbClr val="00B050"/>
                </a:solidFill>
              </a:rPr>
              <a:t>(stack *s);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//NO CHANGE</a:t>
            </a:r>
          </a:p>
        </p:txBody>
      </p:sp>
    </p:spTree>
    <p:extLst>
      <p:ext uri="{BB962C8B-B14F-4D97-AF65-F5344CB8AC3E}">
        <p14:creationId xmlns:p14="http://schemas.microsoft.com/office/powerpoint/2010/main" val="16343772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28558-B298-403E-BB3B-404771D95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254000"/>
            <a:ext cx="3591560" cy="23368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/>
              <a:t>typedef struct node {</a:t>
            </a:r>
            <a:br>
              <a:rPr lang="en-IN" sz="2400" dirty="0"/>
            </a:br>
            <a:r>
              <a:rPr lang="en-IN" dirty="0"/>
              <a:t>    int </a:t>
            </a:r>
            <a:r>
              <a:rPr lang="en-IN" dirty="0" err="1"/>
              <a:t>val</a:t>
            </a:r>
            <a:r>
              <a:rPr lang="en-IN" dirty="0"/>
              <a:t>;</a:t>
            </a:r>
            <a:br>
              <a:rPr lang="en-IN" sz="2400" dirty="0"/>
            </a:br>
            <a:r>
              <a:rPr lang="en-IN" dirty="0"/>
              <a:t>    struct node *next;</a:t>
            </a:r>
            <a:br>
              <a:rPr lang="en-IN" sz="2400" dirty="0"/>
            </a:br>
            <a:r>
              <a:rPr lang="en-IN" dirty="0"/>
              <a:t>}node;</a:t>
            </a:r>
            <a:br>
              <a:rPr lang="en-IN" sz="2400" dirty="0"/>
            </a:br>
            <a:r>
              <a:rPr lang="en-IN" dirty="0"/>
              <a:t>typedef node *stack;</a:t>
            </a: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C1EBF2E-39C5-4689-B4D9-3D7F75AF4854}"/>
              </a:ext>
            </a:extLst>
          </p:cNvPr>
          <p:cNvSpPr txBox="1">
            <a:spLocks/>
          </p:cNvSpPr>
          <p:nvPr/>
        </p:nvSpPr>
        <p:spPr>
          <a:xfrm>
            <a:off x="342899" y="3061656"/>
            <a:ext cx="3591560" cy="1574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void </a:t>
            </a:r>
            <a:r>
              <a:rPr lang="en-US" dirty="0" err="1"/>
              <a:t>init</a:t>
            </a:r>
            <a:r>
              <a:rPr lang="en-US" dirty="0"/>
              <a:t>(stack *s) {</a:t>
            </a:r>
            <a:br>
              <a:rPr lang="en-US" sz="2400" dirty="0"/>
            </a:br>
            <a:r>
              <a:rPr lang="en-US" dirty="0"/>
              <a:t>    *s = NULL;</a:t>
            </a:r>
            <a:br>
              <a:rPr lang="en-US" sz="2400" dirty="0"/>
            </a:br>
            <a:r>
              <a:rPr lang="en-US" dirty="0"/>
              <a:t>}</a:t>
            </a: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4D29B1-8963-4351-BBF2-216FFC1B402C}"/>
              </a:ext>
            </a:extLst>
          </p:cNvPr>
          <p:cNvSpPr txBox="1">
            <a:spLocks/>
          </p:cNvSpPr>
          <p:nvPr/>
        </p:nvSpPr>
        <p:spPr>
          <a:xfrm>
            <a:off x="5687060" y="2889252"/>
            <a:ext cx="3591560" cy="191960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None/>
            </a:pPr>
            <a:r>
              <a:rPr lang="en-US" dirty="0"/>
              <a:t>int </a:t>
            </a:r>
            <a:r>
              <a:rPr lang="en-US" dirty="0" err="1"/>
              <a:t>isempty</a:t>
            </a:r>
            <a:r>
              <a:rPr lang="en-US" dirty="0"/>
              <a:t>(stack *s) {</a:t>
            </a:r>
            <a:br>
              <a:rPr lang="en-US" sz="2400" dirty="0"/>
            </a:br>
            <a:r>
              <a:rPr lang="en-US" dirty="0"/>
              <a:t>    return (*s) == NULL;</a:t>
            </a:r>
            <a:br>
              <a:rPr lang="en-US" sz="2400" dirty="0"/>
            </a:br>
            <a:r>
              <a:rPr lang="en-US" dirty="0"/>
              <a:t>}</a:t>
            </a: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FE03114-8A5D-43DC-B9F6-324B911C0E6C}"/>
              </a:ext>
            </a:extLst>
          </p:cNvPr>
          <p:cNvSpPr txBox="1">
            <a:spLocks/>
          </p:cNvSpPr>
          <p:nvPr/>
        </p:nvSpPr>
        <p:spPr>
          <a:xfrm>
            <a:off x="5687060" y="513242"/>
            <a:ext cx="3591560" cy="14087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int </a:t>
            </a:r>
            <a:r>
              <a:rPr lang="en-US" dirty="0" err="1"/>
              <a:t>isfull</a:t>
            </a:r>
            <a:r>
              <a:rPr lang="en-US" dirty="0"/>
              <a:t>(stack *s) {</a:t>
            </a:r>
            <a:br>
              <a:rPr lang="en-US" sz="2400" dirty="0"/>
            </a:br>
            <a:r>
              <a:rPr lang="en-US" dirty="0"/>
              <a:t>    return 0;</a:t>
            </a:r>
            <a:br>
              <a:rPr lang="en-US" sz="2400" dirty="0"/>
            </a:br>
            <a:r>
              <a:rPr lang="en-US" dirty="0"/>
              <a:t>}</a:t>
            </a:r>
            <a:br>
              <a:rPr lang="en-US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960403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55D99F-8C56-4625-93B4-29B67486EA3F}"/>
              </a:ext>
            </a:extLst>
          </p:cNvPr>
          <p:cNvSpPr txBox="1">
            <a:spLocks/>
          </p:cNvSpPr>
          <p:nvPr/>
        </p:nvSpPr>
        <p:spPr>
          <a:xfrm>
            <a:off x="820420" y="243840"/>
            <a:ext cx="8679180" cy="29057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dirty="0"/>
              <a:t>void push(stack *s, int no) {</a:t>
            </a:r>
            <a:br>
              <a:rPr lang="en-IN" dirty="0"/>
            </a:br>
            <a:r>
              <a:rPr lang="en-IN" sz="3200" dirty="0"/>
              <a:t>    node *</a:t>
            </a:r>
            <a:r>
              <a:rPr lang="en-IN" sz="3200" dirty="0" err="1"/>
              <a:t>tmp</a:t>
            </a:r>
            <a:r>
              <a:rPr lang="en-IN" sz="3200" dirty="0"/>
              <a:t> = (node*)malloc(</a:t>
            </a:r>
            <a:r>
              <a:rPr lang="en-IN" sz="3200" dirty="0" err="1"/>
              <a:t>sizeof</a:t>
            </a:r>
            <a:r>
              <a:rPr lang="en-IN" sz="3200" dirty="0"/>
              <a:t>(node));</a:t>
            </a:r>
            <a:br>
              <a:rPr lang="en-IN" dirty="0"/>
            </a:br>
            <a:r>
              <a:rPr lang="en-IN" sz="3200" dirty="0"/>
              <a:t>    </a:t>
            </a:r>
            <a:r>
              <a:rPr lang="en-IN" sz="3200" dirty="0" err="1"/>
              <a:t>tmp</a:t>
            </a:r>
            <a:r>
              <a:rPr lang="en-IN" sz="3200" dirty="0"/>
              <a:t>-&gt;</a:t>
            </a:r>
            <a:r>
              <a:rPr lang="en-IN" sz="3200" dirty="0" err="1"/>
              <a:t>val</a:t>
            </a:r>
            <a:r>
              <a:rPr lang="en-IN" sz="3200" dirty="0"/>
              <a:t> = no;</a:t>
            </a:r>
            <a:br>
              <a:rPr lang="en-IN" dirty="0"/>
            </a:br>
            <a:r>
              <a:rPr lang="en-IN" sz="3200" dirty="0"/>
              <a:t>    </a:t>
            </a:r>
            <a:r>
              <a:rPr lang="en-IN" sz="3200" dirty="0" err="1"/>
              <a:t>tmp</a:t>
            </a:r>
            <a:r>
              <a:rPr lang="en-IN" sz="3200" dirty="0"/>
              <a:t>-&gt;next = *s;</a:t>
            </a:r>
            <a:br>
              <a:rPr lang="en-IN" dirty="0"/>
            </a:br>
            <a:r>
              <a:rPr lang="en-IN" sz="3200" dirty="0"/>
              <a:t>    *s = </a:t>
            </a:r>
            <a:r>
              <a:rPr lang="en-IN" sz="3200" dirty="0" err="1"/>
              <a:t>tmp</a:t>
            </a:r>
            <a:r>
              <a:rPr lang="en-IN" sz="3200" dirty="0"/>
              <a:t>;</a:t>
            </a:r>
            <a:br>
              <a:rPr lang="en-IN" dirty="0"/>
            </a:br>
            <a:r>
              <a:rPr lang="en-IN" sz="3200" dirty="0"/>
              <a:t>}</a:t>
            </a:r>
            <a:endParaRPr lang="en-IN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64CBC2D-B1A8-44C2-BCFF-84D818F35221}"/>
              </a:ext>
            </a:extLst>
          </p:cNvPr>
          <p:cNvSpPr txBox="1">
            <a:spLocks/>
          </p:cNvSpPr>
          <p:nvPr/>
        </p:nvSpPr>
        <p:spPr>
          <a:xfrm>
            <a:off x="6096000" y="2519680"/>
            <a:ext cx="5455920" cy="423814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/* the caller should check </a:t>
            </a:r>
            <a:r>
              <a:rPr lang="en-IN" sz="2400" dirty="0" err="1"/>
              <a:t>isempty</a:t>
            </a:r>
            <a:r>
              <a:rPr lang="en-IN" sz="2400" dirty="0"/>
              <a:t>() *before calling pop().. </a:t>
            </a:r>
          </a:p>
          <a:p>
            <a:pPr marL="0" indent="0">
              <a:buNone/>
            </a:pPr>
            <a:r>
              <a:rPr lang="en-IN" sz="2400" dirty="0"/>
              <a:t>*/</a:t>
            </a:r>
          </a:p>
          <a:p>
            <a:pPr marL="0" indent="0">
              <a:buNone/>
            </a:pPr>
            <a:r>
              <a:rPr lang="en-US" dirty="0"/>
              <a:t>int pop(stack *s) {</a:t>
            </a:r>
            <a:br>
              <a:rPr lang="en-US" sz="2400" dirty="0"/>
            </a:br>
            <a:r>
              <a:rPr lang="en-US" dirty="0"/>
              <a:t>    node *</a:t>
            </a:r>
            <a:r>
              <a:rPr lang="en-US" dirty="0" err="1"/>
              <a:t>tmp</a:t>
            </a:r>
            <a:r>
              <a:rPr lang="en-US" dirty="0"/>
              <a:t> = *s;</a:t>
            </a:r>
            <a:br>
              <a:rPr lang="en-US" sz="2400" dirty="0"/>
            </a:br>
            <a:r>
              <a:rPr lang="en-US" dirty="0"/>
              <a:t>    int </a:t>
            </a:r>
            <a:r>
              <a:rPr lang="en-US" dirty="0" err="1"/>
              <a:t>val</a:t>
            </a:r>
            <a:r>
              <a:rPr lang="en-US" dirty="0"/>
              <a:t> = (*s)-&gt;</a:t>
            </a:r>
            <a:r>
              <a:rPr lang="en-US" dirty="0" err="1"/>
              <a:t>val</a:t>
            </a:r>
            <a:r>
              <a:rPr lang="en-US" dirty="0"/>
              <a:t>;</a:t>
            </a:r>
            <a:br>
              <a:rPr lang="en-US" sz="2400" dirty="0"/>
            </a:br>
            <a:r>
              <a:rPr lang="en-US" dirty="0"/>
              <a:t>    *s = (*s)-&gt;next;</a:t>
            </a:r>
            <a:br>
              <a:rPr lang="en-US" sz="2400" dirty="0"/>
            </a:br>
            <a:r>
              <a:rPr lang="en-US" dirty="0"/>
              <a:t>    free(</a:t>
            </a:r>
            <a:r>
              <a:rPr lang="en-US" dirty="0" err="1"/>
              <a:t>tmp</a:t>
            </a:r>
            <a:r>
              <a:rPr lang="en-US" dirty="0"/>
              <a:t>);</a:t>
            </a:r>
            <a:br>
              <a:rPr lang="en-US" sz="2400" dirty="0"/>
            </a:br>
            <a:r>
              <a:rPr lang="en-US" dirty="0"/>
              <a:t>    return </a:t>
            </a:r>
            <a:r>
              <a:rPr lang="en-US" dirty="0" err="1"/>
              <a:t>val</a:t>
            </a:r>
            <a:r>
              <a:rPr lang="en-US" dirty="0"/>
              <a:t>;</a:t>
            </a:r>
            <a:br>
              <a:rPr lang="en-US" sz="2400" dirty="0"/>
            </a:br>
            <a:r>
              <a:rPr lang="en-US" dirty="0"/>
              <a:t>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37015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555262" y="0"/>
            <a:ext cx="103632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Stack  Applications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0376" y="909930"/>
            <a:ext cx="11081981" cy="5450229"/>
          </a:xfrm>
        </p:spPr>
        <p:txBody>
          <a:bodyPr>
            <a:normAutofit/>
          </a:bodyPr>
          <a:lstStyle/>
          <a:p>
            <a:pPr marL="342900" lvl="1" indent="-342900">
              <a:buBlip>
                <a:blip r:embed="rId3"/>
              </a:buBlip>
            </a:pPr>
            <a:r>
              <a:rPr lang="en-US" altLang="en-US" dirty="0"/>
              <a:t>Program execution stack </a:t>
            </a:r>
          </a:p>
          <a:p>
            <a:pPr marL="342900" lvl="1" indent="-342900">
              <a:buBlip>
                <a:blip r:embed="rId3"/>
              </a:buBlip>
            </a:pPr>
            <a:r>
              <a:rPr lang="en-US" altLang="en-US" dirty="0"/>
              <a:t>Evaluating expressions</a:t>
            </a:r>
          </a:p>
          <a:p>
            <a:r>
              <a:rPr lang="en-US" sz="2400" dirty="0"/>
              <a:t>Backtracking (game playing, finding paths, exhaustive searching)</a:t>
            </a:r>
          </a:p>
          <a:p>
            <a:r>
              <a:rPr lang="en-US" sz="2400" dirty="0"/>
              <a:t>Memory management, run-time environment for nested language features.</a:t>
            </a:r>
          </a:p>
          <a:p>
            <a:r>
              <a:rPr lang="en-US" sz="2400" dirty="0"/>
              <a:t>Balancing Parenthesis</a:t>
            </a:r>
          </a:p>
          <a:p>
            <a:r>
              <a:rPr lang="en-US" sz="2400" dirty="0"/>
              <a:t>Reversing</a:t>
            </a:r>
          </a:p>
          <a:p>
            <a:r>
              <a:rPr lang="en-US" sz="2400" dirty="0"/>
              <a:t>Redo-undo features at many places like editors, Photoshop.</a:t>
            </a:r>
          </a:p>
          <a:p>
            <a:r>
              <a:rPr lang="en-US" sz="2400" dirty="0"/>
              <a:t>Forward and backward feature in web browsers</a:t>
            </a:r>
          </a:p>
          <a:p>
            <a:r>
              <a:rPr lang="en-US" sz="2400" dirty="0"/>
              <a:t>Used in many algorithms </a:t>
            </a:r>
          </a:p>
          <a:p>
            <a:r>
              <a:rPr lang="en-US" sz="2400" dirty="0"/>
              <a:t>Other applications can be Backtracking, Knight tour problem, rat in a maze, N queen problem and </a:t>
            </a:r>
            <a:r>
              <a:rPr lang="en-US" sz="2400"/>
              <a:t>sudoku solver</a:t>
            </a:r>
            <a:br>
              <a:rPr lang="en-US" sz="2400" dirty="0"/>
            </a:br>
            <a:endParaRPr lang="en-US" sz="2400" dirty="0"/>
          </a:p>
          <a:p>
            <a:pPr marL="457200" lvl="1" indent="0" eaLnBrk="1" hangingPunct="1">
              <a:buNone/>
            </a:pP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517276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1630</TotalTime>
  <Words>3252</Words>
  <Application>Microsoft Macintosh PowerPoint</Application>
  <PresentationFormat>Widescreen</PresentationFormat>
  <Paragraphs>540</Paragraphs>
  <Slides>43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PMingLiU</vt:lpstr>
      <vt:lpstr>Arial</vt:lpstr>
      <vt:lpstr>Calibri</vt:lpstr>
      <vt:lpstr>Calibri Light</vt:lpstr>
      <vt:lpstr>Tahoma</vt:lpstr>
      <vt:lpstr>Times New Roman</vt:lpstr>
      <vt:lpstr>Office Theme</vt:lpstr>
      <vt:lpstr>STACK</vt:lpstr>
      <vt:lpstr>Roadmap …</vt:lpstr>
      <vt:lpstr>PowerPoint Presentation</vt:lpstr>
      <vt:lpstr>   Data Type    </vt:lpstr>
      <vt:lpstr>data structure</vt:lpstr>
      <vt:lpstr>abstract data type</vt:lpstr>
      <vt:lpstr>Operations </vt:lpstr>
      <vt:lpstr>Stack ADT</vt:lpstr>
      <vt:lpstr>PowerPoint Presentation</vt:lpstr>
      <vt:lpstr>PowerPoint Presentation</vt:lpstr>
      <vt:lpstr>Last In First Out</vt:lpstr>
      <vt:lpstr>Stack ADT (extension)</vt:lpstr>
      <vt:lpstr>PowerPoint Presentation</vt:lpstr>
      <vt:lpstr>Postfix() revisited..</vt:lpstr>
      <vt:lpstr>PowerPoint Presentation</vt:lpstr>
      <vt:lpstr>postfix() (modified)</vt:lpstr>
      <vt:lpstr>PowerPoint Presentation</vt:lpstr>
      <vt:lpstr>PowerPoint Presentation</vt:lpstr>
      <vt:lpstr>PowerPoint Presentation</vt:lpstr>
      <vt:lpstr>PowerPoint Presentation</vt:lpstr>
      <vt:lpstr>ADT STACK</vt:lpstr>
      <vt:lpstr>PowerPoint Presentation</vt:lpstr>
      <vt:lpstr>PowerPoint Presentation</vt:lpstr>
      <vt:lpstr>PowerPoint Presentation</vt:lpstr>
      <vt:lpstr>Evaluation of infix expression</vt:lpstr>
      <vt:lpstr>PowerPoint Presentation</vt:lpstr>
      <vt:lpstr>infixtopostfix()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Algorithm Analysis</vt:lpstr>
      <vt:lpstr>PowerPoint Presentation</vt:lpstr>
      <vt:lpstr>Linked implementation of stack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Stack  Applications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ADT</dc:title>
  <dc:creator>Ashwini Matange</dc:creator>
  <cp:lastModifiedBy>Shrida Kalamkar</cp:lastModifiedBy>
  <cp:revision>62</cp:revision>
  <dcterms:created xsi:type="dcterms:W3CDTF">2019-09-18T03:57:19Z</dcterms:created>
  <dcterms:modified xsi:type="dcterms:W3CDTF">2024-10-03T07:26:48Z</dcterms:modified>
</cp:coreProperties>
</file>
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87" r:id="rId6"/>
  </p:sldMasterIdLst>
  <p:notesMasterIdLst>
    <p:notesMasterId r:id="rId8"/>
  </p:notesMasterIdLst>
  <p:handoutMasterIdLst>
    <p:handoutMasterId r:id="rId35"/>
  </p:handoutMasterIdLst>
  <p:sldIdLst>
    <p:sldId id="286" r:id="rId7"/>
    <p:sldId id="628" r:id="rId9"/>
    <p:sldId id="730" r:id="rId10"/>
    <p:sldId id="729" r:id="rId11"/>
    <p:sldId id="731" r:id="rId12"/>
    <p:sldId id="732" r:id="rId13"/>
    <p:sldId id="733" r:id="rId14"/>
    <p:sldId id="734" r:id="rId15"/>
    <p:sldId id="735" r:id="rId16"/>
    <p:sldId id="737" r:id="rId17"/>
    <p:sldId id="738" r:id="rId18"/>
    <p:sldId id="739" r:id="rId19"/>
    <p:sldId id="740" r:id="rId20"/>
    <p:sldId id="741" r:id="rId21"/>
    <p:sldId id="757" r:id="rId22"/>
    <p:sldId id="742" r:id="rId23"/>
    <p:sldId id="743" r:id="rId24"/>
    <p:sldId id="744" r:id="rId25"/>
    <p:sldId id="745" r:id="rId26"/>
    <p:sldId id="746" r:id="rId27"/>
    <p:sldId id="747" r:id="rId28"/>
    <p:sldId id="749" r:id="rId29"/>
    <p:sldId id="751" r:id="rId30"/>
    <p:sldId id="752" r:id="rId31"/>
    <p:sldId id="753" r:id="rId32"/>
    <p:sldId id="754" r:id="rId33"/>
    <p:sldId id="532" r:id="rId34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F4AA"/>
    <a:srgbClr val="0066FF"/>
    <a:srgbClr val="F96F07"/>
    <a:srgbClr val="F4220C"/>
    <a:srgbClr val="F94107"/>
    <a:srgbClr val="FC5D0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500"/>
    <p:restoredTop sz="94624"/>
  </p:normalViewPr>
  <p:slideViewPr>
    <p:cSldViewPr showGuides="1">
      <p:cViewPr>
        <p:scale>
          <a:sx n="66" d="100"/>
          <a:sy n="66" d="100"/>
        </p:scale>
        <p:origin x="-1632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40" y="367512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7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23EEEE-8657-406A-8528-002B58624345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7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7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>
              <a:buNone/>
            </a:pPr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397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4" Type="http://schemas.openxmlformats.org/officeDocument/2006/relationships/theme" Target="../theme/theme5.xml"/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3074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962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356350"/>
            <a:ext cx="1600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4101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6600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4" name="Rectangle 3"/>
          <p:cNvSpPr>
            <a:spLocks noChangeArrowheads="1"/>
          </p:cNvSpPr>
          <p:nvPr/>
        </p:nvSpPr>
        <p:spPr bwMode="auto"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1143000" y="5867400"/>
            <a:ext cx="7694613" cy="1128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Department of Computer Engineering and Information Technology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College of Engineering Pune (COEP)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Forerunners in Technical Education 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                               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962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356350"/>
            <a:ext cx="1600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4101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6600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4" name="Rectangle 3"/>
          <p:cNvSpPr>
            <a:spLocks noChangeArrowheads="1"/>
          </p:cNvSpPr>
          <p:nvPr/>
        </p:nvSpPr>
        <p:spPr bwMode="auto"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1143000" y="5867400"/>
            <a:ext cx="7694613" cy="1128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Department of Computer Engineering and Information Technology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College of Engineering Pune (COEP)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Forerunners in Technical Education 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                               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en-US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Statement-Level Control Structures Subprograms </a:t>
            </a:r>
            <a:br>
              <a:rPr kumimoji="0" lang="en-US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Subtitle 7"/>
          <p:cNvSpPr>
            <a:spLocks noGrp="1"/>
          </p:cNvSpPr>
          <p:nvPr>
            <p:ph type="subTitle" idx="1"/>
          </p:nvPr>
        </p:nvSpPr>
        <p:spPr>
          <a:xfrm>
            <a:off x="1600200" y="1600200"/>
            <a:ext cx="6400800" cy="1828800"/>
          </a:xfrm>
        </p:spPr>
        <p:txBody>
          <a:bodyPr vert="horz" wrap="square" lIns="91440" tIns="45720" rIns="91440" bIns="45720" anchor="t" anchorCtr="0"/>
          <a:p>
            <a:pPr>
              <a:buClrTx/>
              <a:buSzTx/>
            </a:pPr>
            <a:r>
              <a:rPr lang="en-US" alt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Overview</a:t>
            </a:r>
            <a:endParaRPr lang="en-US" altLang="en-US" sz="2400" b="1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ClrTx/>
              <a:buSzTx/>
            </a:pPr>
            <a:endParaRPr lang="en-US" altLang="en-US" sz="2400" b="1" kern="12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0" y="2286000"/>
            <a:ext cx="8915400" cy="193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subprogram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issue for subprogram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referencing environment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Passing method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algn="just"/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Parameter-passing methods are the ways in which parameters are transmitted to and/or from the subprograms.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algn="just"/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Parameter-passing methods are the ways in which parameters are transmitted to and/or from the subprograms.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Semantics Models of Parameter Passing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Formal parameters are characterized by one of three distinct semantics models: 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algn="just"/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Parameter-passing methods are the ways in which parameters are transmitted to and/or from the subprograms.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Semantics Models of Parameter Passing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Formal parameters are characterized by one of three distinct semantics models: 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can receive data from the corresponding actual parameter;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algn="just"/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Parameter-passing methods are the ways in which parameters are transmitted to and/or from the subprograms.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Semantics Models of Parameter Passing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Formal parameters are characterized by one of three distinct semantics models: 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can receive data from the corresponding actual parameter;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mode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formal parameter receives data from the corresponding actual parameter. It is used to pass values into a function without modifying the original argument.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mode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formal parameter receives data from the corresponding actual parameter. It is used to pass values into a function without modifying the original argument.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They can transmit data to the actual parameter;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can transmit data to the actual parameter;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OutMode: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formal parameter transmits data to the actual parameter. It allows the function to output a value, but the actual argument must be passed in an uninitialized state or explicitly as an output.  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304800" y="838200"/>
            <a:ext cx="8590280" cy="463423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can transmit data to the actual parameter;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OutMode: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formal parameter transmits data to the actual parameter. It allows the function to output a value, but the actual argument must be passed in an uninitialized state or explicitly as an output.  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can transmit data to the actual parameter;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OutMode: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out mode of parameter passing, a formal parameter acts as a way for a function to transmit data back to the caller.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can transmit data to the actual parameter;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OutMode: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out mode of parameter passing, a formal parameter acts as a way for a function to transmit data back to the caller.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Unlike in mode, where the parameter is used to receive input, in out mode, the actual argument is typically passed in a way that it can be assigned a new value inside the function, effectively allowing the function to produce output.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can transmit data to the actual parameter;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OutMode: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out mode of parameter passing, a formal parameter acts as a way for a function to transmit data back to the caller.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Unlike in mode, where the parameter is used solely to receive input, in out mode, the actual argument is typically passed in a way that it can be assigned a new value inside the function, effectively allowing the function to produce output.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They can do both.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can transmit data to the actual parameter;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OutMode: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out mode of parameter passing, a formal parameter acts as a way for a function to transmit data back to the caller.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Unlike in mode, where the parameter is used solely to receive input, in out mode, the actual argument is typically passed in a way that it can be assigned a new value inside the function, effectively allowing the function to produce output.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They can do both.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InOut Mode: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formal parameter can both receive data from the actual parameter and transmit data back to it. This allows the function to modify the original argument directly.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-67945" y="685800"/>
            <a:ext cx="9212580" cy="4962525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Procedure Myprogram is 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procedure DiffModes (A : in mode // this value will not modify inside the function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0" lvl="5" indent="45720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B : out mode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0" lvl="5" indent="45720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c: in out mode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0" lvl="6" indent="45720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is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0" lvl="6" indent="45720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begin 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0" lvl="6" indent="45720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put_line(Integer’Image(A));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0" lvl="6" indent="457200" algn="just">
              <a:lnSpc>
                <a:spcPct val="70000"/>
              </a:lnSpc>
              <a:buNone/>
            </a:pPr>
            <a:r>
              <a:rPr lang="en-US" alt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put_line(Integer’Image(B));</a:t>
            </a:r>
            <a:endParaRPr lang="en-US" altLang="en-US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743200" lvl="6" indent="457200" algn="just">
              <a:lnSpc>
                <a:spcPct val="70000"/>
              </a:lnSpc>
              <a:buNone/>
            </a:pPr>
            <a:r>
              <a:rPr lang="en-US" alt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put_line(Integer’Image(C));</a:t>
            </a:r>
            <a:endParaRPr lang="en-US" altLang="en-US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743200" lvl="6" indent="45720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B:=100;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0" lvl="6" indent="45720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C:=C*2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0" lvl="6" indent="45720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 Diffmode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0" lvl="6" indent="457200" algn="just">
              <a:lnSpc>
                <a:spcPct val="70000"/>
              </a:lnSpc>
              <a:buNone/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-67945" y="685800"/>
            <a:ext cx="9212580" cy="4962525"/>
          </a:xfrm>
        </p:spPr>
        <p:txBody>
          <a:bodyPr vert="horz" wrap="square" lIns="91440" tIns="45720" rIns="91440" bIns="45720" anchor="t" anchorCtr="0"/>
          <a:p>
            <a:pPr marL="0" indent="0" algn="just"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x: integer:=12;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y: integer:=44;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algn="just">
              <a:lnSpc>
                <a:spcPct val="70000"/>
              </a:lnSpc>
              <a:buClrTx/>
              <a:buSzTx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z: integer:=30;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algn="just">
              <a:lnSpc>
                <a:spcPct val="70000"/>
              </a:lnSpc>
              <a:buClrTx/>
              <a:buSzTx/>
              <a:buNone/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algn="just">
              <a:lnSpc>
                <a:spcPct val="70000"/>
              </a:lnSpc>
              <a:buClrTx/>
              <a:buSzTx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begin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algn="just">
              <a:lnSpc>
                <a:spcPct val="70000"/>
              </a:lnSpc>
              <a:buClrTx/>
              <a:buSzTx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Diffmode(x,y,z)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algn="just">
              <a:lnSpc>
                <a:spcPct val="70000"/>
              </a:lnSpc>
              <a:buClrTx/>
              <a:buSzTx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put_line(Integer’Image(x));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algn="just">
              <a:lnSpc>
                <a:spcPct val="70000"/>
              </a:lnSpc>
              <a:buClrTx/>
              <a:buSzTx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put_line(Integer’Image(y));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algn="just">
              <a:lnSpc>
                <a:spcPct val="70000"/>
              </a:lnSpc>
              <a:buClrTx/>
              <a:buSzTx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put_line(Integer’Image(z)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algn="just">
              <a:lnSpc>
                <a:spcPct val="70000"/>
              </a:lnSpc>
              <a:buClrTx/>
              <a:buSzTx/>
              <a:buNone/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algn="just">
              <a:lnSpc>
                <a:spcPct val="70000"/>
              </a:lnSpc>
              <a:buClrTx/>
              <a:buSzTx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End Myprogram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0" lvl="6" indent="457200" algn="just">
              <a:lnSpc>
                <a:spcPct val="70000"/>
              </a:lnSpc>
              <a:buNone/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76377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 modes of parameter passing methods.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Pass-by-Value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a parameter is passe_by_value, the value of the actual parameter is used to initialize the corresponding formal parameter, which then acts as a local variable in the subprogram, thus implementing in-mode semantics.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76377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 modes of parameter passing methods.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Pass-by-Value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a parameter is passe_by_value, the value of the actual parameter is used to initialize the corresponding formal parameter, which then acts as a local variable in the subprogram, thus implementing in-mode semantics.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means that changes made to the parameter within the function do not affect the original variable. 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76377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 modes of parameter passing methods.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Pass-by-Value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a parameter is passe_by_value, the value of the actual parameter is used to initialize the corresponding formal parameter, which then acts as a local variable in the subprogram, thus implementing in-mode semantics.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means that changes made to the parameter within the function do not affect the original variable. 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Copy of Value: The function receives a separate copy of the data, meaning the function works with that copy instead of the original data.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76377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 modes of parameter passing methods.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Pass-by-Value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a parameter is passe_by_value, the value of the actual parameter is used to initialize the corresponding formal parameter, which then acts as a local variable in the subprogram, thus implementing in-mode semantics.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means that changes made to the parameter within the function do not affect the original variable. 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Copy of Value: The function receives a separate copy of the data, meaning the function works with that copy instead of the original data.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Side Effects: Since the original variable is not modified, there are no side effects on the caller’s environment.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76377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 modes of parameter passing methods.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Pass-by-Value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a parameter is passe_by_value, the value of the actual parameter is used to initialize the corresponding formal parameter, which then acts as a local variable in the subprogram, thus implementing in-mode semantics.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means that changes made to the parameter within the function do not affect the original variable. 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Copy of Value: The function receives a separate copy of the data, meaning the function works with that copy instead of the original data.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Side Effects: Since the original variable is not modified, there are no side effects on the caller’s environment.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Scope: The formal parameter is local to the function, and its lifetime is limited to the function's execution.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76377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 modes of parameter passing methods.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Pass-by-Value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#include &lt;stdio.h&gt;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increment(int num) {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num = num + 1; 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printf("Inside increment function: num = %d\n", num);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int original = 5;  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printf("Before function call: original = %d\n", original);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increment(original);     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printf("After function call: original = %d\n", original);      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8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76377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 modes of parameter passing methods.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Pass-by-Result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 by result is a parameter passing mechanism where the formal parameter acts as an output parameter. The function does not receive the actual value of the argument; instead, it is expected to produce a value that will be copied back to the actual parameter when the function completes.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76377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 modes of parameter passing methods.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Pass-by-Result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 by result is a parameter passing mechanism where the formal parameter acts as an output parameter. The function does not receive the actual value of the argument; instead, it is expected to produce a value that will be copied back to the actual parameter when the function completes.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formal parameter is initialized as unassigned. It serves to output a value back to the caller.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76377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 modes of parameter passing methods.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Pass-by-Result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 by result is a parameter passing mechanism where the formal parameter acts as an output parameter. The function does not receive the actual value of the argument; instead, it is expected to produce a value that will be copied back to the actual parameter when the function completes.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formal parameter is initialized as unassigned. It serves to output a value back to the caller.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Inside the function, the formal parameter is assigned a value, and when the function exits, this value is copied back to the actual argument.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76377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0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 modes of parameter passing methods.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Pass-by-Result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 by result is a parameter passing mechanism where the formal parameter acts as an output parameter. The function does not receive the actual value of the argument; instead, it is expected to produce a value that will be copied back to the actual parameter when the function completes.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formal parameter is initialized as unassigned. It serves to output a value back to the caller.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Inside the function, the formal parameter is assigned a value, and when the function exits, this value is copied back to the actual argument.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Parameter Passing Method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76377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Example2: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f(int x, int *py, int **ppz){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y,z;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**ppz=**ppz+1;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z=**ppz;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*py=*py+2;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y=*py;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x=x+3;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 x+y+z }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main(){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c,*b,**a;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c=4; b=&amp;c; a=&amp;b;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printf(“%d”,f(c,b,a));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638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ctr" anchorCtr="0"/>
          <a:p>
            <a:r>
              <a:rPr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Thank You</a:t>
            </a:r>
            <a:endParaRPr sz="96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2947" name="Content Placeholder 5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4419600"/>
          </a:xfrm>
        </p:spPr>
        <p:txBody>
          <a:bodyPr vert="horz" wrap="square" lIns="91440" tIns="45720" rIns="91440" bIns="45720" anchor="t" anchorCtr="0"/>
          <a:p>
            <a:pPr algn="just">
              <a:buFontTx/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None/>
            </a:pPr>
            <a:endParaRPr sz="2000" dirty="0"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>
              <a:buFontTx/>
              <a:buNone/>
            </a:pPr>
            <a:endParaRPr sz="2000" dirty="0"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2948" name="Slide Number Placeholder 4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9879</Words>
  <Application>WPS Presentation</Application>
  <PresentationFormat>On-screen Show (4:3)</PresentationFormat>
  <Paragraphs>315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SimSun</vt:lpstr>
      <vt:lpstr>Wingdings</vt:lpstr>
      <vt:lpstr>Calibri</vt:lpstr>
      <vt:lpstr>Times New Roman</vt:lpstr>
      <vt:lpstr>Microsoft YaHei</vt:lpstr>
      <vt:lpstr>Arial Unicode MS</vt:lpstr>
      <vt:lpstr>2_Custom Design</vt:lpstr>
      <vt:lpstr>3_Custom Design</vt:lpstr>
      <vt:lpstr>1_Custom Design</vt:lpstr>
      <vt:lpstr>Custom Design</vt:lpstr>
      <vt:lpstr>4_Custom Design</vt:lpstr>
      <vt:lpstr> Statement-Level Control Structures Subprograms  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Parameter Passing Method </vt:lpstr>
      <vt:lpstr>  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MAYUR TAYDE</cp:lastModifiedBy>
  <cp:revision>1460</cp:revision>
  <dcterms:created xsi:type="dcterms:W3CDTF">2024-10-03T04:24:00Z</dcterms:created>
  <dcterms:modified xsi:type="dcterms:W3CDTF">2024-10-14T06:15:21Z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4DACD35A4A13495199C4287798C107E1_12</vt:lpwstr>
  </property>
  <property fmtid="{D5CDD505-2E9C-101B-9397-08002B2CF9AE}" pid="4" name="KSOProductBuildVer">
    <vt:lpwstr>1033-12.2.0.18586</vt:lpwstr>
  </property>
</Properties>
</file>
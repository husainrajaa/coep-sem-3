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87" r:id="rId6"/>
  </p:sldMasterIdLst>
  <p:notesMasterIdLst>
    <p:notesMasterId r:id="rId8"/>
  </p:notesMasterIdLst>
  <p:handoutMasterIdLst>
    <p:handoutMasterId r:id="rId69"/>
  </p:handoutMasterIdLst>
  <p:sldIdLst>
    <p:sldId id="286" r:id="rId7"/>
    <p:sldId id="491" r:id="rId9"/>
    <p:sldId id="622" r:id="rId10"/>
    <p:sldId id="623" r:id="rId11"/>
    <p:sldId id="624" r:id="rId12"/>
    <p:sldId id="625" r:id="rId13"/>
    <p:sldId id="626" r:id="rId14"/>
    <p:sldId id="628" r:id="rId15"/>
    <p:sldId id="627" r:id="rId16"/>
    <p:sldId id="629" r:id="rId17"/>
    <p:sldId id="631" r:id="rId18"/>
    <p:sldId id="632" r:id="rId19"/>
    <p:sldId id="630" r:id="rId20"/>
    <p:sldId id="635" r:id="rId21"/>
    <p:sldId id="636" r:id="rId22"/>
    <p:sldId id="637" r:id="rId23"/>
    <p:sldId id="638" r:id="rId24"/>
    <p:sldId id="639" r:id="rId25"/>
    <p:sldId id="641" r:id="rId26"/>
    <p:sldId id="642" r:id="rId27"/>
    <p:sldId id="640" r:id="rId28"/>
    <p:sldId id="643" r:id="rId29"/>
    <p:sldId id="644" r:id="rId30"/>
    <p:sldId id="645" r:id="rId31"/>
    <p:sldId id="646" r:id="rId32"/>
    <p:sldId id="647" r:id="rId33"/>
    <p:sldId id="649" r:id="rId34"/>
    <p:sldId id="650" r:id="rId35"/>
    <p:sldId id="648" r:id="rId36"/>
    <p:sldId id="652" r:id="rId37"/>
    <p:sldId id="651" r:id="rId38"/>
    <p:sldId id="655" r:id="rId39"/>
    <p:sldId id="656" r:id="rId40"/>
    <p:sldId id="657" r:id="rId41"/>
    <p:sldId id="658" r:id="rId42"/>
    <p:sldId id="661" r:id="rId43"/>
    <p:sldId id="660" r:id="rId44"/>
    <p:sldId id="659" r:id="rId45"/>
    <p:sldId id="662" r:id="rId46"/>
    <p:sldId id="663" r:id="rId47"/>
    <p:sldId id="664" r:id="rId48"/>
    <p:sldId id="665" r:id="rId49"/>
    <p:sldId id="666" r:id="rId50"/>
    <p:sldId id="668" r:id="rId51"/>
    <p:sldId id="669" r:id="rId52"/>
    <p:sldId id="667" r:id="rId53"/>
    <p:sldId id="670" r:id="rId54"/>
    <p:sldId id="674" r:id="rId55"/>
    <p:sldId id="677" r:id="rId56"/>
    <p:sldId id="675" r:id="rId57"/>
    <p:sldId id="676" r:id="rId58"/>
    <p:sldId id="678" r:id="rId59"/>
    <p:sldId id="679" r:id="rId60"/>
    <p:sldId id="683" r:id="rId61"/>
    <p:sldId id="684" r:id="rId62"/>
    <p:sldId id="685" r:id="rId63"/>
    <p:sldId id="686" r:id="rId64"/>
    <p:sldId id="687" r:id="rId65"/>
    <p:sldId id="688" r:id="rId66"/>
    <p:sldId id="689" r:id="rId67"/>
    <p:sldId id="532" r:id="rId68"/>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6F4AA"/>
    <a:srgbClr val="0066FF"/>
    <a:srgbClr val="F96F07"/>
    <a:srgbClr val="F4220C"/>
    <a:srgbClr val="F94107"/>
    <a:srgbClr val="FC5D0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500"/>
    <p:restoredTop sz="94624"/>
  </p:normalViewPr>
  <p:slideViewPr>
    <p:cSldViewPr showGuides="1">
      <p:cViewPr>
        <p:scale>
          <a:sx n="66" d="100"/>
          <a:sy n="66" d="100"/>
        </p:scale>
        <p:origin x="-1632" y="-168"/>
      </p:cViewPr>
      <p:guideLst>
        <p:guide orient="horz" pos="2160"/>
        <p:guide pos="2880"/>
      </p:guideLst>
    </p:cSldViewPr>
  </p:slideViewPr>
  <p:outlineViewPr>
    <p:cViewPr>
      <p:scale>
        <a:sx n="33" d="100"/>
        <a:sy n="33" d="100"/>
      </p:scale>
      <p:origin x="240" y="367512"/>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1.xml"/><Relationship Id="rId69" Type="http://schemas.openxmlformats.org/officeDocument/2006/relationships/handoutMaster" Target="handoutMasters/handoutMaster1.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47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323EEEE-8657-406A-8528-002B58624345}"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4" Type="http://schemas.openxmlformats.org/officeDocument/2006/relationships/theme" Target="../theme/theme4.xml"/><Relationship Id="rId3" Type="http://schemas.openxmlformats.org/officeDocument/2006/relationships/image" Target="../media/image1.emf"/><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4" Type="http://schemas.openxmlformats.org/officeDocument/2006/relationships/theme" Target="../theme/theme5.xml"/><Relationship Id="rId3" Type="http://schemas.openxmlformats.org/officeDocument/2006/relationships/image" Target="../media/image1.emf"/><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pic>
        <p:nvPicPr>
          <p:cNvPr id="4101" name="Picture 2"/>
          <p:cNvPicPr>
            <a:picLocks noChangeAspect="1"/>
          </p:cNvPicPr>
          <p:nvPr/>
        </p:nvPicPr>
        <p:blipFill>
          <a:blip r:embed="rId3"/>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endPar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pic>
        <p:nvPicPr>
          <p:cNvPr id="4101" name="Picture 2"/>
          <p:cNvPicPr>
            <a:picLocks noChangeAspect="1"/>
          </p:cNvPicPr>
          <p:nvPr/>
        </p:nvPicPr>
        <p:blipFill>
          <a:blip r:embed="rId3"/>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endPar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p:cNvPicPr>
            <a:picLocks noChangeAspect="1"/>
          </p:cNvPicPr>
          <p:nvPr/>
        </p:nvPicPr>
        <p:blipFill>
          <a:blip r:embed="rId1"/>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470025"/>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br>
              <a:rPr kumimoji="0" lang="en-US" sz="3200" b="1" i="0" u="none" strike="noStrike" kern="1200" cap="none" spc="0" normalizeH="0" baseline="0" noProof="0" dirty="0" smtClean="0">
                <a:ln>
                  <a:noFill/>
                </a:ln>
                <a:solidFill>
                  <a:schemeClr val="accent6"/>
                </a:solidFill>
                <a:effectLst/>
                <a:uLnTx/>
                <a:uFillTx/>
                <a:latin typeface="Times New Roman" panose="02020603050405020304" pitchFamily="18" charset="0"/>
                <a:ea typeface="+mj-ea"/>
                <a:cs typeface="Times New Roman" panose="02020603050405020304" pitchFamily="18" charset="0"/>
              </a:rPr>
            </a:br>
            <a:r>
              <a:rPr kumimoji="0" lang="en-US"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Statement-Level Control Structures Subprograms </a:t>
            </a:r>
            <a:br>
              <a:rPr kumimoji="0" lang="en-US"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br>
            <a:br>
              <a:rPr kumimoji="0" lang="en-US" sz="3200" b="0" i="0" u="none" strike="noStrike" kern="1200" cap="none" spc="0" normalizeH="0" baseline="0" noProof="0" dirty="0" smtClean="0">
                <a:ln>
                  <a:noFill/>
                </a:ln>
                <a:solidFill>
                  <a:schemeClr val="tx1"/>
                </a:solidFill>
                <a:effectLst/>
                <a:uLnTx/>
                <a:uFillTx/>
                <a:latin typeface="+mj-lt"/>
                <a:ea typeface="+mj-ea"/>
                <a:cs typeface="+mj-cs"/>
              </a:rPr>
            </a:br>
            <a:endParaRPr kumimoji="0" lang="en-US" sz="32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2" name="Subtitle 7"/>
          <p:cNvSpPr>
            <a:spLocks noGrp="1"/>
          </p:cNvSpPr>
          <p:nvPr>
            <p:ph type="subTitle" idx="1"/>
          </p:nvPr>
        </p:nvSpPr>
        <p:spPr>
          <a:xfrm>
            <a:off x="1600200" y="1600200"/>
            <a:ext cx="6400800" cy="1828800"/>
          </a:xfrm>
        </p:spPr>
        <p:txBody>
          <a:bodyPr vert="horz" wrap="square" lIns="91440" tIns="45720" rIns="91440" bIns="45720" anchor="t" anchorCtr="0"/>
          <a:p>
            <a:pPr>
              <a:buClrTx/>
              <a:buSzTx/>
            </a:pPr>
            <a:r>
              <a:rPr lang="en-US" altLang="en-US" sz="2400" b="1" kern="1200" dirty="0">
                <a:solidFill>
                  <a:schemeClr val="tx1"/>
                </a:solidFill>
                <a:latin typeface="Times New Roman" panose="02020603050405020304" pitchFamily="18" charset="0"/>
                <a:ea typeface="+mn-ea"/>
                <a:cs typeface="Times New Roman" panose="02020603050405020304" pitchFamily="18" charset="0"/>
              </a:rPr>
              <a:t>Overview</a:t>
            </a:r>
            <a:endParaRPr lang="en-US" altLang="en-US" sz="2400" b="1" kern="1200" dirty="0">
              <a:solidFill>
                <a:schemeClr val="tx1"/>
              </a:solidFill>
              <a:latin typeface="Times New Roman" panose="02020603050405020304" pitchFamily="18" charset="0"/>
              <a:ea typeface="+mn-ea"/>
              <a:cs typeface="Times New Roman" panose="02020603050405020304" pitchFamily="18" charset="0"/>
            </a:endParaRPr>
          </a:p>
          <a:p>
            <a:pPr>
              <a:buClrTx/>
              <a:buSzTx/>
            </a:pPr>
            <a:endParaRPr lang="en-US" altLang="en-US" sz="2400" b="1" kern="1200" dirty="0">
              <a:solidFill>
                <a:schemeClr val="tx1"/>
              </a:solidFill>
              <a:latin typeface="Times New Roman" panose="02020603050405020304" pitchFamily="18" charset="0"/>
              <a:ea typeface="Times New Roman" panose="02020603050405020304" pitchFamily="18" charset="0"/>
              <a:cs typeface="+mn-cs"/>
            </a:endParaRPr>
          </a:p>
        </p:txBody>
      </p:sp>
      <p:sp>
        <p:nvSpPr>
          <p:cNvPr id="6152" name="TextBox 7"/>
          <p:cNvSpPr txBox="1"/>
          <p:nvPr/>
        </p:nvSpPr>
        <p:spPr>
          <a:xfrm>
            <a:off x="0" y="2286000"/>
            <a:ext cx="8915400" cy="1938338"/>
          </a:xfrm>
          <a:prstGeom prst="rect">
            <a:avLst/>
          </a:prstGeom>
          <a:noFill/>
          <a:ln w="9525">
            <a:noFill/>
          </a:ln>
        </p:spPr>
        <p:txBody>
          <a:bodyPr>
            <a:spAutoFit/>
          </a:bodyPr>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Introduction</a:t>
            </a:r>
            <a:endParaRPr lang="en-US" alt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Fundamentals of subprogram</a:t>
            </a:r>
            <a:endParaRPr lang="en-US" alt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Design issue for subprogram</a:t>
            </a:r>
            <a:endParaRPr lang="en-US" alt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Local referencing environment</a:t>
            </a:r>
            <a:endParaRPr lang="en-US" altLang="en-US" sz="24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Parameter Passing method</a:t>
            </a:r>
            <a:endParaRPr lang="en-US" altLang="en-US" sz="2400" b="1"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sz="3200" b="1" dirty="0">
                <a:latin typeface="Times New Roman" panose="02020603050405020304" pitchFamily="18" charset="0"/>
                <a:cs typeface="Times New Roman" panose="02020603050405020304" pitchFamily="18" charset="0"/>
              </a:rPr>
              <a:t>Introduction</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11430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cs typeface="Times New Roman" panose="02020603050405020304" pitchFamily="18" charset="0"/>
              </a:rPr>
              <a:t>A subprogram is a set of instructions designed to perform a specific task within a larger program. It can be thought of as a mini-program that can be called upon from the main program or from other subprograms. Subprograms help to organize code, promote reuse, and make programs easier to read and maintain</a:t>
            </a:r>
            <a:r>
              <a:rPr lang="en-US"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sz="3200" b="1" dirty="0">
                <a:latin typeface="Times New Roman" panose="02020603050405020304" pitchFamily="18" charset="0"/>
                <a:cs typeface="Times New Roman" panose="02020603050405020304" pitchFamily="18" charset="0"/>
              </a:rPr>
              <a:t>Introduction</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1143000"/>
            <a:ext cx="8229600" cy="3886200"/>
          </a:xfrm>
        </p:spPr>
        <p:txBody>
          <a:bodyPr vert="horz" wrap="square" lIns="91440" tIns="45720" rIns="91440" bIns="45720" anchor="t" anchorCtr="0"/>
          <a:p>
            <a:pPr algn="just"/>
            <a:r>
              <a:rPr lang="en-US" altLang="en-US" sz="2000" dirty="0">
                <a:latin typeface="Times New Roman" panose="02020603050405020304" pitchFamily="18" charset="0"/>
                <a:cs typeface="Times New Roman" panose="02020603050405020304" pitchFamily="18" charset="0"/>
              </a:rPr>
              <a:t>A subprogram is a set of instructions designed to perform a specific task within a larger program. It can be thought of as a mini-program that can be called upon from the main program or from other subprograms. Subprograms help to organize code, promote reuse, and make programs easier to read and maintain.</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There are two main types of subprograms: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sz="3200" b="1" dirty="0">
                <a:latin typeface="Times New Roman" panose="02020603050405020304" pitchFamily="18" charset="0"/>
                <a:cs typeface="Times New Roman" panose="02020603050405020304" pitchFamily="18" charset="0"/>
              </a:rPr>
              <a:t>Introduction</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1143000"/>
            <a:ext cx="8229600" cy="3886200"/>
          </a:xfrm>
        </p:spPr>
        <p:txBody>
          <a:bodyPr vert="horz" wrap="square" lIns="91440" tIns="45720" rIns="91440" bIns="45720" anchor="t" anchorCtr="0"/>
          <a:p>
            <a:pPr algn="just"/>
            <a:r>
              <a:rPr lang="en-US" altLang="en-US" sz="2000" dirty="0">
                <a:latin typeface="Times New Roman" panose="02020603050405020304" pitchFamily="18" charset="0"/>
                <a:cs typeface="Times New Roman" panose="02020603050405020304" pitchFamily="18" charset="0"/>
              </a:rPr>
              <a:t>A subprogram is a set of instructions designed to perform a specific task within a larger program. It can be thought of as a mini-program that can be called upon from the main program or from other subprograms. Subprograms help to organize code, promote reuse, and make programs easier to read and maintain.</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There are two main types of subprograms: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Functions: These return a value and can take input parameters. They are often used for computations or operations that yield a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sz="3200" b="1" dirty="0">
                <a:latin typeface="Times New Roman" panose="02020603050405020304" pitchFamily="18" charset="0"/>
                <a:cs typeface="Times New Roman" panose="02020603050405020304" pitchFamily="18" charset="0"/>
              </a:rPr>
              <a:t>Introduction</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1143000"/>
            <a:ext cx="8229600" cy="3886200"/>
          </a:xfrm>
        </p:spPr>
        <p:txBody>
          <a:bodyPr vert="horz" wrap="square" lIns="91440" tIns="45720" rIns="91440" bIns="45720" anchor="t" anchorCtr="0"/>
          <a:p>
            <a:pPr algn="just"/>
            <a:r>
              <a:rPr lang="en-US" altLang="en-US" sz="2000" dirty="0">
                <a:latin typeface="Times New Roman" panose="02020603050405020304" pitchFamily="18" charset="0"/>
                <a:cs typeface="Times New Roman" panose="02020603050405020304" pitchFamily="18" charset="0"/>
              </a:rPr>
              <a:t>A subprogram is a set of instructions designed to perform a specific task within a larger program. It can be thought of as a mini-program that can be called upon from the main program or from other subprograms. Subprograms help to organize code, promote reuse, and make programs easier to read and maintain.</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There are two main types of subprograms: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Functions: These return a value and can take input parameters. They are often used for computations or operations that yield a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Procedures (or Subroutines): These typically perform actions but do not return a value. They may modify data or perform operations without providing a direct output.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Basic Definitions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Parameters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Procedures and Functions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Each subprogram has a single entry point.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Each subprogram has a single entry point.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calling program unit is suspended during the execution of the called subprogram, which implies that there is only one subprogram in execution at any given time.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457200" indent="-457200" algn="just">
              <a:buFont typeface="+mj-l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General Subprogram Characteristics.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Each subprogram has a single entry point.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calling program unit is suspended during the execution of the called subprogram, which implies that there is only one subprogram in execution at any given time.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Control always returns to the caller when the subprogram execution terminates.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Basic Defination.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set  of insturcion which are encapsulated in the function or procedure body are executed, when we call the respective function or procedure.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Basic Defination.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set  of insturcion which are encapsulated in the function or procedure body are executed, when we call the respective function or procedure.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 subprogram is said to be active if, after having been called, it has begun execution but has not yet completed that execution.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Basic Defination.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set  of insturcion which are encapsulated in the function or procedure body are executed, when we call the respective function or procedure.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subprogram is said to be active if, after having been called, it has begun execution but has not yet completed that execution.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Parameters: A list of inputs the subprogram can accept, including their data types.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Parameters: A list of inputs the subprogram can accept, including their data types.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Return Type: The data type of the value returned by the subprogram (for functions).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Parameters: A list of inputs the subprogram can accept, including their data types.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Type: The data type of the value returned by the subprogram (for functions).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def adder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subprogram header defines the interface of a subprogram, specifying its name, parameters, and return type (if applicable).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Syntax of subprogram header varies from language to language but here are some general components founds in subprogram header.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Name: A unique identifier for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Parameters: A list of inputs the subprogram can accept, including their data types.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Type: The data type of the value returned by the subprogram (for functions).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Example1: def adder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This is the header of a Python subprogram named adder. Ruby subprogram headers also begin with def. The header of a JavaScript subprogram begins with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-&gt; int: Specifies that the function returns an integer.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-&gt; int: Specifies that the function returns an integer.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Example 3: int add(int a , int b)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-&gt; int: Specifies that the function returns an integer.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Example 3: int add(int a , int b)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int: Return type.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add: Function name.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a, int b): Parameters with types.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2.1  Subprogram Header.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Example2: def add_numbers(a: int, b: int) -&gt; int: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def: Indicates a function definition.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add_numbers: The name of the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int, b: int): Two parameters, both of type int.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-&gt; int: Specifies that the function returns an integer.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   Example 3: int add(int a , int b)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int: Return type.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addNumbers: Function name.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a, int b): Parameters with types.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 parameter is a variable used in a subprogram (such as a function or method) to accept input values from calling function to perfom computation within a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parameter is a variable used in a subprogram (such as a function or method) to accept input values from calling function to perfom computation within a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Data passed through parameters are accessed through names that are local to the subprogram.</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parameter is a variable used in a subprogram (such as a function or method) to accept input values from calling function to perfom computation within a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Data passed through parameters are accessed through names that are local to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Parameter passing is more flexible than direct access to nonlocal variables(Global variable).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858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parameter is a variable used in a subprogram (such as a function or method) to accept input values from calling function to perfom computation within a function.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Data passed through parameters are accessed through names that are local to the subprogram.</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 passing is more flexible than direct access to nonlocal variables(Global variable).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what is the problem if we use global variable inside the subprogram instead of local parameter?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6096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what is the problem if we use global variable inside the subprogram instead of local parameter?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pi=3.14;</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cal1()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pi+=2;</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calCirleArea()</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area;</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int r=5</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area=pi * r * 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calCirleArea</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Formal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calCirleArea</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Formal</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Actual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calCirleArea</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Formal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Actual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Positional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  Paramters.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void main(){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calCirleArea</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Formal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 Actual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Positional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90000"/>
              </a:lnSpc>
              <a:buAutoNum type="arabicPeriod"/>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Keyword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1.   Formal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parameters in the subprogram header are called formal parameters.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1.   Formal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parameters in the subprogram header are called formal parameters.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They are sometimes thought of as dummy variables because they are not variables in the usual sense: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1.   Formal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parameters in the subprogram header are called formal parameters.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They are sometimes thought of as dummy variables because they are not variables in the usual sense: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most cases, they are bound to storage only when the subprogram is called, and that binding is often through some other program variables.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2.   Actual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Subprogram call statements must include the name of the subprogram and a list of parameters to be bound to the formal parameters of the subprogram. These parameters are called actual parameters.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2.   Actual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 call statements must include the name of the subprogram and a list of parameters to be bound to the formal parameters of the subprogram. These parameters are called actual parameters.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They must be distinguished from formal parameters, because the two usually have different restrictions on their forms, and of course, their uses are quite different.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3.   positional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In nearly all programming languages, the correspondence between actual and formal parameters or the binding of actual parameters to formal parameters is done by position.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3.   positional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In nearly all programming languages, the correspondence between actual and formal parameters or the binding of actual parameters to formal parameters is done by position.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first actual parameter is bound to the first formal parameter and so forth. Such parameters are called positional parameters.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3.   positional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In nearly all programming languages, the correspondence between actual and formal parameters or the binding of actual parameters to formal parameters is done by position.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first actual parameter is bound to the first formal parameter and so forth. Such parameters are called positional parameters.</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This is an effective and safe method of relating actual parameters to their corresponding formal parameters, as long as the parameter lists are relatively short.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lists are long, however, it is easy for a programmer to make mistakes in the order of actual parameters in the list.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lists are long, however, it is easy for a programmer to make mistakes in the order of actual parameters in the list.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One solution to this problem is to provide keyword parameters, in which the name of the formal parameter to which an actual parameter is to be bound is specified with the actual parameter in a call.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3.1Types of parameter.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lists are long, however, it is easy for a programmer to make mistakes in the order of actual parameters in the list.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One solution to this problem is to provide keyword parameters, in which the name of the formal parameter to which an actual parameter is to be bound is specified with the actual parameter in a call.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The advantage of keyword parameters is that they can appear in any order in the actual parameter list. Python functions can be called using this technique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3.1Procedure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4.   Keyword parameter.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advantage of keyword parameters is that they can appear in any order in the actual parameter list. Python functions can be called using this technique, as in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sumer(length = my_length,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list = my_array,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buClrTx/>
              <a:buSzTx/>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sum = my_sum)</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where the definition of sumer has the formal parameters length, list, and sum.</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buClrTx/>
              <a:buSzTx/>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terms "function" and "procedure" are often used interchangeably in programming, but they have distinct meanings depending on the context.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terms "function" and "procedure" are often used interchangeably in programming, but they have distinct meanings depending on the context.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Return Value: A function is designed to return a value. After executing its code, it provides a result that can be used in further calculations or operations.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terms "function" and "procedure" are often used interchangeably in programming, but they have distinct meanings depending on the context.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Value: A function is designed to return a value. After executing its code, it provides a result that can be used in further calculations or operations.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Expression: Functions can be used as part of expressions, allowing for chaining or embedding in other statements.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terms "function" and "procedure" are often used interchangeably in programming, but they have distinct meanings depending on the context.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Return Value: A function is designed to return a value. After executing its code, it provides a result that can be used in further calculations or operations.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Expression: Functions can be used as part of expressions, allowing for chaining or embedding in other statements.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Purpose: Functions are typically used when a specific computation is needed, and the returned value is of primary importance.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No Return Value: A procedure, on the other hand, does not return a value. Instead, it performs a task or a sequence of tasks.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No Return Value: A procedure, on the other hand, does not return a value. Instead, it performs a task or a sequence of tasks.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Statement: Procedures are typically called as standalone statements, and their purpose is to carry out operations like modifying data, performing actions, or managing program flow.</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Fundamentals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4. Procedure  and Function.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Procedure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No Return Value: A procedure, on the other hand, does not return a value. Instead, it performs a task or a sequence of tasks.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Statement: Procedures are typically called as standalone statements, and their purpose is to carry out operations like modifying data, performing actions, or managing program flow.</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Purpose: Procedures are used when the goal is to execute a series of actions without needing a result back.</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calArea() vs doStuff()</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 calArea() vs doStuff()</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 subprogram that tries to handle multiple tasks can become complex and difficult to maintain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 calArea() vs doStuff()</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subprogram that tries to handle multiple tasks can become complex and difficult to maintain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 subprogram with too many parameters can be hard to use and understand.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 of subprogram</a:t>
            </a:r>
            <a:endParaRPr lang="en-US" sz="3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1" name="Content Placeholder 5"/>
          <p:cNvSpPr>
            <a:spLocks noGrp="1"/>
          </p:cNvSpPr>
          <p:nvPr>
            <p:ph idx="1"/>
          </p:nvPr>
        </p:nvSpPr>
        <p:spPr>
          <a:xfrm>
            <a:off x="457200" y="762000"/>
            <a:ext cx="8229600" cy="3886200"/>
          </a:xfrm>
        </p:spPr>
        <p:txBody>
          <a:bodyPr vert="horz" wrap="square" lIns="91440" tIns="45720" rIns="91440" bIns="45720" anchor="t" anchorCtr="0"/>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are complex structures in programming languages, and it follows from this that a lengthy list of issues is involved in their design. </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 closely related issue is whether the types of actual parameters will be type checked against the types of the corresponding formal parameters.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Subprograms with vague or misleading names can confuse users about their purpose.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Example: calArea() vs doStuff()</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subprogram that tries to handle multiple tasks can become complex and difficult to maintain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 subprogram with too many parameters can be hard to use and understand.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9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same function is calling two different time and expecting two differnt data type result. (i.e one function call expectiong int and another is expecting float value in return)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itle 1"/>
          <p:cNvSpPr>
            <a:spLocks noGrp="1"/>
          </p:cNvSpPr>
          <p:nvPr>
            <p:ph type="title"/>
          </p:nvPr>
        </p:nvSpPr>
        <p:spPr>
          <a:xfrm>
            <a:off x="0" y="0"/>
            <a:ext cx="9144000" cy="5638800"/>
          </a:xfrm>
          <a:solidFill>
            <a:schemeClr val="bg1">
              <a:alpha val="100000"/>
            </a:schemeClr>
          </a:solidFill>
        </p:spPr>
        <p:txBody>
          <a:bodyPr vert="horz" wrap="square" lIns="91440" tIns="45720" rIns="91440" bIns="45720" anchor="ctr" anchorCtr="0"/>
          <a:p>
            <a:r>
              <a:rPr sz="9600" b="1" dirty="0">
                <a:latin typeface="Times New Roman" panose="02020603050405020304" pitchFamily="18" charset="0"/>
                <a:cs typeface="Times New Roman" panose="02020603050405020304" pitchFamily="18" charset="0"/>
              </a:rPr>
              <a:t>   Thank You</a:t>
            </a:r>
            <a:endParaRPr sz="9600" b="1" dirty="0">
              <a:latin typeface="Times New Roman" panose="02020603050405020304" pitchFamily="18" charset="0"/>
              <a:ea typeface="Times New Roman" panose="02020603050405020304" pitchFamily="18" charset="0"/>
            </a:endParaRPr>
          </a:p>
        </p:txBody>
      </p:sp>
      <p:sp>
        <p:nvSpPr>
          <p:cNvPr id="82947" name="Content Placeholder 5"/>
          <p:cNvSpPr>
            <a:spLocks noGrp="1"/>
          </p:cNvSpPr>
          <p:nvPr>
            <p:ph idx="1"/>
          </p:nvPr>
        </p:nvSpPr>
        <p:spPr>
          <a:xfrm>
            <a:off x="304800" y="838200"/>
            <a:ext cx="8534400" cy="4419600"/>
          </a:xfrm>
        </p:spPr>
        <p:txBody>
          <a:bodyPr vert="horz" wrap="square" lIns="91440" tIns="45720" rIns="91440" bIns="45720" anchor="t" anchorCtr="0"/>
          <a:p>
            <a:pPr algn="just">
              <a:buFontTx/>
              <a:buNone/>
            </a:pPr>
            <a:endParaRPr sz="2000" dirty="0">
              <a:latin typeface="Times New Roman" panose="02020603050405020304" pitchFamily="18" charset="0"/>
              <a:cs typeface="Times New Roman" panose="02020603050405020304" pitchFamily="18" charset="0"/>
            </a:endParaRPr>
          </a:p>
          <a:p>
            <a:pPr algn="just">
              <a:buFontTx/>
              <a:buNone/>
            </a:pPr>
            <a:endParaRPr sz="2000" dirty="0">
              <a:latin typeface="Times New Roman" panose="02020603050405020304" pitchFamily="18" charset="0"/>
              <a:cs typeface="Calibri" panose="020F0502020204030204" pitchFamily="34" charset="0"/>
            </a:endParaRPr>
          </a:p>
          <a:p>
            <a:pPr algn="just">
              <a:buFontTx/>
              <a:buNone/>
            </a:pPr>
            <a:endParaRPr sz="2000" dirty="0">
              <a:latin typeface="Times New Roman" panose="02020603050405020304" pitchFamily="18" charset="0"/>
              <a:cs typeface="Calibri" panose="020F0502020204030204" pitchFamily="34" charset="0"/>
            </a:endParaRPr>
          </a:p>
          <a:p>
            <a:pPr algn="just">
              <a:buFontTx/>
              <a:buNone/>
            </a:pPr>
            <a:endParaRPr lang="en-US" altLang="en-US" sz="2400" dirty="0">
              <a:latin typeface="Times New Roman" panose="02020603050405020304" pitchFamily="18" charset="0"/>
              <a:ea typeface="Times New Roman" panose="02020603050405020304" pitchFamily="18" charset="0"/>
            </a:endParaRPr>
          </a:p>
        </p:txBody>
      </p:sp>
      <p:sp>
        <p:nvSpPr>
          <p:cNvPr id="82948" name="Slide Number Placeholder 4"/>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20674</Words>
  <Application>WPS Presentation</Application>
  <PresentationFormat>On-screen Show (4:3)</PresentationFormat>
  <Paragraphs>679</Paragraphs>
  <Slides>61</Slides>
  <Notes>1</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61</vt:i4>
      </vt:variant>
    </vt:vector>
  </HeadingPairs>
  <TitlesOfParts>
    <vt:vector size="73" baseType="lpstr">
      <vt:lpstr>Arial</vt:lpstr>
      <vt:lpstr>SimSun</vt:lpstr>
      <vt:lpstr>Wingdings</vt:lpstr>
      <vt:lpstr>Calibri</vt:lpstr>
      <vt:lpstr>Times New Roman</vt:lpstr>
      <vt:lpstr>Microsoft YaHei</vt:lpstr>
      <vt:lpstr>Arial Unicode MS</vt:lpstr>
      <vt:lpstr>2_Custom Design</vt:lpstr>
      <vt:lpstr>3_Custom Design</vt:lpstr>
      <vt:lpstr>1_Custom Design</vt:lpstr>
      <vt:lpstr>Custom Design</vt:lpstr>
      <vt:lpstr>4_Custom Design</vt:lpstr>
      <vt:lpstr> Statement-Level Control Structures Subprograms   </vt:lpstr>
      <vt:lpstr>Introduction</vt:lpstr>
      <vt:lpstr>Introduction</vt:lpstr>
      <vt:lpstr>Introduction</vt:lpstr>
      <vt:lpstr>Introduction</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Fundamentals of subprogram</vt:lpstr>
      <vt:lpstr>Design issue of subprogram</vt:lpstr>
      <vt:lpstr>Design issue of subprogram</vt:lpstr>
      <vt:lpstr>Design issue of subprogram</vt:lpstr>
      <vt:lpstr>Design issue of subprogram</vt:lpstr>
      <vt:lpstr>Design issue of subprogram</vt:lpstr>
      <vt:lpstr>Design issue of subprogram</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MAYUR TAYDE</cp:lastModifiedBy>
  <cp:revision>1450</cp:revision>
  <dcterms:created xsi:type="dcterms:W3CDTF">2024-10-03T04:24:00Z</dcterms:created>
  <dcterms:modified xsi:type="dcterms:W3CDTF">2024-10-04T05:39:13Z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4DACD35A4A13495199C4287798C107E1_12</vt:lpwstr>
  </property>
  <property fmtid="{D5CDD505-2E9C-101B-9397-08002B2CF9AE}" pid="4" name="KSOProductBuildVer">
    <vt:lpwstr>1033-12.2.0.18586</vt:lpwstr>
  </property>
</Properties>
</file>
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87" r:id="rId5"/>
  </p:sldMasterIdLst>
  <p:notesMasterIdLst>
    <p:notesMasterId r:id="rId41"/>
  </p:notesMasterIdLst>
  <p:handoutMasterIdLst>
    <p:handoutMasterId r:id="rId42"/>
  </p:handoutMasterIdLst>
  <p:sldIdLst>
    <p:sldId id="286" r:id="rId6"/>
    <p:sldId id="624" r:id="rId7"/>
    <p:sldId id="625" r:id="rId8"/>
    <p:sldId id="627" r:id="rId9"/>
    <p:sldId id="632" r:id="rId10"/>
    <p:sldId id="638" r:id="rId11"/>
    <p:sldId id="646" r:id="rId12"/>
    <p:sldId id="648" r:id="rId13"/>
    <p:sldId id="652" r:id="rId14"/>
    <p:sldId id="657" r:id="rId15"/>
    <p:sldId id="660" r:id="rId16"/>
    <p:sldId id="662" r:id="rId17"/>
    <p:sldId id="665" r:id="rId18"/>
    <p:sldId id="669" r:id="rId19"/>
    <p:sldId id="667" r:id="rId20"/>
    <p:sldId id="675" r:id="rId21"/>
    <p:sldId id="679" r:id="rId22"/>
    <p:sldId id="689" r:id="rId23"/>
    <p:sldId id="708" r:id="rId24"/>
    <p:sldId id="695" r:id="rId25"/>
    <p:sldId id="709" r:id="rId26"/>
    <p:sldId id="710" r:id="rId27"/>
    <p:sldId id="711" r:id="rId28"/>
    <p:sldId id="718" r:id="rId29"/>
    <p:sldId id="723" r:id="rId30"/>
    <p:sldId id="731" r:id="rId31"/>
    <p:sldId id="732" r:id="rId32"/>
    <p:sldId id="734" r:id="rId33"/>
    <p:sldId id="740" r:id="rId34"/>
    <p:sldId id="741" r:id="rId35"/>
    <p:sldId id="757" r:id="rId36"/>
    <p:sldId id="746" r:id="rId37"/>
    <p:sldId id="747" r:id="rId38"/>
    <p:sldId id="753" r:id="rId39"/>
    <p:sldId id="754" r:id="rId40"/>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6F4AA"/>
    <a:srgbClr val="0066FF"/>
    <a:srgbClr val="F96F07"/>
    <a:srgbClr val="F4220C"/>
    <a:srgbClr val="F94107"/>
    <a:srgbClr val="FC5D04"/>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00"/>
    <p:restoredTop sz="94624"/>
  </p:normalViewPr>
  <p:slideViewPr>
    <p:cSldViewPr showGuides="1">
      <p:cViewPr varScale="1">
        <p:scale>
          <a:sx n="78" d="100"/>
          <a:sy n="78" d="100"/>
        </p:scale>
        <p:origin x="1738" y="43"/>
      </p:cViewPr>
      <p:guideLst>
        <p:guide orient="horz" pos="2160"/>
        <p:guide pos="2880"/>
      </p:guideLst>
    </p:cSldViewPr>
  </p:slideViewPr>
  <p:outlineViewPr>
    <p:cViewPr>
      <p:scale>
        <a:sx n="33" d="100"/>
        <a:sy n="33" d="100"/>
      </p:scale>
      <p:origin x="240" y="367512"/>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74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a:latin typeface="Arial" panose="020B0604020202020204" pitchFamily="34" charset="0"/>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4745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a:latin typeface="Arial" panose="020B0604020202020204" pitchFamily="34" charset="0"/>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3323EEEE-8657-406A-8528-002B58624345}"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11/29/2024</a:t>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4746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a:latin typeface="Arial" panose="020B0604020202020204" pitchFamily="34" charset="0"/>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/34</a:t>
            </a:r>
          </a:p>
        </p:txBody>
      </p:sp>
      <p:sp>
        <p:nvSpPr>
          <p:cNvPr id="14746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a:buNone/>
            </a:pPr>
            <a:fld id="{9A0DB2DC-4C9A-4742-B13C-FB6460FD3503}" type="slidenum">
              <a:rPr lang="en-US" altLang="en-US" sz="1200" dirty="0"/>
              <a:t>‹#›</a:t>
            </a:fld>
            <a:endParaRPr lang="en-US" altLang="en-US" sz="120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397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p>
        </p:txBody>
      </p:sp>
      <p:sp>
        <p:nvSpPr>
          <p:cNvPr id="307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/34</a:t>
            </a:r>
          </a:p>
        </p:txBody>
      </p:sp>
      <p:sp>
        <p:nvSpPr>
          <p:cNvPr id="30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t>‹#›</a:t>
            </a:fld>
            <a:endParaRPr lang="en-US"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1</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Slide Number Placeholder 3"/>
          <p:cNvSpPr>
            <a:spLocks noGrp="1"/>
          </p:cNvSpPr>
          <p:nvPr>
            <p:ph type="sldNum" sz="quarter" idx="10"/>
          </p:nvPr>
        </p:nvSpPr>
        <p:spPr/>
        <p:txBody>
          <a:body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Slide Number Placeholder 3"/>
          <p:cNvSpPr>
            <a:spLocks noGrp="1"/>
          </p:cNvSpPr>
          <p:nvPr>
            <p:ph type="sldNum" sz="quarter" idx="10"/>
          </p:nvPr>
        </p:nvSpPr>
        <p:spPr/>
        <p:txBody>
          <a:body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4" Type="http://schemas.openxmlformats.org/officeDocument/2006/relationships/image" Target="../media/image1.emf"/></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37.xml"/><Relationship Id="rId1" Type="http://schemas.openxmlformats.org/officeDocument/2006/relationships/slideLayout" Target="../slideLayouts/slideLayout36.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dirty="0"/>
              <a:t>Click to edit Master title style</a:t>
            </a:r>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dirty="0"/>
              <a:t>Click to edit Master title style</a:t>
            </a:r>
          </a:p>
        </p:txBody>
      </p:sp>
      <p:sp>
        <p:nvSpPr>
          <p:cNvPr id="2051"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dirty="0"/>
              <a:t>Click to edit Master title style</a:t>
            </a:r>
          </a:p>
        </p:txBody>
      </p:sp>
      <p:sp>
        <p:nvSpPr>
          <p:cNvPr id="3075"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p>
        </p:txBody>
      </p:sp>
      <p:sp>
        <p:nvSpPr>
          <p:cNvPr id="4099" name="Text Placeholder 2"/>
          <p:cNvSpPr>
            <a:spLocks noGrp="1"/>
          </p:cNvSpPr>
          <p:nvPr>
            <p:ph type="body" idx="1"/>
          </p:nvPr>
        </p:nvSpPr>
        <p:spPr>
          <a:xfrm>
            <a:off x="457200" y="1600200"/>
            <a:ext cx="8229600" cy="3962400"/>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Slide Number Placeholder 5"/>
          <p:cNvSpPr>
            <a:spLocks noGrp="1"/>
          </p:cNvSpPr>
          <p:nvPr>
            <p:ph type="sldNum" sz="quarter" idx="4"/>
          </p:nvPr>
        </p:nvSpPr>
        <p:spPr>
          <a:xfrm>
            <a:off x="7086600" y="6356350"/>
            <a:ext cx="1600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pic>
        <p:nvPicPr>
          <p:cNvPr id="4101" name="Picture 2"/>
          <p:cNvPicPr>
            <a:picLocks noChangeAspect="1"/>
          </p:cNvPicPr>
          <p:nvPr/>
        </p:nvPicPr>
        <p:blipFill>
          <a:blip r:embed="rId4"/>
          <a:stretch>
            <a:fillRect/>
          </a:stretch>
        </p:blipFill>
        <p:spPr>
          <a:xfrm>
            <a:off x="0" y="5816600"/>
            <a:ext cx="1066800" cy="1066800"/>
          </a:xfrm>
          <a:prstGeom prst="rect">
            <a:avLst/>
          </a:prstGeom>
          <a:noFill/>
          <a:ln w="9525">
            <a:noFill/>
          </a:ln>
        </p:spPr>
      </p:pic>
      <p:sp>
        <p:nvSpPr>
          <p:cNvPr id="2054"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055" name="Rectangle 6"/>
          <p:cNvSpPr>
            <a:spLocks noChangeArrowheads="1"/>
          </p:cNvSpPr>
          <p:nvPr/>
        </p:nvSpPr>
        <p:spPr bwMode="auto">
          <a:xfrm>
            <a:off x="1143000" y="5867400"/>
            <a:ext cx="7694613" cy="1128713"/>
          </a:xfrm>
          <a:prstGeom prst="rect">
            <a:avLst/>
          </a:prstGeom>
          <a:noFill/>
          <a:ln w="9525">
            <a:noFill/>
            <a:miter lim="800000"/>
          </a:ln>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Department of Computer Engineering and Information Technology</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College of Engineering Pune (COEP) </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Forerunners in Technical Education </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                                      </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p>
        </p:txBody>
      </p:sp>
      <p:sp>
        <p:nvSpPr>
          <p:cNvPr id="4099" name="Text Placeholder 2"/>
          <p:cNvSpPr>
            <a:spLocks noGrp="1"/>
          </p:cNvSpPr>
          <p:nvPr>
            <p:ph type="body" idx="1"/>
          </p:nvPr>
        </p:nvSpPr>
        <p:spPr>
          <a:xfrm>
            <a:off x="457200" y="1600200"/>
            <a:ext cx="8229600" cy="3962400"/>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Slide Number Placeholder 5"/>
          <p:cNvSpPr>
            <a:spLocks noGrp="1"/>
          </p:cNvSpPr>
          <p:nvPr>
            <p:ph type="sldNum" sz="quarter" idx="4"/>
          </p:nvPr>
        </p:nvSpPr>
        <p:spPr>
          <a:xfrm>
            <a:off x="7086600" y="6356350"/>
            <a:ext cx="1600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pic>
        <p:nvPicPr>
          <p:cNvPr id="4101" name="Picture 2"/>
          <p:cNvPicPr>
            <a:picLocks noChangeAspect="1"/>
          </p:cNvPicPr>
          <p:nvPr/>
        </p:nvPicPr>
        <p:blipFill>
          <a:blip r:embed="rId4"/>
          <a:stretch>
            <a:fillRect/>
          </a:stretch>
        </p:blipFill>
        <p:spPr>
          <a:xfrm>
            <a:off x="0" y="5816600"/>
            <a:ext cx="1066800" cy="1066800"/>
          </a:xfrm>
          <a:prstGeom prst="rect">
            <a:avLst/>
          </a:prstGeom>
          <a:noFill/>
          <a:ln w="9525">
            <a:noFill/>
          </a:ln>
        </p:spPr>
      </p:pic>
      <p:sp>
        <p:nvSpPr>
          <p:cNvPr id="2054"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055" name="Rectangle 6"/>
          <p:cNvSpPr>
            <a:spLocks noChangeArrowheads="1"/>
          </p:cNvSpPr>
          <p:nvPr/>
        </p:nvSpPr>
        <p:spPr bwMode="auto">
          <a:xfrm>
            <a:off x="1143000" y="5867400"/>
            <a:ext cx="7694613" cy="1128713"/>
          </a:xfrm>
          <a:prstGeom prst="rect">
            <a:avLst/>
          </a:prstGeom>
          <a:noFill/>
          <a:ln w="9525">
            <a:noFill/>
            <a:miter lim="800000"/>
          </a:ln>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Department of Computer Engineering and Information Technology</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College of Engineering Pune (COEP) </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Forerunners in Technical Education </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                                      </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470025"/>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br>
              <a:rPr kumimoji="0" lang="en-US" sz="3200" b="1" i="0" u="none" strike="noStrike" kern="1200" cap="none" spc="0" normalizeH="0" baseline="0" noProof="0" dirty="0">
                <a:ln>
                  <a:noFill/>
                </a:ln>
                <a:solidFill>
                  <a:schemeClr val="accent6"/>
                </a:solidFill>
                <a:effectLst/>
                <a:uLnTx/>
                <a:uFillTx/>
                <a:latin typeface="Times New Roman" panose="02020603050405020304" pitchFamily="18" charset="0"/>
                <a:ea typeface="+mj-ea"/>
                <a:cs typeface="Times New Roman" panose="02020603050405020304" pitchFamily="18" charset="0"/>
              </a:rPr>
            </a:br>
            <a:r>
              <a:rPr kumimoji="0" lang="en-US"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Statement-Level Control Structures Subprograms </a:t>
            </a:r>
            <a:br>
              <a:rPr kumimoji="0" lang="en-US"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br>
            <a:br>
              <a:rPr kumimoji="0" lang="en-US" sz="3200" b="0" i="0" u="none" strike="noStrike" kern="1200" cap="none" spc="0" normalizeH="0" baseline="0" noProof="0" dirty="0">
                <a:ln>
                  <a:noFill/>
                </a:ln>
                <a:solidFill>
                  <a:schemeClr val="tx1"/>
                </a:solidFill>
                <a:effectLst/>
                <a:uLnTx/>
                <a:uFillTx/>
                <a:latin typeface="+mj-lt"/>
                <a:ea typeface="+mj-ea"/>
                <a:cs typeface="+mj-cs"/>
              </a:rPr>
            </a:br>
            <a:endParaRPr kumimoji="0" lang="en-US" sz="3200" b="0" i="0" u="none" strike="noStrike" kern="1200" cap="none" spc="0" normalizeH="0" baseline="0" noProof="0" dirty="0">
              <a:ln>
                <a:noFill/>
              </a:ln>
              <a:solidFill>
                <a:schemeClr val="tx1"/>
              </a:solidFill>
              <a:effectLst/>
              <a:uLnTx/>
              <a:uFillTx/>
              <a:latin typeface="+mj-lt"/>
              <a:ea typeface="+mj-ea"/>
              <a:cs typeface="+mj-cs"/>
            </a:endParaRPr>
          </a:p>
        </p:txBody>
      </p:sp>
      <p:sp>
        <p:nvSpPr>
          <p:cNvPr id="2" name="Subtitle 7"/>
          <p:cNvSpPr>
            <a:spLocks noGrp="1"/>
          </p:cNvSpPr>
          <p:nvPr>
            <p:ph type="subTitle" idx="1"/>
          </p:nvPr>
        </p:nvSpPr>
        <p:spPr>
          <a:xfrm>
            <a:off x="1600200" y="1600200"/>
            <a:ext cx="6400800" cy="1828800"/>
          </a:xfrm>
        </p:spPr>
        <p:txBody>
          <a:bodyPr vert="horz" wrap="square" lIns="91440" tIns="45720" rIns="91440" bIns="45720" anchor="t" anchorCtr="0"/>
          <a:lstStyle/>
          <a:p>
            <a:pPr>
              <a:buClrTx/>
              <a:buSzTx/>
            </a:pPr>
            <a:r>
              <a:rPr lang="en-US" altLang="en-US" sz="2400" b="1" kern="1200" dirty="0">
                <a:solidFill>
                  <a:schemeClr val="tx1"/>
                </a:solidFill>
                <a:latin typeface="Times New Roman" panose="02020603050405020304" pitchFamily="18" charset="0"/>
                <a:ea typeface="+mn-ea"/>
                <a:cs typeface="Times New Roman" panose="02020603050405020304" pitchFamily="18" charset="0"/>
              </a:rPr>
              <a:t>Overview</a:t>
            </a:r>
          </a:p>
          <a:p>
            <a:pPr>
              <a:buClrTx/>
              <a:buSzTx/>
            </a:pPr>
            <a:endParaRPr lang="en-US" altLang="en-US" sz="2400" b="1" kern="1200" dirty="0">
              <a:solidFill>
                <a:schemeClr val="tx1"/>
              </a:solidFill>
              <a:latin typeface="Times New Roman" panose="02020603050405020304" pitchFamily="18" charset="0"/>
              <a:ea typeface="Times New Roman" panose="02020603050405020304" pitchFamily="18" charset="0"/>
              <a:cs typeface="+mn-cs"/>
            </a:endParaRPr>
          </a:p>
        </p:txBody>
      </p:sp>
      <p:sp>
        <p:nvSpPr>
          <p:cNvPr id="6152" name="TextBox 7"/>
          <p:cNvSpPr txBox="1"/>
          <p:nvPr/>
        </p:nvSpPr>
        <p:spPr>
          <a:xfrm>
            <a:off x="0" y="2286000"/>
            <a:ext cx="8915400" cy="1938338"/>
          </a:xfrm>
          <a:prstGeom prst="rect">
            <a:avLst/>
          </a:prstGeom>
          <a:noFill/>
          <a:ln w="9525">
            <a:noFill/>
          </a:ln>
        </p:spPr>
        <p:txBody>
          <a:bodyPr>
            <a:spAutoFit/>
          </a:bodyPr>
          <a:lstStyle/>
          <a:p>
            <a:pP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Introduction</a:t>
            </a:r>
          </a:p>
          <a:p>
            <a:pP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Fundamentals of subprogram</a:t>
            </a:r>
          </a:p>
          <a:p>
            <a:pP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Design issue for subprogram</a:t>
            </a:r>
          </a:p>
          <a:p>
            <a:pP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Local referencing environment</a:t>
            </a:r>
          </a:p>
          <a:p>
            <a:pP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Parameter Passing method</a:t>
            </a:r>
            <a:endParaRPr lang="en-US" altLang="en-US" sz="2400" b="1" dirty="0">
              <a:latin typeface="Times New Roman" panose="02020603050405020304" pitchFamily="18" charset="0"/>
              <a:ea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sz="3200" b="1" dirty="0">
                <a:latin typeface="Times New Roman" panose="02020603050405020304" pitchFamily="18" charset="0"/>
                <a:cs typeface="Times New Roman" panose="02020603050405020304" pitchFamily="18" charset="0"/>
              </a:rPr>
              <a:t>Introduction</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11430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subprogram</a:t>
            </a:r>
            <a:r>
              <a:rPr lang="en-US" altLang="en-US" sz="2000" dirty="0">
                <a:latin typeface="Times New Roman" panose="02020603050405020304" pitchFamily="18" charset="0"/>
                <a:cs typeface="Times New Roman" panose="02020603050405020304" pitchFamily="18" charset="0"/>
              </a:rPr>
              <a:t> is a set of instructions designed to perform a specific task within a larger program. It can be thought of as a mini-program that can be called upon from the main program or from other subprograms. Subprograms help to organize code, promote reuse, and make programs easier to read and maintain.</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There are two main types of subprograms:</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Functions</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These return a value and can take input parameters. They are often used for computations or operations that yield a result.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Procedures (or Subroutines):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These typically perform actions but do not return a value. They may modify data or perform operations without providing a direct output.</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a:t>
            </a:fld>
            <a:endParaRPr lang="en-US" altLang="en-US" sz="1200" dirty="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General Subprogram Characteristics.</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Basic Definitions</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Parameters</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Procedures and Functions</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3</a:t>
            </a:fld>
            <a:endParaRPr lang="en-US" altLang="en-US" sz="1200" dirty="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457200" indent="-457200" algn="just">
              <a:buFont typeface="+mj-l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General Subprogram Characteristics.</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Each subprogram has a single entry point.</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calling program unit is suspended during the execution of the called subprogram, which implies that there is only one subprogram in execution at any given time.</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Control always returns to the caller when the subprogram execution terminates.</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4</a:t>
            </a:fld>
            <a:endParaRPr lang="en-US" altLang="en-US" sz="1200" dirty="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  Basic Defination.</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set  of insturcion which are encapsulated in the function or procedure body are executed, when we call the respective function or procedure.</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A subprogram is said to be active if, after having been called, it has begun execution but has not yet completed that execution.</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subprogram header defines the interface of a subprogram, specifying its name, parameters, and return type (if applicable). </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5</a:t>
            </a:fld>
            <a:endParaRPr lang="en-US" altLang="en-US" sz="1200" dirty="0">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subprogram header defines the interface of a subprogram, specifying its name, parameters, and return type (if applicable). </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Syntax of subprogram header varies from language to language but here are some general components founds in subprogram header.</a:t>
            </a: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 Name: A unique identifier for the subprogram.</a:t>
            </a: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Parameters: A list of inputs the subprogram can accept, including their data types.</a:t>
            </a: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Return Type: The data type of the value returned by the subprogram (for functions).</a:t>
            </a: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Example1: def adder parameter:</a:t>
            </a: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This is the header of a Python subprogram named adder. Ruby subprogram headers also begin with def. The header of a JavaScript subprogram begins with function.</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6</a:t>
            </a:fld>
            <a:endParaRPr lang="en-US" altLang="en-US" sz="1200" dirty="0">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Example2: def add_numbers(a: int, b: int) -&gt; int: </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def: Indicates a function definition.</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add_numbers: The name of the function.</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int, b: int): Two parameters, both of type int.</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-&gt; int: Specifies that the function returns an integer.</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   Example 3: int add(int a , int b) {</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int: Return type.</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addNumbers: Function name.</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a, int b): Parameters with types.</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7</a:t>
            </a:fld>
            <a:endParaRPr lang="en-US" altLang="en-US" sz="1200" dirty="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parameter is a variable used in a subprogram (such as a function or method) to accept input values from calling function to perfom computation within a function.</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Data passed through parameters are accessed through names that are local to the subprogram.</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 passing is more flexible than direct access to nonlocal variables(Global variable).</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what is the problem if we use global variable inside the subprogram instead of local parameter?   </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8</a:t>
            </a:fld>
            <a:endParaRPr lang="en-US" altLang="en-US" sz="1200" dirty="0">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09600"/>
            <a:ext cx="8229600" cy="3886200"/>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what is the problem if we use global variable inside the subprogram instead of local parameter?   </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 : </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pi=3.14;</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cal1()</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pi+=2;</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calCirleArea()</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area;</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r=5</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area=pi * r * r</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main(){</a:t>
            </a: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9</a:t>
            </a:fld>
            <a:endParaRPr lang="en-US" altLang="en-US" sz="1200" dirty="0">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main(){</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cal1();</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calCirleArea</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p>
          <a:p>
            <a:pPr marL="457200" indent="-457200" algn="just">
              <a:lnSpc>
                <a:spcPct val="90000"/>
              </a:lnSpc>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Formal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a:t>
            </a:r>
          </a:p>
          <a:p>
            <a:pPr marL="457200" indent="-457200" algn="just">
              <a:lnSpc>
                <a:spcPct val="90000"/>
              </a:lnSpc>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Actual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a:t>
            </a:r>
          </a:p>
          <a:p>
            <a:pPr marL="457200" indent="-457200" algn="just">
              <a:lnSpc>
                <a:spcPct val="90000"/>
              </a:lnSpc>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Positional Parameter.</a:t>
            </a:r>
          </a:p>
          <a:p>
            <a:pPr marL="457200" indent="-457200" algn="just">
              <a:lnSpc>
                <a:spcPct val="90000"/>
              </a:lnSpc>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Keyword Parameter.</a:t>
            </a: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10</a:t>
            </a:fld>
            <a:endParaRPr lang="en-US" altLang="en-US" sz="1200" dirty="0">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lstStyle/>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1.   Formal parameter.</a:t>
            </a:r>
          </a:p>
          <a:p>
            <a:pPr algn="just">
              <a:lnSpc>
                <a:spcPct val="11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parameters in the subprogram header are called formal parameters. </a:t>
            </a:r>
          </a:p>
          <a:p>
            <a:pPr algn="just">
              <a:lnSpc>
                <a:spcPct val="11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They are sometimes thought of as dummy variables because they are not variables in the usual sense:</a:t>
            </a:r>
          </a:p>
          <a:p>
            <a:pPr algn="just">
              <a:lnSpc>
                <a:spcPct val="11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 most cases, they are bound to storage only when the subprogram is called, and that binding is often through some other program variables.</a:t>
            </a: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11</a:t>
            </a:fld>
            <a:endParaRPr lang="en-US" altLang="en-US" sz="1200" dirty="0">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lstStyle/>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2.   Actual parameter.</a:t>
            </a: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 call statements must include the name of the subprogram and a list of parameters to be bound to the formal parameters of the subprogram. These parameters are called actual parameters.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They must be distinguished from formal parameters, because the two usually have different restrictions on their forms, and of course, their uses are quite different.</a:t>
            </a: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12</a:t>
            </a:fld>
            <a:endParaRPr lang="en-US" altLang="en-US" sz="1200" dirty="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lstStyle/>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3.   positional parameter.</a:t>
            </a: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In nearly all programming languages, the correspondence between actual and formal parameters or the binding of actual parameters to formal parameters is done by position.</a:t>
            </a: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first actual parameter is bound to the first formal parameter and so forth. Such parameters are called positional parameters.</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This is an effective and safe method of relating actual parameters to their corresponding formal parameters, as long as the parameter lists are relatively short.</a:t>
            </a: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13</a:t>
            </a:fld>
            <a:endParaRPr lang="en-US" altLang="en-US" sz="1200" dirty="0">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lstStyle/>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4.   Keyword parameter.</a:t>
            </a: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lists are long, however, it is easy for a programmer to make mistakes in the order of actual parameters in the list.</a:t>
            </a: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One solution to this problem is to provide keyword parameters, in which the name of the formal parameter to which an actual parameter is to be bound is specified with the actual parameter in a call. </a:t>
            </a: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The advantage of keyword parameters is that they can appear in any order in the actual parameter list. Python functions can be called using this technique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14</a:t>
            </a:fld>
            <a:endParaRPr lang="en-US" altLang="en-US" sz="1200" dirty="0">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lstStyle/>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3.1Procedure And Function.</a:t>
            </a: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4.   Keyword parameter.</a:t>
            </a: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advantage of keyword parameters is that they can appear in any order in the actual parameter list. Python functions can be called using this technique, as in</a:t>
            </a:r>
          </a:p>
          <a:p>
            <a:pPr algn="just">
              <a:lnSpc>
                <a:spcPct val="10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sumer(length = my_length, </a:t>
            </a:r>
          </a:p>
          <a:p>
            <a:pPr marL="0" indent="0" algn="just">
              <a:lnSpc>
                <a:spcPct val="100000"/>
              </a:lnSpc>
              <a:buClrTx/>
              <a:buSzTx/>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list = my_array, </a:t>
            </a:r>
          </a:p>
          <a:p>
            <a:pPr marL="0" indent="0" algn="just">
              <a:lnSpc>
                <a:spcPct val="100000"/>
              </a:lnSpc>
              <a:buClrTx/>
              <a:buSzTx/>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sum = my_sum)</a:t>
            </a: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where the definition of sumer has the formal parameters length, list, and sum.</a:t>
            </a: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15</a:t>
            </a:fld>
            <a:endParaRPr lang="en-US" altLang="en-US" sz="1200" dirty="0">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lstStyle/>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4. Procedure  and Function.</a:t>
            </a: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terms "function" and "procedure" are often used interchangeably in programming, but they have distinct meanings depending on the context.</a:t>
            </a: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Function</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Return Value: A function is designed to return a value. After executing its code, it provides a result that can be used in further calculations or operations.</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Expression: Functions can be used as part of expressions, allowing for chaining or embedding in other statements.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Purpose: Functions are typically used when a specific computation is needed, and the returned value is of primary importance.</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16</a:t>
            </a:fld>
            <a:endParaRPr lang="en-US" altLang="en-US" sz="1200" dirty="0">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lstStyle/>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4. Procedure  and Function.</a:t>
            </a: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Procedure</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No Return Value: A procedure, on the other hand, does not return a value. Instead, it performs a task or a sequence of tasks.</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Statement: Procedures are typically called as standalone statements, and their purpose is to carry out operations like modifying data, performing actions, or managing program flow.</a:t>
            </a: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Purpose: Procedures are used when the goal is to execute a series of actions without needing a result back.</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17</a:t>
            </a:fld>
            <a:endParaRPr lang="en-US" altLang="en-US" sz="1200" dirty="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Design issue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lstStyle/>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are complex structures in programming languages, and it follows from this that a lengthy list of issues is involved in their design. </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A closely related issue is whether the types of actual parameters will be type checked against the types of the corresponding formal parameters.</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with vague or misleading names can confuse users about their purpose.</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Example: calArea() vs doStuff()</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subprogram that tries to handle multiple tasks can become complex and difficult to maintain</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subprogram with too many parameters can be hard to use and understand.</a:t>
            </a: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same function is calling two different time and expecting two differnt data type result. (i.e one function call expectiong int and another is expecting float value in return) </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18</a:t>
            </a:fld>
            <a:endParaRPr lang="en-US" altLang="en-US" sz="1200" dirty="0">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Local Referencing Environments </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457200" indent="-457200" algn="just">
              <a:buFont typeface="+mj-l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Local Variable.</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can define their own variables, thereby defining local referencing environments.</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Variables that are defined inside subprograms are called local variables, because their scope is usually the body of the subprogram in which they are defined.</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local variables can be either static or stack dynamic(AUTO).</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It is essential that recursive subprograms have stack-dynamic local variables.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local variables are stack dynamic, they are bound to storage Subprograms when the subprogram begins execution and are unbound from storage when that execution terminates.</a:t>
            </a: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19</a:t>
            </a:fld>
            <a:endParaRPr lang="en-US" altLang="en-US" sz="1200" dirty="0">
              <a:solidFill>
                <a:srgbClr val="89898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Local Referencing Environments </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457200" indent="-457200" algn="just">
              <a:buFont typeface="+mj-l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Local Variable.</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#include&lt;stdio.h&gt;</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factorial(int n)</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if (n == 0)</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return 1;</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return n * factorial(n - 1);</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main()</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factorial(5);</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printf("%d",</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factorial(5)</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Output 120</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printf("%d",factorial(3));</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5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20</a:t>
            </a:fld>
            <a:endParaRPr lang="en-US" altLang="en-US" sz="1200" dirty="0">
              <a:solidFill>
                <a:srgbClr val="89898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Local Referencing Environments </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What happend if we use static variable instead of stack dynamic variable?</a:t>
            </a:r>
          </a:p>
          <a:p>
            <a:pPr marL="0" indent="0" algn="just">
              <a:lnSpc>
                <a:spcPct val="5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21</a:t>
            </a:fld>
            <a:endParaRPr lang="en-US" altLang="en-US" sz="1200" dirty="0">
              <a:solidFill>
                <a:srgbClr val="89898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Local Referencing Environments </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#include &lt;stdio.h&gt;</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factorial(int n) {</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static int temp = 1; // Static variable to retain its value across calls</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if (n &lt;= 1) {</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return temp; // Return the computed factorial</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temp *= n; // Update the static variable</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return factorial(n - 1); // Recursive call</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main() {</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printf("Factorial of 5: %d\n", factorial(5));</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printf("Factorial of 3: %d\n", factorial(3));</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return 0;</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5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22</a:t>
            </a:fld>
            <a:endParaRPr lang="en-US" altLang="en-US" sz="1200" dirty="0">
              <a:solidFill>
                <a:srgbClr val="89898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Local Referencing Environments </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457200" indent="-457200" algn="just">
              <a:buFont typeface="+mj-l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Local Variable.</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main disadvantages of stack-dynamic local variables are the following: </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First, there is the cost of the time required to allocate, initialize (when necessary), and deallocate such variables for each call to the subprogram. </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Second, accesses to stack-dynamic local variables must be indirect, whereas accesses to static variables can be direct.</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This indirectness is required because the place in the stack where a particular local variable will reside can be determined only during execution.</a:t>
            </a: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Finally, when all local variables are stack dynamic, subprograms cannot be history sensitive; that is, they cannot retain data values of local variables between calls. </a:t>
            </a: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23</a:t>
            </a:fld>
            <a:endParaRPr lang="en-US" altLang="en-US" sz="1200" dirty="0">
              <a:solidFill>
                <a:srgbClr val="898989"/>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Local Referencing Environments </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0" indent="0" algn="just">
              <a:buFont typeface="+mj-l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Nested subprograms</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Nested subprograms (or nested functions) are functions defined within other functions. This feature allows the inner function to access variables from the outer function, creating a scope that can be useful for encapsulation and managing complexity.</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The inner function can access variables defined in the outer function.</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In languages that support nested functions (like Python), when an inner function is called, a new activation record (also known as a stack frame) is created for that inner function. </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you call the outer function, an activation record for that function is created on the stack. This record includes any local variables defined in the outer function.</a:t>
            </a: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the inner function is called:</a:t>
            </a: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24</a:t>
            </a:fld>
            <a:endParaRPr lang="en-US" altLang="en-US" sz="1200" dirty="0">
              <a:solidFill>
                <a:srgbClr val="89898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Local Referencing Environments </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0" indent="0" algn="just">
              <a:buFont typeface="+mj-l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Nested subprograms</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the inner function is called:</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Local variables of the inner function.</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Access to any non-local variables (like those from the outer function) due to the concept of closures.</a:t>
            </a: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the inner function completes its execution, Its activation record is popped off the stack.</a:t>
            </a: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Control returns to the outer function, which resumes execution from the point after the inner function call.</a:t>
            </a: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25</a:t>
            </a:fld>
            <a:endParaRPr lang="en-US" altLang="en-US" sz="1200" dirty="0">
              <a:solidFill>
                <a:srgbClr val="89898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Parameter Passing Method </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Parameter-passing methods are the ways in which parameters are transmitted to and/or from the subprograms.</a:t>
            </a:r>
          </a:p>
          <a:p>
            <a:pPr marL="0" indent="0" algn="just">
              <a:buNone/>
            </a:pPr>
            <a:r>
              <a:rPr lang="en-US" altLang="en-US" sz="2400" b="1" dirty="0">
                <a:latin typeface="Times New Roman" panose="02020603050405020304" pitchFamily="18" charset="0"/>
                <a:ea typeface="Times New Roman" panose="02020603050405020304" pitchFamily="18" charset="0"/>
                <a:cs typeface="Times New Roman" panose="02020603050405020304" pitchFamily="18" charset="0"/>
              </a:rPr>
              <a:t>Semantics Models of Parameter Passing</a:t>
            </a:r>
          </a:p>
          <a:p>
            <a:pPr marL="0" indent="0" algn="just">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Formal parameters are characterized by one of three distinct semantics models: </a:t>
            </a: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They can receive data from the corresponding actual parameter;</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In mode</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formal parameter receives data from the corresponding actual parameter. It is used to pass values into a function without modifying the original argument.</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26</a:t>
            </a:fld>
            <a:endParaRPr lang="en-US" altLang="en-US" sz="1200" dirty="0">
              <a:solidFill>
                <a:srgbClr val="89898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Parameter Passing Method </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 mode</a:t>
            </a:r>
          </a:p>
          <a:p>
            <a:pPr marL="0" indent="0" algn="just">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formal parameter receives data from the corresponding actual parameter. It is used to pass values into a function without modifying the original argument.</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They can transmit data to the actual parameter;</a:t>
            </a:r>
          </a:p>
          <a:p>
            <a:pPr marL="0" indent="0" algn="just">
              <a:buNone/>
            </a:pP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27</a:t>
            </a:fld>
            <a:endParaRPr lang="en-US" altLang="en-US" sz="1200" dirty="0">
              <a:solidFill>
                <a:srgbClr val="89898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Parameter Passing Method </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0" indent="0" algn="just">
              <a:buNone/>
            </a:pPr>
            <a:r>
              <a:rPr lang="en-US" altLang="en-US" sz="2000" b="1" dirty="0" err="1">
                <a:latin typeface="Times New Roman" panose="02020603050405020304" pitchFamily="18" charset="0"/>
                <a:ea typeface="Times New Roman" panose="02020603050405020304" pitchFamily="18" charset="0"/>
                <a:cs typeface="Times New Roman" panose="02020603050405020304" pitchFamily="18" charset="0"/>
              </a:rPr>
              <a:t>OutMode</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formal parameter transmits data to the actual parameter. It allows the function to output a value, but the actual argument must be passed in an uninitialized state or explicitly as an output.  </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  </a:t>
            </a:r>
            <a:r>
              <a:rPr lang="en-US" altLang="en-US" sz="2000">
                <a:latin typeface="Times New Roman" panose="02020603050405020304" pitchFamily="18" charset="0"/>
                <a:ea typeface="Times New Roman" panose="02020603050405020304" pitchFamily="18" charset="0"/>
                <a:cs typeface="Times New Roman" panose="02020603050405020304" pitchFamily="18" charset="0"/>
              </a:rPr>
              <a:t>They can transmit data to the actual parameter;</a:t>
            </a: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28</a:t>
            </a:fld>
            <a:endParaRPr lang="en-US" altLang="en-US" sz="1200" dirty="0">
              <a:solidFill>
                <a:srgbClr val="898989"/>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Parameter Passing Method </a:t>
            </a: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lstStyle/>
          <a:p>
            <a:pPr marL="0" indent="0" algn="just">
              <a:buNone/>
            </a:pPr>
            <a:r>
              <a:rPr lang="en-US" altLang="en-US" sz="2000" dirty="0" err="1">
                <a:latin typeface="Times New Roman" panose="02020603050405020304" pitchFamily="18" charset="0"/>
                <a:ea typeface="Times New Roman" panose="02020603050405020304" pitchFamily="18" charset="0"/>
                <a:cs typeface="Times New Roman" panose="02020603050405020304" pitchFamily="18" charset="0"/>
              </a:rPr>
              <a:t>OutMode</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t>
            </a: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In the out mode of parameter passing, a formal parameter acts as a way for a function to transmit data back to the caller.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Unlike in mode, where the parameter is used solely to receive input, in out mode, the actual argument is typically passed in a way that it can be assigned a new value inside the function, effectively allowing the function to produce output.</a:t>
            </a:r>
          </a:p>
          <a:p>
            <a:pPr algn="just">
              <a:lnSpc>
                <a:spcPct val="10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They can do both.</a:t>
            </a:r>
          </a:p>
          <a:p>
            <a:pPr marL="0" indent="0" algn="just">
              <a:lnSpc>
                <a:spcPct val="10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InOut Mode:</a:t>
            </a:r>
          </a:p>
          <a:p>
            <a:pPr marL="0" indent="0" algn="just">
              <a:lnSpc>
                <a:spcPct val="10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formal parameter can both receive data from the actual parameter and transmit data back to it. This allows the function to modify the original argument directly.</a:t>
            </a:r>
          </a:p>
          <a:p>
            <a:pPr marL="0" indent="0" algn="just">
              <a:buNone/>
            </a:pP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29</a:t>
            </a:fld>
            <a:endParaRPr lang="en-US" altLang="en-US" sz="1200" dirty="0">
              <a:solidFill>
                <a:srgbClr val="89898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Parameter Passing Method </a:t>
            </a:r>
          </a:p>
        </p:txBody>
      </p:sp>
      <p:sp>
        <p:nvSpPr>
          <p:cNvPr id="7171" name="Content Placeholder 5"/>
          <p:cNvSpPr>
            <a:spLocks noGrp="1"/>
          </p:cNvSpPr>
          <p:nvPr>
            <p:ph idx="1"/>
          </p:nvPr>
        </p:nvSpPr>
        <p:spPr>
          <a:xfrm>
            <a:off x="-67945" y="685800"/>
            <a:ext cx="9212580" cy="4962525"/>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Procedure Myprogram is </a:t>
            </a:r>
          </a:p>
          <a:p>
            <a:pPr marL="0" indent="45720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procedure DiffModes (A : in mode // this value will not modify inside the function</a:t>
            </a:r>
          </a:p>
          <a:p>
            <a:pPr marL="2286000" lvl="5" indent="45720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B : out mode</a:t>
            </a:r>
          </a:p>
          <a:p>
            <a:pPr marL="2286000" lvl="5" indent="45720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c: in out mode</a:t>
            </a:r>
          </a:p>
          <a:p>
            <a:pPr marL="2743200" lvl="6" indent="45720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is</a:t>
            </a:r>
          </a:p>
          <a:p>
            <a:pPr marL="2743200" lvl="6" indent="45720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begin </a:t>
            </a:r>
          </a:p>
          <a:p>
            <a:pPr marL="2743200" lvl="6" indent="45720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put_line(Integer’Image(A));</a:t>
            </a:r>
          </a:p>
          <a:p>
            <a:pPr marL="2743200" lvl="6" indent="457200" algn="just">
              <a:lnSpc>
                <a:spcPct val="70000"/>
              </a:lnSpc>
              <a:buNone/>
            </a:pPr>
            <a:r>
              <a:rPr lang="en-US" altLang="en-US" b="1" dirty="0">
                <a:latin typeface="Times New Roman" panose="02020603050405020304" pitchFamily="18" charset="0"/>
                <a:ea typeface="Times New Roman" panose="02020603050405020304" pitchFamily="18" charset="0"/>
                <a:cs typeface="Times New Roman" panose="02020603050405020304" pitchFamily="18" charset="0"/>
                <a:sym typeface="+mn-ea"/>
              </a:rPr>
              <a:t>put_line(Integer’Image(B));</a:t>
            </a:r>
          </a:p>
          <a:p>
            <a:pPr marL="2743200" lvl="6" indent="457200" algn="just">
              <a:lnSpc>
                <a:spcPct val="70000"/>
              </a:lnSpc>
              <a:buNone/>
            </a:pPr>
            <a:r>
              <a:rPr lang="en-US" altLang="en-US" b="1" dirty="0">
                <a:latin typeface="Times New Roman" panose="02020603050405020304" pitchFamily="18" charset="0"/>
                <a:ea typeface="Times New Roman" panose="02020603050405020304" pitchFamily="18" charset="0"/>
                <a:cs typeface="Times New Roman" panose="02020603050405020304" pitchFamily="18" charset="0"/>
                <a:sym typeface="+mn-ea"/>
              </a:rPr>
              <a:t>put_line(Integer’Image(C));</a:t>
            </a:r>
          </a:p>
          <a:p>
            <a:pPr marL="2743200" lvl="6" indent="45720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B:=100;</a:t>
            </a:r>
          </a:p>
          <a:p>
            <a:pPr marL="2743200" lvl="6" indent="45720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C:=C*2</a:t>
            </a:r>
          </a:p>
          <a:p>
            <a:pPr marL="2743200" lvl="6" indent="45720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end Diffmode</a:t>
            </a:r>
          </a:p>
          <a:p>
            <a:pPr marL="2743200" lvl="6" indent="45720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30</a:t>
            </a:fld>
            <a:endParaRPr lang="en-US" altLang="en-US" sz="1200" dirty="0">
              <a:solidFill>
                <a:srgbClr val="898989"/>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Parameter Passing Method </a:t>
            </a:r>
          </a:p>
        </p:txBody>
      </p:sp>
      <p:sp>
        <p:nvSpPr>
          <p:cNvPr id="7171" name="Content Placeholder 5"/>
          <p:cNvSpPr>
            <a:spLocks noGrp="1"/>
          </p:cNvSpPr>
          <p:nvPr>
            <p:ph idx="1"/>
          </p:nvPr>
        </p:nvSpPr>
        <p:spPr>
          <a:xfrm>
            <a:off x="-67945" y="685800"/>
            <a:ext cx="9212580" cy="4962525"/>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x: integer:=12;</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  y: integer:=44;</a:t>
            </a:r>
          </a:p>
          <a:p>
            <a:pPr marL="0" algn="just">
              <a:lnSpc>
                <a:spcPct val="70000"/>
              </a:lnSpc>
              <a:buClrTx/>
              <a:buSzTx/>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  z: integer:=30;</a:t>
            </a:r>
          </a:p>
          <a:p>
            <a:pPr marL="0" algn="just">
              <a:lnSpc>
                <a:spcPct val="70000"/>
              </a:lnSpc>
              <a:buClrTx/>
              <a:buSzTx/>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endParaRPr>
          </a:p>
          <a:p>
            <a:pPr marL="0" algn="just">
              <a:lnSpc>
                <a:spcPct val="70000"/>
              </a:lnSpc>
              <a:buClrTx/>
              <a:buSzTx/>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begin</a:t>
            </a:r>
          </a:p>
          <a:p>
            <a:pPr marL="0" algn="just">
              <a:lnSpc>
                <a:spcPct val="70000"/>
              </a:lnSpc>
              <a:buClrTx/>
              <a:buSzTx/>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 Diffmode(x,y,z)</a:t>
            </a:r>
          </a:p>
          <a:p>
            <a:pPr marL="0" algn="just">
              <a:lnSpc>
                <a:spcPct val="70000"/>
              </a:lnSpc>
              <a:buClrTx/>
              <a:buSzTx/>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  put_line(Integer’Image(x));</a:t>
            </a:r>
          </a:p>
          <a:p>
            <a:pPr marL="0" algn="just">
              <a:lnSpc>
                <a:spcPct val="70000"/>
              </a:lnSpc>
              <a:buClrTx/>
              <a:buSzTx/>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  put_line(Integer’Image(y));</a:t>
            </a:r>
          </a:p>
          <a:p>
            <a:pPr marL="0" algn="just">
              <a:lnSpc>
                <a:spcPct val="70000"/>
              </a:lnSpc>
              <a:buClrTx/>
              <a:buSzTx/>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  put_line(Integer’Image(z)</a:t>
            </a:r>
          </a:p>
          <a:p>
            <a:pPr marL="0" algn="just">
              <a:lnSpc>
                <a:spcPct val="70000"/>
              </a:lnSpc>
              <a:buClrTx/>
              <a:buSzTx/>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endParaRPr>
          </a:p>
          <a:p>
            <a:pPr marL="0" algn="just">
              <a:lnSpc>
                <a:spcPct val="70000"/>
              </a:lnSpc>
              <a:buClrTx/>
              <a:buSzTx/>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End Myprogram</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2743200" lvl="6" indent="45720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31</a:t>
            </a:fld>
            <a:endParaRPr lang="en-US" altLang="en-US" sz="1200" dirty="0">
              <a:solidFill>
                <a:srgbClr val="898989"/>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Parameter Passing Method </a:t>
            </a:r>
          </a:p>
        </p:txBody>
      </p:sp>
      <p:sp>
        <p:nvSpPr>
          <p:cNvPr id="7171" name="Content Placeholder 5"/>
          <p:cNvSpPr>
            <a:spLocks noGrp="1"/>
          </p:cNvSpPr>
          <p:nvPr>
            <p:ph idx="1"/>
          </p:nvPr>
        </p:nvSpPr>
        <p:spPr>
          <a:xfrm>
            <a:off x="457200" y="685800"/>
            <a:ext cx="8229600" cy="4763770"/>
          </a:xfrm>
        </p:spPr>
        <p:txBody>
          <a:bodyPr vert="horz" wrap="square" lIns="91440" tIns="45720" rIns="91440" bIns="45720" anchor="t" anchorCtr="0"/>
          <a:lstStyle/>
          <a:p>
            <a:pPr algn="just">
              <a:lnSpc>
                <a:spcPct val="10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Implementation modes of parameter passing methods.</a:t>
            </a:r>
          </a:p>
          <a:p>
            <a:pPr marL="0" indent="0" algn="just">
              <a:lnSpc>
                <a:spcPct val="10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1. Pass-by-Value</a:t>
            </a:r>
          </a:p>
          <a:p>
            <a:pPr algn="just">
              <a:lnSpc>
                <a:spcPct val="10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a parameter is passe_by_value, the value of the actual parameter is used to initialize the corresponding formal parameter, which then acts as a local variable in the subprogram, thus implementing in-mode semantics.</a:t>
            </a:r>
          </a:p>
          <a:p>
            <a:pPr algn="just">
              <a:lnSpc>
                <a:spcPct val="10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This means that changes made to the parameter within the function do not affect the original variable. </a:t>
            </a:r>
          </a:p>
          <a:p>
            <a:pPr algn="just">
              <a:lnSpc>
                <a:spcPct val="10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Copy of Value: The function receives a separate copy of the data, meaning the function works with that copy instead of the original data.</a:t>
            </a:r>
          </a:p>
          <a:p>
            <a:pPr algn="just">
              <a:lnSpc>
                <a:spcPct val="10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No Side Effects: Since the original variable is not modified, there are no side effects on the caller’s environment.</a:t>
            </a:r>
          </a:p>
          <a:p>
            <a:pPr algn="just">
              <a:lnSpc>
                <a:spcPct val="10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Scope: The formal parameter is local to the function, and its lifetime is limited to the function's execution.</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32</a:t>
            </a:fld>
            <a:endParaRPr lang="en-US" altLang="en-US" sz="1200" dirty="0">
              <a:solidFill>
                <a:srgbClr val="898989"/>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Parameter Passing Method </a:t>
            </a:r>
          </a:p>
        </p:txBody>
      </p:sp>
      <p:sp>
        <p:nvSpPr>
          <p:cNvPr id="7171" name="Content Placeholder 5"/>
          <p:cNvSpPr>
            <a:spLocks noGrp="1"/>
          </p:cNvSpPr>
          <p:nvPr>
            <p:ph idx="1"/>
          </p:nvPr>
        </p:nvSpPr>
        <p:spPr>
          <a:xfrm>
            <a:off x="457200" y="685800"/>
            <a:ext cx="8229600" cy="4763770"/>
          </a:xfrm>
        </p:spPr>
        <p:txBody>
          <a:bodyPr vert="horz" wrap="square" lIns="91440" tIns="45720" rIns="91440" bIns="45720" anchor="t" anchorCtr="0"/>
          <a:lstStyle/>
          <a:p>
            <a:pPr algn="just">
              <a:lnSpc>
                <a:spcPct val="10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Implementation modes of parameter passing methods.</a:t>
            </a:r>
          </a:p>
          <a:p>
            <a:pPr marL="0" indent="0" algn="just">
              <a:lnSpc>
                <a:spcPct val="10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1. Pass-by-Value</a:t>
            </a:r>
          </a:p>
          <a:p>
            <a:pPr algn="just">
              <a:lnSpc>
                <a:spcPct val="10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Example</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#include &lt;stdio.h&gt;</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increment(int num) {</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num = num + 1; </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printf("Inside increment function: num = %d\n", num);</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main() {</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int original = 5;  </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printf("Before function call: original = %d\n", original);</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increment(original);     </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printf("After function call: original = %d\n", original);      </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return 0;</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33</a:t>
            </a:fld>
            <a:endParaRPr lang="en-US" altLang="en-US" sz="1200" dirty="0">
              <a:solidFill>
                <a:srgbClr val="89898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Parameter Passing Method </a:t>
            </a:r>
          </a:p>
        </p:txBody>
      </p:sp>
      <p:sp>
        <p:nvSpPr>
          <p:cNvPr id="7171" name="Content Placeholder 5"/>
          <p:cNvSpPr>
            <a:spLocks noGrp="1"/>
          </p:cNvSpPr>
          <p:nvPr>
            <p:ph idx="1"/>
          </p:nvPr>
        </p:nvSpPr>
        <p:spPr>
          <a:xfrm>
            <a:off x="457200" y="685800"/>
            <a:ext cx="8229600" cy="4763770"/>
          </a:xfrm>
        </p:spPr>
        <p:txBody>
          <a:bodyPr vert="horz" wrap="square" lIns="91440" tIns="45720" rIns="91440" bIns="45720" anchor="t" anchorCtr="0"/>
          <a:lstStyle/>
          <a:p>
            <a:pPr algn="just">
              <a:lnSpc>
                <a:spcPct val="10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Implementation modes of parameter passing methods.</a:t>
            </a:r>
          </a:p>
          <a:p>
            <a:pPr marL="0" indent="0" algn="just">
              <a:lnSpc>
                <a:spcPct val="10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1. Pass-by-Result</a:t>
            </a:r>
          </a:p>
          <a:p>
            <a:pPr algn="just">
              <a:lnSpc>
                <a:spcPct val="10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Pass by result is a parameter passing mechanism where the formal parameter acts as an output parameter. The function does not receive the actual value of the argument; instead, it is expected to produce a value that will be copied back to the actual parameter when the function completes.</a:t>
            </a:r>
          </a:p>
          <a:p>
            <a:pPr algn="just">
              <a:lnSpc>
                <a:spcPct val="10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formal parameter is initialized as unassigned. It serves to output a value back to the caller.</a:t>
            </a:r>
          </a:p>
          <a:p>
            <a:pPr algn="just">
              <a:lnSpc>
                <a:spcPct val="10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Inside the function, the formal parameter is assigned a value, and when the function exits, this value is copied back to the actual argument.</a:t>
            </a:r>
          </a:p>
          <a:p>
            <a:pPr algn="just">
              <a:lnSpc>
                <a:spcPct val="10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34</a:t>
            </a:fld>
            <a:endParaRPr lang="en-US" altLang="en-US" sz="1200" dirty="0">
              <a:solidFill>
                <a:srgbClr val="898989"/>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Parameter Passing Method </a:t>
            </a:r>
          </a:p>
        </p:txBody>
      </p:sp>
      <p:sp>
        <p:nvSpPr>
          <p:cNvPr id="7171" name="Content Placeholder 5"/>
          <p:cNvSpPr>
            <a:spLocks noGrp="1"/>
          </p:cNvSpPr>
          <p:nvPr>
            <p:ph idx="1"/>
          </p:nvPr>
        </p:nvSpPr>
        <p:spPr>
          <a:xfrm>
            <a:off x="457200" y="685800"/>
            <a:ext cx="8229600" cy="4763770"/>
          </a:xfrm>
        </p:spPr>
        <p:txBody>
          <a:bodyPr vert="horz" wrap="square" lIns="91440" tIns="45720" rIns="91440" bIns="45720" anchor="t" anchorCtr="0"/>
          <a:lstStyle/>
          <a:p>
            <a:pPr marL="0" indent="0" algn="just">
              <a:lnSpc>
                <a:spcPct val="10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Example2:</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f(int x, int *py, int **ppz){</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y,z;</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**ppz=**ppz+1;</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z=**ppz;</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*py=*py+2;</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y=*py;</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x=x+3;</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return x+y+z }</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main(){</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c,*b,**a;</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c=4; b=&amp;c; a=&amp;b;</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printf(“%d”,f(c,b,a));</a:t>
            </a: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35</a:t>
            </a:fld>
            <a:endParaRPr lang="en-US" altLang="en-US" sz="1200" dirty="0">
              <a:solidFill>
                <a:srgbClr val="898989"/>
              </a:solidFill>
            </a:endParaRPr>
          </a:p>
        </p:txBody>
      </p:sp>
    </p:spTree>
  </p:cSld>
  <p:clrMapOvr>
    <a:masterClrMapping/>
  </p:clrMapOvr>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394</TotalTime>
  <Words>3025</Words>
  <Application>Microsoft Office PowerPoint</Application>
  <PresentationFormat>On-screen Show (4:3)</PresentationFormat>
  <Paragraphs>345</Paragraphs>
  <Slides>35</Slides>
  <Notes>1</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35</vt:i4>
      </vt:variant>
    </vt:vector>
  </HeadingPairs>
  <TitlesOfParts>
    <vt:vector size="43" baseType="lpstr">
      <vt:lpstr>Arial</vt:lpstr>
      <vt:lpstr>Calibri</vt:lpstr>
      <vt:lpstr>Times New Roman</vt:lpstr>
      <vt:lpstr>2_Custom Design</vt:lpstr>
      <vt:lpstr>3_Custom Design</vt:lpstr>
      <vt:lpstr>1_Custom Design</vt:lpstr>
      <vt:lpstr>Custom Design</vt:lpstr>
      <vt:lpstr>4_Custom Design</vt:lpstr>
      <vt:lpstr> Statement-Level Control Structures Subprograms   </vt:lpstr>
      <vt:lpstr>Introduction</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Design issue of subprogram</vt:lpstr>
      <vt:lpstr>Local Referencing Environments </vt:lpstr>
      <vt:lpstr>Local Referencing Environments </vt:lpstr>
      <vt:lpstr>Local Referencing Environments </vt:lpstr>
      <vt:lpstr>Local Referencing Environments </vt:lpstr>
      <vt:lpstr>Local Referencing Environments </vt:lpstr>
      <vt:lpstr>Local Referencing Environments </vt:lpstr>
      <vt:lpstr>Local Referencing Environments </vt:lpstr>
      <vt:lpstr>Parameter Passing Method </vt:lpstr>
      <vt:lpstr>Parameter Passing Method </vt:lpstr>
      <vt:lpstr>Parameter Passing Method </vt:lpstr>
      <vt:lpstr>Parameter Passing Method </vt:lpstr>
      <vt:lpstr>Parameter Passing Method </vt:lpstr>
      <vt:lpstr>Parameter Passing Method </vt:lpstr>
      <vt:lpstr>Parameter Passing Method </vt:lpstr>
      <vt:lpstr>Parameter Passing Method </vt:lpstr>
      <vt:lpstr>Parameter Passing Method </vt:lpstr>
      <vt:lpstr>Parameter Passing Method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tanishqtote2005@outlook.com</cp:lastModifiedBy>
  <cp:revision>1453</cp:revision>
  <dcterms:created xsi:type="dcterms:W3CDTF">2024-10-03T04:24:00Z</dcterms:created>
  <dcterms:modified xsi:type="dcterms:W3CDTF">2024-11-29T10:07:57Z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4DACD35A4A13495199C4287798C107E1_12</vt:lpwstr>
  </property>
  <property fmtid="{D5CDD505-2E9C-101B-9397-08002B2CF9AE}" pid="4" name="KSOProductBuildVer">
    <vt:lpwstr>1033-12.2.0.18586</vt:lpwstr>
  </property>
</Properties>
</file>
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87" r:id="rId5"/>
  </p:sldMasterIdLst>
  <p:notesMasterIdLst>
    <p:notesMasterId r:id="rId32"/>
  </p:notesMasterIdLst>
  <p:handoutMasterIdLst>
    <p:handoutMasterId r:id="rId33"/>
  </p:handoutMasterIdLst>
  <p:sldIdLst>
    <p:sldId id="286" r:id="rId6"/>
    <p:sldId id="771" r:id="rId7"/>
    <p:sldId id="775" r:id="rId8"/>
    <p:sldId id="776" r:id="rId9"/>
    <p:sldId id="780" r:id="rId10"/>
    <p:sldId id="782" r:id="rId11"/>
    <p:sldId id="783" r:id="rId12"/>
    <p:sldId id="786" r:id="rId13"/>
    <p:sldId id="787" r:id="rId14"/>
    <p:sldId id="790" r:id="rId15"/>
    <p:sldId id="792" r:id="rId16"/>
    <p:sldId id="791" r:id="rId17"/>
    <p:sldId id="796" r:id="rId18"/>
    <p:sldId id="799" r:id="rId19"/>
    <p:sldId id="800" r:id="rId20"/>
    <p:sldId id="805" r:id="rId21"/>
    <p:sldId id="806" r:id="rId22"/>
    <p:sldId id="809" r:id="rId23"/>
    <p:sldId id="812" r:id="rId24"/>
    <p:sldId id="816" r:id="rId25"/>
    <p:sldId id="822" r:id="rId26"/>
    <p:sldId id="824" r:id="rId27"/>
    <p:sldId id="825" r:id="rId28"/>
    <p:sldId id="826" r:id="rId29"/>
    <p:sldId id="827" r:id="rId30"/>
    <p:sldId id="828" r:id="rId31"/>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6F4AA"/>
    <a:srgbClr val="0066FF"/>
    <a:srgbClr val="F96F07"/>
    <a:srgbClr val="F4220C"/>
    <a:srgbClr val="F94107"/>
    <a:srgbClr val="FC5D0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00"/>
    <p:restoredTop sz="94624"/>
  </p:normalViewPr>
  <p:slideViewPr>
    <p:cSldViewPr showGuides="1">
      <p:cViewPr varScale="1">
        <p:scale>
          <a:sx n="78" d="100"/>
          <a:sy n="78" d="100"/>
        </p:scale>
        <p:origin x="1738" y="14"/>
      </p:cViewPr>
      <p:guideLst>
        <p:guide orient="horz" pos="2160"/>
        <p:guide pos="2880"/>
      </p:guideLst>
    </p:cSldViewPr>
  </p:slideViewPr>
  <p:outlineViewPr>
    <p:cViewPr>
      <p:scale>
        <a:sx n="33" d="100"/>
        <a:sy n="33" d="100"/>
      </p:scale>
      <p:origin x="240" y="367512"/>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74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5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atin typeface="Arial" panose="020B0604020202020204" pitchFamily="34" charset="0"/>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3323EEEE-8657-406A-8528-002B58624345}"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11/29/2024</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6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p>
        </p:txBody>
      </p:sp>
      <p:sp>
        <p:nvSpPr>
          <p:cNvPr id="14746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a:buNone/>
            </a:pPr>
            <a:fld id="{9A0DB2DC-4C9A-4742-B13C-FB6460FD3503}" type="slidenum">
              <a:rPr lang="en-US" altLang="en-US" sz="1200" dirty="0"/>
              <a:t>‹#›</a:t>
            </a:fld>
            <a:endParaRPr lang="en-US" altLang="en-US"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397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p>
        </p:txBody>
      </p:sp>
      <p:sp>
        <p:nvSpPr>
          <p:cNvPr id="3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p>
        </p:txBody>
      </p:sp>
      <p:sp>
        <p:nvSpPr>
          <p:cNvPr id="3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t>‹#›</a:t>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1</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17</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18</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19</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20</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21</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22</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23</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24</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25</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lstStyle/>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26</a:t>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Slide Number Placeholder 3"/>
          <p:cNvSpPr>
            <a:spLocks noGrp="1"/>
          </p:cNvSpPr>
          <p:nvPr>
            <p:ph type="sldNum" sz="quarter" idx="10"/>
          </p:nvPr>
        </p:nvSpPr>
        <p:spPr/>
        <p:txBody>
          <a:body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4"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dirty="0"/>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dirty="0"/>
              <a:t>Click to edit Master title style</a:t>
            </a:r>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dirty="0"/>
              <a:t>Click to edit Master title style</a:t>
            </a:r>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pic>
        <p:nvPicPr>
          <p:cNvPr id="4101" name="Picture 2"/>
          <p:cNvPicPr>
            <a:picLocks noChangeAspect="1"/>
          </p:cNvPicPr>
          <p:nvPr/>
        </p:nvPicPr>
        <p:blipFill>
          <a:blip r:embed="rId4"/>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pic>
        <p:nvPicPr>
          <p:cNvPr id="4101" name="Picture 2"/>
          <p:cNvPicPr>
            <a:picLocks noChangeAspect="1"/>
          </p:cNvPicPr>
          <p:nvPr/>
        </p:nvPicPr>
        <p:blipFill>
          <a:blip r:embed="rId4"/>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Exception Handling</a:t>
            </a:r>
          </a:p>
        </p:txBody>
      </p:sp>
      <p:sp>
        <p:nvSpPr>
          <p:cNvPr id="2" name="Subtitle 7"/>
          <p:cNvSpPr>
            <a:spLocks noGrp="1"/>
          </p:cNvSpPr>
          <p:nvPr>
            <p:ph type="subTitle" idx="1"/>
          </p:nvPr>
        </p:nvSpPr>
        <p:spPr>
          <a:xfrm>
            <a:off x="1600200" y="1162685"/>
            <a:ext cx="6400800" cy="483235"/>
          </a:xfrm>
        </p:spPr>
        <p:txBody>
          <a:bodyPr vert="horz" wrap="square" lIns="91440" tIns="45720" rIns="91440" bIns="45720" anchor="t" anchorCtr="0"/>
          <a:lstStyle/>
          <a:p>
            <a:pPr>
              <a:buClrTx/>
              <a:buSzTx/>
            </a:pPr>
            <a:r>
              <a:rPr lang="en-US" altLang="en-US" sz="2400" b="1" kern="1200" dirty="0">
                <a:solidFill>
                  <a:schemeClr val="tx1"/>
                </a:solidFill>
                <a:latin typeface="Times New Roman" panose="02020603050405020304" pitchFamily="18" charset="0"/>
                <a:ea typeface="+mn-ea"/>
                <a:cs typeface="Times New Roman" panose="02020603050405020304" pitchFamily="18" charset="0"/>
              </a:rPr>
              <a:t>Overview</a:t>
            </a:r>
          </a:p>
          <a:p>
            <a:pPr>
              <a:buClrTx/>
              <a:buSzTx/>
            </a:pPr>
            <a:endParaRPr lang="en-US" altLang="en-US" sz="2400" b="1" kern="1200" dirty="0">
              <a:solidFill>
                <a:schemeClr val="tx1"/>
              </a:solidFill>
              <a:latin typeface="Times New Roman" panose="02020603050405020304" pitchFamily="18" charset="0"/>
              <a:ea typeface="Times New Roman" panose="02020603050405020304" pitchFamily="18" charset="0"/>
              <a:cs typeface="+mn-cs"/>
            </a:endParaRPr>
          </a:p>
        </p:txBody>
      </p:sp>
      <p:sp>
        <p:nvSpPr>
          <p:cNvPr id="6152" name="TextBox 7"/>
          <p:cNvSpPr txBox="1"/>
          <p:nvPr/>
        </p:nvSpPr>
        <p:spPr>
          <a:xfrm>
            <a:off x="0" y="163195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Basic Concept of exception handling ( def, key comp, example)</a:t>
            </a: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Design issue - 2</a:t>
            </a: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Exception Handler - Ada</a:t>
            </a: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Binding Exception to handler</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Basic conecpt of Event handling</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 with programming language.</a:t>
            </a:r>
          </a:p>
          <a:p>
            <a:pPr marL="342900" indent="-342900">
              <a:buFont typeface="Arial" panose="020B0604020202020204" pitchFamily="34" charset="0"/>
              <a:buChar char="•"/>
            </a:pPr>
            <a:r>
              <a:rPr lang="en-US" altLang="en-US" sz="2400" b="1" u="sng" dirty="0">
                <a:latin typeface="Times New Roman" panose="02020603050405020304" pitchFamily="18" charset="0"/>
                <a:ea typeface="Times New Roman" panose="02020603050405020304" pitchFamily="18" charset="0"/>
              </a:rPr>
              <a:t>Comparison of Exception and Event handling.</a:t>
            </a:r>
          </a:p>
          <a:p>
            <a:pPr marL="342900" indent="-342900">
              <a:buFont typeface="Arial" panose="020B0604020202020204" pitchFamily="34" charset="0"/>
              <a:buChar char="•"/>
            </a:pPr>
            <a:r>
              <a:rPr lang="en-US" altLang="en-US" sz="2400" b="1" u="sng" dirty="0">
                <a:latin typeface="Times New Roman" panose="02020603050405020304" pitchFamily="18" charset="0"/>
                <a:ea typeface="Times New Roman" panose="02020603050405020304" pitchFamily="18" charset="0"/>
              </a:rPr>
              <a:t>GUI Developement.</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Basic Concept of exception handling</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Exception is an event which will stop the normal flow of execution.</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To handle such exception must be handle by either hardware or software and that may require special processing.</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The special processing that may be required when an exception is detected is called exception handling.</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This processing is done by a code unit or segment called an exception handler.</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It provides a structured way to manage these issues, ensuring that applications can respond gracefully to runtime errors without crashing.</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Exception handling is a critical aspect of programming that deals with errors and unexpected events that can disrupt the normal flow of a program. </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 Example: result=a/0;</a:t>
            </a: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2</a:t>
            </a:fld>
            <a:endParaRPr lang="en-US" altLang="en-US" sz="1200" dirty="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Basic Concept of exception handling</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Key components of exception handling include:</a:t>
            </a: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Try Block: Contains code that may throw an exception.</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Catch Block (or Except Block): Contains code that handles the exception if one occurs.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Finally Block: (Optional) Executes code after the try and catch blocks, regardless of whether an exception was thrown.</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Raise Statement: Used to trigger an exception explicitly.</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3</a:t>
            </a:fld>
            <a:endParaRPr lang="en-US" altLang="en-US" sz="1200" dirty="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Basic Concept of exception handling</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 </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divide_numbers(numerator, denominator):</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numerator / denominator</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 Exception handler1</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Cannot divide by zero.")</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TypeError:  # Exception handler2</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Both numerator and denominator must be numbers.")</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else:</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print(f"The result is: {result}")  # This executes if no exceptions are raised</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finally:</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print("Execution complete.")  # This always executes</a:t>
            </a:r>
          </a:p>
          <a:p>
            <a:pPr marL="0" indent="0" algn="just">
              <a:lnSpc>
                <a:spcPct val="6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Test cases</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divide_numbers(10, 2)      # Normal case</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divide_numbers(10, 0)      # Division by zero</a:t>
            </a: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divide_numbers(10, "five") # Type error</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4</a:t>
            </a:fld>
            <a:endParaRPr lang="en-US" altLang="en-US" sz="1200" dirty="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an exception occurs (like a division by zero), it needs to be caught and managed appropriately. </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challenge is that the same type of exception can arise from different parts of the code, and the way it’s handled might vary based on context.</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safe_divide(a, b):</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result1 = a / b  # Potential division by zero</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1:", result1)</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result2 = a / 0  # Another potential division by zero</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2:", result2)</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as e:</a:t>
            </a: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print("Caught a division by zero error!")</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5</a:t>
            </a:fld>
            <a:endParaRPr lang="en-US" altLang="en-US" sz="1200" dirty="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 this function, if the second division (result2 = a / 0) occurs, it raises a ZeroDivisionError. The handler (the except block) will catch this exception.</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However, what if we want to handle each division differently? For instance, we might want to log an error for the first division and provide a user-friendly message for the second division.</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6</a:t>
            </a:fld>
            <a:endParaRPr lang="en-US" altLang="en-US" sz="1200" dirty="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However, what if we want to handle each division differently? For instance, we might want to log an error for the first division and provide a user-friendly message for the second division.</a:t>
            </a: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safe_divide(a, b):</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result1 = a / b</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1:", result1)</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Cannot divide by zero for Result 1!")</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result2 = a / 0  # Another potential division by zero</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2:", result2)</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Cannot divide by zero for Result 2!")</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7</a:t>
            </a:fld>
            <a:endParaRPr lang="en-US" altLang="en-US" sz="1200" dirty="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Another issue is how to manage exceptions when there is no local handler available.</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No Local Handler: When an exception occurs in a piece of code (like a function), and there is no exception handler defined within that same code block, the language must decide how to handle the situation. This involves determining whether to pass (or "propagate") the exception to a higher-level function or a different module.</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Propagation: Allowing exceptions to propagate means a single handler could address exceptions from multiple units. However, this can require the handler to be more generic, which may not provide the specificity needed for effective error management.</a:t>
            </a: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8</a:t>
            </a:fld>
            <a:endParaRPr lang="en-US" altLang="en-US" sz="1200" dirty="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divide(a, b):</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return a / b</a:t>
            </a: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calculate():</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divide(10, 0)  # This will raise a ZeroDivisionError</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result)</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print("Caught division by zero in calculate!")</a:t>
            </a: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calculate()</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9</a:t>
            </a:fld>
            <a:endParaRPr lang="en-US" altLang="en-US" sz="1200" dirty="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divide function does not have a local handler for ZeroDivisionError.</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divide raises this exception, it propagates up to calculate, where it is caught and handled.</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we write localhandler for each exception seperetly it will lead to code duplication.</a:t>
            </a:r>
          </a:p>
          <a:p>
            <a:pPr algn="just">
              <a:lnSpc>
                <a:spcPct val="5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10</a:t>
            </a:fld>
            <a:endParaRPr lang="en-US" altLang="en-US" sz="1200" dirty="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lnSpc>
                <a:spcPct val="5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But propagation can handle exception in generic way.</a:t>
            </a:r>
            <a:b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b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handle_division_error(e):</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print("General handler: Caught division by zero error!", e)</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calculate():</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divide(10, 0)</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result)</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as e:</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handle_division_error(e)</a:t>
            </a: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calculate()</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11</a:t>
            </a:fld>
            <a:endParaRPr lang="en-US" altLang="en-US" sz="1200" dirty="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Design Issue</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divide function does not have a local handler for ZeroDivisionError.</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divide raises this exception, it propagates up to calculate, where it is caught and handled.</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we write localhandler for each exception seperetly it will lead to code duplication.</a:t>
            </a:r>
          </a:p>
          <a:p>
            <a:pPr algn="just">
              <a:lnSpc>
                <a:spcPct val="5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But propagation can handle exception in generic way.</a:t>
            </a:r>
            <a:b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b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handle_division_error(e):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print("General handler: Caught division by zero error!", 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calculate():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divide(10, 0)</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result)</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as 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handle_division_error(e)</a:t>
            </a: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calculate()</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12</a:t>
            </a:fld>
            <a:endParaRPr lang="en-US" altLang="en-US" sz="1200" dirty="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Exception handler</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 Ada, exception handlers are typically defined within the same block of code where the exception might be raised. </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This means that the handler is closely associated with the specific logic that can cause an error.</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structure of Ada exception handlers can be represented in Extended Backus-Naur Form (EBNF) as follows: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exception_choice { | exception_choice } =&gt; statement_sequence</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13</a:t>
            </a:fld>
            <a:endParaRPr lang="en-US" altLang="en-US" sz="1200" dirty="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Exception handler</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exception_choice: This is the condition used to determine which exception the handler will respond to. It can either specify a particular exception (exception_name) or use the reserved word others to handle any exceptions not explicitly named.</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statement_sequence: This is the block of code that will execute if the exception specified in the exception_choice occurs.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 handlers are gathered together in an exception clause, which must be placed at the end of the block or unit. This structure helps in organizing exception handling in a clear and predictable manner.</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14</a:t>
            </a:fld>
            <a:endParaRPr lang="en-US" altLang="en-US" sz="1200" dirty="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Exception handler</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begin</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the block or unit body</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when exception_name1 =&gt;</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first handler</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when exception_name2 =&gt;</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second handler</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other handlers</a:t>
            </a: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end;</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15</a:t>
            </a:fld>
            <a:endParaRPr lang="en-US" altLang="en-US" sz="1200" dirty="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lstStyle/>
          <a:p>
            <a:r>
              <a:rPr lang="en-US" altLang="en-US" sz="3200" b="1" dirty="0">
                <a:latin typeface="Times New Roman" panose="02020603050405020304" pitchFamily="18" charset="0"/>
                <a:cs typeface="Times New Roman" panose="02020603050405020304" pitchFamily="18" charset="0"/>
                <a:sym typeface="+mn-ea"/>
              </a:rPr>
              <a:t>Binding Exception to the handler</a:t>
            </a: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lstStyle/>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a block of code (or unit) raises an exception and also includes a handler for that specific exception, the handler is said to be statically bound to that exception. This means that at compile time, the relationship between the exception and the handler is established.</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the handler for the respective error is not present in the local block then it is propagated further up the call chain to its caller. This process continues until:</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exception reaches the main procedure of the program, which is considered the root of all Ada programs.</a:t>
            </a: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the exception is propagated all the way to the main procedure and no handler is found there either, the program terminates. This highlights the importance of defining proper exception handling at various levels in a program to prevent abnormal termination.</a:t>
            </a: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t>16</a:t>
            </a:fld>
            <a:endParaRPr lang="en-US" altLang="en-US" sz="1200" dirty="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2" name="Subtitle 7"/>
          <p:cNvSpPr>
            <a:spLocks noGrp="1"/>
          </p:cNvSpPr>
          <p:nvPr>
            <p:ph type="subTitle" idx="1"/>
          </p:nvPr>
        </p:nvSpPr>
        <p:spPr>
          <a:xfrm>
            <a:off x="1600200" y="1162685"/>
            <a:ext cx="6400800" cy="483235"/>
          </a:xfrm>
        </p:spPr>
        <p:txBody>
          <a:bodyPr vert="horz" wrap="square" lIns="91440" tIns="45720" rIns="91440" bIns="45720" anchor="t" anchorCtr="0"/>
          <a:lstStyle/>
          <a:p>
            <a:pPr>
              <a:buClrTx/>
              <a:buSzTx/>
            </a:pPr>
            <a:r>
              <a:rPr lang="en-US" altLang="en-US" sz="2400" b="1" kern="1200" dirty="0">
                <a:solidFill>
                  <a:schemeClr val="tx1"/>
                </a:solidFill>
                <a:latin typeface="Times New Roman" panose="02020603050405020304" pitchFamily="18" charset="0"/>
                <a:ea typeface="+mn-ea"/>
                <a:cs typeface="Times New Roman" panose="02020603050405020304" pitchFamily="18" charset="0"/>
              </a:rPr>
              <a:t>Overview</a:t>
            </a:r>
          </a:p>
          <a:p>
            <a:pPr>
              <a:buClrTx/>
              <a:buSzTx/>
            </a:pPr>
            <a:endParaRPr lang="en-US" altLang="en-US" sz="2400" b="1" kern="1200" dirty="0">
              <a:solidFill>
                <a:schemeClr val="tx1"/>
              </a:solidFill>
              <a:latin typeface="Times New Roman" panose="02020603050405020304" pitchFamily="18" charset="0"/>
              <a:ea typeface="Times New Roman" panose="02020603050405020304" pitchFamily="18" charset="0"/>
              <a:cs typeface="+mn-cs"/>
            </a:endParaRPr>
          </a:p>
        </p:txBody>
      </p:sp>
      <p:sp>
        <p:nvSpPr>
          <p:cNvPr id="6152" name="TextBox 7"/>
          <p:cNvSpPr txBox="1"/>
          <p:nvPr/>
        </p:nvSpPr>
        <p:spPr>
          <a:xfrm>
            <a:off x="0" y="163195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Basic conecpt of Event handling</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 with programming language.</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Comparison of Exception and Event handling.</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GUI Developement.</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What is Event?</a:t>
            </a:r>
          </a:p>
          <a:p>
            <a:pPr marL="342900" indent="-342900">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An event is an object that is implicitly created by the run-time system in response to a user action.</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An event is a notification that something specific has occurred, such as a mouse click on a graphical button.</a:t>
            </a:r>
          </a:p>
          <a:p>
            <a:pPr marL="342900" indent="-342900">
              <a:buFont typeface="Arial" panose="020B0604020202020204" pitchFamily="34" charset="0"/>
              <a:buChar char="•"/>
            </a:pPr>
            <a:endParaRPr lang="en-US" altLang="en-US" sz="24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What is Event handler?</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An event handler is a segment of code that is executed in response to the appearance of an event. Event handlers enable a program to be responsive to user actions. </a:t>
            </a:r>
          </a:p>
          <a:p>
            <a:pPr marL="342900" indent="-342900">
              <a:buFont typeface="Arial" panose="020B0604020202020204" pitchFamily="34" charset="0"/>
              <a:buChar char="•"/>
            </a:pPr>
            <a:endParaRPr lang="en-US" altLang="en-US" sz="24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endParaRPr lang="en-US" altLang="en-US" sz="2400" b="1" dirty="0">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What is GUI?</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 GUI stands for Graphical User Interface. It’s a type of user interface that allows users to interact with software applications through graphical elements rather than text-based commands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Features of GUI.</a:t>
            </a:r>
            <a:br>
              <a:rPr lang="en-US" altLang="en-US" sz="2400" b="1" dirty="0">
                <a:latin typeface="Times New Roman" panose="02020603050405020304" pitchFamily="18" charset="0"/>
                <a:ea typeface="Times New Roman" panose="02020603050405020304" pitchFamily="18" charset="0"/>
              </a:rPr>
            </a:br>
            <a:r>
              <a:rPr lang="en-US" altLang="en-US" sz="1800" b="1" dirty="0">
                <a:latin typeface="Times New Roman" panose="02020603050405020304" pitchFamily="18" charset="0"/>
                <a:ea typeface="Times New Roman" panose="02020603050405020304" pitchFamily="18" charset="0"/>
              </a:rPr>
              <a:t>Visual Elements: GUIs use icons, buttons, windows, and menus to represent actions and information. This makes it easier for users to navigate and understand the software.</a:t>
            </a:r>
          </a:p>
          <a:p>
            <a:pPr marL="342900" indent="-342900">
              <a:buFont typeface="Arial" panose="020B0604020202020204" pitchFamily="34" charset="0"/>
              <a:buChar char="•"/>
            </a:pPr>
            <a:endParaRPr lang="en-US" altLang="en-US" sz="18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1800" b="1" dirty="0">
                <a:latin typeface="Times New Roman" panose="02020603050405020304" pitchFamily="18" charset="0"/>
                <a:ea typeface="Times New Roman" panose="02020603050405020304" pitchFamily="18" charset="0"/>
              </a:rPr>
              <a:t>Interactivity: Users can interact with the interface using input devices like a mouse, keyboard, or touch screen, enabling actions like clicking, dragging, and scrolling.</a:t>
            </a:r>
          </a:p>
          <a:p>
            <a:pPr marL="342900" indent="-342900">
              <a:buFont typeface="Arial" panose="020B0604020202020204" pitchFamily="34" charset="0"/>
              <a:buChar char="•"/>
            </a:pPr>
            <a:endParaRPr lang="en-US" altLang="en-US" sz="18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1800" b="1" dirty="0">
                <a:latin typeface="Times New Roman" panose="02020603050405020304" pitchFamily="18" charset="0"/>
                <a:ea typeface="Times New Roman" panose="02020603050405020304" pitchFamily="18" charset="0"/>
              </a:rPr>
              <a:t>User-Friendly: GUIs are designed to be intuitive, often reducing the learning curve for new users by providing visual cues and logical layouts.</a:t>
            </a:r>
          </a:p>
          <a:p>
            <a:pPr marL="342900" indent="-342900">
              <a:buFont typeface="Arial" panose="020B0604020202020204" pitchFamily="34" charset="0"/>
              <a:buChar char="•"/>
            </a:pPr>
            <a:endParaRPr lang="en-US" altLang="en-US" sz="18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1800" b="1" dirty="0">
                <a:latin typeface="Times New Roman" panose="02020603050405020304" pitchFamily="18" charset="0"/>
                <a:ea typeface="Times New Roman" panose="02020603050405020304" pitchFamily="18" charset="0"/>
              </a:rPr>
              <a:t>Multi-Tasking: Many GUIs support multiple windows or tabs, allowing users to work with several applications or documents simultaneously.</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Component of GUI.</a:t>
            </a:r>
            <a:br>
              <a:rPr lang="en-US" altLang="en-US" sz="2400" b="1" dirty="0">
                <a:latin typeface="Times New Roman" panose="02020603050405020304" pitchFamily="18" charset="0"/>
                <a:ea typeface="Times New Roman" panose="02020603050405020304" pitchFamily="18" charset="0"/>
              </a:rPr>
            </a:br>
            <a:r>
              <a:rPr lang="en-US" altLang="en-US" sz="2400" b="1" dirty="0">
                <a:latin typeface="Times New Roman" panose="02020603050405020304" pitchFamily="18" charset="0"/>
                <a:ea typeface="Times New Roman" panose="02020603050405020304" pitchFamily="18" charset="0"/>
              </a:rPr>
              <a:t>Windows: Rectangular areas on the screen that display information or applications.</a:t>
            </a:r>
          </a:p>
          <a:p>
            <a:pPr marL="342900" indent="-342900" algn="l">
              <a:buClrTx/>
              <a:buSzTx/>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Icons: Small images representing programs, files, or functions.</a:t>
            </a:r>
          </a:p>
          <a:p>
            <a:pPr marL="342900" indent="-342900" algn="l">
              <a:buClrTx/>
              <a:buSzTx/>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Buttons: Clickable elements that perform an action when pressed.</a:t>
            </a:r>
          </a:p>
          <a:p>
            <a:pPr marL="342900" indent="-342900" algn="l">
              <a:buClrTx/>
              <a:buSzTx/>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Menus: Lists of options or commands that users can choose from.</a:t>
            </a:r>
          </a:p>
          <a:p>
            <a:pPr marL="342900" indent="-342900" algn="l">
              <a:buClrTx/>
              <a:buSzTx/>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Toolbars: Horizontal or vertical bars containing icons and buttons for quick access to commonly used functions.</a:t>
            </a:r>
          </a:p>
          <a:p>
            <a:pPr marL="342900" indent="-342900" algn="l">
              <a:buClrTx/>
              <a:buSzTx/>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Text Boxes: Areas where users can enter text input.</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Comparison of Exception and Event Handling.</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Define</a:t>
            </a:r>
          </a:p>
          <a:p>
            <a:pPr marL="342900" indent="-342900">
              <a:lnSpc>
                <a:spcPct val="90000"/>
              </a:lnSpc>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Exception Handling:</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Refers to the process of responding to the occurrence of exceptions—unexpected events that disrupt the normal flow of a program.</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It allows a program to manage errors gracefully without crashing.</a:t>
            </a:r>
          </a:p>
          <a:p>
            <a:pPr marL="342900" indent="-342900">
              <a:lnSpc>
                <a:spcPct val="90000"/>
              </a:lnSpc>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Involves responding to events or actions performed by the user or the system, such as mouse clicks, keyboard inputs, or other user interactions.</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It allows a program to respond dynamically to user inputs and system signals.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Comparison of Exception and Event Handling.</a:t>
            </a:r>
          </a:p>
          <a:p>
            <a:pPr>
              <a:buFont typeface="Arial" panose="020B0604020202020204" pitchFamily="34" charset="0"/>
            </a:pPr>
            <a:r>
              <a:rPr lang="en-US" altLang="en-US" sz="2400" b="1" dirty="0">
                <a:latin typeface="Times New Roman" panose="02020603050405020304" pitchFamily="18" charset="0"/>
                <a:ea typeface="Times New Roman" panose="02020603050405020304" pitchFamily="18" charset="0"/>
              </a:rPr>
              <a:t>     Purpose</a:t>
            </a:r>
          </a:p>
          <a:p>
            <a:pPr marL="342900" indent="-342900">
              <a:lnSpc>
                <a:spcPct val="90000"/>
              </a:lnSpc>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Exception Handling:</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To manage and recover from runtime errors or exceptional conditions.</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To ensure that a program can continue executing or terminate gracefully even when an error occurs.</a:t>
            </a:r>
          </a:p>
          <a:p>
            <a:pPr>
              <a:lnSpc>
                <a:spcPct val="90000"/>
              </a:lnSpc>
              <a:buFont typeface="Arial" panose="020B0604020202020204" pitchFamily="34" charset="0"/>
            </a:pPr>
            <a:endParaRPr lang="en-US" altLang="en-US" sz="2400" b="1" dirty="0">
              <a:latin typeface="Times New Roman" panose="02020603050405020304" pitchFamily="18" charset="0"/>
              <a:ea typeface="Times New Roman" panose="02020603050405020304" pitchFamily="18" charset="0"/>
            </a:endParaRPr>
          </a:p>
          <a:p>
            <a:pPr marL="342900" indent="-342900">
              <a:lnSpc>
                <a:spcPct val="90000"/>
              </a:lnSpc>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a:t>
            </a:r>
            <a:endParaRPr lang="en-US" altLang="en-US" sz="2400" dirty="0">
              <a:latin typeface="Times New Roman" panose="02020603050405020304" pitchFamily="18" charset="0"/>
              <a:ea typeface="Times New Roman" panose="02020603050405020304" pitchFamily="18" charset="0"/>
            </a:endParaRP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To create interactive applications that respond to user actions.</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To define how the application should behave when specific events occur.</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Comparison of Exception and Event Handling.</a:t>
            </a:r>
          </a:p>
          <a:p>
            <a:pPr>
              <a:buFont typeface="Arial" panose="020B0604020202020204" pitchFamily="34" charset="0"/>
            </a:pPr>
            <a:r>
              <a:rPr lang="en-US" altLang="en-US" sz="2400" b="1" dirty="0">
                <a:latin typeface="Times New Roman" panose="02020603050405020304" pitchFamily="18" charset="0"/>
                <a:ea typeface="Times New Roman" panose="02020603050405020304" pitchFamily="18" charset="0"/>
              </a:rPr>
              <a:t>     Implementation</a:t>
            </a:r>
          </a:p>
          <a:p>
            <a:pPr marL="342900" indent="-342900">
              <a:lnSpc>
                <a:spcPct val="90000"/>
              </a:lnSpc>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Exception Handling:</a:t>
            </a:r>
            <a:endParaRPr lang="en-US" altLang="en-US" sz="2400" dirty="0">
              <a:latin typeface="Times New Roman" panose="02020603050405020304" pitchFamily="18" charset="0"/>
              <a:ea typeface="Times New Roman" panose="02020603050405020304" pitchFamily="18" charset="0"/>
            </a:endParaRP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Typically uses constructs like try, catch, finally, and throw (or equivalent keywords in various programming languages).</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try:</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    # Code that may raise an exception</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    result = 10 / 0</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except ZeroDivisionError:</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    print("Cannot divide by zero!")</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Comparison of Exception and Event Handling.</a:t>
            </a:r>
          </a:p>
          <a:p>
            <a:pPr>
              <a:buFont typeface="Arial" panose="020B0604020202020204" pitchFamily="34" charset="0"/>
            </a:pPr>
            <a:r>
              <a:rPr lang="en-US" altLang="en-US" sz="2400" b="1" dirty="0">
                <a:latin typeface="Times New Roman" panose="02020603050405020304" pitchFamily="18" charset="0"/>
                <a:ea typeface="Times New Roman" panose="02020603050405020304" pitchFamily="18" charset="0"/>
              </a:rPr>
              <a:t>     Implementation</a:t>
            </a:r>
          </a:p>
          <a:p>
            <a:pPr marL="342900" indent="-342900">
              <a:lnSpc>
                <a:spcPct val="90000"/>
              </a:lnSpc>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a:t>
            </a:r>
            <a:endParaRPr lang="en-US" altLang="en-US" sz="2400" dirty="0">
              <a:latin typeface="Times New Roman" panose="02020603050405020304" pitchFamily="18" charset="0"/>
              <a:ea typeface="Times New Roman" panose="02020603050405020304" pitchFamily="18" charset="0"/>
            </a:endParaRP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Uses event listeners or handlers that are registered to respond to specific events.</a:t>
            </a:r>
          </a:p>
          <a:p>
            <a:pPr marL="342900" indent="-342900">
              <a:lnSpc>
                <a:spcPct val="90000"/>
              </a:lnSpc>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Example:</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document.getElementById("myButton").addEventListener("click", function() {</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    alert("Button clicked!");</a:t>
            </a:r>
          </a:p>
          <a:p>
            <a:pPr marL="342900" indent="-342900">
              <a:lnSpc>
                <a:spcPct val="90000"/>
              </a:lnSpc>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lstStyle/>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lstStyle/>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lstStyle/>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Event Handling</a:t>
            </a:r>
          </a:p>
        </p:txBody>
      </p:sp>
      <p:sp>
        <p:nvSpPr>
          <p:cNvPr id="6152" name="TextBox 7"/>
          <p:cNvSpPr txBox="1"/>
          <p:nvPr/>
        </p:nvSpPr>
        <p:spPr>
          <a:xfrm>
            <a:off x="76200" y="1143000"/>
            <a:ext cx="8915400" cy="3806825"/>
          </a:xfrm>
          <a:prstGeom prst="rect">
            <a:avLst/>
          </a:prstGeom>
          <a:noFill/>
          <a:ln w="9525">
            <a:noFill/>
          </a:ln>
        </p:spPr>
        <p:txBody>
          <a:bodyPr>
            <a:noAutofit/>
          </a:bodyPr>
          <a:lstStyle/>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Flow Control</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Exception Handling:</a:t>
            </a:r>
          </a:p>
          <a:p>
            <a:pPr marL="342900" indent="-342900">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Alters the flow of control when an error occurs, allowing the program to jump to a catch block or finally block to handle the error.</a:t>
            </a: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a:t>
            </a:r>
          </a:p>
          <a:p>
            <a:pPr marL="342900" indent="-342900">
              <a:buFont typeface="Arial" panose="020B0604020202020204" pitchFamily="34" charset="0"/>
              <a:buChar char="•"/>
            </a:pPr>
            <a:r>
              <a:rPr lang="en-US" altLang="en-US" sz="2400" dirty="0">
                <a:latin typeface="Times New Roman" panose="02020603050405020304" pitchFamily="18" charset="0"/>
                <a:ea typeface="Times New Roman" panose="02020603050405020304" pitchFamily="18" charset="0"/>
              </a:rPr>
              <a:t>Adds callbacks or event listeners to respond to events without altering the program's main execution flow; events are processed when they occur.</a:t>
            </a:r>
          </a:p>
        </p:txBody>
      </p:sp>
    </p:spTree>
  </p:cSld>
  <p:clrMapOvr>
    <a:masterClrMapping/>
  </p:clrMapOvr>
  <p:transition/>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2282</Words>
  <Application>Microsoft Office PowerPoint</Application>
  <PresentationFormat>On-screen Show (4:3)</PresentationFormat>
  <Paragraphs>355</Paragraphs>
  <Slides>26</Slides>
  <Notes>11</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26</vt:i4>
      </vt:variant>
    </vt:vector>
  </HeadingPairs>
  <TitlesOfParts>
    <vt:vector size="34" baseType="lpstr">
      <vt:lpstr>Arial</vt:lpstr>
      <vt:lpstr>Calibri</vt:lpstr>
      <vt:lpstr>Times New Roman</vt:lpstr>
      <vt:lpstr>2_Custom Design</vt:lpstr>
      <vt:lpstr>3_Custom Design</vt:lpstr>
      <vt:lpstr>1_Custom Design</vt:lpstr>
      <vt:lpstr>Custom Design</vt:lpstr>
      <vt:lpstr>4_Custom Design</vt:lpstr>
      <vt:lpstr>Exception Handling</vt:lpstr>
      <vt:lpstr>Basic Concept of exception handling</vt:lpstr>
      <vt:lpstr>Basic Concept of exception handling</vt:lpstr>
      <vt:lpstr>Basic Concept of exception handling</vt:lpstr>
      <vt:lpstr>Design Issue</vt:lpstr>
      <vt:lpstr>Design Issue</vt:lpstr>
      <vt:lpstr>Design Issue</vt:lpstr>
      <vt:lpstr>Design Issue</vt:lpstr>
      <vt:lpstr>Design Issue</vt:lpstr>
      <vt:lpstr>Design Issue</vt:lpstr>
      <vt:lpstr>Design Issue</vt:lpstr>
      <vt:lpstr>Design Issue</vt:lpstr>
      <vt:lpstr>Exception handler</vt:lpstr>
      <vt:lpstr>Exception handler</vt:lpstr>
      <vt:lpstr>Exception handler</vt:lpstr>
      <vt:lpstr>Binding Exception to the handler</vt:lpstr>
      <vt:lpstr>Event Handling</vt:lpstr>
      <vt:lpstr>Event Handling</vt:lpstr>
      <vt:lpstr>Event Handling</vt:lpstr>
      <vt:lpstr>Event Handling</vt:lpstr>
      <vt:lpstr>Event Handling</vt:lpstr>
      <vt:lpstr>Event Handling</vt:lpstr>
      <vt:lpstr>Event Handling</vt:lpstr>
      <vt:lpstr>Event Handling</vt:lpstr>
      <vt:lpstr>Event Handling</vt:lpstr>
      <vt:lpstr>Event Handling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tanishqtote2005@outlook.com</cp:lastModifiedBy>
  <cp:revision>1472</cp:revision>
  <dcterms:created xsi:type="dcterms:W3CDTF">2024-10-03T04:24:00Z</dcterms:created>
  <dcterms:modified xsi:type="dcterms:W3CDTF">2024-11-29T12:17:50Z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4DACD35A4A13495199C4287798C107E1_12</vt:lpwstr>
  </property>
  <property fmtid="{D5CDD505-2E9C-101B-9397-08002B2CF9AE}" pid="4" name="KSOProductBuildVer">
    <vt:lpwstr>1033-12.2.0.18586</vt:lpwstr>
  </property>
</Properties>
</file>